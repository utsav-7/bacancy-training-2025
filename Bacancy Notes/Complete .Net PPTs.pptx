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 id="2147483699" r:id="rId5"/>
  </p:sldMasterIdLst>
  <p:notesMasterIdLst>
    <p:notesMasterId r:id="rId274"/>
  </p:notesMasterIdLst>
  <p:sldIdLst>
    <p:sldId id="256"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9" r:id="rId19"/>
    <p:sldId id="280" r:id="rId20"/>
    <p:sldId id="281" r:id="rId21"/>
    <p:sldId id="282" r:id="rId22"/>
    <p:sldId id="283" r:id="rId23"/>
    <p:sldId id="284" r:id="rId24"/>
    <p:sldId id="285" r:id="rId25"/>
    <p:sldId id="286" r:id="rId26"/>
    <p:sldId id="288" r:id="rId27"/>
    <p:sldId id="289" r:id="rId28"/>
    <p:sldId id="290" r:id="rId29"/>
    <p:sldId id="291" r:id="rId30"/>
    <p:sldId id="292" r:id="rId31"/>
    <p:sldId id="293" r:id="rId32"/>
    <p:sldId id="294" r:id="rId33"/>
    <p:sldId id="295" r:id="rId34"/>
    <p:sldId id="299" r:id="rId35"/>
    <p:sldId id="301" r:id="rId36"/>
    <p:sldId id="302" r:id="rId37"/>
    <p:sldId id="303" r:id="rId38"/>
    <p:sldId id="304" r:id="rId39"/>
    <p:sldId id="305" r:id="rId40"/>
    <p:sldId id="306" r:id="rId41"/>
    <p:sldId id="308" r:id="rId42"/>
    <p:sldId id="314" r:id="rId43"/>
    <p:sldId id="315" r:id="rId44"/>
    <p:sldId id="316" r:id="rId45"/>
    <p:sldId id="317" r:id="rId46"/>
    <p:sldId id="318" r:id="rId47"/>
    <p:sldId id="325" r:id="rId48"/>
    <p:sldId id="326" r:id="rId49"/>
    <p:sldId id="327" r:id="rId50"/>
    <p:sldId id="328" r:id="rId51"/>
    <p:sldId id="329" r:id="rId52"/>
    <p:sldId id="330" r:id="rId53"/>
    <p:sldId id="331" r:id="rId54"/>
    <p:sldId id="332" r:id="rId55"/>
    <p:sldId id="333" r:id="rId56"/>
    <p:sldId id="334" r:id="rId57"/>
    <p:sldId id="335" r:id="rId58"/>
    <p:sldId id="341" r:id="rId59"/>
    <p:sldId id="342" r:id="rId60"/>
    <p:sldId id="343" r:id="rId61"/>
    <p:sldId id="344" r:id="rId62"/>
    <p:sldId id="345" r:id="rId63"/>
    <p:sldId id="346" r:id="rId64"/>
    <p:sldId id="347" r:id="rId65"/>
    <p:sldId id="348" r:id="rId66"/>
    <p:sldId id="349" r:id="rId67"/>
    <p:sldId id="350" r:id="rId68"/>
    <p:sldId id="351" r:id="rId69"/>
    <p:sldId id="352" r:id="rId70"/>
    <p:sldId id="353" r:id="rId71"/>
    <p:sldId id="354" r:id="rId72"/>
    <p:sldId id="355" r:id="rId73"/>
    <p:sldId id="356" r:id="rId74"/>
    <p:sldId id="357" r:id="rId75"/>
    <p:sldId id="358" r:id="rId76"/>
    <p:sldId id="359" r:id="rId77"/>
    <p:sldId id="360" r:id="rId78"/>
    <p:sldId id="367" r:id="rId79"/>
    <p:sldId id="368" r:id="rId80"/>
    <p:sldId id="369" r:id="rId81"/>
    <p:sldId id="370" r:id="rId82"/>
    <p:sldId id="371" r:id="rId83"/>
    <p:sldId id="372" r:id="rId84"/>
    <p:sldId id="373" r:id="rId85"/>
    <p:sldId id="374" r:id="rId86"/>
    <p:sldId id="375" r:id="rId87"/>
    <p:sldId id="376" r:id="rId88"/>
    <p:sldId id="377" r:id="rId89"/>
    <p:sldId id="378" r:id="rId90"/>
    <p:sldId id="379" r:id="rId91"/>
    <p:sldId id="380" r:id="rId92"/>
    <p:sldId id="381" r:id="rId93"/>
    <p:sldId id="382" r:id="rId94"/>
    <p:sldId id="383" r:id="rId95"/>
    <p:sldId id="390" r:id="rId96"/>
    <p:sldId id="391" r:id="rId97"/>
    <p:sldId id="392" r:id="rId98"/>
    <p:sldId id="393" r:id="rId99"/>
    <p:sldId id="394" r:id="rId100"/>
    <p:sldId id="395" r:id="rId101"/>
    <p:sldId id="396" r:id="rId102"/>
    <p:sldId id="397" r:id="rId103"/>
    <p:sldId id="398" r:id="rId104"/>
    <p:sldId id="399" r:id="rId105"/>
    <p:sldId id="400" r:id="rId106"/>
    <p:sldId id="401" r:id="rId107"/>
    <p:sldId id="409" r:id="rId108"/>
    <p:sldId id="410" r:id="rId109"/>
    <p:sldId id="411" r:id="rId110"/>
    <p:sldId id="412" r:id="rId111"/>
    <p:sldId id="413" r:id="rId112"/>
    <p:sldId id="414" r:id="rId113"/>
    <p:sldId id="415" r:id="rId114"/>
    <p:sldId id="416" r:id="rId115"/>
    <p:sldId id="417" r:id="rId116"/>
    <p:sldId id="418" r:id="rId117"/>
    <p:sldId id="419" r:id="rId118"/>
    <p:sldId id="420" r:id="rId119"/>
    <p:sldId id="421" r:id="rId120"/>
    <p:sldId id="422" r:id="rId121"/>
    <p:sldId id="423" r:id="rId122"/>
    <p:sldId id="424" r:id="rId123"/>
    <p:sldId id="425" r:id="rId124"/>
    <p:sldId id="426" r:id="rId125"/>
    <p:sldId id="427" r:id="rId126"/>
    <p:sldId id="428" r:id="rId127"/>
    <p:sldId id="433" r:id="rId128"/>
    <p:sldId id="434" r:id="rId129"/>
    <p:sldId id="435" r:id="rId130"/>
    <p:sldId id="436" r:id="rId131"/>
    <p:sldId id="437" r:id="rId132"/>
    <p:sldId id="438" r:id="rId133"/>
    <p:sldId id="439" r:id="rId134"/>
    <p:sldId id="440" r:id="rId135"/>
    <p:sldId id="441" r:id="rId136"/>
    <p:sldId id="442" r:id="rId137"/>
    <p:sldId id="443" r:id="rId138"/>
    <p:sldId id="444" r:id="rId139"/>
    <p:sldId id="445" r:id="rId140"/>
    <p:sldId id="446" r:id="rId141"/>
    <p:sldId id="447" r:id="rId142"/>
    <p:sldId id="448" r:id="rId143"/>
    <p:sldId id="449" r:id="rId144"/>
    <p:sldId id="450" r:id="rId145"/>
    <p:sldId id="451" r:id="rId146"/>
    <p:sldId id="452" r:id="rId147"/>
    <p:sldId id="453" r:id="rId148"/>
    <p:sldId id="454" r:id="rId149"/>
    <p:sldId id="455" r:id="rId150"/>
    <p:sldId id="462" r:id="rId151"/>
    <p:sldId id="463" r:id="rId152"/>
    <p:sldId id="464" r:id="rId153"/>
    <p:sldId id="465" r:id="rId154"/>
    <p:sldId id="466" r:id="rId155"/>
    <p:sldId id="467" r:id="rId156"/>
    <p:sldId id="468" r:id="rId157"/>
    <p:sldId id="469" r:id="rId158"/>
    <p:sldId id="470" r:id="rId159"/>
    <p:sldId id="471" r:id="rId160"/>
    <p:sldId id="472" r:id="rId161"/>
    <p:sldId id="473" r:id="rId162"/>
    <p:sldId id="474" r:id="rId163"/>
    <p:sldId id="479" r:id="rId164"/>
    <p:sldId id="481" r:id="rId165"/>
    <p:sldId id="482" r:id="rId166"/>
    <p:sldId id="483" r:id="rId167"/>
    <p:sldId id="484" r:id="rId168"/>
    <p:sldId id="485" r:id="rId169"/>
    <p:sldId id="486" r:id="rId170"/>
    <p:sldId id="487" r:id="rId171"/>
    <p:sldId id="488" r:id="rId172"/>
    <p:sldId id="489" r:id="rId173"/>
    <p:sldId id="490" r:id="rId174"/>
    <p:sldId id="491" r:id="rId175"/>
    <p:sldId id="492" r:id="rId176"/>
    <p:sldId id="493" r:id="rId177"/>
    <p:sldId id="494" r:id="rId178"/>
    <p:sldId id="495" r:id="rId179"/>
    <p:sldId id="496" r:id="rId180"/>
    <p:sldId id="501" r:id="rId181"/>
    <p:sldId id="504" r:id="rId182"/>
    <p:sldId id="505" r:id="rId183"/>
    <p:sldId id="506" r:id="rId184"/>
    <p:sldId id="507" r:id="rId185"/>
    <p:sldId id="508" r:id="rId186"/>
    <p:sldId id="509" r:id="rId187"/>
    <p:sldId id="510" r:id="rId188"/>
    <p:sldId id="511" r:id="rId189"/>
    <p:sldId id="512" r:id="rId190"/>
    <p:sldId id="513" r:id="rId191"/>
    <p:sldId id="514" r:id="rId192"/>
    <p:sldId id="515" r:id="rId193"/>
    <p:sldId id="516" r:id="rId194"/>
    <p:sldId id="517" r:id="rId195"/>
    <p:sldId id="518" r:id="rId196"/>
    <p:sldId id="519" r:id="rId197"/>
    <p:sldId id="520" r:id="rId198"/>
    <p:sldId id="521" r:id="rId199"/>
    <p:sldId id="522" r:id="rId200"/>
    <p:sldId id="523" r:id="rId201"/>
    <p:sldId id="524" r:id="rId202"/>
    <p:sldId id="525" r:id="rId203"/>
    <p:sldId id="526" r:id="rId204"/>
    <p:sldId id="527" r:id="rId205"/>
    <p:sldId id="528" r:id="rId206"/>
    <p:sldId id="529" r:id="rId207"/>
    <p:sldId id="530" r:id="rId208"/>
    <p:sldId id="531" r:id="rId209"/>
    <p:sldId id="532" r:id="rId210"/>
    <p:sldId id="533" r:id="rId211"/>
    <p:sldId id="534" r:id="rId212"/>
    <p:sldId id="535" r:id="rId213"/>
    <p:sldId id="536" r:id="rId214"/>
    <p:sldId id="537" r:id="rId215"/>
    <p:sldId id="538" r:id="rId216"/>
    <p:sldId id="539" r:id="rId217"/>
    <p:sldId id="540" r:id="rId218"/>
    <p:sldId id="541" r:id="rId219"/>
    <p:sldId id="542" r:id="rId220"/>
    <p:sldId id="543" r:id="rId221"/>
    <p:sldId id="544" r:id="rId222"/>
    <p:sldId id="545" r:id="rId223"/>
    <p:sldId id="546" r:id="rId224"/>
    <p:sldId id="547" r:id="rId225"/>
    <p:sldId id="548" r:id="rId226"/>
    <p:sldId id="549" r:id="rId227"/>
    <p:sldId id="550" r:id="rId228"/>
    <p:sldId id="551" r:id="rId229"/>
    <p:sldId id="552" r:id="rId230"/>
    <p:sldId id="553" r:id="rId231"/>
    <p:sldId id="554" r:id="rId232"/>
    <p:sldId id="555" r:id="rId233"/>
    <p:sldId id="556" r:id="rId234"/>
    <p:sldId id="561" r:id="rId235"/>
    <p:sldId id="563" r:id="rId236"/>
    <p:sldId id="564" r:id="rId237"/>
    <p:sldId id="565" r:id="rId238"/>
    <p:sldId id="566" r:id="rId239"/>
    <p:sldId id="567" r:id="rId240"/>
    <p:sldId id="568" r:id="rId241"/>
    <p:sldId id="569" r:id="rId242"/>
    <p:sldId id="570" r:id="rId243"/>
    <p:sldId id="571" r:id="rId244"/>
    <p:sldId id="572" r:id="rId245"/>
    <p:sldId id="579" r:id="rId246"/>
    <p:sldId id="580" r:id="rId247"/>
    <p:sldId id="581" r:id="rId248"/>
    <p:sldId id="582" r:id="rId249"/>
    <p:sldId id="583" r:id="rId250"/>
    <p:sldId id="586" r:id="rId251"/>
    <p:sldId id="587" r:id="rId252"/>
    <p:sldId id="588" r:id="rId253"/>
    <p:sldId id="589" r:id="rId254"/>
    <p:sldId id="590" r:id="rId255"/>
    <p:sldId id="591" r:id="rId256"/>
    <p:sldId id="592" r:id="rId257"/>
    <p:sldId id="593" r:id="rId258"/>
    <p:sldId id="594" r:id="rId259"/>
    <p:sldId id="595" r:id="rId260"/>
    <p:sldId id="596" r:id="rId261"/>
    <p:sldId id="597" r:id="rId262"/>
    <p:sldId id="598" r:id="rId263"/>
    <p:sldId id="599" r:id="rId264"/>
    <p:sldId id="600" r:id="rId265"/>
    <p:sldId id="601" r:id="rId266"/>
    <p:sldId id="602" r:id="rId267"/>
    <p:sldId id="603" r:id="rId268"/>
    <p:sldId id="604" r:id="rId269"/>
    <p:sldId id="605" r:id="rId270"/>
    <p:sldId id="606" r:id="rId271"/>
    <p:sldId id="607" r:id="rId272"/>
    <p:sldId id="608" r:id="rId273"/>
  </p:sldIdLst>
  <p:sldSz cx="9144000" cy="5143500" type="screen16x9"/>
  <p:notesSz cx="6858000" cy="9144000"/>
  <p:embeddedFontLst>
    <p:embeddedFont>
      <p:font typeface="Lato" panose="020F0502020204030203" pitchFamily="34" charset="0"/>
      <p:regular r:id="rId275"/>
      <p:bold r:id="rId276"/>
      <p:italic r:id="rId277"/>
      <p:boldItalic r:id="rId278"/>
    </p:embeddedFont>
    <p:embeddedFont>
      <p:font typeface="Lato Black" panose="020F0502020204030203" pitchFamily="34" charset="0"/>
      <p:bold r:id="rId279"/>
      <p:boldItalic r:id="rId280"/>
    </p:embeddedFont>
    <p:embeddedFont>
      <p:font typeface="Nunito" pitchFamily="2" charset="0"/>
      <p:regular r:id="rId281"/>
      <p:bold r:id="rId282"/>
      <p:italic r:id="rId283"/>
      <p:boldItalic r:id="rId284"/>
    </p:embeddedFont>
    <p:embeddedFont>
      <p:font typeface="Roboto Mono" panose="00000009000000000000" pitchFamily="49" charset="0"/>
      <p:regular r:id="rId285"/>
      <p:bold r:id="rId286"/>
      <p:italic r:id="rId287"/>
      <p:boldItalic r:id="rId288"/>
    </p:embeddedFont>
    <p:embeddedFont>
      <p:font typeface="Verdana" panose="020B0604030504040204" pitchFamily="34" charset="0"/>
      <p:regular r:id="rId289"/>
      <p:bold r:id="rId290"/>
      <p:italic r:id="rId291"/>
      <p:boldItalic r:id="rId2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3BA3A0-83C4-445D-8AD7-8B1E11FC002B}">
  <a:tblStyle styleId="{5A3BA3A0-83C4-445D-8AD7-8B1E11FC002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690A844-13B3-4B96-9A58-D22885A8152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45D45078-F28F-418A-8506-26402C62566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8FB3FCB-B62F-45EE-9843-9F81CF809FF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170" Type="http://schemas.openxmlformats.org/officeDocument/2006/relationships/slide" Target="slides/slide165.xml"/><Relationship Id="rId226" Type="http://schemas.openxmlformats.org/officeDocument/2006/relationships/slide" Target="slides/slide221.xml"/><Relationship Id="rId268" Type="http://schemas.openxmlformats.org/officeDocument/2006/relationships/slide" Target="slides/slide263.xml"/><Relationship Id="rId32" Type="http://schemas.openxmlformats.org/officeDocument/2006/relationships/slide" Target="slides/slide27.xml"/><Relationship Id="rId74" Type="http://schemas.openxmlformats.org/officeDocument/2006/relationships/slide" Target="slides/slide69.xml"/><Relationship Id="rId128" Type="http://schemas.openxmlformats.org/officeDocument/2006/relationships/slide" Target="slides/slide123.xml"/><Relationship Id="rId5" Type="http://schemas.openxmlformats.org/officeDocument/2006/relationships/slideMaster" Target="slideMasters/slideMaster5.xml"/><Relationship Id="rId181" Type="http://schemas.openxmlformats.org/officeDocument/2006/relationships/slide" Target="slides/slide176.xml"/><Relationship Id="rId237" Type="http://schemas.openxmlformats.org/officeDocument/2006/relationships/slide" Target="slides/slide232.xml"/><Relationship Id="rId279" Type="http://schemas.openxmlformats.org/officeDocument/2006/relationships/font" Target="fonts/font5.fntdata"/><Relationship Id="rId43" Type="http://schemas.openxmlformats.org/officeDocument/2006/relationships/slide" Target="slides/slide38.xml"/><Relationship Id="rId139" Type="http://schemas.openxmlformats.org/officeDocument/2006/relationships/slide" Target="slides/slide134.xml"/><Relationship Id="rId290" Type="http://schemas.openxmlformats.org/officeDocument/2006/relationships/font" Target="fonts/font16.fntdata"/><Relationship Id="rId85" Type="http://schemas.openxmlformats.org/officeDocument/2006/relationships/slide" Target="slides/slide80.xml"/><Relationship Id="rId150" Type="http://schemas.openxmlformats.org/officeDocument/2006/relationships/slide" Target="slides/slide145.xml"/><Relationship Id="rId192" Type="http://schemas.openxmlformats.org/officeDocument/2006/relationships/slide" Target="slides/slide187.xml"/><Relationship Id="rId206" Type="http://schemas.openxmlformats.org/officeDocument/2006/relationships/slide" Target="slides/slide201.xml"/><Relationship Id="rId248" Type="http://schemas.openxmlformats.org/officeDocument/2006/relationships/slide" Target="slides/slide243.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280" Type="http://schemas.openxmlformats.org/officeDocument/2006/relationships/font" Target="fonts/font6.fntdata"/><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slide" Target="slides/slide212.xml"/><Relationship Id="rId6" Type="http://schemas.openxmlformats.org/officeDocument/2006/relationships/slide" Target="slides/slide1.xml"/><Relationship Id="rId238" Type="http://schemas.openxmlformats.org/officeDocument/2006/relationships/slide" Target="slides/slide233.xml"/><Relationship Id="rId259" Type="http://schemas.openxmlformats.org/officeDocument/2006/relationships/slide" Target="slides/slide254.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slide" Target="slides/slide265.xml"/><Relationship Id="rId291" Type="http://schemas.openxmlformats.org/officeDocument/2006/relationships/font" Target="fonts/font17.fntdata"/><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228" Type="http://schemas.openxmlformats.org/officeDocument/2006/relationships/slide" Target="slides/slide223.xml"/><Relationship Id="rId249" Type="http://schemas.openxmlformats.org/officeDocument/2006/relationships/slide" Target="slides/slide244.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281" Type="http://schemas.openxmlformats.org/officeDocument/2006/relationships/font" Target="fonts/font7.fntdata"/><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39" Type="http://schemas.openxmlformats.org/officeDocument/2006/relationships/slide" Target="slides/slide234.xml"/><Relationship Id="rId250" Type="http://schemas.openxmlformats.org/officeDocument/2006/relationships/slide" Target="slides/slide245.xml"/><Relationship Id="rId271" Type="http://schemas.openxmlformats.org/officeDocument/2006/relationships/slide" Target="slides/slide266.xml"/><Relationship Id="rId292" Type="http://schemas.openxmlformats.org/officeDocument/2006/relationships/font" Target="fonts/font18.fntdata"/><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slide" Target="slides/slide224.xml"/><Relationship Id="rId240" Type="http://schemas.openxmlformats.org/officeDocument/2006/relationships/slide" Target="slides/slide235.xml"/><Relationship Id="rId261" Type="http://schemas.openxmlformats.org/officeDocument/2006/relationships/slide" Target="slides/slide256.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font" Target="fonts/font8.fntdata"/><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slide" Target="slides/slide225.xml"/><Relationship Id="rId251" Type="http://schemas.openxmlformats.org/officeDocument/2006/relationships/slide" Target="slides/slide246.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72" Type="http://schemas.openxmlformats.org/officeDocument/2006/relationships/slide" Target="slides/slide267.xml"/><Relationship Id="rId293" Type="http://schemas.openxmlformats.org/officeDocument/2006/relationships/presProps" Target="presProps.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95" Type="http://schemas.openxmlformats.org/officeDocument/2006/relationships/slide" Target="slides/slide190.xml"/><Relationship Id="rId209" Type="http://schemas.openxmlformats.org/officeDocument/2006/relationships/slide" Target="slides/slide204.xml"/><Relationship Id="rId220" Type="http://schemas.openxmlformats.org/officeDocument/2006/relationships/slide" Target="slides/slide215.xml"/><Relationship Id="rId241" Type="http://schemas.openxmlformats.org/officeDocument/2006/relationships/slide" Target="slides/slide23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262" Type="http://schemas.openxmlformats.org/officeDocument/2006/relationships/slide" Target="slides/slide257.xml"/><Relationship Id="rId283" Type="http://schemas.openxmlformats.org/officeDocument/2006/relationships/font" Target="fonts/font9.fntdata"/><Relationship Id="rId78" Type="http://schemas.openxmlformats.org/officeDocument/2006/relationships/slide" Target="slides/slide73.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64" Type="http://schemas.openxmlformats.org/officeDocument/2006/relationships/slide" Target="slides/slide159.xml"/><Relationship Id="rId185" Type="http://schemas.openxmlformats.org/officeDocument/2006/relationships/slide" Target="slides/slide180.xml"/><Relationship Id="rId9" Type="http://schemas.openxmlformats.org/officeDocument/2006/relationships/slide" Target="slides/slide4.xml"/><Relationship Id="rId210" Type="http://schemas.openxmlformats.org/officeDocument/2006/relationships/slide" Target="slides/slide205.xml"/><Relationship Id="rId26" Type="http://schemas.openxmlformats.org/officeDocument/2006/relationships/slide" Target="slides/slide21.xml"/><Relationship Id="rId231" Type="http://schemas.openxmlformats.org/officeDocument/2006/relationships/slide" Target="slides/slide226.xml"/><Relationship Id="rId252" Type="http://schemas.openxmlformats.org/officeDocument/2006/relationships/slide" Target="slides/slide247.xml"/><Relationship Id="rId273" Type="http://schemas.openxmlformats.org/officeDocument/2006/relationships/slide" Target="slides/slide268.xml"/><Relationship Id="rId294" Type="http://schemas.openxmlformats.org/officeDocument/2006/relationships/viewProps" Target="viewProps.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242" Type="http://schemas.openxmlformats.org/officeDocument/2006/relationships/slide" Target="slides/slide237.xml"/><Relationship Id="rId263" Type="http://schemas.openxmlformats.org/officeDocument/2006/relationships/slide" Target="slides/slide258.xml"/><Relationship Id="rId284" Type="http://schemas.openxmlformats.org/officeDocument/2006/relationships/font" Target="fonts/font10.fntdata"/><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32" Type="http://schemas.openxmlformats.org/officeDocument/2006/relationships/slide" Target="slides/slide227.xml"/><Relationship Id="rId253" Type="http://schemas.openxmlformats.org/officeDocument/2006/relationships/slide" Target="slides/slide248.xml"/><Relationship Id="rId274" Type="http://schemas.openxmlformats.org/officeDocument/2006/relationships/notesMaster" Target="notesMasters/notesMaster1.xml"/><Relationship Id="rId295" Type="http://schemas.openxmlformats.org/officeDocument/2006/relationships/theme" Target="theme/theme1.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243" Type="http://schemas.openxmlformats.org/officeDocument/2006/relationships/slide" Target="slides/slide238.xml"/><Relationship Id="rId264" Type="http://schemas.openxmlformats.org/officeDocument/2006/relationships/slide" Target="slides/slide259.xml"/><Relationship Id="rId285" Type="http://schemas.openxmlformats.org/officeDocument/2006/relationships/font" Target="fonts/font11.fntdata"/><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12" Type="http://schemas.openxmlformats.org/officeDocument/2006/relationships/slide" Target="slides/slide207.xml"/><Relationship Id="rId233" Type="http://schemas.openxmlformats.org/officeDocument/2006/relationships/slide" Target="slides/slide228.xml"/><Relationship Id="rId254" Type="http://schemas.openxmlformats.org/officeDocument/2006/relationships/slide" Target="slides/slide249.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275" Type="http://schemas.openxmlformats.org/officeDocument/2006/relationships/font" Target="fonts/font1.fntdata"/><Relationship Id="rId296" Type="http://schemas.openxmlformats.org/officeDocument/2006/relationships/tableStyles" Target="tableStyles.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223" Type="http://schemas.openxmlformats.org/officeDocument/2006/relationships/slide" Target="slides/slide218.xml"/><Relationship Id="rId244" Type="http://schemas.openxmlformats.org/officeDocument/2006/relationships/slide" Target="slides/slide239.xml"/><Relationship Id="rId18" Type="http://schemas.openxmlformats.org/officeDocument/2006/relationships/slide" Target="slides/slide13.xml"/><Relationship Id="rId39" Type="http://schemas.openxmlformats.org/officeDocument/2006/relationships/slide" Target="slides/slide34.xml"/><Relationship Id="rId265" Type="http://schemas.openxmlformats.org/officeDocument/2006/relationships/slide" Target="slides/slide260.xml"/><Relationship Id="rId286" Type="http://schemas.openxmlformats.org/officeDocument/2006/relationships/font" Target="fonts/font12.fntdata"/><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slide" Target="slides/slide229.xml"/><Relationship Id="rId2" Type="http://schemas.openxmlformats.org/officeDocument/2006/relationships/slideMaster" Target="slideMasters/slideMaster2.xml"/><Relationship Id="rId29" Type="http://schemas.openxmlformats.org/officeDocument/2006/relationships/slide" Target="slides/slide24.xml"/><Relationship Id="rId255" Type="http://schemas.openxmlformats.org/officeDocument/2006/relationships/slide" Target="slides/slide250.xml"/><Relationship Id="rId276" Type="http://schemas.openxmlformats.org/officeDocument/2006/relationships/font" Target="fonts/font2.fntdata"/><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slide" Target="slides/slide261.xml"/><Relationship Id="rId287" Type="http://schemas.openxmlformats.org/officeDocument/2006/relationships/font" Target="fonts/font13.fntdata"/><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slideMaster" Target="slideMasters/slideMaster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277" Type="http://schemas.openxmlformats.org/officeDocument/2006/relationships/font" Target="fonts/font3.fntdata"/><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slide" Target="slides/slide262.xml"/><Relationship Id="rId288" Type="http://schemas.openxmlformats.org/officeDocument/2006/relationships/font" Target="fonts/font14.fntdata"/><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4" Type="http://schemas.openxmlformats.org/officeDocument/2006/relationships/slideMaster" Target="slideMasters/slideMaster4.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278" Type="http://schemas.openxmlformats.org/officeDocument/2006/relationships/font" Target="fonts/font4.fntdata"/><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107" Type="http://schemas.openxmlformats.org/officeDocument/2006/relationships/slide" Target="slides/slide102.xml"/><Relationship Id="rId289" Type="http://schemas.openxmlformats.org/officeDocument/2006/relationships/font" Target="fonts/font15.fntdata"/><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258" Type="http://schemas.openxmlformats.org/officeDocument/2006/relationships/slide" Target="slides/slide253.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 Id="rId171" Type="http://schemas.openxmlformats.org/officeDocument/2006/relationships/slide" Target="slides/slide166.xml"/><Relationship Id="rId227" Type="http://schemas.openxmlformats.org/officeDocument/2006/relationships/slide" Target="slides/slide222.xml"/><Relationship Id="rId269" Type="http://schemas.openxmlformats.org/officeDocument/2006/relationships/slide" Target="slides/slide2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eeksforgeeks.org/introduction-to-c-sharp/"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u="sng">
                <a:solidFill>
                  <a:schemeClr val="hlink"/>
                </a:solidFill>
                <a:hlinkClick r:id="rId3"/>
              </a:rPr>
              <a:t>https://www.geeksforgeeks.org/introduction-to-c-sharp/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277d24a1f5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277d24a1f5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277d24a1f5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g3277d24a1f5_1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16071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4" name="Google Shape;584;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05582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2" name="Google Shape;602;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73069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1" name="Google Shape;621;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44429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 name="Google Shape;498;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65338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8" name="Google Shape;508;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247340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8" name="Google Shape;518;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137469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7ac6721a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17ac6721a0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8414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296041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15968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20511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0254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5762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377670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06519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453846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81461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50981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8" name="Google Shape;54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771013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8" name="Google Shape;558;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966962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7ac6721a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g317ac6721a0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84147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453846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6315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089190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150c50da25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g3150c50da25_0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02838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641956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22281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45028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74293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97284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710408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506137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65030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733040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53587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878070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88396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299284931b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2299284931b_0_1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26723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63781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32171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1421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299284931b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2299284931b_0_2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597712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299284931b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2299284931b_0_2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600959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0750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690976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16130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837735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e4d076d9de_2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7" name="Google Shape;377;g1e4d076d9de_2_2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8176732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3767107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178328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489301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673723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91217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24922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875522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62255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598960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141864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37967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781294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722465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99768154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3422592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19593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389459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6960571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8225605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524893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1290862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0580453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6673802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301809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51294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2df17fc99c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2df17fc99c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ba1bd688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2ba1bd688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2ba1bd688a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2ba1bd688a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2ba1bd688a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2ba1bd688a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2ba1bd688a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2ba1bd688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2ba1bd688a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2ba1bd688a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2ba1bd688a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2ba1bd688a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2ba1bd688a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2ba1bd688a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2ba5cff0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2ba5cff0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2bc0468bc5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2bc0468bc5_2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2bc0468bc5_2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2bc0468bc5_2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2db687910b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2db687910b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312ce4ed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3312ce4ede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312ce4edea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312ce4edea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312ce4edea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3312ce4edea_0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312ce4edea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g3312ce4edea_0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312ce4edea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3312ce4edea_0_2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312ce4edea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312ce4edea_0_3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312ce4edea_0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3312ce4edea_0_3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312ce4edea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312ce4edea_0_4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312ce4edea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312ce4edea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312ce4edea_0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312ce4edea_0_4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314bba3ba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g3314bba3ba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314bba3ba4_1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3314bba3ba4_1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314bba3ba4_1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3314bba3ba4_1_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37da8b04a1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337da8b04a1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37da8b04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337da8b04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37da8b04a1_2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337da8b04a1_2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37da8b04a1_2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g337da8b04a1_2_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37da8b04a1_2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337da8b04a1_2_2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37da8b04a1_2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337da8b04a1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31c8b2e0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31c8b2e05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05cb78aafb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05cb78aafb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a65b4aa4d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a65b4aa4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05cb78aafb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05cb78aafb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a65b4aa4d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a65b4aa4d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05cb78aafb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05cb78aafb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05cb78aafb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05cb78aafb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05cb78aafb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05cb78aafb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05cb78aafb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05cb78aafb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05cb78aafb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05cb78aafb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05cb78aafb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05cb78aafb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05cb78aafb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05cb78aafb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05cb78aafb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05cb78aafb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05cb78aafb_0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05cb78aafb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05cb78aafb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05cb78aafb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05cb78aafb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05cb78aafb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05cb78aafb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05cb78aafb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05cb78aafb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05cb78aafb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05cb78aafb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05cb78aafb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05cb78aafb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05cb78aafb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05cb78aafb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05cb78aafb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05cb78aafb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05cb78aafb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05cb78aafb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05cb78aafb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05cb78aafb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205cb78aafb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322e66b7a7_2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3322e66b7a7_2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322e66b7a7_2_10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322e66b7a7_2_10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322e66b7a7_2_10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3322e66b7a7_2_10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322e66b7a7_2_1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322e66b7a7_2_1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322e66b7a7_2_1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322e66b7a7_2_12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322e66b7a7_2_12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322e66b7a7_2_12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322e66b7a7_2_1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322e66b7a7_2_13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324a8267e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324a8267e4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322e66b7a7_2_1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322e66b7a7_2_13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322e66b7a7_2_14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322e66b7a7_2_14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322e66b7a7_2_14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322e66b7a7_2_14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322e66b7a7_2_15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322e66b7a7_2_15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322e66b7a7_2_16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g3322e66b7a7_2_1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322e66b7a7_2_16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0" name="Google Shape;260;g3322e66b7a7_2_16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322e66b7a7_2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g3322e66b7a7_2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322e66b7a7_2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g3322e66b7a7_2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322e66b7a7_2_1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3322e66b7a7_2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22e66b7a7_2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6" name="Google Shape;306;g3322e66b7a7_2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322e66b7a7_2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2" name="Google Shape;312;g3322e66b7a7_2_2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322e66b7a7_2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6" name="Google Shape;326;g3322e66b7a7_2_3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322e66b7a7_2_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g3322e66b7a7_2_3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322e66b7a7_2_4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3322e66b7a7_2_4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322e66b7a7_2_4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g3322e66b7a7_2_4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322e66b7a7_2_5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8" name="Google Shape;368;g3322e66b7a7_2_5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322e66b7a7_2_1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7" name="Google Shape;377;g3322e66b7a7_2_16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322e66b7a7_2_16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g3322e66b7a7_2_16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322e66b7a7_2_16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7" name="Google Shape;397;g3322e66b7a7_2_16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322e66b7a7_2_16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g3322e66b7a7_2_16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322e66b7a7_2_6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g3322e66b7a7_2_6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322e66b7a7_2_6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g3322e66b7a7_2_6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322e66b7a7_2_7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4" name="Google Shape;444;g3322e66b7a7_2_7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322e66b7a7_2_7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g3322e66b7a7_2_7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322e66b7a7_2_8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g3322e66b7a7_2_8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322e66b7a7_2_8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7" name="Google Shape;477;g3322e66b7a7_2_8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1" name="Google Shape;491;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17ac6721a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g317ac6721a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17ac6721a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317ac6721a0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17ac6721a0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317ac6721a0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4451648"/>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17ac6721a0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317ac6721a0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64195616"/>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7727655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01699783"/>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4249458"/>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22830423"/>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86126082"/>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18755223"/>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48351443"/>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8298090"/>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25152764"/>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93153118"/>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65519721f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65519721f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1469813"/>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4451648"/>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05ac0a8dc1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05ac0a8dc1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099238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05ac0a8dc1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05ac0a8dc1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845427"/>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05ac0a8dc1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05ac0a8dc1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8457087"/>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05ac0a8dc1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05ac0a8dc1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5962280"/>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10220713"/>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1277766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7996957"/>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77950497"/>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05545022"/>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71204324"/>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10220713"/>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527935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7225594"/>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27275615"/>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17ac6721a0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g317ac6721a0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8533150"/>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356e3561d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356e3561d0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356e3561d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g3356e3561d0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356e3561d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3356e3561d0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356e3561d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356e3561d0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356e3561d0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356e3561d0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356e3561d0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3356e3561d0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356e3561d0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3356e3561d0_0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356e3561d0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356e3561d0_0_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356e3561d0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356e3561d0_0_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356e3561d0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356e3561d0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356e3561d0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356e3561d0_0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356e3561d0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356e3561d0_0_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356e3561d0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3356e3561d0_0_1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356e3561d0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356e3561d0_0_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356e3561d0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356e3561d0_0_1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356e3561d0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3356e3561d0_0_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356e3561d0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356e3561d0_0_1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356e3561d0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g3356e3561d0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356e3561d0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g3356e3561d0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356e3561d0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g3356e3561d0_0_2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356e3561d0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g3356e3561d0_0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356e3561d0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3356e3561d0_0_2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2 1">
  <p:cSld name="CUSTOM_1_1">
    <p:bg>
      <p:bgPr>
        <a:blipFill>
          <a:blip r:embed="rId2">
            <a:alphaModFix/>
          </a:blip>
          <a:stretch>
            <a:fillRect/>
          </a:stretch>
        </a:blipFill>
        <a:effectLst/>
      </p:bgPr>
    </p:bg>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1">
  <p:cSld name="CUSTOM_1_1">
    <p:bg>
      <p:bgPr>
        <a:blipFill>
          <a:blip r:embed="rId2">
            <a:alphaModFix/>
          </a:blip>
          <a:stretch>
            <a:fillRect/>
          </a:stretch>
        </a:blip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2 1">
  <p:cSld name="CUSTOM_1_1">
    <p:bg>
      <p:bgPr>
        <a:blipFill>
          <a:blip r:embed="rId2">
            <a:alphaModFix/>
          </a:blip>
          <a:stretch>
            <a:fillRect/>
          </a:stretch>
        </a:blipFill>
        <a:effectLst/>
      </p:bgPr>
    </p:bg>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7" r:id="rId2"/>
    <p:sldLayoutId id="2147483669"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70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hyperlink" Target="https://learn.microsoft.com/en-us/dotnet/csharp/language-reference/keywords/readonly" TargetMode="External"/><Relationship Id="rId3" Type="http://schemas.openxmlformats.org/officeDocument/2006/relationships/image" Target="../media/image4.png"/><Relationship Id="rId7" Type="http://schemas.openxmlformats.org/officeDocument/2006/relationships/hyperlink" Target="https://learn.microsoft.com/en-us/dotnet/csharp/language-reference/keywords/cons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hyperlink" Target="https://learn.microsoft.com/en-us/dotnet/csharp/language-reference/keywords/required"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1.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5.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1.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8.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9.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0.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1.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5.png"/></Relationships>
</file>

<file path=ppt/slides/_rels/slide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2.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pn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5.png"/></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7.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5.png"/></Relationships>
</file>

<file path=ppt/slides/_rels/slide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8.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5.png"/></Relationships>
</file>

<file path=ppt/slides/_rels/slide8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0.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5.png"/></Relationships>
</file>

<file path=ppt/slides/_rels/slide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1.xml"/><Relationship Id="rId1" Type="http://schemas.openxmlformats.org/officeDocument/2006/relationships/slideLayout" Target="../slideLayouts/slideLayout6.xml"/><Relationship Id="rId6" Type="http://schemas.openxmlformats.org/officeDocument/2006/relationships/image" Target="../media/image42.png"/><Relationship Id="rId5" Type="http://schemas.openxmlformats.org/officeDocument/2006/relationships/image" Target="../media/image6.png"/><Relationship Id="rId4" Type="http://schemas.openxmlformats.org/officeDocument/2006/relationships/image" Target="../media/image5.png"/></Relationships>
</file>

<file path=ppt/slides/_rels/slide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2.xml"/><Relationship Id="rId1" Type="http://schemas.openxmlformats.org/officeDocument/2006/relationships/slideLayout" Target="../slideLayouts/slideLayout6.xml"/><Relationship Id="rId5" Type="http://schemas.openxmlformats.org/officeDocument/2006/relationships/image" Target="../media/image43.png"/><Relationship Id="rId4" Type="http://schemas.openxmlformats.org/officeDocument/2006/relationships/image" Target="../media/image5.png"/></Relationships>
</file>

<file path=ppt/slides/_rels/slide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3.xml"/><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6.png"/><Relationship Id="rId4" Type="http://schemas.openxmlformats.org/officeDocument/2006/relationships/image" Target="../media/image5.png"/></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4.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6.png"/><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png"/><Relationship Id="rId7" Type="http://schemas.openxmlformats.org/officeDocument/2006/relationships/image" Target="../media/image47.png"/><Relationship Id="rId2" Type="http://schemas.openxmlformats.org/officeDocument/2006/relationships/notesSlide" Target="../notesSlides/notesSlide95.xml"/><Relationship Id="rId1" Type="http://schemas.openxmlformats.org/officeDocument/2006/relationships/slideLayout" Target="../slideLayouts/slideLayout6.xml"/><Relationship Id="rId6" Type="http://schemas.openxmlformats.org/officeDocument/2006/relationships/image" Target="../media/image46.png"/><Relationship Id="rId5" Type="http://schemas.openxmlformats.org/officeDocument/2006/relationships/image" Target="../media/image6.png"/><Relationship Id="rId4" Type="http://schemas.openxmlformats.org/officeDocument/2006/relationships/image" Target="../media/image5.png"/></Relationships>
</file>

<file path=ppt/slides/_rels/slide9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png"/><Relationship Id="rId7" Type="http://schemas.openxmlformats.org/officeDocument/2006/relationships/image" Target="../media/image50.png"/><Relationship Id="rId2" Type="http://schemas.openxmlformats.org/officeDocument/2006/relationships/notesSlide" Target="../notesSlides/notesSlide96.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image" Target="../media/image6.png"/><Relationship Id="rId4" Type="http://schemas.openxmlformats.org/officeDocument/2006/relationships/image" Target="../media/image5.png"/></Relationships>
</file>

<file path=ppt/slides/_rels/slide9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png"/><Relationship Id="rId7" Type="http://schemas.openxmlformats.org/officeDocument/2006/relationships/image" Target="../media/image53.png"/><Relationship Id="rId2" Type="http://schemas.openxmlformats.org/officeDocument/2006/relationships/notesSlide" Target="../notesSlides/notesSlide97.xml"/><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6.png"/><Relationship Id="rId4" Type="http://schemas.openxmlformats.org/officeDocument/2006/relationships/image" Target="../media/image5.png"/></Relationships>
</file>

<file path=ppt/slides/_rels/slide9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png"/><Relationship Id="rId7" Type="http://schemas.openxmlformats.org/officeDocument/2006/relationships/image" Target="../media/image56.png"/><Relationship Id="rId2" Type="http://schemas.openxmlformats.org/officeDocument/2006/relationships/notesSlide" Target="../notesSlides/notesSlide98.xml"/><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6.png"/><Relationship Id="rId4" Type="http://schemas.openxmlformats.org/officeDocument/2006/relationships/image" Target="../media/image5.png"/></Relationships>
</file>

<file path=ppt/slides/_rels/slide9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4.png"/><Relationship Id="rId7" Type="http://schemas.openxmlformats.org/officeDocument/2006/relationships/image" Target="../media/image59.png"/><Relationship Id="rId2" Type="http://schemas.openxmlformats.org/officeDocument/2006/relationships/notesSlide" Target="../notesSlides/notesSlide99.xml"/><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61.png"/></Relationships>
</file>

<file path=ppt/slides/_rels/slide1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0.xml"/><Relationship Id="rId1" Type="http://schemas.openxmlformats.org/officeDocument/2006/relationships/slideLayout" Target="../slideLayouts/slideLayout6.xml"/><Relationship Id="rId6" Type="http://schemas.openxmlformats.org/officeDocument/2006/relationships/image" Target="../media/image62.png"/><Relationship Id="rId5" Type="http://schemas.openxmlformats.org/officeDocument/2006/relationships/image" Target="../media/image6.png"/><Relationship Id="rId4" Type="http://schemas.openxmlformats.org/officeDocument/2006/relationships/image" Target="../media/image5.png"/></Relationships>
</file>

<file path=ppt/slides/_rels/slide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1.xml"/><Relationship Id="rId1" Type="http://schemas.openxmlformats.org/officeDocument/2006/relationships/slideLayout" Target="../slideLayouts/slideLayout6.xml"/><Relationship Id="rId6" Type="http://schemas.openxmlformats.org/officeDocument/2006/relationships/image" Target="../media/image63.png"/><Relationship Id="rId5" Type="http://schemas.openxmlformats.org/officeDocument/2006/relationships/image" Target="../media/image6.png"/><Relationship Id="rId4" Type="http://schemas.openxmlformats.org/officeDocument/2006/relationships/image" Target="../media/image5.png"/></Relationships>
</file>

<file path=ppt/slides/_rels/slide102.xml.rels><?xml version="1.0" encoding="UTF-8" standalone="yes"?>
<Relationships xmlns="http://schemas.openxmlformats.org/package/2006/relationships"><Relationship Id="rId8" Type="http://schemas.openxmlformats.org/officeDocument/2006/relationships/hyperlink" Target="https://www.javatpoint.com/linq" TargetMode="External"/><Relationship Id="rId3" Type="http://schemas.openxmlformats.org/officeDocument/2006/relationships/image" Target="../media/image4.png"/><Relationship Id="rId7" Type="http://schemas.openxmlformats.org/officeDocument/2006/relationships/hyperlink" Target="https://dotnettutorials.net/lesson/introduction-to-linq/" TargetMode="External"/><Relationship Id="rId2" Type="http://schemas.openxmlformats.org/officeDocument/2006/relationships/notesSlide" Target="../notesSlides/notesSlide10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hyperlink" Target="https://learn.microsoft.com/en-us/dotnet/csharp/linq/" TargetMode="External"/><Relationship Id="rId4" Type="http://schemas.openxmlformats.org/officeDocument/2006/relationships/image" Target="../media/image5.png"/></Relationships>
</file>

<file path=ppt/slides/_rels/slide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3.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4.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64.png"/><Relationship Id="rId4" Type="http://schemas.openxmlformats.org/officeDocument/2006/relationships/image" Target="../media/image5.png"/></Relationships>
</file>

<file path=ppt/slides/_rels/slide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6.xml"/><Relationship Id="rId1" Type="http://schemas.openxmlformats.org/officeDocument/2006/relationships/slideLayout" Target="../slideLayouts/slideLayout6.xml"/><Relationship Id="rId6" Type="http://schemas.openxmlformats.org/officeDocument/2006/relationships/image" Target="../media/image65.png"/><Relationship Id="rId5" Type="http://schemas.openxmlformats.org/officeDocument/2006/relationships/image" Target="../media/image6.png"/><Relationship Id="rId4" Type="http://schemas.openxmlformats.org/officeDocument/2006/relationships/image" Target="../media/image5.png"/></Relationships>
</file>

<file path=ppt/slides/_rels/slide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7.xml"/><Relationship Id="rId1" Type="http://schemas.openxmlformats.org/officeDocument/2006/relationships/slideLayout" Target="../slideLayouts/slideLayout6.xml"/><Relationship Id="rId6" Type="http://schemas.openxmlformats.org/officeDocument/2006/relationships/image" Target="../media/image66.png"/><Relationship Id="rId5" Type="http://schemas.openxmlformats.org/officeDocument/2006/relationships/image" Target="../media/image6.png"/><Relationship Id="rId4" Type="http://schemas.openxmlformats.org/officeDocument/2006/relationships/image" Target="../media/image5.png"/></Relationships>
</file>

<file path=ppt/slides/_rels/slide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8.xml"/><Relationship Id="rId1" Type="http://schemas.openxmlformats.org/officeDocument/2006/relationships/slideLayout" Target="../slideLayouts/slideLayout6.xml"/><Relationship Id="rId6" Type="http://schemas.openxmlformats.org/officeDocument/2006/relationships/image" Target="../media/image67.png"/><Relationship Id="rId5" Type="http://schemas.openxmlformats.org/officeDocument/2006/relationships/image" Target="../media/image6.png"/><Relationship Id="rId4" Type="http://schemas.openxmlformats.org/officeDocument/2006/relationships/image" Target="../media/image5.png"/></Relationships>
</file>

<file path=ppt/slides/_rels/slide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9.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0.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9.png"/><Relationship Id="rId2" Type="http://schemas.openxmlformats.org/officeDocument/2006/relationships/notesSlide" Target="../notesSlides/notesSlide111.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68.png"/><Relationship Id="rId4" Type="http://schemas.openxmlformats.org/officeDocument/2006/relationships/image" Target="../media/image5.png"/></Relationships>
</file>

<file path=ppt/slides/_rels/slide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2.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3.xml"/><Relationship Id="rId1" Type="http://schemas.openxmlformats.org/officeDocument/2006/relationships/slideLayout" Target="../slideLayouts/slideLayout6.xml"/><Relationship Id="rId6" Type="http://schemas.openxmlformats.org/officeDocument/2006/relationships/image" Target="../media/image70.png"/><Relationship Id="rId5" Type="http://schemas.openxmlformats.org/officeDocument/2006/relationships/image" Target="../media/image6.png"/><Relationship Id="rId4" Type="http://schemas.openxmlformats.org/officeDocument/2006/relationships/image" Target="../media/image5.png"/></Relationships>
</file>

<file path=ppt/slides/_rels/slide1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2.png"/><Relationship Id="rId2" Type="http://schemas.openxmlformats.org/officeDocument/2006/relationships/notesSlide" Target="../notesSlides/notesSlide11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71.png"/><Relationship Id="rId4" Type="http://schemas.openxmlformats.org/officeDocument/2006/relationships/image" Target="../media/image5.png"/></Relationships>
</file>

<file path=ppt/slides/_rels/slide1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5.xml"/><Relationship Id="rId1" Type="http://schemas.openxmlformats.org/officeDocument/2006/relationships/slideLayout" Target="../slideLayouts/slideLayout6.xml"/><Relationship Id="rId6" Type="http://schemas.openxmlformats.org/officeDocument/2006/relationships/image" Target="../media/image72.png"/><Relationship Id="rId5" Type="http://schemas.openxmlformats.org/officeDocument/2006/relationships/image" Target="../media/image6.png"/><Relationship Id="rId4" Type="http://schemas.openxmlformats.org/officeDocument/2006/relationships/image" Target="../media/image5.png"/></Relationships>
</file>

<file path=ppt/slides/_rels/slide1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16.xml"/><Relationship Id="rId1" Type="http://schemas.openxmlformats.org/officeDocument/2006/relationships/slideLayout" Target="../slideLayouts/slideLayout6.xml"/><Relationship Id="rId6" Type="http://schemas.openxmlformats.org/officeDocument/2006/relationships/hyperlink" Target="https://www.tutorialsteacher.com/ioc/ioc-container" TargetMode="External"/><Relationship Id="rId5" Type="http://schemas.openxmlformats.org/officeDocument/2006/relationships/hyperlink" Target="https://www.tutorialsteacher.com/ioc/dependency-injection" TargetMode="External"/><Relationship Id="rId4" Type="http://schemas.openxmlformats.org/officeDocument/2006/relationships/image" Target="../media/image5.png"/></Relationships>
</file>

<file path=ppt/slides/_rels/slide1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7.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6.png"/><Relationship Id="rId4" Type="http://schemas.openxmlformats.org/officeDocument/2006/relationships/image" Target="../media/image5.png"/></Relationships>
</file>

<file path=ppt/slides/_rels/slide1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8.xml"/><Relationship Id="rId1" Type="http://schemas.openxmlformats.org/officeDocument/2006/relationships/slideLayout" Target="../slideLayouts/slideLayout6.xml"/><Relationship Id="rId6" Type="http://schemas.openxmlformats.org/officeDocument/2006/relationships/image" Target="../media/image74.png"/><Relationship Id="rId5" Type="http://schemas.openxmlformats.org/officeDocument/2006/relationships/image" Target="../media/image6.png"/><Relationship Id="rId4" Type="http://schemas.openxmlformats.org/officeDocument/2006/relationships/image" Target="../media/image5.png"/></Relationships>
</file>

<file path=ppt/slides/_rels/slide1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9.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6.png"/><Relationship Id="rId2" Type="http://schemas.openxmlformats.org/officeDocument/2006/relationships/notesSlide" Target="../notesSlides/notesSlide120.xml"/><Relationship Id="rId1" Type="http://schemas.openxmlformats.org/officeDocument/2006/relationships/slideLayout" Target="../slideLayouts/slideLayout6.xml"/><Relationship Id="rId6" Type="http://schemas.openxmlformats.org/officeDocument/2006/relationships/image" Target="../media/image75.png"/><Relationship Id="rId5" Type="http://schemas.openxmlformats.org/officeDocument/2006/relationships/image" Target="../media/image6.png"/><Relationship Id="rId4" Type="http://schemas.openxmlformats.org/officeDocument/2006/relationships/image" Target="../media/image5.png"/></Relationships>
</file>

<file path=ppt/slides/_rels/slide1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1.xml"/><Relationship Id="rId1" Type="http://schemas.openxmlformats.org/officeDocument/2006/relationships/slideLayout" Target="../slideLayouts/slideLayout6.xml"/><Relationship Id="rId6" Type="http://schemas.openxmlformats.org/officeDocument/2006/relationships/image" Target="../media/image77.png"/><Relationship Id="rId5" Type="http://schemas.openxmlformats.org/officeDocument/2006/relationships/image" Target="../media/image6.png"/><Relationship Id="rId4" Type="http://schemas.openxmlformats.org/officeDocument/2006/relationships/image" Target="../media/image5.png"/></Relationships>
</file>

<file path=ppt/slides/_rels/slide1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2.xml"/><Relationship Id="rId1" Type="http://schemas.openxmlformats.org/officeDocument/2006/relationships/slideLayout" Target="../slideLayouts/slideLayout6.xml"/><Relationship Id="rId6" Type="http://schemas.openxmlformats.org/officeDocument/2006/relationships/image" Target="../media/image77.png"/><Relationship Id="rId5" Type="http://schemas.openxmlformats.org/officeDocument/2006/relationships/image" Target="../media/image6.png"/><Relationship Id="rId4" Type="http://schemas.openxmlformats.org/officeDocument/2006/relationships/image" Target="../media/image5.png"/></Relationships>
</file>

<file path=ppt/slides/_rels/slide1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3.xml"/><Relationship Id="rId1" Type="http://schemas.openxmlformats.org/officeDocument/2006/relationships/slideLayout" Target="../slideLayouts/slideLayout6.xml"/><Relationship Id="rId6" Type="http://schemas.openxmlformats.org/officeDocument/2006/relationships/image" Target="../media/image78.png"/><Relationship Id="rId5" Type="http://schemas.openxmlformats.org/officeDocument/2006/relationships/image" Target="../media/image6.png"/><Relationship Id="rId4" Type="http://schemas.openxmlformats.org/officeDocument/2006/relationships/image" Target="../media/image5.png"/></Relationships>
</file>

<file path=ppt/slides/_rels/slide1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4.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5.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6.png"/><Relationship Id="rId4" Type="http://schemas.openxmlformats.org/officeDocument/2006/relationships/image" Target="../media/image5.png"/></Relationships>
</file>

<file path=ppt/slides/_rels/slide1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6.xml"/><Relationship Id="rId1" Type="http://schemas.openxmlformats.org/officeDocument/2006/relationships/slideLayout" Target="../slideLayouts/slideLayout6.xml"/><Relationship Id="rId6" Type="http://schemas.openxmlformats.org/officeDocument/2006/relationships/image" Target="../media/image80.png"/><Relationship Id="rId5" Type="http://schemas.openxmlformats.org/officeDocument/2006/relationships/image" Target="../media/image6.png"/><Relationship Id="rId4" Type="http://schemas.openxmlformats.org/officeDocument/2006/relationships/image" Target="../media/image5.png"/></Relationships>
</file>

<file path=ppt/slides/_rels/slide1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7.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image" Target="../media/image81.png"/><Relationship Id="rId5" Type="http://schemas.openxmlformats.org/officeDocument/2006/relationships/image" Target="../media/image6.png"/><Relationship Id="rId4" Type="http://schemas.openxmlformats.org/officeDocument/2006/relationships/image" Target="../media/image5.png"/></Relationships>
</file>

<file path=ppt/slides/_rels/slide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9.xml"/><Relationship Id="rId1" Type="http://schemas.openxmlformats.org/officeDocument/2006/relationships/slideLayout" Target="../slideLayouts/slideLayout6.xml"/><Relationship Id="rId6" Type="http://schemas.openxmlformats.org/officeDocument/2006/relationships/image" Target="../media/image82.png"/><Relationship Id="rId5" Type="http://schemas.openxmlformats.org/officeDocument/2006/relationships/image" Target="../media/image6.png"/><Relationship Id="rId4" Type="http://schemas.openxmlformats.org/officeDocument/2006/relationships/image" Target="../media/image5.png"/></Relationships>
</file>

<file path=ppt/slides/_rels/slide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0.xml"/><Relationship Id="rId1" Type="http://schemas.openxmlformats.org/officeDocument/2006/relationships/slideLayout" Target="../slideLayouts/slideLayout6.xml"/><Relationship Id="rId6" Type="http://schemas.openxmlformats.org/officeDocument/2006/relationships/image" Target="../media/image83.png"/><Relationship Id="rId5" Type="http://schemas.openxmlformats.org/officeDocument/2006/relationships/image" Target="../media/image6.png"/><Relationship Id="rId4" Type="http://schemas.openxmlformats.org/officeDocument/2006/relationships/image" Target="../media/image5.png"/></Relationships>
</file>

<file path=ppt/slides/_rels/slide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1.xml"/><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image" Target="../media/image6.png"/><Relationship Id="rId4" Type="http://schemas.openxmlformats.org/officeDocument/2006/relationships/image" Target="../media/image5.png"/></Relationships>
</file>

<file path=ppt/slides/_rels/slide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2.xml"/><Relationship Id="rId1" Type="http://schemas.openxmlformats.org/officeDocument/2006/relationships/slideLayout" Target="../slideLayouts/slideLayout6.xml"/><Relationship Id="rId6" Type="http://schemas.openxmlformats.org/officeDocument/2006/relationships/image" Target="../media/image85.png"/><Relationship Id="rId5" Type="http://schemas.openxmlformats.org/officeDocument/2006/relationships/image" Target="../media/image6.png"/><Relationship Id="rId4" Type="http://schemas.openxmlformats.org/officeDocument/2006/relationships/image" Target="../media/image5.png"/></Relationships>
</file>

<file path=ppt/slides/_rels/slide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3.xml"/><Relationship Id="rId1" Type="http://schemas.openxmlformats.org/officeDocument/2006/relationships/slideLayout" Target="../slideLayouts/slideLayout6.xml"/><Relationship Id="rId6" Type="http://schemas.openxmlformats.org/officeDocument/2006/relationships/image" Target="../media/image86.png"/><Relationship Id="rId5" Type="http://schemas.openxmlformats.org/officeDocument/2006/relationships/image" Target="../media/image6.png"/><Relationship Id="rId4" Type="http://schemas.openxmlformats.org/officeDocument/2006/relationships/image" Target="../media/image5.png"/></Relationships>
</file>

<file path=ppt/slides/_rels/slide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4.xml"/><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image" Target="../media/image6.png"/><Relationship Id="rId4" Type="http://schemas.openxmlformats.org/officeDocument/2006/relationships/image" Target="../media/image5.png"/></Relationships>
</file>

<file path=ppt/slides/_rels/slide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5.xml"/><Relationship Id="rId1" Type="http://schemas.openxmlformats.org/officeDocument/2006/relationships/slideLayout" Target="../slideLayouts/slideLayout6.xml"/><Relationship Id="rId6" Type="http://schemas.openxmlformats.org/officeDocument/2006/relationships/image" Target="../media/image88.png"/><Relationship Id="rId5" Type="http://schemas.openxmlformats.org/officeDocument/2006/relationships/image" Target="../media/image6.png"/><Relationship Id="rId4" Type="http://schemas.openxmlformats.org/officeDocument/2006/relationships/image" Target="../media/image5.png"/></Relationships>
</file>

<file path=ppt/slides/_rels/slide13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0.png"/><Relationship Id="rId2" Type="http://schemas.openxmlformats.org/officeDocument/2006/relationships/notesSlide" Target="../notesSlides/notesSlide136.xml"/><Relationship Id="rId1" Type="http://schemas.openxmlformats.org/officeDocument/2006/relationships/slideLayout" Target="../slideLayouts/slideLayout6.xml"/><Relationship Id="rId6" Type="http://schemas.openxmlformats.org/officeDocument/2006/relationships/image" Target="../media/image89.png"/><Relationship Id="rId5" Type="http://schemas.openxmlformats.org/officeDocument/2006/relationships/image" Target="../media/image6.png"/><Relationship Id="rId4" Type="http://schemas.openxmlformats.org/officeDocument/2006/relationships/image" Target="../media/image5.png"/></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2.png"/><Relationship Id="rId2" Type="http://schemas.openxmlformats.org/officeDocument/2006/relationships/notesSlide" Target="../notesSlides/notesSlide137.xml"/><Relationship Id="rId1" Type="http://schemas.openxmlformats.org/officeDocument/2006/relationships/slideLayout" Target="../slideLayouts/slideLayout6.xml"/><Relationship Id="rId6" Type="http://schemas.openxmlformats.org/officeDocument/2006/relationships/image" Target="../media/image91.png"/><Relationship Id="rId5" Type="http://schemas.openxmlformats.org/officeDocument/2006/relationships/image" Target="../media/image6.png"/><Relationship Id="rId4" Type="http://schemas.openxmlformats.org/officeDocument/2006/relationships/image" Target="../media/image5.png"/></Relationships>
</file>

<file path=ppt/slides/_rels/slide13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4.png"/><Relationship Id="rId2" Type="http://schemas.openxmlformats.org/officeDocument/2006/relationships/notesSlide" Target="../notesSlides/notesSlide138.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3.png"/><Relationship Id="rId4" Type="http://schemas.openxmlformats.org/officeDocument/2006/relationships/image" Target="../media/image5.png"/></Relationships>
</file>

<file path=ppt/slides/_rels/slide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9.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5.png"/><Relationship Id="rId4" Type="http://schemas.openxmlformats.org/officeDocument/2006/relationships/image" Target="../media/image5.png"/></Relationships>
</file>

<file path=ppt/slides/_rels/slide1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0.xml"/><Relationship Id="rId1" Type="http://schemas.openxmlformats.org/officeDocument/2006/relationships/slideLayout" Target="../slideLayouts/slideLayout6.xml"/><Relationship Id="rId5" Type="http://schemas.openxmlformats.org/officeDocument/2006/relationships/image" Target="../media/image96.png"/><Relationship Id="rId4" Type="http://schemas.openxmlformats.org/officeDocument/2006/relationships/image" Target="../media/image5.png"/></Relationships>
</file>

<file path=ppt/slides/_rels/slide1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1.xml"/><Relationship Id="rId1" Type="http://schemas.openxmlformats.org/officeDocument/2006/relationships/slideLayout" Target="../slideLayouts/slideLayout6.xml"/><Relationship Id="rId6" Type="http://schemas.openxmlformats.org/officeDocument/2006/relationships/image" Target="../media/image97.png"/><Relationship Id="rId5" Type="http://schemas.openxmlformats.org/officeDocument/2006/relationships/image" Target="../media/image6.png"/><Relationship Id="rId4" Type="http://schemas.openxmlformats.org/officeDocument/2006/relationships/image" Target="../media/image5.png"/></Relationships>
</file>

<file path=ppt/slides/_rels/slide1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2.xml"/><Relationship Id="rId1" Type="http://schemas.openxmlformats.org/officeDocument/2006/relationships/slideLayout" Target="../slideLayouts/slideLayout6.xml"/><Relationship Id="rId6" Type="http://schemas.openxmlformats.org/officeDocument/2006/relationships/image" Target="../media/image98.png"/><Relationship Id="rId5" Type="http://schemas.openxmlformats.org/officeDocument/2006/relationships/image" Target="../media/image6.png"/><Relationship Id="rId4" Type="http://schemas.openxmlformats.org/officeDocument/2006/relationships/image" Target="../media/image5.png"/></Relationships>
</file>

<file path=ppt/slides/_rels/slide1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3.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9.png"/><Relationship Id="rId4" Type="http://schemas.openxmlformats.org/officeDocument/2006/relationships/image" Target="../media/image5.png"/></Relationships>
</file>

<file path=ppt/slides/_rels/slide1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00.png"/><Relationship Id="rId4" Type="http://schemas.openxmlformats.org/officeDocument/2006/relationships/image" Target="../media/image5.png"/></Relationships>
</file>

<file path=ppt/slides/_rels/slide1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5.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01.png"/><Relationship Id="rId4" Type="http://schemas.openxmlformats.org/officeDocument/2006/relationships/image" Target="../media/image5.png"/></Relationships>
</file>

<file path=ppt/slides/_rels/slide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6.xml"/><Relationship Id="rId1" Type="http://schemas.openxmlformats.org/officeDocument/2006/relationships/slideLayout" Target="../slideLayouts/slideLayout7.xml"/><Relationship Id="rId6" Type="http://schemas.openxmlformats.org/officeDocument/2006/relationships/hyperlink" Target="https://www.sqltutorial.org/"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1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7.xml"/><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6.png"/><Relationship Id="rId4" Type="http://schemas.openxmlformats.org/officeDocument/2006/relationships/image" Target="../media/image5.png"/></Relationships>
</file>

<file path=ppt/slides/_rels/slide1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0.xml"/><Relationship Id="rId1" Type="http://schemas.openxmlformats.org/officeDocument/2006/relationships/slideLayout" Target="../slideLayouts/slideLayout7.xml"/><Relationship Id="rId6" Type="http://schemas.openxmlformats.org/officeDocument/2006/relationships/image" Target="../media/image103.png"/><Relationship Id="rId5" Type="http://schemas.openxmlformats.org/officeDocument/2006/relationships/image" Target="../media/image6.png"/><Relationship Id="rId4" Type="http://schemas.openxmlformats.org/officeDocument/2006/relationships/image" Target="../media/image5.png"/></Relationships>
</file>

<file path=ppt/slides/_rels/slide1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2.xml"/><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6.png"/><Relationship Id="rId4" Type="http://schemas.openxmlformats.org/officeDocument/2006/relationships/image" Target="../media/image5.png"/></Relationships>
</file>

<file path=ppt/slides/_rels/slide1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05.png"/><Relationship Id="rId4" Type="http://schemas.openxmlformats.org/officeDocument/2006/relationships/image" Target="../media/image5.png"/></Relationships>
</file>

<file path=ppt/slides/_rels/slide1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6.xml"/><Relationship Id="rId1" Type="http://schemas.openxmlformats.org/officeDocument/2006/relationships/slideLayout" Target="../slideLayouts/slideLayout7.xml"/><Relationship Id="rId5" Type="http://schemas.openxmlformats.org/officeDocument/2006/relationships/image" Target="../media/image106.png"/><Relationship Id="rId4" Type="http://schemas.openxmlformats.org/officeDocument/2006/relationships/image" Target="../media/image5.png"/></Relationships>
</file>

<file path=ppt/slides/_rels/slide1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9.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6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08.png"/><Relationship Id="rId2" Type="http://schemas.openxmlformats.org/officeDocument/2006/relationships/notesSlide" Target="../notesSlides/notesSlide169.xml"/><Relationship Id="rId1" Type="http://schemas.openxmlformats.org/officeDocument/2006/relationships/slideLayout" Target="../slideLayouts/slideLayout7.xml"/><Relationship Id="rId6" Type="http://schemas.openxmlformats.org/officeDocument/2006/relationships/image" Target="../media/image107.png"/><Relationship Id="rId5" Type="http://schemas.openxmlformats.org/officeDocument/2006/relationships/image" Target="../media/image6.png"/><Relationship Id="rId4" Type="http://schemas.openxmlformats.org/officeDocument/2006/relationships/image" Target="../media/image5.png"/></Relationships>
</file>

<file path=ppt/slides/_rels/slide17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0.png"/><Relationship Id="rId2" Type="http://schemas.openxmlformats.org/officeDocument/2006/relationships/notesSlide" Target="../notesSlides/notesSlide170.xml"/><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6.png"/><Relationship Id="rId4" Type="http://schemas.openxmlformats.org/officeDocument/2006/relationships/image" Target="../media/image5.png"/></Relationships>
</file>

<file path=ppt/slides/_rels/slide17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2.png"/><Relationship Id="rId2" Type="http://schemas.openxmlformats.org/officeDocument/2006/relationships/notesSlide" Target="../notesSlides/notesSlide171.xml"/><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6.png"/><Relationship Id="rId4" Type="http://schemas.openxmlformats.org/officeDocument/2006/relationships/image" Target="../media/image5.png"/></Relationships>
</file>

<file path=ppt/slides/_rels/slide1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6.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1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7.xml"/><Relationship Id="rId1" Type="http://schemas.openxmlformats.org/officeDocument/2006/relationships/slideLayout" Target="../slideLayouts/slideLayout7.xml"/><Relationship Id="rId6" Type="http://schemas.openxmlformats.org/officeDocument/2006/relationships/image" Target="../media/image113.png"/><Relationship Id="rId5" Type="http://schemas.openxmlformats.org/officeDocument/2006/relationships/image" Target="../media/image6.png"/><Relationship Id="rId4" Type="http://schemas.openxmlformats.org/officeDocument/2006/relationships/image" Target="../media/image5.png"/></Relationships>
</file>

<file path=ppt/slides/_rels/slide17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84.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8.xml"/><Relationship Id="rId1" Type="http://schemas.openxmlformats.org/officeDocument/2006/relationships/slideLayout" Target="../slideLayouts/slideLayout7.xml"/><Relationship Id="rId6" Type="http://schemas.openxmlformats.org/officeDocument/2006/relationships/image" Target="../media/image116.png"/><Relationship Id="rId5" Type="http://schemas.openxmlformats.org/officeDocument/2006/relationships/image" Target="../media/image6.png"/><Relationship Id="rId4" Type="http://schemas.openxmlformats.org/officeDocument/2006/relationships/image" Target="../media/image5.png"/></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9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hyperlink" Target="https://stackoverflow.com/questions/54176/what-are-the-advantages-disadvantages-of-using-a-cte" TargetMode="External"/><Relationship Id="rId4" Type="http://schemas.openxmlformats.org/officeDocument/2006/relationships/image" Target="../media/image5.png"/></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learn.microsoft.com/en-us/sql/t-sql/statements/create-trigger-transact-sql?view=sql-server-ver16" TargetMode="External"/><Relationship Id="rId2" Type="http://schemas.openxmlformats.org/officeDocument/2006/relationships/notesSlide" Target="../notesSlides/notesSlide207.xml"/><Relationship Id="rId1" Type="http://schemas.openxmlformats.org/officeDocument/2006/relationships/slideLayout" Target="../slideLayouts/slideLayout7.xml"/><Relationship Id="rId6" Type="http://schemas.openxmlformats.org/officeDocument/2006/relationships/hyperlink" Target="https://www.sqlshack.com/triggers-in-sql-server/"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2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8.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0.xml"/><Relationship Id="rId1" Type="http://schemas.openxmlformats.org/officeDocument/2006/relationships/slideLayout" Target="../slideLayouts/slideLayout7.xml"/><Relationship Id="rId6" Type="http://schemas.openxmlformats.org/officeDocument/2006/relationships/hyperlink" Target="https://learn.microsoft.com/en-us/sql/relational-databases/cursors?view=sql-server-ver16" TargetMode="External"/><Relationship Id="rId5" Type="http://schemas.openxmlformats.org/officeDocument/2006/relationships/image" Target="../media/image6.png"/><Relationship Id="rId4" Type="http://schemas.openxmlformats.org/officeDocument/2006/relationships/image" Target="../media/image5.png"/></Relationships>
</file>

<file path=ppt/slides/_rels/slide2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3.xml"/><Relationship Id="rId1" Type="http://schemas.openxmlformats.org/officeDocument/2006/relationships/slideLayout" Target="../slideLayouts/slideLayout4.xml"/></Relationships>
</file>

<file path=ppt/slides/_rels/slide21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214.xml"/><Relationship Id="rId1" Type="http://schemas.openxmlformats.org/officeDocument/2006/relationships/slideLayout" Target="../slideLayouts/slideLayout4.xml"/></Relationships>
</file>

<file path=ppt/slides/_rels/slide215.xml.rels><?xml version="1.0" encoding="UTF-8" standalone="yes"?>
<Relationships xmlns="http://schemas.openxmlformats.org/package/2006/relationships"><Relationship Id="rId3" Type="http://schemas.openxmlformats.org/officeDocument/2006/relationships/image" Target="../media/image118.jpg"/><Relationship Id="rId2" Type="http://schemas.openxmlformats.org/officeDocument/2006/relationships/notesSlide" Target="../notesSlides/notesSlide215.xml"/><Relationship Id="rId1" Type="http://schemas.openxmlformats.org/officeDocument/2006/relationships/slideLayout" Target="../slideLayouts/slideLayout4.xml"/></Relationships>
</file>

<file path=ppt/slides/_rels/slide2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4.xml"/></Relationships>
</file>

<file path=ppt/slides/_rels/slide2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1.xml"/><Relationship Id="rId1" Type="http://schemas.openxmlformats.org/officeDocument/2006/relationships/slideLayout" Target="../slideLayouts/slideLayout3.xml"/><Relationship Id="rId5" Type="http://schemas.openxmlformats.org/officeDocument/2006/relationships/image" Target="../media/image119.png"/><Relationship Id="rId4" Type="http://schemas.openxmlformats.org/officeDocument/2006/relationships/image" Target="../media/image5.png"/></Relationships>
</file>

<file path=ppt/slides/_rels/slide2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6.xml"/><Relationship Id="rId1" Type="http://schemas.openxmlformats.org/officeDocument/2006/relationships/slideLayout" Target="../slideLayouts/slideLayout3.xml"/><Relationship Id="rId5" Type="http://schemas.openxmlformats.org/officeDocument/2006/relationships/hyperlink" Target="https://learn.microsoft.com/en-us/dotnet/api/system.data.entity.dbset-1?view=entity-framework-6.2.0" TargetMode="External"/><Relationship Id="rId4" Type="http://schemas.openxmlformats.org/officeDocument/2006/relationships/image" Target="../media/image5.png"/></Relationships>
</file>

<file path=ppt/slides/_rels/slide22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2.png"/><Relationship Id="rId2" Type="http://schemas.openxmlformats.org/officeDocument/2006/relationships/notesSlide" Target="../notesSlides/notesSlide227.xml"/><Relationship Id="rId1" Type="http://schemas.openxmlformats.org/officeDocument/2006/relationships/slideLayout" Target="../slideLayouts/slideLayout3.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5.png"/></Relationships>
</file>

<file path=ppt/slides/_rels/slide2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9.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4.png"/><Relationship Id="rId7" Type="http://schemas.openxmlformats.org/officeDocument/2006/relationships/image" Target="../media/image124.png"/><Relationship Id="rId2" Type="http://schemas.openxmlformats.org/officeDocument/2006/relationships/notesSlide" Target="../notesSlides/notesSlide229.xml"/><Relationship Id="rId1" Type="http://schemas.openxmlformats.org/officeDocument/2006/relationships/slideLayout" Target="../slideLayouts/slideLayout5.xml"/><Relationship Id="rId6" Type="http://schemas.openxmlformats.org/officeDocument/2006/relationships/image" Target="../media/image123.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26.png"/></Relationships>
</file>

<file path=ppt/slides/_rels/slide2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1.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2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2.xml"/><Relationship Id="rId1" Type="http://schemas.openxmlformats.org/officeDocument/2006/relationships/slideLayout" Target="../slideLayouts/slideLayout5.xml"/><Relationship Id="rId6" Type="http://schemas.openxmlformats.org/officeDocument/2006/relationships/image" Target="../media/image127.png"/><Relationship Id="rId5" Type="http://schemas.openxmlformats.org/officeDocument/2006/relationships/image" Target="../media/image6.png"/><Relationship Id="rId4" Type="http://schemas.openxmlformats.org/officeDocument/2006/relationships/image" Target="../media/image5.png"/></Relationships>
</file>

<file path=ppt/slides/_rels/slide2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3.xml"/><Relationship Id="rId1" Type="http://schemas.openxmlformats.org/officeDocument/2006/relationships/slideLayout" Target="../slideLayouts/slideLayout5.xml"/><Relationship Id="rId6" Type="http://schemas.openxmlformats.org/officeDocument/2006/relationships/image" Target="../media/image128.png"/><Relationship Id="rId5" Type="http://schemas.openxmlformats.org/officeDocument/2006/relationships/image" Target="../media/image6.png"/><Relationship Id="rId4" Type="http://schemas.openxmlformats.org/officeDocument/2006/relationships/image" Target="../media/image5.png"/></Relationships>
</file>

<file path=ppt/slides/_rels/slide2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4.xml"/><Relationship Id="rId1" Type="http://schemas.openxmlformats.org/officeDocument/2006/relationships/slideLayout" Target="../slideLayouts/slideLayout5.xml"/><Relationship Id="rId6" Type="http://schemas.openxmlformats.org/officeDocument/2006/relationships/image" Target="../media/image129.png"/><Relationship Id="rId5" Type="http://schemas.openxmlformats.org/officeDocument/2006/relationships/image" Target="../media/image6.png"/><Relationship Id="rId4" Type="http://schemas.openxmlformats.org/officeDocument/2006/relationships/image" Target="../media/image5.png"/></Relationships>
</file>

<file path=ppt/slides/_rels/slide2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8.xml"/><Relationship Id="rId1" Type="http://schemas.openxmlformats.org/officeDocument/2006/relationships/slideLayout" Target="../slideLayouts/slideLayout3.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5.png"/></Relationships>
</file>

<file path=ppt/slides/_rels/slide2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9.xml"/><Relationship Id="rId1" Type="http://schemas.openxmlformats.org/officeDocument/2006/relationships/slideLayout" Target="../slideLayouts/slideLayout3.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5.png"/></Relationships>
</file>

<file path=ppt/slides/_rels/slide2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0.xml"/><Relationship Id="rId1" Type="http://schemas.openxmlformats.org/officeDocument/2006/relationships/slideLayout" Target="../slideLayouts/slideLayout3.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5.png"/></Relationships>
</file>

<file path=ppt/slides/_rels/slide2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5.xml"/><Relationship Id="rId1" Type="http://schemas.openxmlformats.org/officeDocument/2006/relationships/slideLayout" Target="../slideLayouts/slideLayout3.xml"/><Relationship Id="rId5" Type="http://schemas.openxmlformats.org/officeDocument/2006/relationships/image" Target="../media/image136.png"/><Relationship Id="rId4" Type="http://schemas.openxmlformats.org/officeDocument/2006/relationships/image" Target="../media/image5.png"/></Relationships>
</file>

<file path=ppt/slides/_rels/slide2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6.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7.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8.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9.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0.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1.xml"/><Relationship Id="rId1" Type="http://schemas.openxmlformats.org/officeDocument/2006/relationships/slideLayout" Target="../slideLayouts/slideLayout9.xml"/><Relationship Id="rId5" Type="http://schemas.openxmlformats.org/officeDocument/2006/relationships/image" Target="../media/image137.png"/><Relationship Id="rId4" Type="http://schemas.openxmlformats.org/officeDocument/2006/relationships/image" Target="../media/image5.png"/></Relationships>
</file>

<file path=ppt/slides/_rels/slide2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2.xml"/><Relationship Id="rId1" Type="http://schemas.openxmlformats.org/officeDocument/2006/relationships/slideLayout" Target="../slideLayouts/slideLayout9.xml"/><Relationship Id="rId5" Type="http://schemas.openxmlformats.org/officeDocument/2006/relationships/image" Target="../media/image138.png"/><Relationship Id="rId4" Type="http://schemas.openxmlformats.org/officeDocument/2006/relationships/image" Target="../media/image5.png"/></Relationships>
</file>

<file path=ppt/slides/_rels/slide2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3.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4.xml"/><Relationship Id="rId1" Type="http://schemas.openxmlformats.org/officeDocument/2006/relationships/slideLayout" Target="../slideLayouts/slideLayout9.xml"/><Relationship Id="rId5" Type="http://schemas.openxmlformats.org/officeDocument/2006/relationships/image" Target="../media/image139.png"/><Relationship Id="rId4" Type="http://schemas.openxmlformats.org/officeDocument/2006/relationships/image" Target="../media/image5.png"/></Relationships>
</file>

<file path=ppt/slides/_rels/slide2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5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2.png"/><Relationship Id="rId2" Type="http://schemas.openxmlformats.org/officeDocument/2006/relationships/notesSlide" Target="../notesSlides/notesSlide256.xml"/><Relationship Id="rId1" Type="http://schemas.openxmlformats.org/officeDocument/2006/relationships/slideLayout" Target="../slideLayouts/slideLayout9.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5.png"/></Relationships>
</file>

<file path=ppt/slides/_rels/slide2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7.xml"/><Relationship Id="rId1" Type="http://schemas.openxmlformats.org/officeDocument/2006/relationships/slideLayout" Target="../slideLayouts/slideLayout9.xml"/><Relationship Id="rId5" Type="http://schemas.openxmlformats.org/officeDocument/2006/relationships/image" Target="../media/image143.png"/><Relationship Id="rId4" Type="http://schemas.openxmlformats.org/officeDocument/2006/relationships/image" Target="../media/image5.png"/></Relationships>
</file>

<file path=ppt/slides/_rels/slide2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8.xml"/><Relationship Id="rId1" Type="http://schemas.openxmlformats.org/officeDocument/2006/relationships/slideLayout" Target="../slideLayouts/slideLayout9.xml"/><Relationship Id="rId5" Type="http://schemas.openxmlformats.org/officeDocument/2006/relationships/image" Target="../media/image144.png"/><Relationship Id="rId4" Type="http://schemas.openxmlformats.org/officeDocument/2006/relationships/image" Target="../media/image5.png"/></Relationships>
</file>

<file path=ppt/slides/_rels/slide2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9.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0.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1.xml"/><Relationship Id="rId1" Type="http://schemas.openxmlformats.org/officeDocument/2006/relationships/slideLayout" Target="../slideLayouts/slideLayout9.xml"/><Relationship Id="rId5" Type="http://schemas.openxmlformats.org/officeDocument/2006/relationships/image" Target="../media/image145.png"/><Relationship Id="rId4" Type="http://schemas.openxmlformats.org/officeDocument/2006/relationships/image" Target="../media/image5.png"/></Relationships>
</file>

<file path=ppt/slides/_rels/slide2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2.xml"/><Relationship Id="rId1" Type="http://schemas.openxmlformats.org/officeDocument/2006/relationships/slideLayout" Target="../slideLayouts/slideLayout9.xml"/><Relationship Id="rId5" Type="http://schemas.openxmlformats.org/officeDocument/2006/relationships/image" Target="../media/image146.png"/><Relationship Id="rId4" Type="http://schemas.openxmlformats.org/officeDocument/2006/relationships/image" Target="../media/image5.png"/></Relationships>
</file>

<file path=ppt/slides/_rels/slide2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3.xml"/><Relationship Id="rId1" Type="http://schemas.openxmlformats.org/officeDocument/2006/relationships/slideLayout" Target="../slideLayouts/slideLayout9.xml"/><Relationship Id="rId5" Type="http://schemas.openxmlformats.org/officeDocument/2006/relationships/image" Target="../media/image147.png"/><Relationship Id="rId4" Type="http://schemas.openxmlformats.org/officeDocument/2006/relationships/image" Target="../media/image5.png"/></Relationships>
</file>

<file path=ppt/slides/_rels/slide2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4.xml"/><Relationship Id="rId1" Type="http://schemas.openxmlformats.org/officeDocument/2006/relationships/slideLayout" Target="../slideLayouts/slideLayout9.xml"/><Relationship Id="rId5" Type="http://schemas.openxmlformats.org/officeDocument/2006/relationships/image" Target="../media/image147.png"/><Relationship Id="rId4" Type="http://schemas.openxmlformats.org/officeDocument/2006/relationships/image" Target="../media/image5.png"/></Relationships>
</file>

<file path=ppt/slides/_rels/slide2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5.xml"/><Relationship Id="rId1" Type="http://schemas.openxmlformats.org/officeDocument/2006/relationships/slideLayout" Target="../slideLayouts/slideLayout9.xml"/><Relationship Id="rId5" Type="http://schemas.openxmlformats.org/officeDocument/2006/relationships/image" Target="../media/image148.png"/><Relationship Id="rId4" Type="http://schemas.openxmlformats.org/officeDocument/2006/relationships/image" Target="../media/image5.png"/></Relationships>
</file>

<file path=ppt/slides/_rels/slide2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6.xml"/><Relationship Id="rId1" Type="http://schemas.openxmlformats.org/officeDocument/2006/relationships/slideLayout" Target="../slideLayouts/slideLayout9.xml"/><Relationship Id="rId5" Type="http://schemas.openxmlformats.org/officeDocument/2006/relationships/image" Target="../media/image149.png"/><Relationship Id="rId4" Type="http://schemas.openxmlformats.org/officeDocument/2006/relationships/image" Target="../media/image5.png"/></Relationships>
</file>

<file path=ppt/slides/_rels/slide2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7.xml"/><Relationship Id="rId1" Type="http://schemas.openxmlformats.org/officeDocument/2006/relationships/slideLayout" Target="../slideLayouts/slideLayout9.xml"/><Relationship Id="rId6" Type="http://schemas.openxmlformats.org/officeDocument/2006/relationships/image" Target="../media/image151.png"/><Relationship Id="rId5" Type="http://schemas.openxmlformats.org/officeDocument/2006/relationships/image" Target="../media/image150.png"/><Relationship Id="rId4" Type="http://schemas.openxmlformats.org/officeDocument/2006/relationships/image" Target="../media/image5.png"/></Relationships>
</file>

<file path=ppt/slides/_rels/slide2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8.xml"/><Relationship Id="rId1" Type="http://schemas.openxmlformats.org/officeDocument/2006/relationships/slideLayout" Target="../slideLayouts/slideLayout9.xml"/><Relationship Id="rId5" Type="http://schemas.openxmlformats.org/officeDocument/2006/relationships/image" Target="../media/image15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55" name="Google Shape;55;p1"/>
          <p:cNvPicPr preferRelativeResize="0"/>
          <p:nvPr/>
        </p:nvPicPr>
        <p:blipFill rotWithShape="1">
          <a:blip r:embed="rId3">
            <a:alphaModFix/>
          </a:blip>
          <a:srcRect/>
          <a:stretch/>
        </p:blipFill>
        <p:spPr>
          <a:xfrm>
            <a:off x="0" y="4465"/>
            <a:ext cx="9144003" cy="513457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5"/>
          <p:cNvSpPr/>
          <p:nvPr/>
        </p:nvSpPr>
        <p:spPr>
          <a:xfrm>
            <a:off x="4572000" y="0"/>
            <a:ext cx="45723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5"/>
          <p:cNvSpPr txBox="1"/>
          <p:nvPr/>
        </p:nvSpPr>
        <p:spPr>
          <a:xfrm>
            <a:off x="5182350" y="2086950"/>
            <a:ext cx="3589500" cy="892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600" b="0" i="0" u="none" strike="noStrike" cap="none">
                <a:solidFill>
                  <a:schemeClr val="lt1"/>
                </a:solidFill>
                <a:latin typeface="Lato Black"/>
                <a:ea typeface="Lato Black"/>
                <a:cs typeface="Lato Black"/>
                <a:sym typeface="Lato Black"/>
              </a:rPr>
              <a:t>Introduction</a:t>
            </a:r>
            <a:endParaRPr sz="4600" b="0" i="0" u="none" strike="noStrike" cap="none">
              <a:solidFill>
                <a:schemeClr val="lt1"/>
              </a:solidFill>
              <a:latin typeface="Lato Black"/>
              <a:ea typeface="Lato Black"/>
              <a:cs typeface="Lato Black"/>
              <a:sym typeface="Lato Black"/>
            </a:endParaRPr>
          </a:p>
        </p:txBody>
      </p:sp>
      <p:pic>
        <p:nvPicPr>
          <p:cNvPr id="97" name="Google Shape;97;p5"/>
          <p:cNvPicPr preferRelativeResize="0"/>
          <p:nvPr/>
        </p:nvPicPr>
        <p:blipFill rotWithShape="1">
          <a:blip r:embed="rId3">
            <a:alphaModFix/>
          </a:blip>
          <a:srcRect/>
          <a:stretch/>
        </p:blipFill>
        <p:spPr>
          <a:xfrm>
            <a:off x="214550" y="442050"/>
            <a:ext cx="4267200" cy="426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03" name="Google Shape;103;p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04" name="Google Shape;104;p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Introduction</a:t>
            </a:r>
            <a:endParaRPr sz="2000" b="1" i="0" u="none" strike="noStrike" cap="none">
              <a:solidFill>
                <a:schemeClr val="lt1"/>
              </a:solidFill>
              <a:latin typeface="Lato"/>
              <a:ea typeface="Lato"/>
              <a:cs typeface="Lato"/>
              <a:sym typeface="Lato"/>
            </a:endParaRPr>
          </a:p>
        </p:txBody>
      </p:sp>
      <p:pic>
        <p:nvPicPr>
          <p:cNvPr id="105" name="Google Shape;105;p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06" name="Google Shape;106;p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07" name="Google Shape;107;p6"/>
          <p:cNvSpPr txBox="1"/>
          <p:nvPr/>
        </p:nvSpPr>
        <p:spPr>
          <a:xfrm>
            <a:off x="371500" y="913200"/>
            <a:ext cx="8334900" cy="24300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What is C#?</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140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C# is pronounced "C-Sharp".</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It is an object-oriented programming language created by Microsoft that runs on the .NET Framework.</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C# has roots from the C family, and the language is close to other popular languages like C++ and Java.</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The first version was released in year 2002. The latest version, C# 13, was released in November 2024.</a:t>
            </a:r>
            <a:endParaRPr sz="1400" b="0" i="0" u="none" strike="noStrike" cap="none">
              <a:solidFill>
                <a:schemeClr val="dk1"/>
              </a:solidFill>
              <a:latin typeface="Lato"/>
              <a:ea typeface="Lato"/>
              <a:cs typeface="Lato"/>
              <a:sym typeface="Lato"/>
            </a:endParaRPr>
          </a:p>
        </p:txBody>
      </p:sp>
      <p:pic>
        <p:nvPicPr>
          <p:cNvPr id="108" name="Google Shape;108;p6"/>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109" name="Google Shape;109;p6"/>
          <p:cNvSpPr txBox="1"/>
          <p:nvPr/>
        </p:nvSpPr>
        <p:spPr>
          <a:xfrm>
            <a:off x="386275" y="3190900"/>
            <a:ext cx="8334900" cy="12198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C# is used for: </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140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Mobile applications, Desktop applications, Web applications, Web services, Web sites, Games, VR, Database applications, And much, much more!</a:t>
            </a:r>
            <a:endParaRPr sz="1400" b="0" i="0" u="none" strike="noStrike" cap="none">
              <a:solidFill>
                <a:schemeClr val="dk1"/>
              </a:solidFill>
              <a:latin typeface="Lato"/>
              <a:ea typeface="Lato"/>
              <a:cs typeface="Lato"/>
              <a:sym typeface="Lato"/>
            </a:endParaRPr>
          </a:p>
        </p:txBody>
      </p:sp>
      <p:pic>
        <p:nvPicPr>
          <p:cNvPr id="110" name="Google Shape;110;p6"/>
          <p:cNvPicPr preferRelativeResize="0"/>
          <p:nvPr/>
        </p:nvPicPr>
        <p:blipFill rotWithShape="1">
          <a:blip r:embed="rId5">
            <a:alphaModFix/>
          </a:blip>
          <a:srcRect/>
          <a:stretch/>
        </p:blipFill>
        <p:spPr>
          <a:xfrm>
            <a:off x="324292" y="3347376"/>
            <a:ext cx="61722" cy="10972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16" name="Google Shape;116;p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17" name="Google Shape;117;p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18" name="Google Shape;118;p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19" name="Google Shape;119;p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Introduction</a:t>
            </a:r>
            <a:endParaRPr sz="2000" b="1" i="0" u="none" strike="noStrike" cap="none">
              <a:solidFill>
                <a:schemeClr val="lt1"/>
              </a:solidFill>
              <a:latin typeface="Lato"/>
              <a:ea typeface="Lato"/>
              <a:cs typeface="Lato"/>
              <a:sym typeface="Lato"/>
            </a:endParaRPr>
          </a:p>
        </p:txBody>
      </p:sp>
      <p:sp>
        <p:nvSpPr>
          <p:cNvPr id="120" name="Google Shape;120;p7"/>
          <p:cNvSpPr txBox="1"/>
          <p:nvPr/>
        </p:nvSpPr>
        <p:spPr>
          <a:xfrm>
            <a:off x="371500" y="902525"/>
            <a:ext cx="8334900" cy="2340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Why Use C#?</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140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It is one of the most popular programming language in the world.</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It is easy to learn and simple to use.</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It has a huge community support.</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C# is an object oriented language which gives a clear structure to programs and allows code to be reused, lowering development costs.</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As C# is close to C, C++ and Java, it makes it easy for programmers to switch to C# or vice versa.</a:t>
            </a:r>
            <a:endParaRPr sz="1400" b="0" i="0" u="none" strike="noStrike" cap="none">
              <a:solidFill>
                <a:schemeClr val="dk1"/>
              </a:solidFill>
              <a:latin typeface="Lato"/>
              <a:ea typeface="Lato"/>
              <a:cs typeface="Lato"/>
              <a:sym typeface="Lato"/>
            </a:endParaRPr>
          </a:p>
        </p:txBody>
      </p:sp>
      <p:pic>
        <p:nvPicPr>
          <p:cNvPr id="121" name="Google Shape;121;p7"/>
          <p:cNvPicPr preferRelativeResize="0"/>
          <p:nvPr/>
        </p:nvPicPr>
        <p:blipFill rotWithShape="1">
          <a:blip r:embed="rId5">
            <a:alphaModFix/>
          </a:blip>
          <a:srcRect/>
          <a:stretch/>
        </p:blipFill>
        <p:spPr>
          <a:xfrm>
            <a:off x="324292" y="1061376"/>
            <a:ext cx="61722" cy="1097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8"/>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27" name="Google Shape;127;p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28" name="Google Shape;128;p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9" name="Google Shape;129;p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0" name="Google Shape;130;p8"/>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Variable and Data Type</a:t>
            </a:r>
            <a:endParaRPr sz="2000" b="1" i="0" u="none" strike="noStrike" cap="none">
              <a:solidFill>
                <a:schemeClr val="lt1"/>
              </a:solidFill>
              <a:latin typeface="Lato"/>
              <a:ea typeface="Lato"/>
              <a:cs typeface="Lato"/>
              <a:sym typeface="Lato"/>
            </a:endParaRPr>
          </a:p>
        </p:txBody>
      </p:sp>
      <p:sp>
        <p:nvSpPr>
          <p:cNvPr id="131" name="Google Shape;131;p8"/>
          <p:cNvSpPr txBox="1"/>
          <p:nvPr/>
        </p:nvSpPr>
        <p:spPr>
          <a:xfrm>
            <a:off x="371500" y="902525"/>
            <a:ext cx="8334900" cy="1824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What is a Variable?</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140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 </a:t>
            </a:r>
            <a:r>
              <a:rPr lang="en" sz="1400" b="1" i="0" u="none" strike="noStrike" cap="none">
                <a:solidFill>
                  <a:schemeClr val="dk1"/>
                </a:solidFill>
                <a:latin typeface="Lato"/>
                <a:ea typeface="Lato"/>
                <a:cs typeface="Lato"/>
                <a:sym typeface="Lato"/>
              </a:rPr>
              <a:t>variable </a:t>
            </a:r>
            <a:r>
              <a:rPr lang="en" sz="1400" b="0" i="0" u="none" strike="noStrike" cap="none">
                <a:solidFill>
                  <a:schemeClr val="dk1"/>
                </a:solidFill>
                <a:latin typeface="Lato"/>
                <a:ea typeface="Lato"/>
                <a:cs typeface="Lato"/>
                <a:sym typeface="Lato"/>
              </a:rPr>
              <a:t>is like a storage box where you can keep data. Each variable has:</a:t>
            </a:r>
            <a:endParaRPr sz="1400" b="0" i="0" u="none" strike="noStrike" cap="none">
              <a:solidFill>
                <a:schemeClr val="dk1"/>
              </a:solidFill>
              <a:latin typeface="Lato"/>
              <a:ea typeface="Lato"/>
              <a:cs typeface="Lato"/>
              <a:sym typeface="Lato"/>
            </a:endParaRPr>
          </a:p>
          <a:p>
            <a:pPr marL="914400" marR="0" lvl="1" indent="-317500" algn="just" rtl="0">
              <a:lnSpc>
                <a:spcPct val="115000"/>
              </a:lnSpc>
              <a:spcBef>
                <a:spcPts val="0"/>
              </a:spcBef>
              <a:spcAft>
                <a:spcPts val="0"/>
              </a:spcAft>
              <a:buClr>
                <a:schemeClr val="dk1"/>
              </a:buClr>
              <a:buSzPts val="1400"/>
              <a:buFont typeface="Lato"/>
              <a:buChar char="○"/>
            </a:pPr>
            <a:r>
              <a:rPr lang="en" sz="1400" b="1" i="0" u="none" strike="noStrike" cap="none">
                <a:solidFill>
                  <a:schemeClr val="dk1"/>
                </a:solidFill>
                <a:latin typeface="Lato"/>
                <a:ea typeface="Lato"/>
                <a:cs typeface="Lato"/>
                <a:sym typeface="Lato"/>
              </a:rPr>
              <a:t>Name: </a:t>
            </a:r>
            <a:r>
              <a:rPr lang="en" sz="1400" b="0" i="0" u="none" strike="noStrike" cap="none">
                <a:solidFill>
                  <a:schemeClr val="dk1"/>
                </a:solidFill>
                <a:latin typeface="Lato"/>
                <a:ea typeface="Lato"/>
                <a:cs typeface="Lato"/>
                <a:sym typeface="Lato"/>
              </a:rPr>
              <a:t>So you can refer to it (e.g., age, name).</a:t>
            </a:r>
            <a:endParaRPr sz="1400" b="0" i="0" u="none" strike="noStrike" cap="none">
              <a:solidFill>
                <a:schemeClr val="dk1"/>
              </a:solidFill>
              <a:latin typeface="Lato"/>
              <a:ea typeface="Lato"/>
              <a:cs typeface="Lato"/>
              <a:sym typeface="Lato"/>
            </a:endParaRPr>
          </a:p>
          <a:p>
            <a:pPr marL="914400" marR="0" lvl="1" indent="-317500" algn="just" rtl="0">
              <a:lnSpc>
                <a:spcPct val="115000"/>
              </a:lnSpc>
              <a:spcBef>
                <a:spcPts val="0"/>
              </a:spcBef>
              <a:spcAft>
                <a:spcPts val="0"/>
              </a:spcAft>
              <a:buClr>
                <a:schemeClr val="dk1"/>
              </a:buClr>
              <a:buSzPts val="1400"/>
              <a:buFont typeface="Lato"/>
              <a:buChar char="○"/>
            </a:pPr>
            <a:r>
              <a:rPr lang="en" sz="1400" b="1" i="0" u="none" strike="noStrike" cap="none">
                <a:solidFill>
                  <a:schemeClr val="dk1"/>
                </a:solidFill>
                <a:latin typeface="Lato"/>
                <a:ea typeface="Lato"/>
                <a:cs typeface="Lato"/>
                <a:sym typeface="Lato"/>
              </a:rPr>
              <a:t>Data Type:</a:t>
            </a:r>
            <a:r>
              <a:rPr lang="en" sz="1400" b="0" i="0" u="none" strike="noStrike" cap="none">
                <a:solidFill>
                  <a:schemeClr val="dk1"/>
                </a:solidFill>
                <a:latin typeface="Lato"/>
                <a:ea typeface="Lato"/>
                <a:cs typeface="Lato"/>
                <a:sym typeface="Lato"/>
              </a:rPr>
              <a:t> So the computer knows what kind of data it will store (e.g., a number, a letter, or a true/false value).</a:t>
            </a:r>
            <a:endParaRPr sz="1400" b="0" i="0" u="none" strike="noStrike" cap="none">
              <a:solidFill>
                <a:schemeClr val="dk1"/>
              </a:solidFill>
              <a:latin typeface="Lato"/>
              <a:ea typeface="Lato"/>
              <a:cs typeface="Lato"/>
              <a:sym typeface="Lato"/>
            </a:endParaRPr>
          </a:p>
          <a:p>
            <a:pPr marL="914400" marR="0" lvl="1" indent="-317500" algn="just" rtl="0">
              <a:lnSpc>
                <a:spcPct val="115000"/>
              </a:lnSpc>
              <a:spcBef>
                <a:spcPts val="0"/>
              </a:spcBef>
              <a:spcAft>
                <a:spcPts val="0"/>
              </a:spcAft>
              <a:buClr>
                <a:schemeClr val="dk1"/>
              </a:buClr>
              <a:buSzPts val="1400"/>
              <a:buFont typeface="Lato"/>
              <a:buChar char="○"/>
            </a:pPr>
            <a:r>
              <a:rPr lang="en" sz="1400" b="1" i="0" u="none" strike="noStrike" cap="none">
                <a:solidFill>
                  <a:schemeClr val="dk1"/>
                </a:solidFill>
                <a:latin typeface="Lato"/>
                <a:ea typeface="Lato"/>
                <a:cs typeface="Lato"/>
                <a:sym typeface="Lato"/>
              </a:rPr>
              <a:t>Value: </a:t>
            </a:r>
            <a:r>
              <a:rPr lang="en" sz="1400" b="0" i="0" u="none" strike="noStrike" cap="none">
                <a:solidFill>
                  <a:schemeClr val="dk1"/>
                </a:solidFill>
                <a:latin typeface="Lato"/>
                <a:ea typeface="Lato"/>
                <a:cs typeface="Lato"/>
                <a:sym typeface="Lato"/>
              </a:rPr>
              <a:t>The actual data you put into the box (e.g., 25 for age).</a:t>
            </a:r>
            <a:endParaRPr sz="1400" b="0" i="0" u="none" strike="noStrike" cap="none">
              <a:solidFill>
                <a:schemeClr val="dk1"/>
              </a:solidFill>
              <a:latin typeface="Lato"/>
              <a:ea typeface="Lato"/>
              <a:cs typeface="Lato"/>
              <a:sym typeface="Lato"/>
            </a:endParaRPr>
          </a:p>
        </p:txBody>
      </p:sp>
      <p:pic>
        <p:nvPicPr>
          <p:cNvPr id="132" name="Google Shape;132;p8"/>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133" name="Google Shape;133;p8"/>
          <p:cNvSpPr txBox="1"/>
          <p:nvPr/>
        </p:nvSpPr>
        <p:spPr>
          <a:xfrm>
            <a:off x="371500" y="2731375"/>
            <a:ext cx="8334900" cy="1824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What is a Data Type?</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1400"/>
              </a:spcBef>
              <a:spcAft>
                <a:spcPts val="0"/>
              </a:spcAft>
              <a:buClr>
                <a:schemeClr val="dk1"/>
              </a:buClr>
              <a:buSzPts val="1400"/>
              <a:buFont typeface="Lato"/>
              <a:buChar char="●"/>
            </a:pPr>
            <a:r>
              <a:rPr lang="en" sz="1400" b="1" i="0" u="none" strike="noStrike" cap="none">
                <a:solidFill>
                  <a:schemeClr val="dk1"/>
                </a:solidFill>
                <a:latin typeface="Lato"/>
                <a:ea typeface="Lato"/>
                <a:cs typeface="Lato"/>
                <a:sym typeface="Lato"/>
              </a:rPr>
              <a:t>Data type</a:t>
            </a:r>
            <a:r>
              <a:rPr lang="en" sz="1400" b="0" i="0" u="none" strike="noStrike" cap="none">
                <a:solidFill>
                  <a:schemeClr val="dk1"/>
                </a:solidFill>
                <a:latin typeface="Lato"/>
                <a:ea typeface="Lato"/>
                <a:cs typeface="Lato"/>
                <a:sym typeface="Lato"/>
              </a:rPr>
              <a:t> tells the computer what kind of data a variable will store. In C#, you must specify this when you create a variable. It ensures the variable behaves correctly (e.g., numbers can be added, and strings can be combined).</a:t>
            </a:r>
            <a:endParaRPr sz="1400" b="0" i="0" u="none" strike="noStrike" cap="none">
              <a:solidFill>
                <a:schemeClr val="dk1"/>
              </a:solidFill>
              <a:latin typeface="Lato"/>
              <a:ea typeface="Lato"/>
              <a:cs typeface="Lato"/>
              <a:sym typeface="Lato"/>
            </a:endParaRPr>
          </a:p>
        </p:txBody>
      </p:sp>
      <p:pic>
        <p:nvPicPr>
          <p:cNvPr id="134" name="Google Shape;134;p8"/>
          <p:cNvPicPr preferRelativeResize="0"/>
          <p:nvPr/>
        </p:nvPicPr>
        <p:blipFill rotWithShape="1">
          <a:blip r:embed="rId5">
            <a:alphaModFix/>
          </a:blip>
          <a:srcRect/>
          <a:stretch/>
        </p:blipFill>
        <p:spPr>
          <a:xfrm>
            <a:off x="324292" y="2890176"/>
            <a:ext cx="61722" cy="1097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40" name="Google Shape;140;p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41" name="Google Shape;141;p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2" name="Google Shape;142;p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43" name="Google Shape;143;p9"/>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Variable and Data Type</a:t>
            </a:r>
            <a:endParaRPr sz="2000" b="1" i="0" u="none" strike="noStrike" cap="none">
              <a:solidFill>
                <a:schemeClr val="lt1"/>
              </a:solidFill>
              <a:latin typeface="Lato"/>
              <a:ea typeface="Lato"/>
              <a:cs typeface="Lato"/>
              <a:sym typeface="Lato"/>
            </a:endParaRPr>
          </a:p>
        </p:txBody>
      </p:sp>
      <p:sp>
        <p:nvSpPr>
          <p:cNvPr id="144" name="Google Shape;144;p9"/>
          <p:cNvSpPr txBox="1"/>
          <p:nvPr/>
        </p:nvSpPr>
        <p:spPr>
          <a:xfrm>
            <a:off x="371500" y="923900"/>
            <a:ext cx="8334900" cy="13761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Allowed in Variable Names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You can start the name with a letter(a-z, A-Z).</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You can use numbers in the name, but not as the first character.</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You can use underscores in the name, and it can even be the first character.</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C# is case-sensitive, so myVariable and MyVariable are different variables.</a:t>
            </a:r>
            <a:endParaRPr sz="1400" b="0" i="0" u="none" strike="noStrike" cap="none">
              <a:solidFill>
                <a:schemeClr val="dk1"/>
              </a:solidFill>
              <a:latin typeface="Lato"/>
              <a:ea typeface="Lato"/>
              <a:cs typeface="Lato"/>
              <a:sym typeface="Lato"/>
            </a:endParaRPr>
          </a:p>
        </p:txBody>
      </p:sp>
      <p:pic>
        <p:nvPicPr>
          <p:cNvPr id="145" name="Google Shape;145;p9"/>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146" name="Google Shape;146;p9"/>
          <p:cNvSpPr txBox="1"/>
          <p:nvPr/>
        </p:nvSpPr>
        <p:spPr>
          <a:xfrm>
            <a:off x="371500" y="2367500"/>
            <a:ext cx="8334900" cy="18075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Not Allowed in Variable Names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Variable names cannot contain spaces. Use camelCase or underscores instead.</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Variable names cannot begin with a number.</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You cannot use special characters like @, #, $, %, ^, &amp;, *, etc.</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C# has certain reserved keywords (e.g., int, class, namespace, etc.) that you cannot use as variable names directly.</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Hyphens are not allowed in variable names. Use underscores instead.</a:t>
            </a:r>
            <a:endParaRPr sz="1400" b="0" i="0" u="none" strike="noStrike" cap="none">
              <a:solidFill>
                <a:schemeClr val="dk1"/>
              </a:solidFill>
              <a:latin typeface="Lato"/>
              <a:ea typeface="Lato"/>
              <a:cs typeface="Lato"/>
              <a:sym typeface="Lato"/>
            </a:endParaRPr>
          </a:p>
        </p:txBody>
      </p:sp>
      <p:pic>
        <p:nvPicPr>
          <p:cNvPr id="147" name="Google Shape;147;p9"/>
          <p:cNvPicPr preferRelativeResize="0"/>
          <p:nvPr/>
        </p:nvPicPr>
        <p:blipFill rotWithShape="1">
          <a:blip r:embed="rId5">
            <a:alphaModFix/>
          </a:blip>
          <a:srcRect/>
          <a:stretch/>
        </p:blipFill>
        <p:spPr>
          <a:xfrm>
            <a:off x="324292" y="2509176"/>
            <a:ext cx="61722" cy="1097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53" name="Google Shape;153;p1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54" name="Google Shape;154;p1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55" name="Google Shape;155;p1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56" name="Google Shape;156;p10"/>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Data Type</a:t>
            </a:r>
            <a:endParaRPr sz="2000" b="1" i="0" u="none" strike="noStrike" cap="none">
              <a:solidFill>
                <a:schemeClr val="lt1"/>
              </a:solidFill>
              <a:latin typeface="Lato"/>
              <a:ea typeface="Lato"/>
              <a:cs typeface="Lato"/>
              <a:sym typeface="Lato"/>
            </a:endParaRPr>
          </a:p>
        </p:txBody>
      </p:sp>
      <p:graphicFrame>
        <p:nvGraphicFramePr>
          <p:cNvPr id="157" name="Google Shape;157;p10"/>
          <p:cNvGraphicFramePr/>
          <p:nvPr/>
        </p:nvGraphicFramePr>
        <p:xfrm>
          <a:off x="229925" y="704850"/>
          <a:ext cx="8590925" cy="4236480"/>
        </p:xfrm>
        <a:graphic>
          <a:graphicData uri="http://schemas.openxmlformats.org/drawingml/2006/table">
            <a:tbl>
              <a:tblPr>
                <a:noFill/>
                <a:tableStyleId>{5A3BA3A0-83C4-445D-8AD7-8B1E11FC002B}</a:tableStyleId>
              </a:tblPr>
              <a:tblGrid>
                <a:gridCol w="1303650">
                  <a:extLst>
                    <a:ext uri="{9D8B030D-6E8A-4147-A177-3AD203B41FA5}">
                      <a16:colId xmlns:a16="http://schemas.microsoft.com/office/drawing/2014/main" val="20000"/>
                    </a:ext>
                  </a:extLst>
                </a:gridCol>
                <a:gridCol w="2011500">
                  <a:extLst>
                    <a:ext uri="{9D8B030D-6E8A-4147-A177-3AD203B41FA5}">
                      <a16:colId xmlns:a16="http://schemas.microsoft.com/office/drawing/2014/main" val="20001"/>
                    </a:ext>
                  </a:extLst>
                </a:gridCol>
                <a:gridCol w="764100">
                  <a:extLst>
                    <a:ext uri="{9D8B030D-6E8A-4147-A177-3AD203B41FA5}">
                      <a16:colId xmlns:a16="http://schemas.microsoft.com/office/drawing/2014/main" val="20002"/>
                    </a:ext>
                  </a:extLst>
                </a:gridCol>
                <a:gridCol w="1471100">
                  <a:extLst>
                    <a:ext uri="{9D8B030D-6E8A-4147-A177-3AD203B41FA5}">
                      <a16:colId xmlns:a16="http://schemas.microsoft.com/office/drawing/2014/main" val="20003"/>
                    </a:ext>
                  </a:extLst>
                </a:gridCol>
                <a:gridCol w="3040575">
                  <a:extLst>
                    <a:ext uri="{9D8B030D-6E8A-4147-A177-3AD203B41FA5}">
                      <a16:colId xmlns:a16="http://schemas.microsoft.com/office/drawing/2014/main" val="20004"/>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C# Data Type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Range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Size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.NET Type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Notes</a:t>
                      </a:r>
                      <a:endParaRPr sz="14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byte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0 to 255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1 byte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System.Byte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small positive numbers.</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sbyte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-128 to 127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1 byte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System.SByte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small signed integers.</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short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-32,768 to 32,767</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2 bytes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System.Int16</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small integers.</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ushort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0 to 65,535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2 bytes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System.UInt16</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small positive integers.</a:t>
                      </a:r>
                      <a:endParaRPr sz="14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int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-2,147,483,648 to 2,147,483,647</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4 bytes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System.Int32</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Most commonly used for whole numbers.</a:t>
                      </a:r>
                      <a:endParaRPr sz="14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uint</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0 to 4,294,967,295</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4 bytes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System.UInt32</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large positive numbers.</a:t>
                      </a:r>
                      <a:endParaRPr sz="1400" u="none" strike="noStrike" cap="none"/>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long</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-9,223,372,036,854,775,808 to 9,223,372,036,854,775,807</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8 bytes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System.Int64</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For very large integers.</a:t>
                      </a:r>
                      <a:endParaRPr sz="1400" u="none" strike="noStrike" cap="none"/>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63" name="Google Shape;163;p1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64" name="Google Shape;164;p1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65" name="Google Shape;165;p1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66" name="Google Shape;166;p11"/>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Data Type</a:t>
            </a:r>
            <a:endParaRPr sz="2000" b="1" i="0" u="none" strike="noStrike" cap="none">
              <a:solidFill>
                <a:schemeClr val="lt1"/>
              </a:solidFill>
              <a:latin typeface="Lato"/>
              <a:ea typeface="Lato"/>
              <a:cs typeface="Lato"/>
              <a:sym typeface="Lato"/>
            </a:endParaRPr>
          </a:p>
        </p:txBody>
      </p:sp>
      <p:graphicFrame>
        <p:nvGraphicFramePr>
          <p:cNvPr id="167" name="Google Shape;167;p11"/>
          <p:cNvGraphicFramePr/>
          <p:nvPr/>
        </p:nvGraphicFramePr>
        <p:xfrm>
          <a:off x="229925" y="628650"/>
          <a:ext cx="3000000" cy="3000000"/>
        </p:xfrm>
        <a:graphic>
          <a:graphicData uri="http://schemas.openxmlformats.org/drawingml/2006/table">
            <a:tbl>
              <a:tblPr>
                <a:noFill/>
                <a:tableStyleId>{5A3BA3A0-83C4-445D-8AD7-8B1E11FC002B}</a:tableStyleId>
              </a:tblPr>
              <a:tblGrid>
                <a:gridCol w="1303650">
                  <a:extLst>
                    <a:ext uri="{9D8B030D-6E8A-4147-A177-3AD203B41FA5}">
                      <a16:colId xmlns:a16="http://schemas.microsoft.com/office/drawing/2014/main" val="20000"/>
                    </a:ext>
                  </a:extLst>
                </a:gridCol>
                <a:gridCol w="2011500">
                  <a:extLst>
                    <a:ext uri="{9D8B030D-6E8A-4147-A177-3AD203B41FA5}">
                      <a16:colId xmlns:a16="http://schemas.microsoft.com/office/drawing/2014/main" val="20001"/>
                    </a:ext>
                  </a:extLst>
                </a:gridCol>
                <a:gridCol w="764100">
                  <a:extLst>
                    <a:ext uri="{9D8B030D-6E8A-4147-A177-3AD203B41FA5}">
                      <a16:colId xmlns:a16="http://schemas.microsoft.com/office/drawing/2014/main" val="20002"/>
                    </a:ext>
                  </a:extLst>
                </a:gridCol>
                <a:gridCol w="1471100">
                  <a:extLst>
                    <a:ext uri="{9D8B030D-6E8A-4147-A177-3AD203B41FA5}">
                      <a16:colId xmlns:a16="http://schemas.microsoft.com/office/drawing/2014/main" val="20003"/>
                    </a:ext>
                  </a:extLst>
                </a:gridCol>
                <a:gridCol w="3040575">
                  <a:extLst>
                    <a:ext uri="{9D8B030D-6E8A-4147-A177-3AD203B41FA5}">
                      <a16:colId xmlns:a16="http://schemas.microsoft.com/office/drawing/2014/main" val="20004"/>
                    </a:ext>
                  </a:extLst>
                </a:gridCol>
              </a:tblGrid>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C# Data Type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Range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Size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.NET Type	</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Notes</a:t>
                      </a:r>
                      <a:endParaRPr sz="13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ulong</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0 to 18,446,744,073,709,551,615	</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8 bytes</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System.UInt64</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For very large positive numbers.</a:t>
                      </a:r>
                      <a:endParaRPr sz="13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float</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±1.5 × 10⁻⁴⁵ to ±3.4 × 10³⁸</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4 bytes</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System.Single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For floating-point numbers. Use f suffix (e.g., 3.14f).</a:t>
                      </a:r>
                      <a:endParaRPr sz="13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double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±5.0 × 10⁻³²⁴ to ±1.7 × 10³⁰⁸	</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8 bytes</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System.Double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More precise than float. Default for decimal numbers.</a:t>
                      </a:r>
                      <a:endParaRPr sz="13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decimal</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±1.0 × 10⁻²⁸ to ±7.9 × 10²⁸</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16 bytes</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System.Decimal</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Best for financial or monetary calculations. Use m suffix (e.g., 12.99m).</a:t>
                      </a:r>
                      <a:endParaRPr sz="1300" u="none" strike="noStrike" cap="none"/>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char</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Any single Unicode character</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2 bytes</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System.Char</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Use single quotes (e.g., 'A').</a:t>
                      </a:r>
                      <a:endParaRPr sz="1300" u="none" strike="noStrike" cap="none"/>
                    </a:p>
                  </a:txBody>
                  <a:tcPr marL="91425" marR="91425" marT="91425" marB="914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bool</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true or false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1 byte</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System.Boolean</a:t>
                      </a:r>
                      <a:endParaRPr sz="13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t>For logical operations.</a:t>
                      </a:r>
                      <a:endParaRPr sz="1300" u="none" strike="noStrike" cap="none"/>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2"/>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73" name="Google Shape;173;p1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74" name="Google Shape;174;p1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75" name="Google Shape;175;p1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76" name="Google Shape;176;p12"/>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Nullable Types</a:t>
            </a:r>
            <a:endParaRPr sz="2000" b="1" i="0" u="none" strike="noStrike" cap="none">
              <a:solidFill>
                <a:schemeClr val="lt1"/>
              </a:solidFill>
              <a:latin typeface="Lato"/>
              <a:ea typeface="Lato"/>
              <a:cs typeface="Lato"/>
              <a:sym typeface="Lato"/>
            </a:endParaRPr>
          </a:p>
        </p:txBody>
      </p:sp>
      <p:sp>
        <p:nvSpPr>
          <p:cNvPr id="177" name="Google Shape;177;p12"/>
          <p:cNvSpPr txBox="1"/>
          <p:nvPr/>
        </p:nvSpPr>
        <p:spPr>
          <a:xfrm>
            <a:off x="371500" y="9025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Nullable Types in C#</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In C#, nullable types allow variables of value types (like int, double, bool, etc.) to hold a special value called null.</a:t>
            </a:r>
            <a:endParaRPr sz="1400" b="0" i="0" u="none" strike="noStrike" cap="none">
              <a:solidFill>
                <a:schemeClr val="dk1"/>
              </a:solidFill>
              <a:latin typeface="Lato"/>
              <a:ea typeface="Lato"/>
              <a:cs typeface="Lato"/>
              <a:sym typeface="Lato"/>
            </a:endParaRPr>
          </a:p>
        </p:txBody>
      </p:sp>
      <p:pic>
        <p:nvPicPr>
          <p:cNvPr id="178" name="Google Shape;178;p12"/>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179" name="Google Shape;179;p12"/>
          <p:cNvSpPr txBox="1"/>
          <p:nvPr/>
        </p:nvSpPr>
        <p:spPr>
          <a:xfrm>
            <a:off x="371500" y="18643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Why Use Nullable Types?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 database query may return null for an empty field.</a:t>
            </a:r>
            <a:endParaRPr sz="1400" b="0"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 variable that hasn't been assigned a value yet might need to signify "no value."</a:t>
            </a:r>
            <a:endParaRPr sz="1400" b="0" i="0" u="none" strike="noStrike" cap="none">
              <a:solidFill>
                <a:schemeClr val="dk1"/>
              </a:solidFill>
              <a:latin typeface="Lato"/>
              <a:ea typeface="Lato"/>
              <a:cs typeface="Lato"/>
              <a:sym typeface="Lato"/>
            </a:endParaRPr>
          </a:p>
        </p:txBody>
      </p:sp>
      <p:pic>
        <p:nvPicPr>
          <p:cNvPr id="180" name="Google Shape;180;p12"/>
          <p:cNvPicPr preferRelativeResize="0"/>
          <p:nvPr/>
        </p:nvPicPr>
        <p:blipFill rotWithShape="1">
          <a:blip r:embed="rId5">
            <a:alphaModFix/>
          </a:blip>
          <a:srcRect/>
          <a:stretch/>
        </p:blipFill>
        <p:spPr>
          <a:xfrm>
            <a:off x="326578" y="1975776"/>
            <a:ext cx="59436" cy="109728"/>
          </a:xfrm>
          <a:prstGeom prst="rect">
            <a:avLst/>
          </a:prstGeom>
          <a:noFill/>
          <a:ln>
            <a:noFill/>
          </a:ln>
        </p:spPr>
      </p:pic>
      <p:sp>
        <p:nvSpPr>
          <p:cNvPr id="181" name="Google Shape;181;p12"/>
          <p:cNvSpPr txBox="1"/>
          <p:nvPr/>
        </p:nvSpPr>
        <p:spPr>
          <a:xfrm>
            <a:off x="371500" y="2802150"/>
            <a:ext cx="8334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How to Declare a Nullable Type</a:t>
            </a:r>
            <a:endParaRPr sz="1400" b="0" i="0" u="none" strike="noStrike" cap="none">
              <a:solidFill>
                <a:schemeClr val="dk1"/>
              </a:solidFill>
              <a:latin typeface="Lato"/>
              <a:ea typeface="Lato"/>
              <a:cs typeface="Lato"/>
              <a:sym typeface="Lato"/>
            </a:endParaRPr>
          </a:p>
        </p:txBody>
      </p:sp>
      <p:pic>
        <p:nvPicPr>
          <p:cNvPr id="182" name="Google Shape;182;p12"/>
          <p:cNvPicPr preferRelativeResize="0"/>
          <p:nvPr/>
        </p:nvPicPr>
        <p:blipFill rotWithShape="1">
          <a:blip r:embed="rId5">
            <a:alphaModFix/>
          </a:blip>
          <a:srcRect/>
          <a:stretch/>
        </p:blipFill>
        <p:spPr>
          <a:xfrm>
            <a:off x="326578" y="2966376"/>
            <a:ext cx="59436" cy="109728"/>
          </a:xfrm>
          <a:prstGeom prst="rect">
            <a:avLst/>
          </a:prstGeom>
          <a:noFill/>
          <a:ln>
            <a:noFill/>
          </a:ln>
        </p:spPr>
      </p:pic>
      <p:sp>
        <p:nvSpPr>
          <p:cNvPr id="183" name="Google Shape;183;p12"/>
          <p:cNvSpPr txBox="1"/>
          <p:nvPr/>
        </p:nvSpPr>
        <p:spPr>
          <a:xfrm>
            <a:off x="623400" y="3217850"/>
            <a:ext cx="6376200" cy="456900"/>
          </a:xfrm>
          <a:prstGeom prst="rect">
            <a:avLst/>
          </a:prstGeom>
          <a:solidFill>
            <a:srgbClr val="F2F8FF"/>
          </a:solid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F0"/>
                </a:solidFill>
                <a:latin typeface="Roboto Mono"/>
                <a:ea typeface="Roboto Mono"/>
                <a:cs typeface="Roboto Mono"/>
                <a:sym typeface="Roboto Mono"/>
              </a:rPr>
              <a:t>int</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1AB1CD"/>
                </a:solidFill>
                <a:latin typeface="Roboto Mono"/>
                <a:ea typeface="Roboto Mono"/>
                <a:cs typeface="Roboto Mono"/>
                <a:sym typeface="Roboto Mono"/>
              </a:rPr>
              <a:t>age</a:t>
            </a:r>
            <a:r>
              <a:rPr lang="en" sz="1700" b="0" i="0" u="none" strike="noStrike" cap="none">
                <a:solidFill>
                  <a:srgbClr val="000000"/>
                </a:solidFill>
                <a:latin typeface="Roboto Mono"/>
                <a:ea typeface="Roboto Mono"/>
                <a:cs typeface="Roboto Mono"/>
                <a:sym typeface="Roboto Mono"/>
              </a:rPr>
              <a:t> </a:t>
            </a:r>
            <a:r>
              <a:rPr lang="en" sz="1700" b="1" i="0" u="none" strike="noStrike" cap="none">
                <a:solidFill>
                  <a:srgbClr val="EE11FF"/>
                </a:solidFill>
                <a:latin typeface="Roboto Mono"/>
                <a:ea typeface="Roboto Mono"/>
                <a:cs typeface="Roboto Mono"/>
                <a:sym typeface="Roboto Mono"/>
              </a:rPr>
              <a:t>=</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201090"/>
                </a:solidFill>
                <a:latin typeface="Roboto Mono"/>
                <a:ea typeface="Roboto Mono"/>
                <a:cs typeface="Roboto Mono"/>
                <a:sym typeface="Roboto Mono"/>
              </a:rPr>
              <a:t>null</a:t>
            </a:r>
            <a:r>
              <a:rPr lang="en" sz="1700" b="0" i="0" u="none" strike="noStrike" cap="none">
                <a:solidFill>
                  <a:srgbClr val="000000"/>
                </a:solidFill>
                <a:latin typeface="Roboto Mono"/>
                <a:ea typeface="Roboto Mono"/>
                <a:cs typeface="Roboto Mono"/>
                <a:sym typeface="Roboto Mono"/>
              </a:rPr>
              <a:t>; </a:t>
            </a:r>
            <a:r>
              <a:rPr lang="en" sz="1700" b="0" i="1" u="none" strike="noStrike" cap="none">
                <a:solidFill>
                  <a:srgbClr val="A05000"/>
                </a:solidFill>
                <a:latin typeface="Roboto Mono"/>
                <a:ea typeface="Roboto Mono"/>
                <a:cs typeface="Roboto Mono"/>
                <a:sym typeface="Roboto Mono"/>
              </a:rPr>
              <a:t>// Nullable integer</a:t>
            </a:r>
            <a:endParaRPr sz="1700" b="0" i="0" u="none" strike="noStrike" cap="none">
              <a:solidFill>
                <a:srgbClr val="000000"/>
              </a:solidFill>
              <a:latin typeface="Roboto Mono"/>
              <a:ea typeface="Roboto Mono"/>
              <a:cs typeface="Roboto Mono"/>
              <a:sym typeface="Roboto Mono"/>
            </a:endParaRPr>
          </a:p>
        </p:txBody>
      </p:sp>
      <p:sp>
        <p:nvSpPr>
          <p:cNvPr id="184" name="Google Shape;184;p12"/>
          <p:cNvSpPr txBox="1"/>
          <p:nvPr/>
        </p:nvSpPr>
        <p:spPr>
          <a:xfrm>
            <a:off x="616500" y="3748525"/>
            <a:ext cx="6376200" cy="373200"/>
          </a:xfrm>
          <a:prstGeom prst="rect">
            <a:avLst/>
          </a:prstGeom>
          <a:solidFill>
            <a:srgbClr val="F2F8FF"/>
          </a:solidFill>
          <a:ln>
            <a:noFill/>
          </a:ln>
        </p:spPr>
        <p:txBody>
          <a:bodyPr spcFirstLastPara="1" wrap="square" lIns="91425" tIns="91425" rIns="91425" bIns="91425" anchor="t" anchorCtr="0">
            <a:noAutofit/>
          </a:bodyPr>
          <a:lstStyle/>
          <a:p>
            <a:pPr marL="0" marR="0" lvl="0" indent="0" algn="l" rtl="0">
              <a:lnSpc>
                <a:spcPct val="80000"/>
              </a:lnSpc>
              <a:spcBef>
                <a:spcPts val="0"/>
              </a:spcBef>
              <a:spcAft>
                <a:spcPts val="0"/>
              </a:spcAft>
              <a:buClr>
                <a:srgbClr val="000000"/>
              </a:buClr>
              <a:buSzPts val="1700"/>
              <a:buFont typeface="Arial"/>
              <a:buNone/>
            </a:pPr>
            <a:r>
              <a:rPr lang="en" sz="1700" b="0" i="0" u="none" strike="noStrike" cap="none">
                <a:solidFill>
                  <a:srgbClr val="0000F0"/>
                </a:solidFill>
                <a:latin typeface="Roboto Mono"/>
                <a:ea typeface="Roboto Mono"/>
                <a:cs typeface="Roboto Mono"/>
                <a:sym typeface="Roboto Mono"/>
              </a:rPr>
              <a:t>Nullable</a:t>
            </a:r>
            <a:r>
              <a:rPr lang="en" sz="1700" b="0" i="0" u="none" strike="noStrike" cap="none">
                <a:solidFill>
                  <a:srgbClr val="000000"/>
                </a:solidFill>
                <a:latin typeface="Roboto Mono"/>
                <a:ea typeface="Roboto Mono"/>
                <a:cs typeface="Roboto Mono"/>
                <a:sym typeface="Roboto Mono"/>
              </a:rPr>
              <a:t>&lt;int&gt; </a:t>
            </a:r>
            <a:r>
              <a:rPr lang="en" sz="1700" b="0" i="0" u="none" strike="noStrike" cap="none">
                <a:solidFill>
                  <a:srgbClr val="1AB1CD"/>
                </a:solidFill>
                <a:latin typeface="Roboto Mono"/>
                <a:ea typeface="Roboto Mono"/>
                <a:cs typeface="Roboto Mono"/>
                <a:sym typeface="Roboto Mono"/>
              </a:rPr>
              <a:t>age</a:t>
            </a:r>
            <a:r>
              <a:rPr lang="en" sz="1700" b="0" i="0" u="none" strike="noStrike" cap="none">
                <a:solidFill>
                  <a:srgbClr val="000000"/>
                </a:solidFill>
                <a:latin typeface="Roboto Mono"/>
                <a:ea typeface="Roboto Mono"/>
                <a:cs typeface="Roboto Mono"/>
                <a:sym typeface="Roboto Mono"/>
              </a:rPr>
              <a:t> </a:t>
            </a:r>
            <a:r>
              <a:rPr lang="en" sz="1700" b="1" i="0" u="none" strike="noStrike" cap="none">
                <a:solidFill>
                  <a:srgbClr val="EE11FF"/>
                </a:solidFill>
                <a:latin typeface="Roboto Mono"/>
                <a:ea typeface="Roboto Mono"/>
                <a:cs typeface="Roboto Mono"/>
                <a:sym typeface="Roboto Mono"/>
              </a:rPr>
              <a:t>=</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201090"/>
                </a:solidFill>
                <a:latin typeface="Roboto Mono"/>
                <a:ea typeface="Roboto Mono"/>
                <a:cs typeface="Roboto Mono"/>
                <a:sym typeface="Roboto Mono"/>
              </a:rPr>
              <a:t>null</a:t>
            </a:r>
            <a:r>
              <a:rPr lang="en" sz="1700" b="0" i="0" u="none" strike="noStrike" cap="none">
                <a:solidFill>
                  <a:srgbClr val="000000"/>
                </a:solidFill>
                <a:latin typeface="Roboto Mono"/>
                <a:ea typeface="Roboto Mono"/>
                <a:cs typeface="Roboto Mono"/>
                <a:sym typeface="Roboto Mono"/>
              </a:rPr>
              <a:t>; </a:t>
            </a:r>
            <a:r>
              <a:rPr lang="en" sz="1700" b="0" i="1" u="none" strike="noStrike" cap="none">
                <a:solidFill>
                  <a:srgbClr val="A05000"/>
                </a:solidFill>
                <a:latin typeface="Roboto Mono"/>
                <a:ea typeface="Roboto Mono"/>
                <a:cs typeface="Roboto Mono"/>
                <a:sym typeface="Roboto Mono"/>
              </a:rPr>
              <a:t>// Equivalent to int?</a:t>
            </a:r>
            <a:endParaRPr sz="1700" b="0" i="0" u="none" strike="noStrike" cap="none">
              <a:solidFill>
                <a:srgbClr val="000000"/>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90" name="Google Shape;190;p1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91" name="Google Shape;191;p1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2" name="Google Shape;192;p1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93" name="Google Shape;193;p13"/>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readonly and const</a:t>
            </a:r>
            <a:endParaRPr sz="2000" b="1" i="0" u="none" strike="noStrike" cap="none">
              <a:solidFill>
                <a:schemeClr val="lt1"/>
              </a:solidFill>
              <a:latin typeface="Lato"/>
              <a:ea typeface="Lato"/>
              <a:cs typeface="Lato"/>
              <a:sym typeface="Lato"/>
            </a:endParaRPr>
          </a:p>
        </p:txBody>
      </p:sp>
      <p:sp>
        <p:nvSpPr>
          <p:cNvPr id="194" name="Google Shape;194;p13"/>
          <p:cNvSpPr txBox="1"/>
          <p:nvPr/>
        </p:nvSpPr>
        <p:spPr>
          <a:xfrm>
            <a:off x="371500" y="913475"/>
            <a:ext cx="8334900" cy="1122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const</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 </a:t>
            </a:r>
            <a:r>
              <a:rPr lang="en" sz="1400" b="1" i="0" u="none" strike="noStrike" cap="none">
                <a:solidFill>
                  <a:schemeClr val="dk1"/>
                </a:solidFill>
                <a:latin typeface="Lato"/>
                <a:ea typeface="Lato"/>
                <a:cs typeface="Lato"/>
                <a:sym typeface="Lato"/>
              </a:rPr>
              <a:t>constant </a:t>
            </a:r>
            <a:r>
              <a:rPr lang="en" sz="1400" b="0" i="0" u="none" strike="noStrike" cap="none">
                <a:solidFill>
                  <a:schemeClr val="dk1"/>
                </a:solidFill>
                <a:latin typeface="Lato"/>
                <a:ea typeface="Lato"/>
                <a:cs typeface="Lato"/>
                <a:sym typeface="Lato"/>
              </a:rPr>
              <a:t>is a value that is known at </a:t>
            </a:r>
            <a:r>
              <a:rPr lang="en" sz="1400" b="1" i="0" u="none" strike="noStrike" cap="none">
                <a:solidFill>
                  <a:schemeClr val="dk1"/>
                </a:solidFill>
                <a:latin typeface="Lato"/>
                <a:ea typeface="Lato"/>
                <a:cs typeface="Lato"/>
                <a:sym typeface="Lato"/>
              </a:rPr>
              <a:t>compile-time</a:t>
            </a:r>
            <a:r>
              <a:rPr lang="en" sz="1400" b="0" i="0" u="none" strike="noStrike" cap="none">
                <a:solidFill>
                  <a:schemeClr val="dk1"/>
                </a:solidFill>
                <a:latin typeface="Lato"/>
                <a:ea typeface="Lato"/>
                <a:cs typeface="Lato"/>
                <a:sym typeface="Lato"/>
              </a:rPr>
              <a:t> and </a:t>
            </a:r>
            <a:r>
              <a:rPr lang="en" sz="1400" b="1" i="0" u="none" strike="noStrike" cap="none">
                <a:solidFill>
                  <a:schemeClr val="dk1"/>
                </a:solidFill>
                <a:latin typeface="Lato"/>
                <a:ea typeface="Lato"/>
                <a:cs typeface="Lato"/>
                <a:sym typeface="Lato"/>
              </a:rPr>
              <a:t>never changes.</a:t>
            </a:r>
            <a:endParaRPr sz="1400" b="1"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It must be initialized </a:t>
            </a:r>
            <a:r>
              <a:rPr lang="en" sz="1400" b="1" i="0" u="none" strike="noStrike" cap="none">
                <a:solidFill>
                  <a:schemeClr val="dk1"/>
                </a:solidFill>
                <a:latin typeface="Lato"/>
                <a:ea typeface="Lato"/>
                <a:cs typeface="Lato"/>
                <a:sym typeface="Lato"/>
              </a:rPr>
              <a:t>when declared.</a:t>
            </a:r>
            <a:endParaRPr sz="1400" b="1" i="0" u="none" strike="noStrike" cap="none">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It is </a:t>
            </a:r>
            <a:r>
              <a:rPr lang="en" sz="1400" b="1" i="0" u="none" strike="noStrike" cap="none">
                <a:solidFill>
                  <a:schemeClr val="dk1"/>
                </a:solidFill>
                <a:latin typeface="Lato"/>
                <a:ea typeface="Lato"/>
                <a:cs typeface="Lato"/>
                <a:sym typeface="Lato"/>
              </a:rPr>
              <a:t>implicitly static,</a:t>
            </a:r>
            <a:r>
              <a:rPr lang="en" sz="1400" b="0" i="0" u="none" strike="noStrike" cap="none">
                <a:solidFill>
                  <a:schemeClr val="dk1"/>
                </a:solidFill>
                <a:latin typeface="Lato"/>
                <a:ea typeface="Lato"/>
                <a:cs typeface="Lato"/>
                <a:sym typeface="Lato"/>
              </a:rPr>
              <a:t> meaning it belongs to the type (class/struct) rather than any instance.</a:t>
            </a:r>
            <a:endParaRPr sz="1400" b="0" i="0" u="none" strike="noStrike" cap="none">
              <a:solidFill>
                <a:schemeClr val="dk1"/>
              </a:solidFill>
              <a:latin typeface="Lato"/>
              <a:ea typeface="Lato"/>
              <a:cs typeface="Lato"/>
              <a:sym typeface="Lato"/>
            </a:endParaRPr>
          </a:p>
        </p:txBody>
      </p:sp>
      <p:pic>
        <p:nvPicPr>
          <p:cNvPr id="195" name="Google Shape;195;p13"/>
          <p:cNvPicPr preferRelativeResize="0"/>
          <p:nvPr/>
        </p:nvPicPr>
        <p:blipFill rotWithShape="1">
          <a:blip r:embed="rId5">
            <a:alphaModFix/>
          </a:blip>
          <a:srcRect/>
          <a:stretch/>
        </p:blipFill>
        <p:spPr>
          <a:xfrm>
            <a:off x="324292" y="1061376"/>
            <a:ext cx="61722" cy="109728"/>
          </a:xfrm>
          <a:prstGeom prst="rect">
            <a:avLst/>
          </a:prstGeom>
          <a:noFill/>
          <a:ln>
            <a:noFill/>
          </a:ln>
        </p:spPr>
      </p:pic>
      <p:pic>
        <p:nvPicPr>
          <p:cNvPr id="196" name="Google Shape;196;p13"/>
          <p:cNvPicPr preferRelativeResize="0"/>
          <p:nvPr/>
        </p:nvPicPr>
        <p:blipFill rotWithShape="1">
          <a:blip r:embed="rId6">
            <a:alphaModFix/>
          </a:blip>
          <a:srcRect/>
          <a:stretch/>
        </p:blipFill>
        <p:spPr>
          <a:xfrm>
            <a:off x="8636850" y="76213"/>
            <a:ext cx="432826" cy="432826"/>
          </a:xfrm>
          <a:prstGeom prst="rect">
            <a:avLst/>
          </a:prstGeom>
          <a:noFill/>
          <a:ln>
            <a:noFill/>
          </a:ln>
        </p:spPr>
      </p:pic>
      <p:sp>
        <p:nvSpPr>
          <p:cNvPr id="197" name="Google Shape;197;p13"/>
          <p:cNvSpPr txBox="1"/>
          <p:nvPr/>
        </p:nvSpPr>
        <p:spPr>
          <a:xfrm>
            <a:off x="324300" y="2111550"/>
            <a:ext cx="6376200" cy="373200"/>
          </a:xfrm>
          <a:prstGeom prst="rect">
            <a:avLst/>
          </a:prstGeom>
          <a:solidFill>
            <a:srgbClr val="F2F8FF"/>
          </a:solidFill>
          <a:ln>
            <a:noFill/>
          </a:ln>
        </p:spPr>
        <p:txBody>
          <a:bodyPr spcFirstLastPara="1" wrap="square" lIns="91425" tIns="91425" rIns="91425" bIns="91425" anchor="t" anchorCtr="0">
            <a:noAutofit/>
          </a:bodyPr>
          <a:lstStyle/>
          <a:p>
            <a:pPr marL="0" marR="0" lvl="0" indent="0" algn="l" rtl="0">
              <a:lnSpc>
                <a:spcPct val="80000"/>
              </a:lnSpc>
              <a:spcBef>
                <a:spcPts val="0"/>
              </a:spcBef>
              <a:spcAft>
                <a:spcPts val="0"/>
              </a:spcAft>
              <a:buClr>
                <a:srgbClr val="000000"/>
              </a:buClr>
              <a:buSzPts val="1700"/>
              <a:buFont typeface="Arial"/>
              <a:buNone/>
            </a:pPr>
            <a:r>
              <a:rPr lang="en" sz="1700" b="0" i="0" u="none" strike="noStrike" cap="none">
                <a:solidFill>
                  <a:srgbClr val="0000F0"/>
                </a:solidFill>
                <a:latin typeface="Roboto Mono"/>
                <a:ea typeface="Roboto Mono"/>
                <a:cs typeface="Roboto Mono"/>
                <a:sym typeface="Roboto Mono"/>
              </a:rPr>
              <a:t>const</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1AB1CD"/>
                </a:solidFill>
                <a:latin typeface="Roboto Mono"/>
                <a:ea typeface="Roboto Mono"/>
                <a:cs typeface="Roboto Mono"/>
                <a:sym typeface="Roboto Mono"/>
              </a:rPr>
              <a:t>data_type</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1AB1CD"/>
                </a:solidFill>
                <a:latin typeface="Roboto Mono"/>
                <a:ea typeface="Roboto Mono"/>
                <a:cs typeface="Roboto Mono"/>
                <a:sym typeface="Roboto Mono"/>
              </a:rPr>
              <a:t>field_name</a:t>
            </a:r>
            <a:r>
              <a:rPr lang="en" sz="1700" b="0" i="0" u="none" strike="noStrike" cap="none">
                <a:solidFill>
                  <a:srgbClr val="000000"/>
                </a:solidFill>
                <a:latin typeface="Roboto Mono"/>
                <a:ea typeface="Roboto Mono"/>
                <a:cs typeface="Roboto Mono"/>
                <a:sym typeface="Roboto Mono"/>
              </a:rPr>
              <a:t> </a:t>
            </a:r>
            <a:r>
              <a:rPr lang="en" sz="1700" b="1" i="0" u="none" strike="noStrike" cap="none">
                <a:solidFill>
                  <a:srgbClr val="EE11FF"/>
                </a:solidFill>
                <a:latin typeface="Roboto Mono"/>
                <a:ea typeface="Roboto Mono"/>
                <a:cs typeface="Roboto Mono"/>
                <a:sym typeface="Roboto Mono"/>
              </a:rPr>
              <a:t>=</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0050A0"/>
                </a:solidFill>
                <a:latin typeface="Roboto Mono"/>
                <a:ea typeface="Roboto Mono"/>
                <a:cs typeface="Roboto Mono"/>
                <a:sym typeface="Roboto Mono"/>
              </a:rPr>
              <a:t>value</a:t>
            </a:r>
            <a:r>
              <a:rPr lang="en" sz="1700" b="0" i="0" u="none" strike="noStrike" cap="none">
                <a:solidFill>
                  <a:srgbClr val="000000"/>
                </a:solidFill>
                <a:latin typeface="Roboto Mono"/>
                <a:ea typeface="Roboto Mono"/>
                <a:cs typeface="Roboto Mono"/>
                <a:sym typeface="Roboto Mono"/>
              </a:rPr>
              <a:t>;</a:t>
            </a:r>
            <a:endParaRPr sz="1700" b="0" i="0" u="none" strike="noStrike" cap="none">
              <a:solidFill>
                <a:srgbClr val="000000"/>
              </a:solidFill>
              <a:latin typeface="Roboto Mono"/>
              <a:ea typeface="Roboto Mono"/>
              <a:cs typeface="Roboto Mono"/>
              <a:sym typeface="Roboto Mono"/>
            </a:endParaRPr>
          </a:p>
        </p:txBody>
      </p:sp>
      <p:sp>
        <p:nvSpPr>
          <p:cNvPr id="198" name="Google Shape;198;p13"/>
          <p:cNvSpPr txBox="1"/>
          <p:nvPr/>
        </p:nvSpPr>
        <p:spPr>
          <a:xfrm>
            <a:off x="371500" y="2571750"/>
            <a:ext cx="8334900" cy="1140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readonly</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 readonly field can only be assigned once, either:</a:t>
            </a:r>
            <a:endParaRPr sz="1400" b="1" i="0" u="none" strike="noStrike" cap="none">
              <a:solidFill>
                <a:schemeClr val="dk1"/>
              </a:solidFill>
              <a:latin typeface="Lato"/>
              <a:ea typeface="Lato"/>
              <a:cs typeface="Lato"/>
              <a:sym typeface="Lato"/>
            </a:endParaRPr>
          </a:p>
          <a:p>
            <a:pPr marL="914400" marR="0" lvl="1"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At the time of declaration.</a:t>
            </a:r>
            <a:endParaRPr sz="1400" b="1" i="0" u="none" strike="noStrike" cap="none">
              <a:solidFill>
                <a:schemeClr val="dk1"/>
              </a:solidFill>
              <a:latin typeface="Lato"/>
              <a:ea typeface="Lato"/>
              <a:cs typeface="Lato"/>
              <a:sym typeface="Lato"/>
            </a:endParaRPr>
          </a:p>
          <a:p>
            <a:pPr marL="914400" marR="0" lvl="1"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Or, in the constructor (for instance fields).</a:t>
            </a:r>
            <a:endParaRPr sz="1400" b="0" i="0" u="none" strike="noStrike" cap="none">
              <a:solidFill>
                <a:schemeClr val="dk1"/>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endParaRPr sz="1400" b="0" i="0" u="none" strike="noStrike" cap="none">
              <a:solidFill>
                <a:schemeClr val="dk1"/>
              </a:solidFill>
              <a:latin typeface="Lato"/>
              <a:ea typeface="Lato"/>
              <a:cs typeface="Lato"/>
              <a:sym typeface="Lato"/>
            </a:endParaRPr>
          </a:p>
        </p:txBody>
      </p:sp>
      <p:pic>
        <p:nvPicPr>
          <p:cNvPr id="199" name="Google Shape;199;p13"/>
          <p:cNvPicPr preferRelativeResize="0"/>
          <p:nvPr/>
        </p:nvPicPr>
        <p:blipFill rotWithShape="1">
          <a:blip r:embed="rId5">
            <a:alphaModFix/>
          </a:blip>
          <a:srcRect/>
          <a:stretch/>
        </p:blipFill>
        <p:spPr>
          <a:xfrm>
            <a:off x="324292" y="2737776"/>
            <a:ext cx="61722" cy="109728"/>
          </a:xfrm>
          <a:prstGeom prst="rect">
            <a:avLst/>
          </a:prstGeom>
          <a:noFill/>
          <a:ln>
            <a:noFill/>
          </a:ln>
        </p:spPr>
      </p:pic>
      <p:sp>
        <p:nvSpPr>
          <p:cNvPr id="200" name="Google Shape;200;p13"/>
          <p:cNvSpPr txBox="1"/>
          <p:nvPr/>
        </p:nvSpPr>
        <p:spPr>
          <a:xfrm>
            <a:off x="324300" y="3822725"/>
            <a:ext cx="6376200" cy="373200"/>
          </a:xfrm>
          <a:prstGeom prst="rect">
            <a:avLst/>
          </a:prstGeom>
          <a:solidFill>
            <a:srgbClr val="F2F8FF"/>
          </a:solidFill>
          <a:ln>
            <a:noFill/>
          </a:ln>
        </p:spPr>
        <p:txBody>
          <a:bodyPr spcFirstLastPara="1" wrap="square" lIns="91425" tIns="91425" rIns="91425" bIns="91425" anchor="t" anchorCtr="0">
            <a:noAutofit/>
          </a:bodyPr>
          <a:lstStyle/>
          <a:p>
            <a:pPr marL="0" marR="0" lvl="0" indent="0" algn="l" rtl="0">
              <a:lnSpc>
                <a:spcPct val="80000"/>
              </a:lnSpc>
              <a:spcBef>
                <a:spcPts val="0"/>
              </a:spcBef>
              <a:spcAft>
                <a:spcPts val="0"/>
              </a:spcAft>
              <a:buClr>
                <a:srgbClr val="000000"/>
              </a:buClr>
              <a:buSzPts val="1700"/>
              <a:buFont typeface="Arial"/>
              <a:buNone/>
            </a:pPr>
            <a:r>
              <a:rPr lang="en" sz="1700" b="0" i="0" u="none" strike="noStrike" cap="none">
                <a:solidFill>
                  <a:srgbClr val="0000F0"/>
                </a:solidFill>
                <a:latin typeface="Roboto Mono"/>
                <a:ea typeface="Roboto Mono"/>
                <a:cs typeface="Roboto Mono"/>
                <a:sym typeface="Roboto Mono"/>
              </a:rPr>
              <a:t>readonly</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1AB1CD"/>
                </a:solidFill>
                <a:latin typeface="Roboto Mono"/>
                <a:ea typeface="Roboto Mono"/>
                <a:cs typeface="Roboto Mono"/>
                <a:sym typeface="Roboto Mono"/>
              </a:rPr>
              <a:t>data_type</a:t>
            </a:r>
            <a:r>
              <a:rPr lang="en" sz="1700" b="0" i="0" u="none" strike="noStrike" cap="none">
                <a:solidFill>
                  <a:srgbClr val="000000"/>
                </a:solidFill>
                <a:latin typeface="Roboto Mono"/>
                <a:ea typeface="Roboto Mono"/>
                <a:cs typeface="Roboto Mono"/>
                <a:sym typeface="Roboto Mono"/>
              </a:rPr>
              <a:t> </a:t>
            </a:r>
            <a:r>
              <a:rPr lang="en" sz="1700" b="0" i="0" u="none" strike="noStrike" cap="none">
                <a:solidFill>
                  <a:srgbClr val="1AB1CD"/>
                </a:solidFill>
                <a:latin typeface="Roboto Mono"/>
                <a:ea typeface="Roboto Mono"/>
                <a:cs typeface="Roboto Mono"/>
                <a:sym typeface="Roboto Mono"/>
              </a:rPr>
              <a:t>field_name</a:t>
            </a:r>
            <a:r>
              <a:rPr lang="en" sz="1700" b="0" i="0" u="none" strike="noStrike" cap="none">
                <a:solidFill>
                  <a:srgbClr val="000000"/>
                </a:solidFill>
                <a:latin typeface="Roboto Mono"/>
                <a:ea typeface="Roboto Mono"/>
                <a:cs typeface="Roboto Mono"/>
                <a:sym typeface="Roboto Mono"/>
              </a:rPr>
              <a:t>;</a:t>
            </a:r>
            <a:endParaRPr sz="1700" b="0" i="0" u="none" strike="noStrike" cap="none">
              <a:solidFill>
                <a:srgbClr val="000000"/>
              </a:solidFill>
              <a:latin typeface="Roboto Mono"/>
              <a:ea typeface="Roboto Mono"/>
              <a:cs typeface="Roboto Mono"/>
              <a:sym typeface="Roboto Mono"/>
            </a:endParaRPr>
          </a:p>
        </p:txBody>
      </p:sp>
      <p:sp>
        <p:nvSpPr>
          <p:cNvPr id="201" name="Google Shape;201;p13"/>
          <p:cNvSpPr txBox="1"/>
          <p:nvPr/>
        </p:nvSpPr>
        <p:spPr>
          <a:xfrm>
            <a:off x="371500" y="4302400"/>
            <a:ext cx="2837400" cy="49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sng" strike="noStrike" cap="none">
                <a:solidFill>
                  <a:schemeClr val="hlink"/>
                </a:solidFill>
                <a:latin typeface="Lato"/>
                <a:ea typeface="Lato"/>
                <a:cs typeface="Lato"/>
                <a:sym typeface="Lato"/>
                <a:hlinkClick r:id="rId7"/>
              </a:rPr>
              <a:t>const</a:t>
            </a:r>
            <a:endParaRPr sz="800" b="0" i="0" u="none" strike="noStrike" cap="none">
              <a:solidFill>
                <a:schemeClr val="dk1"/>
              </a:solidFill>
              <a:latin typeface="Lato"/>
              <a:ea typeface="Lato"/>
              <a:cs typeface="Lato"/>
              <a:sym typeface="Lato"/>
            </a:endParaRPr>
          </a:p>
          <a:p>
            <a:pPr marL="0" marR="0" lvl="0" indent="0" algn="l" rtl="0">
              <a:lnSpc>
                <a:spcPct val="100000"/>
              </a:lnSpc>
              <a:spcBef>
                <a:spcPts val="0"/>
              </a:spcBef>
              <a:spcAft>
                <a:spcPts val="0"/>
              </a:spcAft>
              <a:buClr>
                <a:srgbClr val="000000"/>
              </a:buClr>
              <a:buSzPts val="800"/>
              <a:buFont typeface="Arial"/>
              <a:buNone/>
            </a:pPr>
            <a:r>
              <a:rPr lang="en" sz="800" b="0" i="0" u="sng" strike="noStrike" cap="none">
                <a:solidFill>
                  <a:schemeClr val="hlink"/>
                </a:solidFill>
                <a:latin typeface="Lato"/>
                <a:ea typeface="Lato"/>
                <a:cs typeface="Lato"/>
                <a:sym typeface="Lato"/>
                <a:hlinkClick r:id="rId8"/>
              </a:rPr>
              <a:t>readonly</a:t>
            </a:r>
            <a:endParaRPr sz="800" b="0" i="0" u="none" strike="noStrike" cap="none">
              <a:solidFill>
                <a:schemeClr val="dk1"/>
              </a:solidFill>
              <a:latin typeface="Lato"/>
              <a:ea typeface="Lato"/>
              <a:cs typeface="Lato"/>
              <a:sym typeface="Lato"/>
            </a:endParaRPr>
          </a:p>
          <a:p>
            <a:pPr marL="0" marR="0" lvl="0" indent="0" algn="l" rtl="0">
              <a:lnSpc>
                <a:spcPct val="100000"/>
              </a:lnSpc>
              <a:spcBef>
                <a:spcPts val="0"/>
              </a:spcBef>
              <a:spcAft>
                <a:spcPts val="0"/>
              </a:spcAft>
              <a:buClr>
                <a:srgbClr val="000000"/>
              </a:buClr>
              <a:buSzPts val="800"/>
              <a:buFont typeface="Arial"/>
              <a:buNone/>
            </a:pPr>
            <a:r>
              <a:rPr lang="en" sz="800" b="0" i="0" u="sng" strike="noStrike" cap="none">
                <a:solidFill>
                  <a:schemeClr val="hlink"/>
                </a:solidFill>
                <a:latin typeface="Lato"/>
                <a:ea typeface="Lato"/>
                <a:cs typeface="Lato"/>
                <a:sym typeface="Lato"/>
                <a:hlinkClick r:id="rId9"/>
              </a:rPr>
              <a:t>required</a:t>
            </a:r>
            <a:endParaRPr sz="800" b="0" i="0" u="none" strike="noStrike" cap="none">
              <a:solidFill>
                <a:schemeClr val="dk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4"/>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07" name="Google Shape;207;p1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08" name="Google Shape;208;p1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09" name="Google Shape;209;p1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10" name="Google Shape;210;p14"/>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Operators</a:t>
            </a:r>
            <a:endParaRPr sz="2000" b="1" i="0" u="none" strike="noStrike" cap="none">
              <a:solidFill>
                <a:schemeClr val="lt1"/>
              </a:solidFill>
              <a:latin typeface="Lato"/>
              <a:ea typeface="Lato"/>
              <a:cs typeface="Lato"/>
              <a:sym typeface="Lato"/>
            </a:endParaRPr>
          </a:p>
        </p:txBody>
      </p:sp>
      <p:sp>
        <p:nvSpPr>
          <p:cNvPr id="211" name="Google Shape;211;p14"/>
          <p:cNvSpPr txBox="1"/>
          <p:nvPr/>
        </p:nvSpPr>
        <p:spPr>
          <a:xfrm>
            <a:off x="371500" y="913200"/>
            <a:ext cx="8334900" cy="13869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None/>
            </a:pPr>
            <a:endParaRPr sz="1400" b="0" i="0" u="none" strike="noStrike" cap="none">
              <a:solidFill>
                <a:schemeClr val="dk1"/>
              </a:solidFill>
              <a:latin typeface="Lato"/>
              <a:ea typeface="Lato"/>
              <a:cs typeface="Lato"/>
              <a:sym typeface="Lato"/>
            </a:endParaRPr>
          </a:p>
        </p:txBody>
      </p:sp>
      <p:pic>
        <p:nvPicPr>
          <p:cNvPr id="212" name="Google Shape;212;p14"/>
          <p:cNvPicPr preferRelativeResize="0"/>
          <p:nvPr/>
        </p:nvPicPr>
        <p:blipFill rotWithShape="1">
          <a:blip r:embed="rId5">
            <a:alphaModFix/>
          </a:blip>
          <a:srcRect/>
          <a:stretch/>
        </p:blipFill>
        <p:spPr>
          <a:xfrm>
            <a:off x="324292" y="1061376"/>
            <a:ext cx="61722" cy="109728"/>
          </a:xfrm>
          <a:prstGeom prst="rect">
            <a:avLst/>
          </a:prstGeom>
          <a:noFill/>
          <a:ln>
            <a:noFill/>
          </a:ln>
        </p:spPr>
      </p:pic>
      <p:pic>
        <p:nvPicPr>
          <p:cNvPr id="213" name="Google Shape;213;p14"/>
          <p:cNvPicPr preferRelativeResize="0"/>
          <p:nvPr/>
        </p:nvPicPr>
        <p:blipFill rotWithShape="1">
          <a:blip r:embed="rId5">
            <a:alphaModFix/>
          </a:blip>
          <a:srcRect/>
          <a:stretch/>
        </p:blipFill>
        <p:spPr>
          <a:xfrm>
            <a:off x="324292" y="2509176"/>
            <a:ext cx="61722" cy="109728"/>
          </a:xfrm>
          <a:prstGeom prst="rect">
            <a:avLst/>
          </a:prstGeom>
          <a:noFill/>
          <a:ln>
            <a:noFill/>
          </a:ln>
        </p:spPr>
      </p:pic>
      <p:pic>
        <p:nvPicPr>
          <p:cNvPr id="214" name="Google Shape;214;p1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5" name="Google Shape;215;p1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16" name="Google Shape;216;p14"/>
          <p:cNvSpPr txBox="1"/>
          <p:nvPr/>
        </p:nvSpPr>
        <p:spPr>
          <a:xfrm>
            <a:off x="371500" y="9025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b="1">
                <a:solidFill>
                  <a:srgbClr val="222222"/>
                </a:solidFill>
                <a:latin typeface="Lato"/>
                <a:ea typeface="Lato"/>
                <a:cs typeface="Lato"/>
                <a:sym typeface="Lato"/>
              </a:rPr>
              <a:t>Arithmetic Operators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Addition (+), Subtraction (-), Multiplication (*), Division (/), Modulus (%)</a:t>
            </a:r>
            <a:endParaRPr sz="1400" b="0" i="0" u="none" strike="noStrike" cap="none">
              <a:solidFill>
                <a:schemeClr val="dk1"/>
              </a:solidFill>
              <a:latin typeface="Lato"/>
              <a:ea typeface="Lato"/>
              <a:cs typeface="Lato"/>
              <a:sym typeface="Lato"/>
            </a:endParaRPr>
          </a:p>
        </p:txBody>
      </p:sp>
      <p:pic>
        <p:nvPicPr>
          <p:cNvPr id="217" name="Google Shape;217;p14"/>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218" name="Google Shape;218;p14"/>
          <p:cNvSpPr txBox="1"/>
          <p:nvPr/>
        </p:nvSpPr>
        <p:spPr>
          <a:xfrm>
            <a:off x="371500" y="18643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Why Use </a:t>
            </a:r>
            <a:r>
              <a:rPr lang="en" b="1">
                <a:solidFill>
                  <a:srgbClr val="222222"/>
                </a:solidFill>
                <a:latin typeface="Lato"/>
                <a:ea typeface="Lato"/>
                <a:cs typeface="Lato"/>
                <a:sym typeface="Lato"/>
              </a:rPr>
              <a:t>Arithmetic </a:t>
            </a:r>
            <a:r>
              <a:rPr lang="en" sz="1400" b="1" i="0" u="none" strike="noStrike" cap="none">
                <a:solidFill>
                  <a:srgbClr val="222222"/>
                </a:solidFill>
                <a:latin typeface="Lato"/>
                <a:ea typeface="Lato"/>
                <a:cs typeface="Lato"/>
                <a:sym typeface="Lato"/>
              </a:rPr>
              <a:t>Types?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Arithmetic operators used to perform mathematical operations on numbers.</a:t>
            </a:r>
            <a:endParaRPr sz="1400" b="0" i="0" u="none" strike="noStrike" cap="none">
              <a:solidFill>
                <a:schemeClr val="dk1"/>
              </a:solidFill>
              <a:latin typeface="Lato"/>
              <a:ea typeface="Lato"/>
              <a:cs typeface="Lato"/>
              <a:sym typeface="Lato"/>
            </a:endParaRPr>
          </a:p>
        </p:txBody>
      </p:sp>
      <p:pic>
        <p:nvPicPr>
          <p:cNvPr id="219" name="Google Shape;219;p14"/>
          <p:cNvPicPr preferRelativeResize="0"/>
          <p:nvPr/>
        </p:nvPicPr>
        <p:blipFill rotWithShape="1">
          <a:blip r:embed="rId5">
            <a:alphaModFix/>
          </a:blip>
          <a:srcRect/>
          <a:stretch/>
        </p:blipFill>
        <p:spPr>
          <a:xfrm>
            <a:off x="326578" y="1975776"/>
            <a:ext cx="59436" cy="109728"/>
          </a:xfrm>
          <a:prstGeom prst="rect">
            <a:avLst/>
          </a:prstGeom>
          <a:noFill/>
          <a:ln>
            <a:noFill/>
          </a:ln>
        </p:spPr>
      </p:pic>
      <p:sp>
        <p:nvSpPr>
          <p:cNvPr id="220" name="Google Shape;220;p14"/>
          <p:cNvSpPr txBox="1"/>
          <p:nvPr/>
        </p:nvSpPr>
        <p:spPr>
          <a:xfrm>
            <a:off x="371500" y="2802150"/>
            <a:ext cx="8334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b="1">
                <a:solidFill>
                  <a:srgbClr val="222222"/>
                </a:solidFill>
                <a:latin typeface="Lato"/>
                <a:ea typeface="Lato"/>
                <a:cs typeface="Lato"/>
                <a:sym typeface="Lato"/>
              </a:rPr>
              <a:t>Example</a:t>
            </a:r>
            <a:endParaRPr sz="1400" b="0" i="0" u="none" strike="noStrike" cap="none">
              <a:solidFill>
                <a:schemeClr val="dk1"/>
              </a:solidFill>
              <a:latin typeface="Lato"/>
              <a:ea typeface="Lato"/>
              <a:cs typeface="Lato"/>
              <a:sym typeface="Lato"/>
            </a:endParaRPr>
          </a:p>
        </p:txBody>
      </p:sp>
      <p:pic>
        <p:nvPicPr>
          <p:cNvPr id="221" name="Google Shape;221;p14"/>
          <p:cNvPicPr preferRelativeResize="0"/>
          <p:nvPr/>
        </p:nvPicPr>
        <p:blipFill rotWithShape="1">
          <a:blip r:embed="rId5">
            <a:alphaModFix/>
          </a:blip>
          <a:srcRect/>
          <a:stretch/>
        </p:blipFill>
        <p:spPr>
          <a:xfrm>
            <a:off x="326578" y="2966376"/>
            <a:ext cx="59436" cy="109728"/>
          </a:xfrm>
          <a:prstGeom prst="rect">
            <a:avLst/>
          </a:prstGeom>
          <a:noFill/>
          <a:ln>
            <a:noFill/>
          </a:ln>
        </p:spPr>
      </p:pic>
      <p:sp>
        <p:nvSpPr>
          <p:cNvPr id="222" name="Google Shape;222;p14"/>
          <p:cNvSpPr txBox="1"/>
          <p:nvPr/>
        </p:nvSpPr>
        <p:spPr>
          <a:xfrm>
            <a:off x="623400" y="3217850"/>
            <a:ext cx="6376200" cy="870600"/>
          </a:xfrm>
          <a:prstGeom prst="rect">
            <a:avLst/>
          </a:prstGeom>
          <a:solidFill>
            <a:srgbClr val="F2F8FF"/>
          </a:solid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a:solidFill>
                  <a:srgbClr val="0000F0"/>
                </a:solidFill>
                <a:latin typeface="Roboto Mono"/>
                <a:ea typeface="Roboto Mono"/>
                <a:cs typeface="Roboto Mono"/>
                <a:sym typeface="Roboto Mono"/>
              </a:rPr>
              <a:t>Addition (+), Subtraction (-), Multiplication (*), Division (/), Modulus (%)</a:t>
            </a:r>
            <a:endParaRPr sz="1700">
              <a:solidFill>
                <a:srgbClr val="0000F0"/>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000000"/>
              </a:buClr>
              <a:buSzPts val="1700"/>
              <a:buFont typeface="Arial"/>
              <a:buNone/>
            </a:pPr>
            <a:r>
              <a:rPr lang="en" sz="1700">
                <a:solidFill>
                  <a:srgbClr val="0000F0"/>
                </a:solidFill>
                <a:latin typeface="Roboto Mono"/>
                <a:ea typeface="Roboto Mono"/>
                <a:cs typeface="Roboto Mono"/>
                <a:sym typeface="Roboto Mono"/>
              </a:rPr>
              <a:t>Examples: a + b, a * b</a:t>
            </a:r>
            <a:endParaRPr sz="1700">
              <a:solidFill>
                <a:srgbClr val="0000F0"/>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3277d24a1f5_1_1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28" name="Google Shape;228;g3277d24a1f5_1_1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29" name="Google Shape;229;g3277d24a1f5_1_1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0" name="Google Shape;230;g3277d24a1f5_1_1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31" name="Google Shape;231;g3277d24a1f5_1_1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Operators</a:t>
            </a:r>
            <a:endParaRPr sz="2000" b="1" i="0" u="none" strike="noStrike" cap="none">
              <a:solidFill>
                <a:schemeClr val="lt1"/>
              </a:solidFill>
              <a:latin typeface="Lato"/>
              <a:ea typeface="Lato"/>
              <a:cs typeface="Lato"/>
              <a:sym typeface="Lato"/>
            </a:endParaRPr>
          </a:p>
        </p:txBody>
      </p:sp>
      <p:sp>
        <p:nvSpPr>
          <p:cNvPr id="232" name="Google Shape;232;g3277d24a1f5_1_16"/>
          <p:cNvSpPr txBox="1"/>
          <p:nvPr/>
        </p:nvSpPr>
        <p:spPr>
          <a:xfrm>
            <a:off x="371500" y="913200"/>
            <a:ext cx="8334900" cy="13869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None/>
            </a:pPr>
            <a:endParaRPr sz="1400" b="0" i="0" u="none" strike="noStrike" cap="none">
              <a:solidFill>
                <a:schemeClr val="dk1"/>
              </a:solidFill>
              <a:latin typeface="Lato"/>
              <a:ea typeface="Lato"/>
              <a:cs typeface="Lato"/>
              <a:sym typeface="Lato"/>
            </a:endParaRPr>
          </a:p>
        </p:txBody>
      </p:sp>
      <p:pic>
        <p:nvPicPr>
          <p:cNvPr id="233" name="Google Shape;233;g3277d24a1f5_1_16"/>
          <p:cNvPicPr preferRelativeResize="0"/>
          <p:nvPr/>
        </p:nvPicPr>
        <p:blipFill rotWithShape="1">
          <a:blip r:embed="rId5">
            <a:alphaModFix/>
          </a:blip>
          <a:srcRect/>
          <a:stretch/>
        </p:blipFill>
        <p:spPr>
          <a:xfrm>
            <a:off x="324292" y="1061376"/>
            <a:ext cx="61722" cy="109728"/>
          </a:xfrm>
          <a:prstGeom prst="rect">
            <a:avLst/>
          </a:prstGeom>
          <a:noFill/>
          <a:ln>
            <a:noFill/>
          </a:ln>
        </p:spPr>
      </p:pic>
      <p:pic>
        <p:nvPicPr>
          <p:cNvPr id="234" name="Google Shape;234;g3277d24a1f5_1_16"/>
          <p:cNvPicPr preferRelativeResize="0"/>
          <p:nvPr/>
        </p:nvPicPr>
        <p:blipFill rotWithShape="1">
          <a:blip r:embed="rId5">
            <a:alphaModFix/>
          </a:blip>
          <a:srcRect/>
          <a:stretch/>
        </p:blipFill>
        <p:spPr>
          <a:xfrm>
            <a:off x="324292" y="2509176"/>
            <a:ext cx="61722" cy="109728"/>
          </a:xfrm>
          <a:prstGeom prst="rect">
            <a:avLst/>
          </a:prstGeom>
          <a:noFill/>
          <a:ln>
            <a:noFill/>
          </a:ln>
        </p:spPr>
      </p:pic>
      <p:pic>
        <p:nvPicPr>
          <p:cNvPr id="235" name="Google Shape;235;g3277d24a1f5_1_1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6" name="Google Shape;236;g3277d24a1f5_1_1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37" name="Google Shape;237;g3277d24a1f5_1_16"/>
          <p:cNvSpPr txBox="1"/>
          <p:nvPr/>
        </p:nvSpPr>
        <p:spPr>
          <a:xfrm>
            <a:off x="371500" y="9025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b="1">
                <a:solidFill>
                  <a:srgbClr val="222222"/>
                </a:solidFill>
                <a:latin typeface="Lato"/>
                <a:ea typeface="Lato"/>
                <a:cs typeface="Lato"/>
                <a:sym typeface="Lato"/>
              </a:rPr>
              <a:t>Logical Operators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AND (&amp;&amp;), OR (||), NOT (!)</a:t>
            </a:r>
            <a:endParaRPr sz="1400" b="0" i="0" u="none" strike="noStrike" cap="none">
              <a:solidFill>
                <a:schemeClr val="dk1"/>
              </a:solidFill>
              <a:latin typeface="Lato"/>
              <a:ea typeface="Lato"/>
              <a:cs typeface="Lato"/>
              <a:sym typeface="Lato"/>
            </a:endParaRPr>
          </a:p>
        </p:txBody>
      </p:sp>
      <p:pic>
        <p:nvPicPr>
          <p:cNvPr id="238" name="Google Shape;238;g3277d24a1f5_1_16"/>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239" name="Google Shape;239;g3277d24a1f5_1_16"/>
          <p:cNvSpPr txBox="1"/>
          <p:nvPr/>
        </p:nvSpPr>
        <p:spPr>
          <a:xfrm>
            <a:off x="371500" y="18643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Why Use </a:t>
            </a:r>
            <a:r>
              <a:rPr lang="en" b="1">
                <a:solidFill>
                  <a:srgbClr val="222222"/>
                </a:solidFill>
                <a:latin typeface="Lato"/>
                <a:ea typeface="Lato"/>
                <a:cs typeface="Lato"/>
                <a:sym typeface="Lato"/>
              </a:rPr>
              <a:t>Logical </a:t>
            </a:r>
            <a:r>
              <a:rPr lang="en" sz="1400" b="1" i="0" u="none" strike="noStrike" cap="none">
                <a:solidFill>
                  <a:srgbClr val="222222"/>
                </a:solidFill>
                <a:latin typeface="Lato"/>
                <a:ea typeface="Lato"/>
                <a:cs typeface="Lato"/>
                <a:sym typeface="Lato"/>
              </a:rPr>
              <a:t>Types?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Logical operators are used for checking conditions</a:t>
            </a:r>
            <a:endParaRPr sz="1400" b="0" i="0" u="none" strike="noStrike" cap="none">
              <a:solidFill>
                <a:schemeClr val="dk1"/>
              </a:solidFill>
              <a:latin typeface="Lato"/>
              <a:ea typeface="Lato"/>
              <a:cs typeface="Lato"/>
              <a:sym typeface="Lato"/>
            </a:endParaRPr>
          </a:p>
        </p:txBody>
      </p:sp>
      <p:pic>
        <p:nvPicPr>
          <p:cNvPr id="240" name="Google Shape;240;g3277d24a1f5_1_16"/>
          <p:cNvPicPr preferRelativeResize="0"/>
          <p:nvPr/>
        </p:nvPicPr>
        <p:blipFill rotWithShape="1">
          <a:blip r:embed="rId5">
            <a:alphaModFix/>
          </a:blip>
          <a:srcRect/>
          <a:stretch/>
        </p:blipFill>
        <p:spPr>
          <a:xfrm>
            <a:off x="326578" y="1975776"/>
            <a:ext cx="59436" cy="109728"/>
          </a:xfrm>
          <a:prstGeom prst="rect">
            <a:avLst/>
          </a:prstGeom>
          <a:noFill/>
          <a:ln>
            <a:noFill/>
          </a:ln>
        </p:spPr>
      </p:pic>
      <p:sp>
        <p:nvSpPr>
          <p:cNvPr id="241" name="Google Shape;241;g3277d24a1f5_1_16"/>
          <p:cNvSpPr txBox="1"/>
          <p:nvPr/>
        </p:nvSpPr>
        <p:spPr>
          <a:xfrm>
            <a:off x="371500" y="2802150"/>
            <a:ext cx="8334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b="1">
                <a:solidFill>
                  <a:srgbClr val="222222"/>
                </a:solidFill>
                <a:latin typeface="Lato"/>
                <a:ea typeface="Lato"/>
                <a:cs typeface="Lato"/>
                <a:sym typeface="Lato"/>
              </a:rPr>
              <a:t>Example</a:t>
            </a:r>
            <a:endParaRPr sz="1400" b="0" i="0" u="none" strike="noStrike" cap="none">
              <a:solidFill>
                <a:schemeClr val="dk1"/>
              </a:solidFill>
              <a:latin typeface="Lato"/>
              <a:ea typeface="Lato"/>
              <a:cs typeface="Lato"/>
              <a:sym typeface="Lato"/>
            </a:endParaRPr>
          </a:p>
        </p:txBody>
      </p:sp>
      <p:pic>
        <p:nvPicPr>
          <p:cNvPr id="242" name="Google Shape;242;g3277d24a1f5_1_16"/>
          <p:cNvPicPr preferRelativeResize="0"/>
          <p:nvPr/>
        </p:nvPicPr>
        <p:blipFill rotWithShape="1">
          <a:blip r:embed="rId5">
            <a:alphaModFix/>
          </a:blip>
          <a:srcRect/>
          <a:stretch/>
        </p:blipFill>
        <p:spPr>
          <a:xfrm>
            <a:off x="326578" y="2966376"/>
            <a:ext cx="59436" cy="109728"/>
          </a:xfrm>
          <a:prstGeom prst="rect">
            <a:avLst/>
          </a:prstGeom>
          <a:noFill/>
          <a:ln>
            <a:noFill/>
          </a:ln>
        </p:spPr>
      </p:pic>
      <p:sp>
        <p:nvSpPr>
          <p:cNvPr id="243" name="Google Shape;243;g3277d24a1f5_1_16"/>
          <p:cNvSpPr txBox="1"/>
          <p:nvPr/>
        </p:nvSpPr>
        <p:spPr>
          <a:xfrm>
            <a:off x="623400" y="3217850"/>
            <a:ext cx="6376200" cy="870600"/>
          </a:xfrm>
          <a:prstGeom prst="rect">
            <a:avLst/>
          </a:prstGeom>
          <a:solidFill>
            <a:srgbClr val="F2F8FF"/>
          </a:solid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a:solidFill>
                  <a:srgbClr val="0000F0"/>
                </a:solidFill>
                <a:latin typeface="Roboto Mono"/>
                <a:ea typeface="Roboto Mono"/>
                <a:cs typeface="Roboto Mono"/>
                <a:sym typeface="Roboto Mono"/>
              </a:rPr>
              <a:t>Examples: a &amp;&amp; b, !a</a:t>
            </a:r>
            <a:endParaRPr sz="1700">
              <a:solidFill>
                <a:srgbClr val="0000F0"/>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g3277d24a1f5_1_39"/>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49" name="Google Shape;249;g3277d24a1f5_1_3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50" name="Google Shape;250;g3277d24a1f5_1_3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51" name="Google Shape;251;g3277d24a1f5_1_3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52" name="Google Shape;252;g3277d24a1f5_1_39"/>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Operators</a:t>
            </a:r>
            <a:endParaRPr sz="2000" b="1" i="0" u="none" strike="noStrike" cap="none">
              <a:solidFill>
                <a:schemeClr val="lt1"/>
              </a:solidFill>
              <a:latin typeface="Lato"/>
              <a:ea typeface="Lato"/>
              <a:cs typeface="Lato"/>
              <a:sym typeface="Lato"/>
            </a:endParaRPr>
          </a:p>
        </p:txBody>
      </p:sp>
      <p:sp>
        <p:nvSpPr>
          <p:cNvPr id="253" name="Google Shape;253;g3277d24a1f5_1_39"/>
          <p:cNvSpPr txBox="1"/>
          <p:nvPr/>
        </p:nvSpPr>
        <p:spPr>
          <a:xfrm>
            <a:off x="371500" y="913200"/>
            <a:ext cx="8334900" cy="13869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None/>
            </a:pPr>
            <a:endParaRPr sz="1400" b="0" i="0" u="none" strike="noStrike" cap="none">
              <a:solidFill>
                <a:schemeClr val="dk1"/>
              </a:solidFill>
              <a:latin typeface="Lato"/>
              <a:ea typeface="Lato"/>
              <a:cs typeface="Lato"/>
              <a:sym typeface="Lato"/>
            </a:endParaRPr>
          </a:p>
        </p:txBody>
      </p:sp>
      <p:pic>
        <p:nvPicPr>
          <p:cNvPr id="254" name="Google Shape;254;g3277d24a1f5_1_39"/>
          <p:cNvPicPr preferRelativeResize="0"/>
          <p:nvPr/>
        </p:nvPicPr>
        <p:blipFill rotWithShape="1">
          <a:blip r:embed="rId5">
            <a:alphaModFix/>
          </a:blip>
          <a:srcRect/>
          <a:stretch/>
        </p:blipFill>
        <p:spPr>
          <a:xfrm>
            <a:off x="324292" y="1061376"/>
            <a:ext cx="61722" cy="109728"/>
          </a:xfrm>
          <a:prstGeom prst="rect">
            <a:avLst/>
          </a:prstGeom>
          <a:noFill/>
          <a:ln>
            <a:noFill/>
          </a:ln>
        </p:spPr>
      </p:pic>
      <p:pic>
        <p:nvPicPr>
          <p:cNvPr id="255" name="Google Shape;255;g3277d24a1f5_1_39"/>
          <p:cNvPicPr preferRelativeResize="0"/>
          <p:nvPr/>
        </p:nvPicPr>
        <p:blipFill rotWithShape="1">
          <a:blip r:embed="rId5">
            <a:alphaModFix/>
          </a:blip>
          <a:srcRect/>
          <a:stretch/>
        </p:blipFill>
        <p:spPr>
          <a:xfrm>
            <a:off x="324292" y="2509176"/>
            <a:ext cx="61722" cy="109728"/>
          </a:xfrm>
          <a:prstGeom prst="rect">
            <a:avLst/>
          </a:prstGeom>
          <a:noFill/>
          <a:ln>
            <a:noFill/>
          </a:ln>
        </p:spPr>
      </p:pic>
      <p:pic>
        <p:nvPicPr>
          <p:cNvPr id="256" name="Google Shape;256;g3277d24a1f5_1_3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57" name="Google Shape;257;g3277d24a1f5_1_3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58" name="Google Shape;258;g3277d24a1f5_1_39"/>
          <p:cNvSpPr txBox="1"/>
          <p:nvPr/>
        </p:nvSpPr>
        <p:spPr>
          <a:xfrm>
            <a:off x="371500" y="9025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b="1">
                <a:solidFill>
                  <a:srgbClr val="222222"/>
                </a:solidFill>
                <a:latin typeface="Lato"/>
                <a:ea typeface="Lato"/>
                <a:cs typeface="Lato"/>
                <a:sym typeface="Lato"/>
              </a:rPr>
              <a:t>Assignment Operators</a:t>
            </a:r>
            <a:endParaRPr sz="1400" b="1" i="0" u="none" strike="noStrike" cap="none">
              <a:solidFill>
                <a:srgbClr val="222222"/>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AND (&amp;&amp;), OR (||), NOT (!)</a:t>
            </a:r>
            <a:endParaRPr sz="1400" b="0" i="0" u="none" strike="noStrike" cap="none">
              <a:solidFill>
                <a:schemeClr val="dk1"/>
              </a:solidFill>
              <a:latin typeface="Lato"/>
              <a:ea typeface="Lato"/>
              <a:cs typeface="Lato"/>
              <a:sym typeface="Lato"/>
            </a:endParaRPr>
          </a:p>
        </p:txBody>
      </p:sp>
      <p:pic>
        <p:nvPicPr>
          <p:cNvPr id="259" name="Google Shape;259;g3277d24a1f5_1_39"/>
          <p:cNvPicPr preferRelativeResize="0"/>
          <p:nvPr/>
        </p:nvPicPr>
        <p:blipFill rotWithShape="1">
          <a:blip r:embed="rId5">
            <a:alphaModFix/>
          </a:blip>
          <a:srcRect/>
          <a:stretch/>
        </p:blipFill>
        <p:spPr>
          <a:xfrm>
            <a:off x="324292" y="1061376"/>
            <a:ext cx="61722" cy="109728"/>
          </a:xfrm>
          <a:prstGeom prst="rect">
            <a:avLst/>
          </a:prstGeom>
          <a:noFill/>
          <a:ln>
            <a:noFill/>
          </a:ln>
        </p:spPr>
      </p:pic>
      <p:sp>
        <p:nvSpPr>
          <p:cNvPr id="260" name="Google Shape;260;g3277d24a1f5_1_39"/>
          <p:cNvSpPr txBox="1"/>
          <p:nvPr/>
        </p:nvSpPr>
        <p:spPr>
          <a:xfrm>
            <a:off x="371500" y="1864325"/>
            <a:ext cx="8334900" cy="870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sz="1400" b="1" i="0" u="none" strike="noStrike" cap="none">
                <a:solidFill>
                  <a:srgbClr val="222222"/>
                </a:solidFill>
                <a:latin typeface="Lato"/>
                <a:ea typeface="Lato"/>
                <a:cs typeface="Lato"/>
                <a:sym typeface="Lato"/>
              </a:rPr>
              <a:t>Why Use </a:t>
            </a:r>
            <a:r>
              <a:rPr lang="en" b="1">
                <a:solidFill>
                  <a:srgbClr val="222222"/>
                </a:solidFill>
                <a:latin typeface="Lato"/>
                <a:ea typeface="Lato"/>
                <a:cs typeface="Lato"/>
                <a:sym typeface="Lato"/>
              </a:rPr>
              <a:t>Assignment </a:t>
            </a:r>
            <a:r>
              <a:rPr lang="en" sz="1400" b="1" i="0" u="none" strike="noStrike" cap="none">
                <a:solidFill>
                  <a:srgbClr val="222222"/>
                </a:solidFill>
                <a:latin typeface="Lato"/>
                <a:ea typeface="Lato"/>
                <a:cs typeface="Lato"/>
                <a:sym typeface="Lato"/>
              </a:rPr>
              <a:t>Types?</a:t>
            </a:r>
            <a:endParaRPr sz="1400" b="1" i="0" u="none" strike="noStrike" cap="none">
              <a:solidFill>
                <a:srgbClr val="222222"/>
              </a:solidFill>
              <a:latin typeface="Lato"/>
              <a:ea typeface="Lato"/>
              <a:cs typeface="Lato"/>
              <a:sym typeface="Lato"/>
            </a:endParaRPr>
          </a:p>
          <a:p>
            <a:pPr marL="45720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Basic Assignment (=): a = 5</a:t>
            </a:r>
            <a:endParaRPr>
              <a:solidFill>
                <a:schemeClr val="dk1"/>
              </a:solidFill>
              <a:latin typeface="Lato"/>
              <a:ea typeface="Lato"/>
              <a:cs typeface="Lato"/>
              <a:sym typeface="Lato"/>
            </a:endParaRPr>
          </a:p>
          <a:p>
            <a:pPr marL="457200" lvl="0" indent="-317500" algn="just" rtl="0">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Compound Assignments: Add and Assign (+=), Subtract and Assign (-=), Multiply and Assign (*=), etc.</a:t>
            </a:r>
            <a:endParaRPr>
              <a:solidFill>
                <a:schemeClr val="dk1"/>
              </a:solidFill>
              <a:latin typeface="Lato"/>
              <a:ea typeface="Lato"/>
              <a:cs typeface="Lato"/>
              <a:sym typeface="Lato"/>
            </a:endParaRPr>
          </a:p>
          <a:p>
            <a:pPr marL="457200" marR="0" lvl="0" indent="0" algn="just" rtl="0">
              <a:lnSpc>
                <a:spcPct val="115000"/>
              </a:lnSpc>
              <a:spcBef>
                <a:spcPts val="0"/>
              </a:spcBef>
              <a:spcAft>
                <a:spcPts val="0"/>
              </a:spcAft>
              <a:buNone/>
            </a:pPr>
            <a:endParaRPr>
              <a:solidFill>
                <a:schemeClr val="dk1"/>
              </a:solidFill>
              <a:latin typeface="Lato"/>
              <a:ea typeface="Lato"/>
              <a:cs typeface="Lato"/>
              <a:sym typeface="Lato"/>
            </a:endParaRPr>
          </a:p>
        </p:txBody>
      </p:sp>
      <p:pic>
        <p:nvPicPr>
          <p:cNvPr id="261" name="Google Shape;261;g3277d24a1f5_1_39"/>
          <p:cNvPicPr preferRelativeResize="0"/>
          <p:nvPr/>
        </p:nvPicPr>
        <p:blipFill rotWithShape="1">
          <a:blip r:embed="rId5">
            <a:alphaModFix/>
          </a:blip>
          <a:srcRect/>
          <a:stretch/>
        </p:blipFill>
        <p:spPr>
          <a:xfrm>
            <a:off x="326578" y="1975776"/>
            <a:ext cx="59436" cy="109728"/>
          </a:xfrm>
          <a:prstGeom prst="rect">
            <a:avLst/>
          </a:prstGeom>
          <a:noFill/>
          <a:ln>
            <a:noFill/>
          </a:ln>
        </p:spPr>
      </p:pic>
      <p:sp>
        <p:nvSpPr>
          <p:cNvPr id="262" name="Google Shape;262;g3277d24a1f5_1_39"/>
          <p:cNvSpPr txBox="1"/>
          <p:nvPr/>
        </p:nvSpPr>
        <p:spPr>
          <a:xfrm>
            <a:off x="371500" y="2802150"/>
            <a:ext cx="8334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400"/>
              </a:spcBef>
              <a:spcAft>
                <a:spcPts val="0"/>
              </a:spcAft>
              <a:buClr>
                <a:srgbClr val="000000"/>
              </a:buClr>
              <a:buSzPts val="1400"/>
              <a:buFont typeface="Arial"/>
              <a:buNone/>
            </a:pPr>
            <a:r>
              <a:rPr lang="en" b="1">
                <a:solidFill>
                  <a:srgbClr val="222222"/>
                </a:solidFill>
                <a:latin typeface="Lato"/>
                <a:ea typeface="Lato"/>
                <a:cs typeface="Lato"/>
                <a:sym typeface="Lato"/>
              </a:rPr>
              <a:t>Example</a:t>
            </a:r>
            <a:endParaRPr sz="1400" b="0" i="0" u="none" strike="noStrike" cap="none">
              <a:solidFill>
                <a:schemeClr val="dk1"/>
              </a:solidFill>
              <a:latin typeface="Lato"/>
              <a:ea typeface="Lato"/>
              <a:cs typeface="Lato"/>
              <a:sym typeface="Lato"/>
            </a:endParaRPr>
          </a:p>
        </p:txBody>
      </p:sp>
      <p:pic>
        <p:nvPicPr>
          <p:cNvPr id="263" name="Google Shape;263;g3277d24a1f5_1_39"/>
          <p:cNvPicPr preferRelativeResize="0"/>
          <p:nvPr/>
        </p:nvPicPr>
        <p:blipFill rotWithShape="1">
          <a:blip r:embed="rId5">
            <a:alphaModFix/>
          </a:blip>
          <a:srcRect/>
          <a:stretch/>
        </p:blipFill>
        <p:spPr>
          <a:xfrm>
            <a:off x="326578" y="2966376"/>
            <a:ext cx="59436" cy="109728"/>
          </a:xfrm>
          <a:prstGeom prst="rect">
            <a:avLst/>
          </a:prstGeom>
          <a:noFill/>
          <a:ln>
            <a:noFill/>
          </a:ln>
        </p:spPr>
      </p:pic>
      <p:sp>
        <p:nvSpPr>
          <p:cNvPr id="264" name="Google Shape;264;g3277d24a1f5_1_39"/>
          <p:cNvSpPr txBox="1"/>
          <p:nvPr/>
        </p:nvSpPr>
        <p:spPr>
          <a:xfrm>
            <a:off x="437600" y="3319183"/>
            <a:ext cx="6376200" cy="870600"/>
          </a:xfrm>
          <a:prstGeom prst="rect">
            <a:avLst/>
          </a:prstGeom>
          <a:solidFill>
            <a:srgbClr val="F2F8FF"/>
          </a:solid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700"/>
              <a:buFont typeface="Arial"/>
              <a:buNone/>
            </a:pPr>
            <a:r>
              <a:rPr lang="en" sz="1700">
                <a:solidFill>
                  <a:srgbClr val="0000F0"/>
                </a:solidFill>
                <a:latin typeface="Roboto Mono"/>
                <a:ea typeface="Roboto Mono"/>
                <a:cs typeface="Roboto Mono"/>
                <a:sym typeface="Roboto Mono"/>
              </a:rPr>
              <a:t>Examples: a += 5, b *= 2</a:t>
            </a:r>
            <a:endParaRPr sz="1700">
              <a:solidFill>
                <a:srgbClr val="0000F0"/>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324292" y="2890176"/>
            <a:ext cx="61722" cy="109728"/>
          </a:xfrm>
          <a:prstGeom prst="rect">
            <a:avLst/>
          </a:prstGeom>
          <a:noFill/>
          <a:ln>
            <a:noFill/>
          </a:ln>
        </p:spPr>
      </p:pic>
      <p:sp>
        <p:nvSpPr>
          <p:cNvPr id="13" name="Google Shape;76;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Arrays and Collections</a:t>
            </a:r>
            <a:endParaRPr sz="2000" b="1" i="0" u="none" strike="noStrike" cap="none" dirty="0">
              <a:solidFill>
                <a:schemeClr val="lt1"/>
              </a:solidFill>
              <a:latin typeface="Lato"/>
              <a:ea typeface="Lato"/>
              <a:cs typeface="Lato"/>
              <a:sym typeface="Lato"/>
            </a:endParaRPr>
          </a:p>
        </p:txBody>
      </p:sp>
      <p:sp>
        <p:nvSpPr>
          <p:cNvPr id="3" name="Rectangle 2"/>
          <p:cNvSpPr/>
          <p:nvPr/>
        </p:nvSpPr>
        <p:spPr>
          <a:xfrm>
            <a:off x="1745673" y="2580361"/>
            <a:ext cx="4572000" cy="954107"/>
          </a:xfrm>
          <a:prstGeom prst="rect">
            <a:avLst/>
          </a:prstGeom>
        </p:spPr>
        <p:txBody>
          <a:bodyPr>
            <a:spAutoFit/>
          </a:bodyPr>
          <a:lstStyle/>
          <a:p>
            <a:pPr marL="285750" indent="-285750">
              <a:buFont typeface="Wingdings" panose="05000000000000000000" pitchFamily="2" charset="2"/>
              <a:buChar char="Ø"/>
            </a:pPr>
            <a:r>
              <a:rPr lang="en-US" b="1" dirty="0">
                <a:latin typeface="Lato" panose="020B0604020202020204" charset="0"/>
              </a:rPr>
              <a:t>Lists and Dictionaries</a:t>
            </a:r>
            <a:endParaRPr lang="en-US" dirty="0">
              <a:latin typeface="Lato" panose="020B0604020202020204" charset="0"/>
            </a:endParaRPr>
          </a:p>
          <a:p>
            <a:pPr marL="742950" lvl="1" indent="-285750">
              <a:buFont typeface="Arial" panose="020B0604020202020204" pitchFamily="34" charset="0"/>
              <a:buChar char="•"/>
            </a:pPr>
            <a:r>
              <a:rPr lang="en-US" dirty="0">
                <a:latin typeface="Lato" panose="020B0604020202020204" charset="0"/>
              </a:rPr>
              <a:t>Lists: Dynamic-sized collection</a:t>
            </a:r>
          </a:p>
          <a:p>
            <a:pPr marL="742950" lvl="1" indent="-285750">
              <a:buFont typeface="Arial" panose="020B0604020202020204" pitchFamily="34" charset="0"/>
              <a:buChar char="•"/>
            </a:pPr>
            <a:r>
              <a:rPr lang="en-US" dirty="0">
                <a:latin typeface="Lato" panose="020B0604020202020204" charset="0"/>
              </a:rPr>
              <a:t>Dictionaries: Key-value pairs for efficient lookups</a:t>
            </a:r>
          </a:p>
        </p:txBody>
      </p:sp>
      <p:sp>
        <p:nvSpPr>
          <p:cNvPr id="4" name="Rectangle 3"/>
          <p:cNvSpPr/>
          <p:nvPr/>
        </p:nvSpPr>
        <p:spPr>
          <a:xfrm>
            <a:off x="1745673" y="944770"/>
            <a:ext cx="4572000" cy="954107"/>
          </a:xfrm>
          <a:prstGeom prst="rect">
            <a:avLst/>
          </a:prstGeom>
        </p:spPr>
        <p:txBody>
          <a:bodyPr>
            <a:spAutoFit/>
          </a:bodyPr>
          <a:lstStyle/>
          <a:p>
            <a:pPr marL="285750" indent="-285750">
              <a:buFont typeface="Wingdings" panose="05000000000000000000" pitchFamily="2" charset="2"/>
              <a:buChar char="Ø"/>
            </a:pPr>
            <a:r>
              <a:rPr lang="en-US" b="1" dirty="0">
                <a:latin typeface="Lato" panose="020B0604020202020204" charset="0"/>
              </a:rPr>
              <a:t>Array Basics</a:t>
            </a:r>
            <a:endParaRPr lang="en-US" dirty="0">
              <a:latin typeface="Lato" panose="020B0604020202020204" charset="0"/>
            </a:endParaRPr>
          </a:p>
          <a:p>
            <a:pPr marL="742950" lvl="1" indent="-285750">
              <a:buFont typeface="Arial" panose="020B0604020202020204" pitchFamily="34" charset="0"/>
              <a:buChar char="•"/>
            </a:pPr>
            <a:r>
              <a:rPr lang="en-US" dirty="0">
                <a:latin typeface="Lato" panose="020B0604020202020204" charset="0"/>
              </a:rPr>
              <a:t>Fixed-size collection of elements</a:t>
            </a:r>
          </a:p>
          <a:p>
            <a:pPr marL="742950" lvl="1" indent="-285750">
              <a:buFont typeface="Arial" panose="020B0604020202020204" pitchFamily="34" charset="0"/>
              <a:buChar char="•"/>
            </a:pPr>
            <a:r>
              <a:rPr lang="en-US" dirty="0">
                <a:latin typeface="Lato" panose="020B0604020202020204" charset="0"/>
              </a:rPr>
              <a:t>Elements are of the same type</a:t>
            </a:r>
          </a:p>
          <a:p>
            <a:pPr marL="742950" lvl="1" indent="-285750">
              <a:buFont typeface="Arial" panose="020B0604020202020204" pitchFamily="34" charset="0"/>
              <a:buChar char="•"/>
            </a:pPr>
            <a:r>
              <a:rPr lang="en-US" dirty="0">
                <a:latin typeface="Lato" panose="020B0604020202020204" charset="0"/>
              </a:rPr>
              <a:t>Accessed by index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44"/>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72" name="Google Shape;572;p44"/>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73" name="Google Shape;573;p44"/>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Methods and Functions</a:t>
            </a:r>
          </a:p>
        </p:txBody>
      </p:sp>
      <p:pic>
        <p:nvPicPr>
          <p:cNvPr id="574" name="Google Shape;574;p4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75" name="Google Shape;575;p4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576" name="Google Shape;576;p44"/>
          <p:cNvSpPr txBox="1"/>
          <p:nvPr/>
        </p:nvSpPr>
        <p:spPr>
          <a:xfrm>
            <a:off x="371500" y="695875"/>
            <a:ext cx="8334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chemeClr val="dk1"/>
                </a:solidFill>
                <a:highlight>
                  <a:schemeClr val="lt1"/>
                </a:highlight>
                <a:latin typeface="Lato"/>
                <a:ea typeface="Lato"/>
                <a:cs typeface="Lato"/>
                <a:sym typeface="Lato"/>
              </a:rPr>
              <a:t>Methods are generally the block of codes or statements in a program that gives the user the ability to reuse the same code which ultimately saves the excessive use of memory, acts as a time saver and more importantly, it provides a better readability of code. So basically, a method is a collection of statements that perform some specific task and return the result to the caller. A method can also perform some specific task without returning anything.</a:t>
            </a:r>
            <a:endParaRPr sz="1400" b="0" i="0" u="none" strike="noStrike" cap="none">
              <a:solidFill>
                <a:schemeClr val="dk1"/>
              </a:solidFill>
              <a:highlight>
                <a:schemeClr val="lt1"/>
              </a:highlight>
              <a:latin typeface="Lato"/>
              <a:ea typeface="Lato"/>
              <a:cs typeface="Lato"/>
              <a:sym typeface="Lato"/>
            </a:endParaRPr>
          </a:p>
        </p:txBody>
      </p:sp>
      <p:pic>
        <p:nvPicPr>
          <p:cNvPr id="577" name="Google Shape;577;p44"/>
          <p:cNvPicPr preferRelativeResize="0"/>
          <p:nvPr/>
        </p:nvPicPr>
        <p:blipFill rotWithShape="1">
          <a:blip r:embed="rId5">
            <a:alphaModFix/>
          </a:blip>
          <a:srcRect/>
          <a:stretch/>
        </p:blipFill>
        <p:spPr>
          <a:xfrm>
            <a:off x="324292" y="832776"/>
            <a:ext cx="61722" cy="109728"/>
          </a:xfrm>
          <a:prstGeom prst="rect">
            <a:avLst/>
          </a:prstGeom>
          <a:noFill/>
          <a:ln>
            <a:noFill/>
          </a:ln>
        </p:spPr>
      </p:pic>
      <p:sp>
        <p:nvSpPr>
          <p:cNvPr id="578" name="Google Shape;578;p44"/>
          <p:cNvSpPr txBox="1"/>
          <p:nvPr/>
        </p:nvSpPr>
        <p:spPr>
          <a:xfrm>
            <a:off x="371500" y="19912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Method Declaration:</a:t>
            </a:r>
            <a:br>
              <a:rPr lang="en" sz="1400" b="0" i="0" u="none" strike="noStrike" cap="none">
                <a:solidFill>
                  <a:srgbClr val="273239"/>
                </a:solidFill>
                <a:highlight>
                  <a:srgbClr val="FFFFFF"/>
                </a:highlight>
                <a:latin typeface="Lato"/>
                <a:ea typeface="Lato"/>
                <a:cs typeface="Lato"/>
                <a:sym typeface="Lato"/>
              </a:rPr>
            </a:br>
            <a:r>
              <a:rPr lang="en" sz="1400" b="0" i="0" u="none" strike="noStrike" cap="none">
                <a:solidFill>
                  <a:srgbClr val="273239"/>
                </a:solidFill>
                <a:highlight>
                  <a:srgbClr val="FFFFFF"/>
                </a:highlight>
                <a:latin typeface="Lato"/>
                <a:ea typeface="Lato"/>
                <a:cs typeface="Lato"/>
                <a:sym typeface="Lato"/>
              </a:rPr>
              <a:t>Method declaration means the way to construct method including its naming.</a:t>
            </a:r>
            <a:endParaRPr sz="1400" b="0" i="0" u="none" strike="noStrike" cap="none">
              <a:solidFill>
                <a:schemeClr val="dk1"/>
              </a:solidFill>
              <a:highlight>
                <a:schemeClr val="lt1"/>
              </a:highlight>
              <a:latin typeface="Lato"/>
              <a:ea typeface="Lato"/>
              <a:cs typeface="Lato"/>
              <a:sym typeface="Lato"/>
            </a:endParaRPr>
          </a:p>
        </p:txBody>
      </p:sp>
      <p:pic>
        <p:nvPicPr>
          <p:cNvPr id="579" name="Google Shape;579;p44"/>
          <p:cNvPicPr preferRelativeResize="0"/>
          <p:nvPr/>
        </p:nvPicPr>
        <p:blipFill rotWithShape="1">
          <a:blip r:embed="rId5">
            <a:alphaModFix/>
          </a:blip>
          <a:srcRect/>
          <a:stretch/>
        </p:blipFill>
        <p:spPr>
          <a:xfrm>
            <a:off x="324292" y="2128176"/>
            <a:ext cx="61722" cy="109728"/>
          </a:xfrm>
          <a:prstGeom prst="rect">
            <a:avLst/>
          </a:prstGeom>
          <a:noFill/>
          <a:ln>
            <a:noFill/>
          </a:ln>
        </p:spPr>
      </p:pic>
      <p:sp>
        <p:nvSpPr>
          <p:cNvPr id="580" name="Google Shape;580;p44"/>
          <p:cNvSpPr txBox="1"/>
          <p:nvPr/>
        </p:nvSpPr>
        <p:spPr>
          <a:xfrm>
            <a:off x="371500" y="26008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Syntax:</a:t>
            </a:r>
            <a:br>
              <a:rPr lang="en" sz="1400" b="0" i="0" u="none" strike="noStrike" cap="none">
                <a:solidFill>
                  <a:srgbClr val="273239"/>
                </a:solidFill>
                <a:highlight>
                  <a:srgbClr val="FFFFFF"/>
                </a:highlight>
                <a:latin typeface="Lato"/>
                <a:ea typeface="Lato"/>
                <a:cs typeface="Lato"/>
                <a:sym typeface="Lato"/>
              </a:rPr>
            </a:br>
            <a:r>
              <a:rPr lang="en" sz="1400" b="0" i="0" u="none" strike="noStrike" cap="none">
                <a:solidFill>
                  <a:srgbClr val="273239"/>
                </a:solidFill>
                <a:latin typeface="Lato"/>
                <a:ea typeface="Lato"/>
                <a:cs typeface="Lato"/>
                <a:sym typeface="Lato"/>
              </a:rPr>
              <a:t>&lt;Access_Modifier&gt; &lt;return_type&gt; &lt;method_name&gt;([&lt;param_list&gt;])</a:t>
            </a:r>
            <a:endParaRPr sz="1400" b="0" i="0" u="none" strike="noStrike" cap="none">
              <a:solidFill>
                <a:srgbClr val="273239"/>
              </a:solidFill>
              <a:highlight>
                <a:srgbClr val="FFFFFF"/>
              </a:highlight>
              <a:latin typeface="Lato"/>
              <a:ea typeface="Lato"/>
              <a:cs typeface="Lato"/>
              <a:sym typeface="Lato"/>
            </a:endParaRPr>
          </a:p>
        </p:txBody>
      </p:sp>
      <p:pic>
        <p:nvPicPr>
          <p:cNvPr id="581" name="Google Shape;581;p44"/>
          <p:cNvPicPr preferRelativeResize="0"/>
          <p:nvPr/>
        </p:nvPicPr>
        <p:blipFill rotWithShape="1">
          <a:blip r:embed="rId5">
            <a:alphaModFix/>
          </a:blip>
          <a:srcRect/>
          <a:stretch/>
        </p:blipFill>
        <p:spPr>
          <a:xfrm>
            <a:off x="324292" y="2737776"/>
            <a:ext cx="61722" cy="109728"/>
          </a:xfrm>
          <a:prstGeom prst="rect">
            <a:avLst/>
          </a:prstGeom>
          <a:noFill/>
          <a:ln>
            <a:noFill/>
          </a:ln>
        </p:spPr>
      </p:pic>
    </p:spTree>
    <p:extLst>
      <p:ext uri="{BB962C8B-B14F-4D97-AF65-F5344CB8AC3E}">
        <p14:creationId xmlns:p14="http://schemas.microsoft.com/office/powerpoint/2010/main" val="1760392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5"/>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87" name="Google Shape;587;p45"/>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88" name="Google Shape;588;p45"/>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Methods and Functions</a:t>
            </a:r>
          </a:p>
        </p:txBody>
      </p:sp>
      <p:pic>
        <p:nvPicPr>
          <p:cNvPr id="589" name="Google Shape;589;p4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90" name="Google Shape;590;p4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591" name="Google Shape;591;p45"/>
          <p:cNvPicPr preferRelativeResize="0"/>
          <p:nvPr/>
        </p:nvPicPr>
        <p:blipFill rotWithShape="1">
          <a:blip r:embed="rId5">
            <a:alphaModFix/>
          </a:blip>
          <a:srcRect/>
          <a:stretch/>
        </p:blipFill>
        <p:spPr>
          <a:xfrm>
            <a:off x="2287925" y="687848"/>
            <a:ext cx="4543551" cy="2178000"/>
          </a:xfrm>
          <a:prstGeom prst="rect">
            <a:avLst/>
          </a:prstGeom>
          <a:noFill/>
          <a:ln>
            <a:noFill/>
          </a:ln>
        </p:spPr>
      </p:pic>
      <p:sp>
        <p:nvSpPr>
          <p:cNvPr id="592" name="Google Shape;592;p45"/>
          <p:cNvSpPr txBox="1"/>
          <p:nvPr/>
        </p:nvSpPr>
        <p:spPr>
          <a:xfrm>
            <a:off x="371500" y="2677075"/>
            <a:ext cx="8334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273239"/>
                </a:solidFill>
                <a:highlight>
                  <a:srgbClr val="FFFFFF"/>
                </a:highlight>
                <a:latin typeface="Lato"/>
                <a:ea typeface="Lato"/>
                <a:cs typeface="Lato"/>
                <a:sym typeface="Lato"/>
              </a:rPr>
              <a:t>In C# a method declaration consists of the following components as follows :</a:t>
            </a:r>
            <a:endParaRPr sz="1400" b="0" i="0" u="none" strike="noStrike" cap="none">
              <a:solidFill>
                <a:schemeClr val="dk1"/>
              </a:solidFill>
              <a:highlight>
                <a:schemeClr val="lt1"/>
              </a:highlight>
              <a:latin typeface="Lato"/>
              <a:ea typeface="Lato"/>
              <a:cs typeface="Lato"/>
              <a:sym typeface="Lato"/>
            </a:endParaRPr>
          </a:p>
        </p:txBody>
      </p:sp>
      <p:pic>
        <p:nvPicPr>
          <p:cNvPr id="593" name="Google Shape;593;p45"/>
          <p:cNvPicPr preferRelativeResize="0"/>
          <p:nvPr/>
        </p:nvPicPr>
        <p:blipFill rotWithShape="1">
          <a:blip r:embed="rId6">
            <a:alphaModFix/>
          </a:blip>
          <a:srcRect/>
          <a:stretch/>
        </p:blipFill>
        <p:spPr>
          <a:xfrm>
            <a:off x="324292" y="2813976"/>
            <a:ext cx="61722" cy="109728"/>
          </a:xfrm>
          <a:prstGeom prst="rect">
            <a:avLst/>
          </a:prstGeom>
          <a:noFill/>
          <a:ln>
            <a:noFill/>
          </a:ln>
        </p:spPr>
      </p:pic>
      <p:sp>
        <p:nvSpPr>
          <p:cNvPr id="594" name="Google Shape;594;p45"/>
          <p:cNvSpPr txBox="1"/>
          <p:nvPr/>
        </p:nvSpPr>
        <p:spPr>
          <a:xfrm>
            <a:off x="371500" y="29818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Modifier:</a:t>
            </a:r>
            <a:r>
              <a:rPr lang="en" sz="1400" b="0" i="0" u="none" strike="noStrike" cap="none">
                <a:solidFill>
                  <a:srgbClr val="273239"/>
                </a:solidFill>
                <a:highlight>
                  <a:srgbClr val="FFFFFF"/>
                </a:highlight>
                <a:latin typeface="Lato"/>
                <a:ea typeface="Lato"/>
                <a:cs typeface="Lato"/>
                <a:sym typeface="Lato"/>
              </a:rPr>
              <a:t> It defines access type of the method i.e. from where it can be accessed in your application. In C# there are Public, Protected, Private access modifiers.</a:t>
            </a:r>
            <a:endParaRPr sz="1400" b="0" i="0" u="none" strike="noStrike" cap="none">
              <a:solidFill>
                <a:schemeClr val="dk1"/>
              </a:solidFill>
              <a:highlight>
                <a:schemeClr val="lt1"/>
              </a:highlight>
              <a:latin typeface="Lato"/>
              <a:ea typeface="Lato"/>
              <a:cs typeface="Lato"/>
              <a:sym typeface="Lato"/>
            </a:endParaRPr>
          </a:p>
        </p:txBody>
      </p:sp>
      <p:pic>
        <p:nvPicPr>
          <p:cNvPr id="595" name="Google Shape;595;p45"/>
          <p:cNvPicPr preferRelativeResize="0"/>
          <p:nvPr/>
        </p:nvPicPr>
        <p:blipFill rotWithShape="1">
          <a:blip r:embed="rId6">
            <a:alphaModFix/>
          </a:blip>
          <a:srcRect/>
          <a:stretch/>
        </p:blipFill>
        <p:spPr>
          <a:xfrm>
            <a:off x="324292" y="3118776"/>
            <a:ext cx="61722" cy="109728"/>
          </a:xfrm>
          <a:prstGeom prst="rect">
            <a:avLst/>
          </a:prstGeom>
          <a:noFill/>
          <a:ln>
            <a:noFill/>
          </a:ln>
        </p:spPr>
      </p:pic>
      <p:sp>
        <p:nvSpPr>
          <p:cNvPr id="596" name="Google Shape;596;p45"/>
          <p:cNvSpPr txBox="1"/>
          <p:nvPr/>
        </p:nvSpPr>
        <p:spPr>
          <a:xfrm>
            <a:off x="371500" y="35152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Name of the Method: </a:t>
            </a:r>
            <a:r>
              <a:rPr lang="en" sz="1400" b="0" i="0" u="none" strike="noStrike" cap="none">
                <a:solidFill>
                  <a:srgbClr val="273239"/>
                </a:solidFill>
                <a:highlight>
                  <a:srgbClr val="FFFFFF"/>
                </a:highlight>
                <a:latin typeface="Lato"/>
                <a:ea typeface="Lato"/>
                <a:cs typeface="Lato"/>
                <a:sym typeface="Lato"/>
              </a:rPr>
              <a:t>It describes the name of the user defined method by which the user calls it or refer it. Eg. GetName()</a:t>
            </a:r>
            <a:endParaRPr sz="1400" b="0" i="0" u="none" strike="noStrike" cap="none">
              <a:solidFill>
                <a:schemeClr val="dk1"/>
              </a:solidFill>
              <a:highlight>
                <a:schemeClr val="lt1"/>
              </a:highlight>
              <a:latin typeface="Lato"/>
              <a:ea typeface="Lato"/>
              <a:cs typeface="Lato"/>
              <a:sym typeface="Lato"/>
            </a:endParaRPr>
          </a:p>
        </p:txBody>
      </p:sp>
      <p:pic>
        <p:nvPicPr>
          <p:cNvPr id="597" name="Google Shape;597;p45"/>
          <p:cNvPicPr preferRelativeResize="0"/>
          <p:nvPr/>
        </p:nvPicPr>
        <p:blipFill rotWithShape="1">
          <a:blip r:embed="rId6">
            <a:alphaModFix/>
          </a:blip>
          <a:srcRect/>
          <a:stretch/>
        </p:blipFill>
        <p:spPr>
          <a:xfrm>
            <a:off x="324292" y="3652176"/>
            <a:ext cx="61722" cy="109728"/>
          </a:xfrm>
          <a:prstGeom prst="rect">
            <a:avLst/>
          </a:prstGeom>
          <a:noFill/>
          <a:ln>
            <a:noFill/>
          </a:ln>
        </p:spPr>
      </p:pic>
      <p:sp>
        <p:nvSpPr>
          <p:cNvPr id="598" name="Google Shape;598;p45"/>
          <p:cNvSpPr txBox="1"/>
          <p:nvPr/>
        </p:nvSpPr>
        <p:spPr>
          <a:xfrm>
            <a:off x="371500" y="40486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Return type: </a:t>
            </a:r>
            <a:r>
              <a:rPr lang="en" sz="1400" b="0" i="0" u="none" strike="noStrike" cap="none">
                <a:solidFill>
                  <a:srgbClr val="273239"/>
                </a:solidFill>
                <a:highlight>
                  <a:srgbClr val="FFFFFF"/>
                </a:highlight>
                <a:latin typeface="Lato"/>
                <a:ea typeface="Lato"/>
                <a:cs typeface="Lato"/>
                <a:sym typeface="Lato"/>
              </a:rPr>
              <a:t>It defines the data type returned by the method. It depends upon user as it may also return void value i.e return nothing</a:t>
            </a:r>
            <a:endParaRPr sz="1400" b="0" i="0" u="none" strike="noStrike" cap="none">
              <a:solidFill>
                <a:schemeClr val="dk1"/>
              </a:solidFill>
              <a:highlight>
                <a:schemeClr val="lt1"/>
              </a:highlight>
              <a:latin typeface="Lato"/>
              <a:ea typeface="Lato"/>
              <a:cs typeface="Lato"/>
              <a:sym typeface="Lato"/>
            </a:endParaRPr>
          </a:p>
        </p:txBody>
      </p:sp>
      <p:pic>
        <p:nvPicPr>
          <p:cNvPr id="599" name="Google Shape;599;p45"/>
          <p:cNvPicPr preferRelativeResize="0"/>
          <p:nvPr/>
        </p:nvPicPr>
        <p:blipFill rotWithShape="1">
          <a:blip r:embed="rId6">
            <a:alphaModFix/>
          </a:blip>
          <a:srcRect/>
          <a:stretch/>
        </p:blipFill>
        <p:spPr>
          <a:xfrm>
            <a:off x="324292" y="4185576"/>
            <a:ext cx="61722" cy="109728"/>
          </a:xfrm>
          <a:prstGeom prst="rect">
            <a:avLst/>
          </a:prstGeom>
          <a:noFill/>
          <a:ln>
            <a:noFill/>
          </a:ln>
        </p:spPr>
      </p:pic>
    </p:spTree>
    <p:extLst>
      <p:ext uri="{BB962C8B-B14F-4D97-AF65-F5344CB8AC3E}">
        <p14:creationId xmlns:p14="http://schemas.microsoft.com/office/powerpoint/2010/main" val="3654361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4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605" name="Google Shape;605;p4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606" name="Google Shape;606;p4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Methods and Functions</a:t>
            </a:r>
          </a:p>
        </p:txBody>
      </p:sp>
      <p:pic>
        <p:nvPicPr>
          <p:cNvPr id="607" name="Google Shape;607;p4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608" name="Google Shape;608;p4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609" name="Google Shape;609;p46"/>
          <p:cNvSpPr txBox="1"/>
          <p:nvPr/>
        </p:nvSpPr>
        <p:spPr>
          <a:xfrm>
            <a:off x="371500" y="6958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Body of the Method: </a:t>
            </a:r>
            <a:r>
              <a:rPr lang="en" sz="1400" b="0" i="0" u="none" strike="noStrike" cap="none">
                <a:solidFill>
                  <a:srgbClr val="273239"/>
                </a:solidFill>
                <a:highlight>
                  <a:srgbClr val="FFFFFF"/>
                </a:highlight>
                <a:latin typeface="Lato"/>
                <a:ea typeface="Lato"/>
                <a:cs typeface="Lato"/>
                <a:sym typeface="Lato"/>
              </a:rPr>
              <a:t>It refers to the line of code of tasks to be performed by the method during its execution. It is enclosed between braces.</a:t>
            </a:r>
            <a:endParaRPr sz="1400" b="0" i="0" u="none" strike="noStrike" cap="none">
              <a:solidFill>
                <a:schemeClr val="dk1"/>
              </a:solidFill>
              <a:highlight>
                <a:schemeClr val="lt1"/>
              </a:highlight>
              <a:latin typeface="Lato"/>
              <a:ea typeface="Lato"/>
              <a:cs typeface="Lato"/>
              <a:sym typeface="Lato"/>
            </a:endParaRPr>
          </a:p>
        </p:txBody>
      </p:sp>
      <p:pic>
        <p:nvPicPr>
          <p:cNvPr id="610" name="Google Shape;610;p46"/>
          <p:cNvPicPr preferRelativeResize="0"/>
          <p:nvPr/>
        </p:nvPicPr>
        <p:blipFill rotWithShape="1">
          <a:blip r:embed="rId5">
            <a:alphaModFix/>
          </a:blip>
          <a:srcRect/>
          <a:stretch/>
        </p:blipFill>
        <p:spPr>
          <a:xfrm>
            <a:off x="324292" y="832776"/>
            <a:ext cx="61722" cy="109728"/>
          </a:xfrm>
          <a:prstGeom prst="rect">
            <a:avLst/>
          </a:prstGeom>
          <a:noFill/>
          <a:ln>
            <a:noFill/>
          </a:ln>
        </p:spPr>
      </p:pic>
      <p:sp>
        <p:nvSpPr>
          <p:cNvPr id="611" name="Google Shape;611;p46"/>
          <p:cNvSpPr txBox="1"/>
          <p:nvPr/>
        </p:nvSpPr>
        <p:spPr>
          <a:xfrm>
            <a:off x="371500" y="1229275"/>
            <a:ext cx="8334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Parameter list: </a:t>
            </a:r>
            <a:r>
              <a:rPr lang="en" sz="1400" b="0" i="0" u="none" strike="noStrike" cap="none">
                <a:solidFill>
                  <a:srgbClr val="273239"/>
                </a:solidFill>
                <a:highlight>
                  <a:srgbClr val="FFFFFF"/>
                </a:highlight>
                <a:latin typeface="Lato"/>
                <a:ea typeface="Lato"/>
                <a:cs typeface="Lato"/>
                <a:sym typeface="Lato"/>
              </a:rPr>
              <a:t>Comma separated list of the input parameters are defined, preceded with their data type, within the enclosed parentheses. If there are no parameters, then empty parentheses () have to use out.</a:t>
            </a:r>
            <a:endParaRPr sz="1400" b="0" i="0" u="none" strike="noStrike" cap="none">
              <a:solidFill>
                <a:schemeClr val="dk1"/>
              </a:solidFill>
              <a:highlight>
                <a:schemeClr val="lt1"/>
              </a:highlight>
              <a:latin typeface="Lato"/>
              <a:ea typeface="Lato"/>
              <a:cs typeface="Lato"/>
              <a:sym typeface="Lato"/>
            </a:endParaRPr>
          </a:p>
        </p:txBody>
      </p:sp>
      <p:pic>
        <p:nvPicPr>
          <p:cNvPr id="612" name="Google Shape;612;p46"/>
          <p:cNvPicPr preferRelativeResize="0"/>
          <p:nvPr/>
        </p:nvPicPr>
        <p:blipFill rotWithShape="1">
          <a:blip r:embed="rId5">
            <a:alphaModFix/>
          </a:blip>
          <a:srcRect/>
          <a:stretch/>
        </p:blipFill>
        <p:spPr>
          <a:xfrm>
            <a:off x="324292" y="1366176"/>
            <a:ext cx="61722" cy="109728"/>
          </a:xfrm>
          <a:prstGeom prst="rect">
            <a:avLst/>
          </a:prstGeom>
          <a:noFill/>
          <a:ln>
            <a:noFill/>
          </a:ln>
        </p:spPr>
      </p:pic>
      <p:sp>
        <p:nvSpPr>
          <p:cNvPr id="613" name="Google Shape;613;p46"/>
          <p:cNvSpPr txBox="1"/>
          <p:nvPr/>
        </p:nvSpPr>
        <p:spPr>
          <a:xfrm>
            <a:off x="371500" y="1838875"/>
            <a:ext cx="8334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Method Signature:</a:t>
            </a:r>
            <a:br>
              <a:rPr lang="en" sz="1400" b="1" i="0" u="none" strike="noStrike" cap="none">
                <a:solidFill>
                  <a:srgbClr val="273239"/>
                </a:solidFill>
                <a:highlight>
                  <a:srgbClr val="FFFFFF"/>
                </a:highlight>
                <a:latin typeface="Lato"/>
                <a:ea typeface="Lato"/>
                <a:cs typeface="Lato"/>
                <a:sym typeface="Lato"/>
              </a:rPr>
            </a:br>
            <a:r>
              <a:rPr lang="en" sz="1400" b="0" i="0" u="none" strike="noStrike" cap="none">
                <a:solidFill>
                  <a:srgbClr val="273239"/>
                </a:solidFill>
                <a:highlight>
                  <a:srgbClr val="FFFFFF"/>
                </a:highlight>
                <a:latin typeface="Lato"/>
                <a:ea typeface="Lato"/>
                <a:cs typeface="Lato"/>
                <a:sym typeface="Lato"/>
              </a:rPr>
              <a:t>Method Signature is defined by mainly two parameters(number of parameters, type of the parameters and order of the parameters), One of them is Method Name and second one is its Parameter list.</a:t>
            </a:r>
            <a:endParaRPr sz="1400" b="0" i="0" u="none" strike="noStrike" cap="none">
              <a:solidFill>
                <a:schemeClr val="dk1"/>
              </a:solidFill>
              <a:highlight>
                <a:schemeClr val="lt1"/>
              </a:highlight>
              <a:latin typeface="Lato"/>
              <a:ea typeface="Lato"/>
              <a:cs typeface="Lato"/>
              <a:sym typeface="Lato"/>
            </a:endParaRPr>
          </a:p>
        </p:txBody>
      </p:sp>
      <p:pic>
        <p:nvPicPr>
          <p:cNvPr id="614" name="Google Shape;614;p46"/>
          <p:cNvPicPr preferRelativeResize="0"/>
          <p:nvPr/>
        </p:nvPicPr>
        <p:blipFill rotWithShape="1">
          <a:blip r:embed="rId5">
            <a:alphaModFix/>
          </a:blip>
          <a:srcRect/>
          <a:stretch/>
        </p:blipFill>
        <p:spPr>
          <a:xfrm>
            <a:off x="324292" y="1975776"/>
            <a:ext cx="61722" cy="109728"/>
          </a:xfrm>
          <a:prstGeom prst="rect">
            <a:avLst/>
          </a:prstGeom>
          <a:noFill/>
          <a:ln>
            <a:noFill/>
          </a:ln>
        </p:spPr>
      </p:pic>
      <p:sp>
        <p:nvSpPr>
          <p:cNvPr id="615" name="Google Shape;615;p46"/>
          <p:cNvSpPr txBox="1"/>
          <p:nvPr/>
        </p:nvSpPr>
        <p:spPr>
          <a:xfrm>
            <a:off x="371500" y="2677075"/>
            <a:ext cx="8334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Method Signature:</a:t>
            </a:r>
            <a:br>
              <a:rPr lang="en" sz="1400" b="1" i="0" u="none" strike="noStrike" cap="none">
                <a:solidFill>
                  <a:srgbClr val="273239"/>
                </a:solidFill>
                <a:highlight>
                  <a:srgbClr val="FFFFFF"/>
                </a:highlight>
                <a:latin typeface="Lato"/>
                <a:ea typeface="Lato"/>
                <a:cs typeface="Lato"/>
                <a:sym typeface="Lato"/>
              </a:rPr>
            </a:br>
            <a:r>
              <a:rPr lang="en" sz="1400" b="0" i="0" u="none" strike="noStrike" cap="none">
                <a:solidFill>
                  <a:srgbClr val="273239"/>
                </a:solidFill>
                <a:highlight>
                  <a:srgbClr val="FFFFFF"/>
                </a:highlight>
                <a:latin typeface="Lato"/>
                <a:ea typeface="Lato"/>
                <a:cs typeface="Lato"/>
                <a:sym typeface="Lato"/>
              </a:rPr>
              <a:t>Method Signature is defined by mainly two parameters(number of parameters, type of the parameters and order of the parameters), One of them is Method Name and second one is its Parameter list.</a:t>
            </a:r>
            <a:endParaRPr sz="1400" b="0" i="0" u="none" strike="noStrike" cap="none">
              <a:solidFill>
                <a:schemeClr val="dk1"/>
              </a:solidFill>
              <a:highlight>
                <a:schemeClr val="lt1"/>
              </a:highlight>
              <a:latin typeface="Lato"/>
              <a:ea typeface="Lato"/>
              <a:cs typeface="Lato"/>
              <a:sym typeface="Lato"/>
            </a:endParaRPr>
          </a:p>
        </p:txBody>
      </p:sp>
      <p:pic>
        <p:nvPicPr>
          <p:cNvPr id="616" name="Google Shape;616;p46"/>
          <p:cNvPicPr preferRelativeResize="0"/>
          <p:nvPr/>
        </p:nvPicPr>
        <p:blipFill rotWithShape="1">
          <a:blip r:embed="rId5">
            <a:alphaModFix/>
          </a:blip>
          <a:srcRect/>
          <a:stretch/>
        </p:blipFill>
        <p:spPr>
          <a:xfrm>
            <a:off x="324292" y="2813976"/>
            <a:ext cx="61722" cy="109728"/>
          </a:xfrm>
          <a:prstGeom prst="rect">
            <a:avLst/>
          </a:prstGeom>
          <a:noFill/>
          <a:ln>
            <a:noFill/>
          </a:ln>
        </p:spPr>
      </p:pic>
      <p:sp>
        <p:nvSpPr>
          <p:cNvPr id="617" name="Google Shape;617;p46"/>
          <p:cNvSpPr txBox="1"/>
          <p:nvPr/>
        </p:nvSpPr>
        <p:spPr>
          <a:xfrm>
            <a:off x="371500" y="3515275"/>
            <a:ext cx="8334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Method Naming:</a:t>
            </a:r>
            <a:br>
              <a:rPr lang="en" sz="1400" b="1" i="0" u="none" strike="noStrike" cap="none">
                <a:solidFill>
                  <a:srgbClr val="273239"/>
                </a:solidFill>
                <a:highlight>
                  <a:srgbClr val="FFFFFF"/>
                </a:highlight>
                <a:latin typeface="Lato"/>
                <a:ea typeface="Lato"/>
                <a:cs typeface="Lato"/>
                <a:sym typeface="Lato"/>
              </a:rPr>
            </a:br>
            <a:r>
              <a:rPr lang="en" sz="1400" b="0" i="0" u="none" strike="noStrike" cap="none">
                <a:solidFill>
                  <a:srgbClr val="273239"/>
                </a:solidFill>
                <a:highlight>
                  <a:srgbClr val="FFFFFF"/>
                </a:highlight>
                <a:latin typeface="Lato"/>
                <a:ea typeface="Lato"/>
                <a:cs typeface="Lato"/>
                <a:sym typeface="Lato"/>
              </a:rPr>
              <a:t>Name of a method or a function in any programming language whether in C++ or Java or C# holds great importance and is mainly used in order to call that method for its execution. For example, findSum, computeMax, setX and getX etc.</a:t>
            </a:r>
            <a:endParaRPr sz="1400" b="0" i="0" u="none" strike="noStrike" cap="none">
              <a:solidFill>
                <a:schemeClr val="dk1"/>
              </a:solidFill>
              <a:highlight>
                <a:schemeClr val="lt1"/>
              </a:highlight>
              <a:latin typeface="Lato"/>
              <a:ea typeface="Lato"/>
              <a:cs typeface="Lato"/>
              <a:sym typeface="Lato"/>
            </a:endParaRPr>
          </a:p>
        </p:txBody>
      </p:sp>
      <p:pic>
        <p:nvPicPr>
          <p:cNvPr id="618" name="Google Shape;618;p46"/>
          <p:cNvPicPr preferRelativeResize="0"/>
          <p:nvPr/>
        </p:nvPicPr>
        <p:blipFill rotWithShape="1">
          <a:blip r:embed="rId5">
            <a:alphaModFix/>
          </a:blip>
          <a:srcRect/>
          <a:stretch/>
        </p:blipFill>
        <p:spPr>
          <a:xfrm>
            <a:off x="324292" y="3652176"/>
            <a:ext cx="61722" cy="109728"/>
          </a:xfrm>
          <a:prstGeom prst="rect">
            <a:avLst/>
          </a:prstGeom>
          <a:noFill/>
          <a:ln>
            <a:noFill/>
          </a:ln>
        </p:spPr>
      </p:pic>
    </p:spTree>
    <p:extLst>
      <p:ext uri="{BB962C8B-B14F-4D97-AF65-F5344CB8AC3E}">
        <p14:creationId xmlns:p14="http://schemas.microsoft.com/office/powerpoint/2010/main" val="3342630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624" name="Google Shape;624;p4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625" name="Google Shape;625;p4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Methods and Functions</a:t>
            </a:r>
          </a:p>
        </p:txBody>
      </p:sp>
      <p:pic>
        <p:nvPicPr>
          <p:cNvPr id="626" name="Google Shape;626;p4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627" name="Google Shape;627;p4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628" name="Google Shape;628;p47"/>
          <p:cNvSpPr txBox="1"/>
          <p:nvPr/>
        </p:nvSpPr>
        <p:spPr>
          <a:xfrm>
            <a:off x="371500" y="695875"/>
            <a:ext cx="8334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273239"/>
                </a:solidFill>
                <a:highlight>
                  <a:srgbClr val="FFFFFF"/>
                </a:highlight>
                <a:latin typeface="Lato"/>
                <a:ea typeface="Lato"/>
                <a:cs typeface="Lato"/>
                <a:sym typeface="Lato"/>
              </a:rPr>
              <a:t>There are certain pre-defined rules for naming methods which a user should follow:</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The method name must be some kind of Noun or a verb.</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It’s naming should be done in such a way that it must describe the purpose of that method.</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The first letter of the method name can be either a small letter or a Capital letter, however, it is recommended to use the capital one.</a:t>
            </a:r>
            <a:endParaRPr sz="1400" b="0" i="0" u="none" strike="noStrike" cap="none">
              <a:solidFill>
                <a:srgbClr val="273239"/>
              </a:solidFill>
              <a:highlight>
                <a:srgbClr val="FFFFFF"/>
              </a:highlight>
              <a:latin typeface="Lato"/>
              <a:ea typeface="Lato"/>
              <a:cs typeface="Lato"/>
              <a:sym typeface="Lato"/>
            </a:endParaRPr>
          </a:p>
        </p:txBody>
      </p:sp>
      <p:pic>
        <p:nvPicPr>
          <p:cNvPr id="629" name="Google Shape;629;p47"/>
          <p:cNvPicPr preferRelativeResize="0"/>
          <p:nvPr/>
        </p:nvPicPr>
        <p:blipFill rotWithShape="1">
          <a:blip r:embed="rId5">
            <a:alphaModFix/>
          </a:blip>
          <a:srcRect/>
          <a:stretch/>
        </p:blipFill>
        <p:spPr>
          <a:xfrm>
            <a:off x="324292" y="832776"/>
            <a:ext cx="61722" cy="109728"/>
          </a:xfrm>
          <a:prstGeom prst="rect">
            <a:avLst/>
          </a:prstGeom>
          <a:noFill/>
          <a:ln>
            <a:noFill/>
          </a:ln>
        </p:spPr>
      </p:pic>
      <p:sp>
        <p:nvSpPr>
          <p:cNvPr id="630" name="Google Shape;630;p47"/>
          <p:cNvSpPr txBox="1"/>
          <p:nvPr/>
        </p:nvSpPr>
        <p:spPr>
          <a:xfrm>
            <a:off x="371500" y="1991275"/>
            <a:ext cx="8334900" cy="1639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273239"/>
                </a:solidFill>
                <a:highlight>
                  <a:srgbClr val="FFFFFF"/>
                </a:highlight>
                <a:latin typeface="Lato"/>
                <a:ea typeface="Lato"/>
                <a:cs typeface="Lato"/>
                <a:sym typeface="Lato"/>
              </a:rPr>
              <a:t>Advantages of using the Methods:</a:t>
            </a:r>
            <a:endParaRPr sz="1400" b="1" i="0" u="none" strike="noStrike" cap="none">
              <a:solidFill>
                <a:srgbClr val="273239"/>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273239"/>
                </a:solidFill>
                <a:highlight>
                  <a:srgbClr val="FFFFFF"/>
                </a:highlight>
                <a:latin typeface="Lato"/>
                <a:ea typeface="Lato"/>
                <a:cs typeface="Lato"/>
                <a:sym typeface="Lato"/>
              </a:rPr>
              <a:t>There are many advantages of using methods. Some of them are listed below:</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It makes the program well structured.</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Methods enhance the readability of the code.</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It provides an effective way for the user to reuse the existing code.</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It optimizes the execution time and memory space.</a:t>
            </a:r>
            <a:endParaRPr sz="1400" b="0" i="0" u="none" strike="noStrike" cap="none">
              <a:solidFill>
                <a:srgbClr val="273239"/>
              </a:solidFill>
              <a:highlight>
                <a:srgbClr val="FFFFFF"/>
              </a:highlight>
              <a:latin typeface="Lato"/>
              <a:ea typeface="Lato"/>
              <a:cs typeface="Lato"/>
              <a:sym typeface="Lato"/>
            </a:endParaRPr>
          </a:p>
        </p:txBody>
      </p:sp>
      <p:pic>
        <p:nvPicPr>
          <p:cNvPr id="631" name="Google Shape;631;p47"/>
          <p:cNvPicPr preferRelativeResize="0"/>
          <p:nvPr/>
        </p:nvPicPr>
        <p:blipFill rotWithShape="1">
          <a:blip r:embed="rId5">
            <a:alphaModFix/>
          </a:blip>
          <a:srcRect/>
          <a:stretch/>
        </p:blipFill>
        <p:spPr>
          <a:xfrm>
            <a:off x="324292" y="2128176"/>
            <a:ext cx="61722" cy="109728"/>
          </a:xfrm>
          <a:prstGeom prst="rect">
            <a:avLst/>
          </a:prstGeom>
          <a:noFill/>
          <a:ln>
            <a:noFill/>
          </a:ln>
        </p:spPr>
      </p:pic>
    </p:spTree>
    <p:extLst>
      <p:ext uri="{BB962C8B-B14F-4D97-AF65-F5344CB8AC3E}">
        <p14:creationId xmlns:p14="http://schemas.microsoft.com/office/powerpoint/2010/main" val="1625395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01" name="Google Shape;501;p3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02" name="Google Shape;502;p3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chemeClr val="lt1"/>
                </a:solidFill>
                <a:latin typeface="Lato"/>
                <a:ea typeface="Lato"/>
                <a:cs typeface="Lato"/>
                <a:sym typeface="Lato"/>
              </a:rPr>
              <a:t>Exception Handling</a:t>
            </a:r>
            <a:endParaRPr sz="2000" b="1" i="0" u="none" strike="noStrike" cap="none" dirty="0">
              <a:solidFill>
                <a:schemeClr val="lt1"/>
              </a:solidFill>
              <a:latin typeface="Lato"/>
              <a:ea typeface="Lato"/>
              <a:cs typeface="Lato"/>
              <a:sym typeface="Lato"/>
            </a:endParaRPr>
          </a:p>
        </p:txBody>
      </p:sp>
      <p:pic>
        <p:nvPicPr>
          <p:cNvPr id="503" name="Google Shape;503;p3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04" name="Google Shape;504;p3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505" name="Google Shape;505;p37"/>
          <p:cNvSpPr txBox="1"/>
          <p:nvPr/>
        </p:nvSpPr>
        <p:spPr>
          <a:xfrm>
            <a:off x="371500" y="1000675"/>
            <a:ext cx="8334900" cy="3697200"/>
          </a:xfrm>
          <a:prstGeom prst="rect">
            <a:avLst/>
          </a:prstGeom>
          <a:noFill/>
          <a:ln>
            <a:noFill/>
          </a:ln>
        </p:spPr>
        <p:txBody>
          <a:bodyPr spcFirstLastPara="1" wrap="square" lIns="91425" tIns="91425" rIns="91425" bIns="91425" anchor="t" anchorCtr="0">
            <a:noAutofit/>
          </a:bodyPr>
          <a:lstStyle/>
          <a:p>
            <a:pPr marL="457200" marR="0" lvl="0" indent="-317500" algn="just" rtl="0">
              <a:lnSpc>
                <a:spcPct val="150000"/>
              </a:lnSpc>
              <a:spcBef>
                <a:spcPts val="0"/>
              </a:spcBef>
              <a:spcAft>
                <a:spcPts val="0"/>
              </a:spcAft>
              <a:buClr>
                <a:srgbClr val="222222"/>
              </a:buClr>
              <a:buSzPts val="1400"/>
              <a:buFont typeface="Lato"/>
              <a:buChar char="●"/>
            </a:pPr>
            <a:r>
              <a:rPr lang="en" sz="1400" b="1" i="0" u="none" strike="noStrike" cap="none">
                <a:solidFill>
                  <a:schemeClr val="dk1"/>
                </a:solidFill>
                <a:highlight>
                  <a:srgbClr val="FFFFFF"/>
                </a:highlight>
                <a:latin typeface="Arial"/>
                <a:ea typeface="Arial"/>
                <a:cs typeface="Arial"/>
                <a:sym typeface="Arial"/>
              </a:rPr>
              <a:t>Exception </a:t>
            </a:r>
            <a:r>
              <a:rPr lang="en" sz="1400" b="0" i="0" u="none" strike="noStrike" cap="none">
                <a:solidFill>
                  <a:schemeClr val="dk1"/>
                </a:solidFill>
                <a:highlight>
                  <a:srgbClr val="FFFFFF"/>
                </a:highlight>
                <a:latin typeface="Arial"/>
                <a:ea typeface="Arial"/>
                <a:cs typeface="Arial"/>
                <a:sym typeface="Arial"/>
              </a:rPr>
              <a:t>occurs during execution of program and it breaks normal flow of program execution. If it is not handled It can cause the application to stop working. </a:t>
            </a:r>
            <a:endParaRPr sz="1400" b="0" i="0" u="none" strike="noStrike" cap="none">
              <a:solidFill>
                <a:schemeClr val="dk1"/>
              </a:solidFill>
              <a:highlight>
                <a:srgbClr val="FFFFFF"/>
              </a:highlight>
              <a:latin typeface="Arial"/>
              <a:ea typeface="Arial"/>
              <a:cs typeface="Arial"/>
              <a:sym typeface="Arial"/>
            </a:endParaRPr>
          </a:p>
          <a:p>
            <a:pPr marL="457200" marR="0" lvl="0" indent="-317500" algn="just" rtl="0">
              <a:lnSpc>
                <a:spcPct val="150000"/>
              </a:lnSpc>
              <a:spcBef>
                <a:spcPts val="0"/>
              </a:spcBef>
              <a:spcAft>
                <a:spcPts val="0"/>
              </a:spcAft>
              <a:buClr>
                <a:srgbClr val="222222"/>
              </a:buClr>
              <a:buSzPts val="1400"/>
              <a:buFont typeface="Lato"/>
              <a:buChar char="●"/>
            </a:pPr>
            <a:r>
              <a:rPr lang="en" sz="1400" b="0" i="0" u="none" strike="noStrike" cap="none">
                <a:solidFill>
                  <a:schemeClr val="dk1"/>
                </a:solidFill>
                <a:highlight>
                  <a:srgbClr val="FFFFFF"/>
                </a:highlight>
                <a:latin typeface="Arial"/>
                <a:ea typeface="Arial"/>
                <a:cs typeface="Arial"/>
                <a:sym typeface="Arial"/>
              </a:rPr>
              <a:t>C# provides built-in support to handle these exceptions using try-catch blocks.</a:t>
            </a:r>
            <a:endParaRPr sz="1400" b="0" i="0" u="none" strike="noStrike" cap="none">
              <a:solidFill>
                <a:schemeClr val="dk1"/>
              </a:solidFill>
              <a:highlight>
                <a:srgbClr val="FFFFFF"/>
              </a:highlight>
              <a:latin typeface="Arial"/>
              <a:ea typeface="Arial"/>
              <a:cs typeface="Arial"/>
              <a:sym typeface="Arial"/>
            </a:endParaRPr>
          </a:p>
          <a:p>
            <a:pPr marL="457200" marR="0" lvl="0" indent="-317500" algn="just" rtl="0">
              <a:lnSpc>
                <a:spcPct val="150000"/>
              </a:lnSpc>
              <a:spcBef>
                <a:spcPts val="0"/>
              </a:spcBef>
              <a:spcAft>
                <a:spcPts val="0"/>
              </a:spcAft>
              <a:buClr>
                <a:schemeClr val="dk1"/>
              </a:buClr>
              <a:buSzPts val="1400"/>
              <a:buFont typeface="Arial"/>
              <a:buChar char="●"/>
            </a:pPr>
            <a:r>
              <a:rPr lang="en" sz="1400" b="0" i="0" u="none" strike="noStrike" cap="none">
                <a:solidFill>
                  <a:schemeClr val="dk1"/>
                </a:solidFill>
                <a:highlight>
                  <a:srgbClr val="FFFFFF"/>
                </a:highlight>
                <a:latin typeface="Lato"/>
                <a:ea typeface="Lato"/>
                <a:cs typeface="Lato"/>
                <a:sym typeface="Lato"/>
              </a:rPr>
              <a:t>C# has its own set of specific exceptions which can be used in an  application. </a:t>
            </a:r>
            <a:endParaRPr sz="1400" b="0" i="0" u="none" strike="noStrike" cap="none">
              <a:solidFill>
                <a:schemeClr val="dk1"/>
              </a:solidFill>
              <a:highlight>
                <a:srgbClr val="FFFFFF"/>
              </a:highlight>
              <a:latin typeface="Lato"/>
              <a:ea typeface="Lato"/>
              <a:cs typeface="Lato"/>
              <a:sym typeface="Lato"/>
            </a:endParaRPr>
          </a:p>
          <a:p>
            <a:pPr marL="457200" marR="0" lvl="0" indent="-317500" algn="just" rtl="0">
              <a:lnSpc>
                <a:spcPct val="150000"/>
              </a:lnSpc>
              <a:spcBef>
                <a:spcPts val="0"/>
              </a:spcBef>
              <a:spcAft>
                <a:spcPts val="0"/>
              </a:spcAft>
              <a:buClr>
                <a:schemeClr val="dk1"/>
              </a:buClr>
              <a:buSzPts val="1400"/>
              <a:buFont typeface="Arial"/>
              <a:buChar char="●"/>
            </a:pPr>
            <a:r>
              <a:rPr lang="en" sz="1400" b="0" i="0" u="none" strike="noStrike" cap="none">
                <a:solidFill>
                  <a:schemeClr val="dk1"/>
                </a:solidFill>
                <a:highlight>
                  <a:srgbClr val="FFFFFF"/>
                </a:highlight>
                <a:latin typeface="Lato"/>
                <a:ea typeface="Lato"/>
                <a:cs typeface="Lato"/>
                <a:sym typeface="Lato"/>
              </a:rPr>
              <a:t>Some of them are: </a:t>
            </a:r>
            <a:endParaRPr sz="14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highlight>
                  <a:srgbClr val="FFFFFF"/>
                </a:highlight>
                <a:latin typeface="Lato"/>
                <a:ea typeface="Lato"/>
                <a:cs typeface="Lato"/>
                <a:sym typeface="Lato"/>
              </a:rPr>
              <a:t>NullReferenceException,</a:t>
            </a:r>
            <a:endParaRPr sz="14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highlight>
                  <a:srgbClr val="FFFFFF"/>
                </a:highlight>
                <a:latin typeface="Lato"/>
                <a:ea typeface="Lato"/>
                <a:cs typeface="Lato"/>
                <a:sym typeface="Lato"/>
              </a:rPr>
              <a:t>ArgumentOutOfRangeException, </a:t>
            </a:r>
            <a:endParaRPr sz="14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highlight>
                  <a:srgbClr val="FFFFFF"/>
                </a:highlight>
                <a:latin typeface="Lato"/>
                <a:ea typeface="Lato"/>
                <a:cs typeface="Lato"/>
                <a:sym typeface="Lato"/>
              </a:rPr>
              <a:t>InvalidCastException, </a:t>
            </a:r>
            <a:endParaRPr sz="14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highlight>
                  <a:srgbClr val="FFFFFF"/>
                </a:highlight>
                <a:latin typeface="Lato"/>
                <a:ea typeface="Lato"/>
                <a:cs typeface="Lato"/>
                <a:sym typeface="Lato"/>
              </a:rPr>
              <a:t>FileNotFoundException, </a:t>
            </a:r>
            <a:endParaRPr sz="14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highlight>
                  <a:srgbClr val="FFFFFF"/>
                </a:highlight>
                <a:latin typeface="Lato"/>
                <a:ea typeface="Lato"/>
                <a:cs typeface="Lato"/>
                <a:sym typeface="Lato"/>
              </a:rPr>
              <a:t>InvalidOperationException etc.</a:t>
            </a:r>
            <a:endParaRPr sz="1400" b="1" i="0" u="none" strike="noStrike" cap="none">
              <a:solidFill>
                <a:srgbClr val="181717"/>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endParaRPr sz="1400" b="0" i="0" u="none" strike="noStrike" cap="none">
              <a:solidFill>
                <a:srgbClr val="222222"/>
              </a:solidFill>
              <a:latin typeface="Lato"/>
              <a:ea typeface="Lato"/>
              <a:cs typeface="Lato"/>
              <a:sym typeface="Lato"/>
            </a:endParaRPr>
          </a:p>
        </p:txBody>
      </p:sp>
    </p:spTree>
    <p:extLst>
      <p:ext uri="{BB962C8B-B14F-4D97-AF65-F5344CB8AC3E}">
        <p14:creationId xmlns:p14="http://schemas.microsoft.com/office/powerpoint/2010/main" val="41377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38"/>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11" name="Google Shape;511;p38"/>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12" name="Google Shape;512;p38"/>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Exception Handling</a:t>
            </a:r>
            <a:endParaRPr sz="2000" b="1" i="0" u="none" strike="noStrike" cap="none">
              <a:solidFill>
                <a:schemeClr val="lt1"/>
              </a:solidFill>
              <a:latin typeface="Lato"/>
              <a:ea typeface="Lato"/>
              <a:cs typeface="Lato"/>
              <a:sym typeface="Lato"/>
            </a:endParaRPr>
          </a:p>
        </p:txBody>
      </p:sp>
      <p:pic>
        <p:nvPicPr>
          <p:cNvPr id="513" name="Google Shape;513;p3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14" name="Google Shape;514;p3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515" name="Google Shape;515;p38"/>
          <p:cNvSpPr txBox="1"/>
          <p:nvPr/>
        </p:nvSpPr>
        <p:spPr>
          <a:xfrm>
            <a:off x="371500" y="662738"/>
            <a:ext cx="8334900" cy="4035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try{</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    // </a:t>
            </a:r>
            <a:r>
              <a:rPr lang="en" sz="1400" b="0" i="0" u="none" strike="noStrike" cap="none">
                <a:solidFill>
                  <a:srgbClr val="181717"/>
                </a:solidFill>
                <a:highlight>
                  <a:srgbClr val="FFFFFF"/>
                </a:highlight>
                <a:latin typeface="Lato"/>
                <a:ea typeface="Lato"/>
                <a:cs typeface="Lato"/>
                <a:sym typeface="Lato"/>
              </a:rPr>
              <a:t>Any suspected code that can raise exceptions should be put inside this block. </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catch {</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    // </a:t>
            </a:r>
            <a:r>
              <a:rPr lang="en" sz="1400" b="0" i="0" u="none" strike="noStrike" cap="none">
                <a:solidFill>
                  <a:srgbClr val="181717"/>
                </a:solidFill>
                <a:highlight>
                  <a:srgbClr val="FFFFFF"/>
                </a:highlight>
                <a:latin typeface="Lato"/>
                <a:ea typeface="Lato"/>
                <a:cs typeface="Lato"/>
                <a:sym typeface="Lato"/>
              </a:rPr>
              <a:t>This block is an exception handler block where some action such as logging and auditing an exception can be performed</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finally {</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12529"/>
                </a:solidFill>
                <a:highlight>
                  <a:srgbClr val="FFFFFF"/>
                </a:highlight>
                <a:latin typeface="Lato"/>
                <a:ea typeface="Lato"/>
                <a:cs typeface="Lato"/>
                <a:sym typeface="Lato"/>
              </a:rPr>
              <a:t>    // </a:t>
            </a:r>
            <a:r>
              <a:rPr lang="en" sz="1400" b="0" i="0" u="none" strike="noStrike" cap="none">
                <a:solidFill>
                  <a:srgbClr val="181717"/>
                </a:solidFill>
                <a:highlight>
                  <a:srgbClr val="FFFFFF"/>
                </a:highlight>
                <a:latin typeface="Lato"/>
                <a:ea typeface="Lato"/>
                <a:cs typeface="Lato"/>
                <a:sym typeface="Lato"/>
              </a:rPr>
              <a:t>his block will always be executed whether an exception raised or not. Usually, this block should be used to release resources, e.g., to close any stream or file objects that were opened in the try block.</a:t>
            </a:r>
            <a:r>
              <a:rPr lang="en" sz="1400" b="0" i="0" u="none" strike="noStrike" cap="none">
                <a:solidFill>
                  <a:schemeClr val="dk1"/>
                </a:solidFill>
                <a:highlight>
                  <a:srgbClr val="FFFFFF"/>
                </a:highlight>
                <a:latin typeface="Lato"/>
                <a:ea typeface="Lato"/>
                <a:cs typeface="Lato"/>
                <a:sym typeface="Lato"/>
              </a:rPr>
              <a:t> </a:t>
            </a:r>
            <a:endParaRPr sz="1400" b="0" i="0" u="none" strike="noStrike" cap="none">
              <a:solidFill>
                <a:srgbClr val="212529"/>
              </a:solidFill>
              <a:highlight>
                <a:srgbClr val="FFFFFF"/>
              </a:highlight>
              <a:latin typeface="Lato"/>
              <a:ea typeface="Lato"/>
              <a:cs typeface="Lato"/>
              <a:sym typeface="Lato"/>
            </a:endParaRPr>
          </a:p>
          <a:p>
            <a:pPr marL="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212529"/>
                </a:solidFill>
                <a:highlight>
                  <a:srgbClr val="FFFFFF"/>
                </a:highlight>
                <a:latin typeface="Lato"/>
                <a:ea typeface="Lato"/>
                <a:cs typeface="Lato"/>
                <a:sym typeface="Lato"/>
              </a:rPr>
              <a:t>}</a:t>
            </a:r>
            <a:endParaRPr sz="1400" b="0" i="0" u="none" strike="noStrike" cap="none">
              <a:solidFill>
                <a:srgbClr val="212529"/>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endParaRPr sz="14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endParaRPr sz="1400" b="0" i="0" u="none" strike="noStrike" cap="none">
              <a:solidFill>
                <a:srgbClr val="222222"/>
              </a:solidFill>
              <a:latin typeface="Lato"/>
              <a:ea typeface="Lato"/>
              <a:cs typeface="Lato"/>
              <a:sym typeface="Lato"/>
            </a:endParaRPr>
          </a:p>
        </p:txBody>
      </p:sp>
    </p:spTree>
    <p:extLst>
      <p:ext uri="{BB962C8B-B14F-4D97-AF65-F5344CB8AC3E}">
        <p14:creationId xmlns:p14="http://schemas.microsoft.com/office/powerpoint/2010/main" val="2807399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39"/>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21" name="Google Shape;521;p39"/>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22" name="Google Shape;522;p39"/>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Exception Handling</a:t>
            </a:r>
            <a:endParaRPr sz="2000" b="1" i="0" u="none" strike="noStrike" cap="none">
              <a:solidFill>
                <a:schemeClr val="lt1"/>
              </a:solidFill>
              <a:latin typeface="Lato"/>
              <a:ea typeface="Lato"/>
              <a:cs typeface="Lato"/>
              <a:sym typeface="Lato"/>
            </a:endParaRPr>
          </a:p>
        </p:txBody>
      </p:sp>
      <p:pic>
        <p:nvPicPr>
          <p:cNvPr id="523" name="Google Shape;523;p3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24" name="Google Shape;524;p3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525" name="Google Shape;525;p39"/>
          <p:cNvSpPr txBox="1"/>
          <p:nvPr/>
        </p:nvSpPr>
        <p:spPr>
          <a:xfrm>
            <a:off x="371500" y="685250"/>
            <a:ext cx="8334900" cy="4155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class Program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static void Main(string[] args)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try</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Console.WriteLine("Enter your number: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int num = Convert.ToInt32(Console.ReadLine());			</a:t>
            </a:r>
            <a:r>
              <a:rPr lang="en" sz="1200" b="1" i="0" u="none" strike="noStrike" cap="none">
                <a:solidFill>
                  <a:schemeClr val="dk1"/>
                </a:solidFill>
                <a:latin typeface="Lato"/>
                <a:ea typeface="Lato"/>
                <a:cs typeface="Lato"/>
                <a:sym typeface="Lato"/>
              </a:rPr>
              <a:t>//input from User is twenty instead of 20</a:t>
            </a:r>
            <a:endParaRPr sz="1200" b="1"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Console.WriteLine($”Result is ${Math.Sqrt(num)}”);</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Console.ReadKey();</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catch (Exception ex)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Console.WriteLine($"There is something wrong, please look at this message: {ex.Message}");</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Console.ReadKey();</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Lato"/>
                <a:ea typeface="Lato"/>
                <a:cs typeface="Lato"/>
                <a:sym typeface="Lato"/>
              </a:rPr>
              <a:t>    }</a:t>
            </a:r>
            <a:endParaRPr sz="1200" b="0" i="0" u="none" strike="noStrike" cap="none">
              <a:solidFill>
                <a:schemeClr val="dk1"/>
              </a:solidFill>
              <a:latin typeface="Lato"/>
              <a:ea typeface="Lato"/>
              <a:cs typeface="Lato"/>
              <a:sym typeface="Lato"/>
            </a:endParaRPr>
          </a:p>
          <a:p>
            <a:pPr marL="101600" marR="101600" lvl="0" indent="0" algn="l" rtl="0">
              <a:lnSpc>
                <a:spcPct val="115000"/>
              </a:lnSpc>
              <a:spcBef>
                <a:spcPts val="0"/>
              </a:spcBef>
              <a:spcAft>
                <a:spcPts val="0"/>
              </a:spcAft>
              <a:buClr>
                <a:schemeClr val="dk1"/>
              </a:buClr>
              <a:buSzPts val="1100"/>
              <a:buFont typeface="Arial"/>
              <a:buNone/>
            </a:pPr>
            <a:r>
              <a:rPr lang="en" sz="1200" b="0" i="0" u="none" strike="noStrike" cap="none">
                <a:solidFill>
                  <a:schemeClr val="dk1"/>
                </a:solidFill>
                <a:latin typeface="Lato"/>
                <a:ea typeface="Lato"/>
                <a:cs typeface="Lato"/>
                <a:sym typeface="Lato"/>
              </a:rPr>
              <a:t>	}</a:t>
            </a:r>
            <a:endParaRPr sz="1200" b="0" i="0" u="none" strike="noStrike" cap="none">
              <a:solidFill>
                <a:schemeClr val="dk1"/>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endParaRPr sz="1200" b="0" i="0" u="none" strike="noStrike" cap="none">
              <a:solidFill>
                <a:schemeClr val="dk1"/>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endParaRPr sz="1200" b="0" i="0" u="none" strike="noStrike" cap="none">
              <a:solidFill>
                <a:srgbClr val="161616"/>
              </a:solidFill>
              <a:highlight>
                <a:srgbClr val="FFFFFF"/>
              </a:highlight>
              <a:latin typeface="Lato"/>
              <a:ea typeface="Lato"/>
              <a:cs typeface="Lato"/>
              <a:sym typeface="Lato"/>
            </a:endParaRPr>
          </a:p>
          <a:p>
            <a:pPr marL="457200" marR="0" lvl="0" indent="0" algn="just" rtl="0">
              <a:lnSpc>
                <a:spcPct val="150000"/>
              </a:lnSpc>
              <a:spcBef>
                <a:spcPts val="0"/>
              </a:spcBef>
              <a:spcAft>
                <a:spcPts val="0"/>
              </a:spcAft>
              <a:buClr>
                <a:srgbClr val="000000"/>
              </a:buClr>
              <a:buSzPts val="1200"/>
              <a:buFont typeface="Arial"/>
              <a:buNone/>
            </a:pPr>
            <a:endParaRPr sz="1200" b="0" i="0" u="none" strike="noStrike" cap="none">
              <a:solidFill>
                <a:srgbClr val="222222"/>
              </a:solidFill>
              <a:latin typeface="Lato"/>
              <a:ea typeface="Lato"/>
              <a:cs typeface="Lato"/>
              <a:sym typeface="Lato"/>
            </a:endParaRPr>
          </a:p>
        </p:txBody>
      </p:sp>
    </p:spTree>
    <p:extLst>
      <p:ext uri="{BB962C8B-B14F-4D97-AF65-F5344CB8AC3E}">
        <p14:creationId xmlns:p14="http://schemas.microsoft.com/office/powerpoint/2010/main" val="3382301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8135"/>
        </a:solidFill>
        <a:effectLst/>
      </p:bgPr>
    </p:bg>
    <p:spTree>
      <p:nvGrpSpPr>
        <p:cNvPr id="1" name="Shape 233"/>
        <p:cNvGrpSpPr/>
        <p:nvPr/>
      </p:nvGrpSpPr>
      <p:grpSpPr>
        <a:xfrm>
          <a:off x="0" y="0"/>
          <a:ext cx="0" cy="0"/>
          <a:chOff x="0" y="0"/>
          <a:chExt cx="0" cy="0"/>
        </a:xfrm>
      </p:grpSpPr>
      <p:sp>
        <p:nvSpPr>
          <p:cNvPr id="234" name="Google Shape;234;p29"/>
          <p:cNvSpPr txBox="1"/>
          <p:nvPr/>
        </p:nvSpPr>
        <p:spPr>
          <a:xfrm>
            <a:off x="0" y="622723"/>
            <a:ext cx="91440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0" i="0" u="none" strike="noStrike" cap="none" dirty="0">
                <a:solidFill>
                  <a:schemeClr val="lt1"/>
                </a:solidFill>
                <a:latin typeface="Arial"/>
                <a:ea typeface="Arial"/>
                <a:cs typeface="Arial"/>
                <a:sym typeface="Arial"/>
              </a:rPr>
              <a:t>Self Learning</a:t>
            </a:r>
            <a:endParaRPr sz="3600" b="0" i="0" u="none" strike="noStrike" cap="none" dirty="0">
              <a:solidFill>
                <a:schemeClr val="lt1"/>
              </a:solidFill>
              <a:latin typeface="Arial"/>
              <a:ea typeface="Arial"/>
              <a:cs typeface="Arial"/>
              <a:sym typeface="Arial"/>
            </a:endParaRPr>
          </a:p>
        </p:txBody>
      </p:sp>
      <p:grpSp>
        <p:nvGrpSpPr>
          <p:cNvPr id="3" name="Google Shape;92;p17"/>
          <p:cNvGrpSpPr/>
          <p:nvPr/>
        </p:nvGrpSpPr>
        <p:grpSpPr>
          <a:xfrm>
            <a:off x="3337653" y="2141386"/>
            <a:ext cx="2124583" cy="400200"/>
            <a:chOff x="400492" y="1177050"/>
            <a:chExt cx="2124583" cy="400200"/>
          </a:xfrm>
        </p:grpSpPr>
        <p:sp>
          <p:nvSpPr>
            <p:cNvPr id="4" name="Google Shape;93;p17"/>
            <p:cNvSpPr txBox="1"/>
            <p:nvPr/>
          </p:nvSpPr>
          <p:spPr>
            <a:xfrm>
              <a:off x="510275" y="1177050"/>
              <a:ext cx="2014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 dirty="0">
                  <a:solidFill>
                    <a:srgbClr val="222222"/>
                  </a:solidFill>
                  <a:latin typeface="Lato"/>
                  <a:ea typeface="Lato"/>
                  <a:cs typeface="Lato"/>
                  <a:sym typeface="Lato"/>
                </a:rPr>
                <a:t>Collections and LINQ</a:t>
              </a:r>
              <a:endParaRPr sz="1400" b="0" i="0" u="none" strike="noStrike" cap="none" dirty="0">
                <a:solidFill>
                  <a:srgbClr val="222222"/>
                </a:solidFill>
                <a:latin typeface="Lato"/>
                <a:ea typeface="Lato"/>
                <a:cs typeface="Lato"/>
                <a:sym typeface="Lato"/>
              </a:endParaRPr>
            </a:p>
          </p:txBody>
        </p:sp>
        <p:pic>
          <p:nvPicPr>
            <p:cNvPr id="5" name="Google Shape;94;p17"/>
            <p:cNvPicPr preferRelativeResize="0"/>
            <p:nvPr/>
          </p:nvPicPr>
          <p:blipFill rotWithShape="1">
            <a:blip r:embed="rId3">
              <a:alphaModFix/>
            </a:blip>
            <a:srcRect/>
            <a:stretch/>
          </p:blipFill>
          <p:spPr>
            <a:xfrm>
              <a:off x="400492" y="1301037"/>
              <a:ext cx="61722" cy="109728"/>
            </a:xfrm>
            <a:prstGeom prst="rect">
              <a:avLst/>
            </a:prstGeom>
            <a:noFill/>
            <a:ln>
              <a:noFill/>
            </a:ln>
          </p:spPr>
        </p:pic>
      </p:grpSp>
      <p:grpSp>
        <p:nvGrpSpPr>
          <p:cNvPr id="6" name="Google Shape;95;p17"/>
          <p:cNvGrpSpPr/>
          <p:nvPr/>
        </p:nvGrpSpPr>
        <p:grpSpPr>
          <a:xfrm>
            <a:off x="3337653" y="2522386"/>
            <a:ext cx="2124583" cy="400200"/>
            <a:chOff x="400492" y="1177050"/>
            <a:chExt cx="2124583" cy="400200"/>
          </a:xfrm>
        </p:grpSpPr>
        <p:sp>
          <p:nvSpPr>
            <p:cNvPr id="7" name="Google Shape;96;p17"/>
            <p:cNvSpPr txBox="1"/>
            <p:nvPr/>
          </p:nvSpPr>
          <p:spPr>
            <a:xfrm>
              <a:off x="510275" y="1177050"/>
              <a:ext cx="2014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 dirty="0">
                  <a:solidFill>
                    <a:srgbClr val="222222"/>
                  </a:solidFill>
                  <a:latin typeface="Lato"/>
                  <a:ea typeface="Lato"/>
                  <a:cs typeface="Lato"/>
                  <a:sym typeface="Lato"/>
                </a:rPr>
                <a:t>Control Flow</a:t>
              </a:r>
              <a:endParaRPr sz="1400" b="0" i="0" u="none" strike="noStrike" cap="none" dirty="0">
                <a:solidFill>
                  <a:srgbClr val="222222"/>
                </a:solidFill>
                <a:latin typeface="Lato"/>
                <a:ea typeface="Lato"/>
                <a:cs typeface="Lato"/>
                <a:sym typeface="Lato"/>
              </a:endParaRPr>
            </a:p>
          </p:txBody>
        </p:sp>
        <p:pic>
          <p:nvPicPr>
            <p:cNvPr id="8" name="Google Shape;97;p17"/>
            <p:cNvPicPr preferRelativeResize="0"/>
            <p:nvPr/>
          </p:nvPicPr>
          <p:blipFill rotWithShape="1">
            <a:blip r:embed="rId3">
              <a:alphaModFix/>
            </a:blip>
            <a:srcRect/>
            <a:stretch/>
          </p:blipFill>
          <p:spPr>
            <a:xfrm>
              <a:off x="400492" y="1301037"/>
              <a:ext cx="61722" cy="109728"/>
            </a:xfrm>
            <a:prstGeom prst="rect">
              <a:avLst/>
            </a:prstGeom>
            <a:noFill/>
            <a:ln>
              <a:noFill/>
            </a:ln>
          </p:spPr>
        </p:pic>
      </p:grpSp>
      <p:grpSp>
        <p:nvGrpSpPr>
          <p:cNvPr id="9" name="Google Shape;98;p17"/>
          <p:cNvGrpSpPr/>
          <p:nvPr/>
        </p:nvGrpSpPr>
        <p:grpSpPr>
          <a:xfrm>
            <a:off x="3337653" y="2903386"/>
            <a:ext cx="2124583" cy="400200"/>
            <a:chOff x="400492" y="1177050"/>
            <a:chExt cx="2124583" cy="400200"/>
          </a:xfrm>
        </p:grpSpPr>
        <p:sp>
          <p:nvSpPr>
            <p:cNvPr id="10" name="Google Shape;99;p17"/>
            <p:cNvSpPr txBox="1"/>
            <p:nvPr/>
          </p:nvSpPr>
          <p:spPr>
            <a:xfrm>
              <a:off x="510275" y="1177050"/>
              <a:ext cx="2014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600"/>
                <a:buFont typeface="Arial"/>
                <a:buNone/>
              </a:pPr>
              <a:r>
                <a:rPr lang="en" dirty="0">
                  <a:solidFill>
                    <a:srgbClr val="222222"/>
                  </a:solidFill>
                  <a:latin typeface="Lato"/>
                  <a:ea typeface="Lato"/>
                  <a:cs typeface="Lato"/>
                  <a:sym typeface="Lato"/>
                </a:rPr>
                <a:t>Enums and Structs</a:t>
              </a:r>
              <a:endParaRPr sz="1400" b="0" i="0" u="none" strike="noStrike" cap="none" dirty="0">
                <a:solidFill>
                  <a:srgbClr val="222222"/>
                </a:solidFill>
                <a:latin typeface="Lato"/>
                <a:ea typeface="Lato"/>
                <a:cs typeface="Lato"/>
                <a:sym typeface="Lato"/>
              </a:endParaRPr>
            </a:p>
          </p:txBody>
        </p:sp>
        <p:pic>
          <p:nvPicPr>
            <p:cNvPr id="11" name="Google Shape;100;p17"/>
            <p:cNvPicPr preferRelativeResize="0"/>
            <p:nvPr/>
          </p:nvPicPr>
          <p:blipFill rotWithShape="1">
            <a:blip r:embed="rId3">
              <a:alphaModFix/>
            </a:blip>
            <a:srcRect/>
            <a:stretch/>
          </p:blipFill>
          <p:spPr>
            <a:xfrm>
              <a:off x="400492" y="1301037"/>
              <a:ext cx="61722" cy="109728"/>
            </a:xfrm>
            <a:prstGeom prst="rect">
              <a:avLst/>
            </a:prstGeom>
            <a:noFill/>
            <a:ln>
              <a:noFill/>
            </a:ln>
          </p:spPr>
        </p:pic>
      </p:grpSp>
    </p:spTree>
    <p:extLst>
      <p:ext uri="{BB962C8B-B14F-4D97-AF65-F5344CB8AC3E}">
        <p14:creationId xmlns:p14="http://schemas.microsoft.com/office/powerpoint/2010/main" val="1893290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301035" y="1573993"/>
            <a:ext cx="61722" cy="109728"/>
          </a:xfrm>
          <a:prstGeom prst="rect">
            <a:avLst/>
          </a:prstGeom>
          <a:noFill/>
          <a:ln>
            <a:noFill/>
          </a:ln>
        </p:spPr>
      </p:pic>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Collections and LINQ</a:t>
            </a:r>
          </a:p>
        </p:txBody>
      </p:sp>
      <p:sp>
        <p:nvSpPr>
          <p:cNvPr id="3" name="Rectangle 2"/>
          <p:cNvSpPr/>
          <p:nvPr/>
        </p:nvSpPr>
        <p:spPr>
          <a:xfrm>
            <a:off x="1524185" y="1463616"/>
            <a:ext cx="5268278" cy="1600438"/>
          </a:xfrm>
          <a:prstGeom prst="rect">
            <a:avLst/>
          </a:prstGeom>
        </p:spPr>
        <p:txBody>
          <a:bodyPr wrap="square">
            <a:spAutoFit/>
          </a:bodyPr>
          <a:lstStyle/>
          <a:p>
            <a:r>
              <a:rPr lang="en-US" b="1" dirty="0"/>
              <a:t>What is a Collection?</a:t>
            </a:r>
            <a:br>
              <a:rPr lang="en-US" b="1" dirty="0"/>
            </a:br>
            <a:endParaRPr lang="en-US" b="1" dirty="0"/>
          </a:p>
          <a:p>
            <a:r>
              <a:rPr lang="en-US" dirty="0"/>
              <a:t>In programming, a </a:t>
            </a:r>
            <a:r>
              <a:rPr lang="en-US" b="1" dirty="0"/>
              <a:t>collection</a:t>
            </a:r>
            <a:r>
              <a:rPr lang="en-US" dirty="0"/>
              <a:t> is a data structure used to store, manage, and manipulate multiple items (objects) as a single unit. Collections provide a way to group items, often of the same type, for operations like adding, removing, iterating, and searching.</a:t>
            </a:r>
          </a:p>
        </p:txBody>
      </p:sp>
    </p:spTree>
    <p:extLst>
      <p:ext uri="{BB962C8B-B14F-4D97-AF65-F5344CB8AC3E}">
        <p14:creationId xmlns:p14="http://schemas.microsoft.com/office/powerpoint/2010/main" val="1449188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051656" y="903780"/>
            <a:ext cx="61722" cy="109728"/>
          </a:xfrm>
          <a:prstGeom prst="rect">
            <a:avLst/>
          </a:prstGeom>
          <a:noFill/>
          <a:ln>
            <a:noFill/>
          </a:ln>
        </p:spPr>
      </p:pic>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Collections and LINQ</a:t>
            </a:r>
          </a:p>
        </p:txBody>
      </p:sp>
      <p:sp>
        <p:nvSpPr>
          <p:cNvPr id="2" name="Rectangle 1"/>
          <p:cNvSpPr/>
          <p:nvPr/>
        </p:nvSpPr>
        <p:spPr>
          <a:xfrm>
            <a:off x="1418554" y="804755"/>
            <a:ext cx="2392001" cy="307777"/>
          </a:xfrm>
          <a:prstGeom prst="rect">
            <a:avLst/>
          </a:prstGeom>
        </p:spPr>
        <p:txBody>
          <a:bodyPr wrap="none">
            <a:spAutoFit/>
          </a:bodyPr>
          <a:lstStyle/>
          <a:p>
            <a:r>
              <a:rPr lang="en-US" b="1" dirty="0"/>
              <a:t>Dictionary&lt;</a:t>
            </a:r>
            <a:r>
              <a:rPr lang="en-US" b="1" dirty="0" err="1"/>
              <a:t>TKey</a:t>
            </a:r>
            <a:r>
              <a:rPr lang="en-US" b="1" dirty="0"/>
              <a:t>, TValue&gt;</a:t>
            </a:r>
          </a:p>
        </p:txBody>
      </p:sp>
      <p:sp>
        <p:nvSpPr>
          <p:cNvPr id="3" name="TextBox 2"/>
          <p:cNvSpPr txBox="1"/>
          <p:nvPr/>
        </p:nvSpPr>
        <p:spPr>
          <a:xfrm>
            <a:off x="1226127" y="2223651"/>
            <a:ext cx="7029355" cy="2462213"/>
          </a:xfrm>
          <a:prstGeom prst="rect">
            <a:avLst/>
          </a:prstGeom>
          <a:solidFill>
            <a:schemeClr val="bg1">
              <a:lumMod val="85000"/>
            </a:schemeClr>
          </a:solidFill>
        </p:spPr>
        <p:txBody>
          <a:bodyPr wrap="square" rtlCol="0">
            <a:spAutoFit/>
          </a:bodyPr>
          <a:lstStyle/>
          <a:p>
            <a:r>
              <a:rPr lang="en-US" dirty="0" err="1"/>
              <a:t>var</a:t>
            </a:r>
            <a:r>
              <a:rPr lang="en-US" dirty="0"/>
              <a:t> dictionary = new Dictionary&lt;</a:t>
            </a:r>
            <a:r>
              <a:rPr lang="en-US" dirty="0" err="1"/>
              <a:t>int</a:t>
            </a:r>
            <a:r>
              <a:rPr lang="en-US" dirty="0"/>
              <a:t>, string&gt;</a:t>
            </a:r>
          </a:p>
          <a:p>
            <a:r>
              <a:rPr lang="en-US" dirty="0"/>
              <a:t>{</a:t>
            </a:r>
          </a:p>
          <a:p>
            <a:r>
              <a:rPr lang="en-US" dirty="0"/>
              <a:t>    { 1, "One" },</a:t>
            </a:r>
          </a:p>
          <a:p>
            <a:r>
              <a:rPr lang="en-US" dirty="0"/>
              <a:t>    { 2, "Two" },</a:t>
            </a:r>
          </a:p>
          <a:p>
            <a:r>
              <a:rPr lang="en-US" dirty="0"/>
              <a:t>    { 3, "Three" }</a:t>
            </a:r>
          </a:p>
          <a:p>
            <a:r>
              <a:rPr lang="en-US" dirty="0"/>
              <a:t>};</a:t>
            </a:r>
          </a:p>
          <a:p>
            <a:endParaRPr lang="en-US" dirty="0"/>
          </a:p>
          <a:p>
            <a:r>
              <a:rPr lang="en-US" dirty="0"/>
              <a:t>if (</a:t>
            </a:r>
            <a:r>
              <a:rPr lang="en-US" dirty="0" err="1"/>
              <a:t>dictionary.TryGetValue</a:t>
            </a:r>
            <a:r>
              <a:rPr lang="en-US" dirty="0"/>
              <a:t>(2, out </a:t>
            </a:r>
            <a:r>
              <a:rPr lang="en-US" dirty="0" err="1"/>
              <a:t>var</a:t>
            </a:r>
            <a:r>
              <a:rPr lang="en-US" dirty="0"/>
              <a:t> value))</a:t>
            </a:r>
          </a:p>
          <a:p>
            <a:r>
              <a:rPr lang="en-US" dirty="0"/>
              <a:t>{</a:t>
            </a:r>
          </a:p>
          <a:p>
            <a:r>
              <a:rPr lang="en-US" dirty="0"/>
              <a:t>    </a:t>
            </a:r>
            <a:r>
              <a:rPr lang="en-US" dirty="0" err="1"/>
              <a:t>Console.WriteLine</a:t>
            </a:r>
            <a:r>
              <a:rPr lang="en-US" dirty="0"/>
              <a:t>($"Key 2: {value}"); // Output: Key 2: Two</a:t>
            </a:r>
          </a:p>
          <a:p>
            <a:r>
              <a:rPr lang="en-US" dirty="0"/>
              <a:t>}</a:t>
            </a:r>
          </a:p>
        </p:txBody>
      </p:sp>
      <p:sp>
        <p:nvSpPr>
          <p:cNvPr id="5" name="Rectangle 2"/>
          <p:cNvSpPr>
            <a:spLocks noChangeArrowheads="1"/>
          </p:cNvSpPr>
          <p:nvPr/>
        </p:nvSpPr>
        <p:spPr bwMode="auto">
          <a:xfrm>
            <a:off x="1149870" y="1434725"/>
            <a:ext cx="93310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0" i="0" u="none" strike="noStrike" cap="none" normalizeH="0" baseline="0" dirty="0">
                <a:ln>
                  <a:noFill/>
                </a:ln>
                <a:solidFill>
                  <a:schemeClr val="tx1"/>
                </a:solidFill>
                <a:effectLst/>
                <a:latin typeface="Lato" panose="020B0604020202020204" charset="0"/>
              </a:rPr>
              <a:t>collection</a:t>
            </a:r>
            <a:r>
              <a:rPr kumimoji="0" lang="en-US" altLang="en-US" b="0" i="0" u="none" strike="noStrike" cap="none" normalizeH="0" baseline="0" dirty="0">
                <a:ln>
                  <a:noFill/>
                </a:ln>
                <a:solidFill>
                  <a:schemeClr val="tx1"/>
                </a:solidFill>
                <a:effectLst/>
                <a:latin typeface="Arial" panose="020B0604020202020204" pitchFamily="34" charset="0"/>
              </a:rPr>
              <a:t> of key-value pairs where keys must be unique.</a:t>
            </a:r>
          </a:p>
          <a:p>
            <a:pPr lvl="4" eaLnBrk="0" fontAlgn="base" hangingPunct="0">
              <a:spcBef>
                <a:spcPct val="0"/>
              </a:spcBef>
              <a:spcAft>
                <a:spcPct val="0"/>
              </a:spcAft>
              <a:buClrTx/>
              <a:buFontTx/>
              <a:buChar char="•"/>
            </a:pPr>
            <a:r>
              <a:rPr kumimoji="0" lang="en-US" altLang="en-US" b="1" i="0" u="none" strike="noStrike" cap="none" normalizeH="0" baseline="0" dirty="0">
                <a:ln>
                  <a:noFill/>
                </a:ln>
                <a:solidFill>
                  <a:schemeClr val="tx1"/>
                </a:solidFill>
                <a:effectLst/>
                <a:latin typeface="Arial" panose="020B0604020202020204" pitchFamily="34" charset="0"/>
              </a:rPr>
              <a:t>     Use Case:</a:t>
            </a:r>
            <a:r>
              <a:rPr kumimoji="0" lang="en-US" altLang="en-US" b="0" i="0" u="none" strike="noStrike" cap="none" normalizeH="0" baseline="0" dirty="0">
                <a:ln>
                  <a:noFill/>
                </a:ln>
                <a:solidFill>
                  <a:schemeClr val="tx1"/>
                </a:solidFill>
                <a:effectLst/>
                <a:latin typeface="Arial" panose="020B0604020202020204" pitchFamily="34" charset="0"/>
              </a:rPr>
              <a:t> Efficient lookups by key. </a:t>
            </a:r>
          </a:p>
        </p:txBody>
      </p:sp>
    </p:spTree>
    <p:extLst>
      <p:ext uri="{BB962C8B-B14F-4D97-AF65-F5344CB8AC3E}">
        <p14:creationId xmlns:p14="http://schemas.microsoft.com/office/powerpoint/2010/main" val="3642082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Collections and LINQ</a:t>
            </a:r>
          </a:p>
        </p:txBody>
      </p:sp>
      <p:pic>
        <p:nvPicPr>
          <p:cNvPr id="8" name="Google Shape;144;p21"/>
          <p:cNvPicPr preferRelativeResize="0"/>
          <p:nvPr/>
        </p:nvPicPr>
        <p:blipFill rotWithShape="1">
          <a:blip r:embed="rId5">
            <a:alphaModFix/>
          </a:blip>
          <a:srcRect/>
          <a:stretch/>
        </p:blipFill>
        <p:spPr>
          <a:xfrm>
            <a:off x="1051656" y="903780"/>
            <a:ext cx="61722" cy="109728"/>
          </a:xfrm>
          <a:prstGeom prst="rect">
            <a:avLst/>
          </a:prstGeom>
          <a:noFill/>
          <a:ln>
            <a:noFill/>
          </a:ln>
        </p:spPr>
      </p:pic>
      <p:sp>
        <p:nvSpPr>
          <p:cNvPr id="9" name="Rectangle 8"/>
          <p:cNvSpPr/>
          <p:nvPr/>
        </p:nvSpPr>
        <p:spPr>
          <a:xfrm>
            <a:off x="1418554" y="804755"/>
            <a:ext cx="1218603" cy="307777"/>
          </a:xfrm>
          <a:prstGeom prst="rect">
            <a:avLst/>
          </a:prstGeom>
        </p:spPr>
        <p:txBody>
          <a:bodyPr wrap="none">
            <a:spAutoFit/>
          </a:bodyPr>
          <a:lstStyle/>
          <a:p>
            <a:r>
              <a:rPr lang="en-US" b="1" dirty="0" err="1"/>
              <a:t>HashSet</a:t>
            </a:r>
            <a:r>
              <a:rPr lang="en-US" b="1" dirty="0"/>
              <a:t>&lt;T&gt;</a:t>
            </a:r>
          </a:p>
        </p:txBody>
      </p:sp>
      <p:sp>
        <p:nvSpPr>
          <p:cNvPr id="10" name="TextBox 9"/>
          <p:cNvSpPr txBox="1"/>
          <p:nvPr/>
        </p:nvSpPr>
        <p:spPr>
          <a:xfrm>
            <a:off x="1226127" y="2860961"/>
            <a:ext cx="7029355" cy="1384995"/>
          </a:xfrm>
          <a:prstGeom prst="rect">
            <a:avLst/>
          </a:prstGeom>
          <a:solidFill>
            <a:schemeClr val="bg1">
              <a:lumMod val="85000"/>
            </a:schemeClr>
          </a:solidFill>
        </p:spPr>
        <p:txBody>
          <a:bodyPr wrap="square" rtlCol="0">
            <a:spAutoFit/>
          </a:bodyPr>
          <a:lstStyle/>
          <a:p>
            <a:r>
              <a:rPr lang="en-US" dirty="0" err="1"/>
              <a:t>var</a:t>
            </a:r>
            <a:r>
              <a:rPr lang="en-US" dirty="0"/>
              <a:t> </a:t>
            </a:r>
            <a:r>
              <a:rPr lang="en-US" dirty="0" err="1"/>
              <a:t>hashSet</a:t>
            </a:r>
            <a:r>
              <a:rPr lang="en-US" dirty="0"/>
              <a:t> = new </a:t>
            </a:r>
            <a:r>
              <a:rPr lang="en-US" dirty="0" err="1"/>
              <a:t>HashSet</a:t>
            </a:r>
            <a:r>
              <a:rPr lang="en-US" dirty="0"/>
              <a:t>&lt;</a:t>
            </a:r>
            <a:r>
              <a:rPr lang="en-US" dirty="0" err="1"/>
              <a:t>int</a:t>
            </a:r>
            <a:r>
              <a:rPr lang="en-US" dirty="0"/>
              <a:t>&gt; { 1, 2, 3, 3 }; // Duplicates are ignored</a:t>
            </a:r>
          </a:p>
          <a:p>
            <a:endParaRPr lang="en-US" dirty="0"/>
          </a:p>
          <a:p>
            <a:r>
              <a:rPr lang="en-US" dirty="0" err="1"/>
              <a:t>hashSet.Add</a:t>
            </a:r>
            <a:r>
              <a:rPr lang="en-US" dirty="0"/>
              <a:t>(4);</a:t>
            </a:r>
          </a:p>
          <a:p>
            <a:r>
              <a:rPr lang="en-US" dirty="0" err="1"/>
              <a:t>hashSet.Remove</a:t>
            </a:r>
            <a:r>
              <a:rPr lang="en-US" dirty="0"/>
              <a:t>(2);</a:t>
            </a:r>
          </a:p>
          <a:p>
            <a:endParaRPr lang="en-US" dirty="0"/>
          </a:p>
          <a:p>
            <a:r>
              <a:rPr lang="en-US" dirty="0" err="1"/>
              <a:t>Console.WriteLine</a:t>
            </a:r>
            <a:r>
              <a:rPr lang="en-US" dirty="0"/>
              <a:t>(</a:t>
            </a:r>
            <a:r>
              <a:rPr lang="en-US" dirty="0" err="1"/>
              <a:t>string.Join</a:t>
            </a:r>
            <a:r>
              <a:rPr lang="en-US" dirty="0"/>
              <a:t>(", ", </a:t>
            </a:r>
            <a:r>
              <a:rPr lang="en-US" dirty="0" err="1"/>
              <a:t>hashSet</a:t>
            </a:r>
            <a:r>
              <a:rPr lang="en-US" dirty="0"/>
              <a:t>)); // Output: 1, 3, 4</a:t>
            </a:r>
          </a:p>
        </p:txBody>
      </p:sp>
      <p:sp>
        <p:nvSpPr>
          <p:cNvPr id="11" name="Rectangle 2"/>
          <p:cNvSpPr>
            <a:spLocks noChangeArrowheads="1"/>
          </p:cNvSpPr>
          <p:nvPr/>
        </p:nvSpPr>
        <p:spPr bwMode="auto">
          <a:xfrm>
            <a:off x="1149870" y="1434725"/>
            <a:ext cx="93310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ClrTx/>
              <a:buFont typeface="Arial" panose="020B0604020202020204" pitchFamily="34" charset="0"/>
              <a:buChar char="•"/>
            </a:pPr>
            <a:r>
              <a:rPr lang="en-US" dirty="0"/>
              <a:t>A collection of unique elements that does not allow duplicates.</a:t>
            </a:r>
            <a:endParaRPr kumimoji="0" lang="en-US" altLang="en-US" b="0" i="0" u="none" strike="noStrike" cap="none" normalizeH="0" baseline="0" dirty="0">
              <a:ln>
                <a:noFill/>
              </a:ln>
              <a:solidFill>
                <a:schemeClr val="tx1"/>
              </a:solidFill>
              <a:effectLst/>
              <a:latin typeface="Arial" panose="020B0604020202020204" pitchFamily="34" charset="0"/>
            </a:endParaRPr>
          </a:p>
          <a:p>
            <a:pPr lvl="4" eaLnBrk="0" fontAlgn="base" hangingPunct="0">
              <a:spcBef>
                <a:spcPct val="0"/>
              </a:spcBef>
              <a:spcAft>
                <a:spcPct val="0"/>
              </a:spcAft>
              <a:buClrTx/>
              <a:buFontTx/>
              <a:buChar char="•"/>
            </a:pPr>
            <a:r>
              <a:rPr kumimoji="0" lang="en-US" altLang="en-US" b="1" i="0" u="none" strike="noStrike" cap="none" normalizeH="0" baseline="0" dirty="0">
                <a:ln>
                  <a:noFill/>
                </a:ln>
                <a:solidFill>
                  <a:schemeClr val="tx1"/>
                </a:solidFill>
                <a:effectLst/>
                <a:latin typeface="Arial" panose="020B0604020202020204" pitchFamily="34" charset="0"/>
              </a:rPr>
              <a:t>     </a:t>
            </a:r>
            <a:r>
              <a:rPr lang="en-US" b="1" dirty="0"/>
              <a:t>Use Case:</a:t>
            </a:r>
            <a:r>
              <a:rPr lang="en-US" dirty="0"/>
              <a:t> Fast operations like checking existence, adding, or removing elements.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5576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Collections and LINQ</a:t>
            </a:r>
          </a:p>
        </p:txBody>
      </p:sp>
      <p:pic>
        <p:nvPicPr>
          <p:cNvPr id="8" name="Google Shape;144;p21"/>
          <p:cNvPicPr preferRelativeResize="0"/>
          <p:nvPr/>
        </p:nvPicPr>
        <p:blipFill rotWithShape="1">
          <a:blip r:embed="rId5">
            <a:alphaModFix/>
          </a:blip>
          <a:srcRect/>
          <a:stretch/>
        </p:blipFill>
        <p:spPr>
          <a:xfrm>
            <a:off x="1051656" y="903780"/>
            <a:ext cx="61722" cy="109728"/>
          </a:xfrm>
          <a:prstGeom prst="rect">
            <a:avLst/>
          </a:prstGeom>
          <a:noFill/>
          <a:ln>
            <a:noFill/>
          </a:ln>
        </p:spPr>
      </p:pic>
      <p:sp>
        <p:nvSpPr>
          <p:cNvPr id="9" name="Rectangle 8"/>
          <p:cNvSpPr/>
          <p:nvPr/>
        </p:nvSpPr>
        <p:spPr>
          <a:xfrm>
            <a:off x="1418554" y="804755"/>
            <a:ext cx="3684022" cy="307777"/>
          </a:xfrm>
          <a:prstGeom prst="rect">
            <a:avLst/>
          </a:prstGeom>
        </p:spPr>
        <p:txBody>
          <a:bodyPr wrap="none">
            <a:spAutoFit/>
          </a:bodyPr>
          <a:lstStyle/>
          <a:p>
            <a:r>
              <a:rPr lang="en-US" b="1" dirty="0"/>
              <a:t>LINQ Queries </a:t>
            </a:r>
            <a:r>
              <a:rPr lang="en-US" dirty="0"/>
              <a:t>(Language Integrated Query)</a:t>
            </a:r>
            <a:endParaRPr lang="en-US" b="1" dirty="0"/>
          </a:p>
        </p:txBody>
      </p:sp>
      <p:sp>
        <p:nvSpPr>
          <p:cNvPr id="10" name="TextBox 9"/>
          <p:cNvSpPr txBox="1"/>
          <p:nvPr/>
        </p:nvSpPr>
        <p:spPr>
          <a:xfrm>
            <a:off x="1221063" y="2003515"/>
            <a:ext cx="7029355" cy="954107"/>
          </a:xfrm>
          <a:prstGeom prst="rect">
            <a:avLst/>
          </a:prstGeom>
          <a:solidFill>
            <a:schemeClr val="bg1">
              <a:lumMod val="85000"/>
            </a:schemeClr>
          </a:solidFill>
        </p:spPr>
        <p:txBody>
          <a:bodyPr wrap="square" rtlCol="0">
            <a:spAutoFit/>
          </a:bodyPr>
          <a:lstStyle/>
          <a:p>
            <a:r>
              <a:rPr lang="en-US" dirty="0" err="1"/>
              <a:t>var</a:t>
            </a:r>
            <a:r>
              <a:rPr lang="en-US" dirty="0"/>
              <a:t> numbers = new List&lt;</a:t>
            </a:r>
            <a:r>
              <a:rPr lang="en-US" dirty="0" err="1"/>
              <a:t>int</a:t>
            </a:r>
            <a:r>
              <a:rPr lang="en-US" dirty="0"/>
              <a:t>&gt; { 1, 2, 3, 4, 5, 6 };</a:t>
            </a:r>
          </a:p>
          <a:p>
            <a:r>
              <a:rPr lang="en-US" dirty="0" err="1"/>
              <a:t>var</a:t>
            </a:r>
            <a:r>
              <a:rPr lang="en-US" dirty="0"/>
              <a:t> </a:t>
            </a:r>
            <a:r>
              <a:rPr lang="en-US" dirty="0" err="1"/>
              <a:t>evenNumbers</a:t>
            </a:r>
            <a:r>
              <a:rPr lang="en-US" dirty="0"/>
              <a:t> = </a:t>
            </a:r>
            <a:r>
              <a:rPr lang="en-US" dirty="0" err="1"/>
              <a:t>numbers.Where</a:t>
            </a:r>
            <a:r>
              <a:rPr lang="en-US" dirty="0"/>
              <a:t>(n =&gt; n % 2 == 0);</a:t>
            </a:r>
          </a:p>
          <a:p>
            <a:endParaRPr lang="en-US" dirty="0"/>
          </a:p>
          <a:p>
            <a:r>
              <a:rPr lang="en-US" dirty="0" err="1"/>
              <a:t>Console.WriteLine</a:t>
            </a:r>
            <a:r>
              <a:rPr lang="en-US" dirty="0"/>
              <a:t>(</a:t>
            </a:r>
            <a:r>
              <a:rPr lang="en-US" dirty="0" err="1"/>
              <a:t>string.Join</a:t>
            </a:r>
            <a:r>
              <a:rPr lang="en-US" dirty="0"/>
              <a:t>(", ", </a:t>
            </a:r>
            <a:r>
              <a:rPr lang="en-US" dirty="0" err="1"/>
              <a:t>evenNumbers</a:t>
            </a:r>
            <a:r>
              <a:rPr lang="en-US" dirty="0"/>
              <a:t>)); // Output: 2, 4, 6</a:t>
            </a:r>
          </a:p>
        </p:txBody>
      </p:sp>
      <p:sp>
        <p:nvSpPr>
          <p:cNvPr id="11" name="Rectangle 2"/>
          <p:cNvSpPr>
            <a:spLocks noChangeArrowheads="1"/>
          </p:cNvSpPr>
          <p:nvPr/>
        </p:nvSpPr>
        <p:spPr bwMode="auto">
          <a:xfrm>
            <a:off x="1168796" y="1327718"/>
            <a:ext cx="93310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Filtering (Where)</a:t>
            </a:r>
          </a:p>
          <a:p>
            <a:pPr marL="285750" indent="-285750">
              <a:buFont typeface="Arial" panose="020B0604020202020204" pitchFamily="34" charset="0"/>
              <a:buChar char="•"/>
            </a:pPr>
            <a:r>
              <a:rPr lang="en-US" b="1" dirty="0"/>
              <a:t>Use Case: </a:t>
            </a:r>
            <a:r>
              <a:rPr lang="en-US" dirty="0"/>
              <a:t>Filters elements based on a condition.</a:t>
            </a:r>
          </a:p>
        </p:txBody>
      </p:sp>
      <p:sp>
        <p:nvSpPr>
          <p:cNvPr id="15" name="TextBox 14"/>
          <p:cNvSpPr txBox="1"/>
          <p:nvPr/>
        </p:nvSpPr>
        <p:spPr>
          <a:xfrm>
            <a:off x="1158717" y="3790743"/>
            <a:ext cx="7029355" cy="954107"/>
          </a:xfrm>
          <a:prstGeom prst="rect">
            <a:avLst/>
          </a:prstGeom>
          <a:solidFill>
            <a:schemeClr val="bg1">
              <a:lumMod val="85000"/>
            </a:schemeClr>
          </a:solidFill>
        </p:spPr>
        <p:txBody>
          <a:bodyPr wrap="square" rtlCol="0">
            <a:spAutoFit/>
          </a:bodyPr>
          <a:lstStyle/>
          <a:p>
            <a:r>
              <a:rPr lang="en-US" dirty="0" err="1"/>
              <a:t>var</a:t>
            </a:r>
            <a:r>
              <a:rPr lang="en-US" dirty="0"/>
              <a:t> names = new List&lt;string&gt; { "John", "Alice", "Bob" };</a:t>
            </a:r>
          </a:p>
          <a:p>
            <a:r>
              <a:rPr lang="en-US" dirty="0" err="1"/>
              <a:t>var</a:t>
            </a:r>
            <a:r>
              <a:rPr lang="en-US" dirty="0"/>
              <a:t> </a:t>
            </a:r>
            <a:r>
              <a:rPr lang="en-US" dirty="0" err="1"/>
              <a:t>sortedNames</a:t>
            </a:r>
            <a:r>
              <a:rPr lang="en-US" dirty="0"/>
              <a:t> = </a:t>
            </a:r>
            <a:r>
              <a:rPr lang="en-US" dirty="0" err="1"/>
              <a:t>names.OrderBy</a:t>
            </a:r>
            <a:r>
              <a:rPr lang="en-US" dirty="0"/>
              <a:t>(name =&gt; name);</a:t>
            </a:r>
          </a:p>
          <a:p>
            <a:endParaRPr lang="en-US" dirty="0"/>
          </a:p>
          <a:p>
            <a:r>
              <a:rPr lang="en-US" dirty="0" err="1"/>
              <a:t>Console.WriteLine</a:t>
            </a:r>
            <a:r>
              <a:rPr lang="en-US" dirty="0"/>
              <a:t>(</a:t>
            </a:r>
            <a:r>
              <a:rPr lang="en-US" dirty="0" err="1"/>
              <a:t>string.Join</a:t>
            </a:r>
            <a:r>
              <a:rPr lang="en-US" dirty="0"/>
              <a:t>(", ", </a:t>
            </a:r>
            <a:r>
              <a:rPr lang="en-US" dirty="0" err="1"/>
              <a:t>sortedNames</a:t>
            </a:r>
            <a:r>
              <a:rPr lang="en-US" dirty="0"/>
              <a:t>)); // Output: Alice, Bob, John</a:t>
            </a:r>
          </a:p>
        </p:txBody>
      </p:sp>
      <p:sp>
        <p:nvSpPr>
          <p:cNvPr id="16" name="Rectangle 2"/>
          <p:cNvSpPr>
            <a:spLocks noChangeArrowheads="1"/>
          </p:cNvSpPr>
          <p:nvPr/>
        </p:nvSpPr>
        <p:spPr bwMode="auto">
          <a:xfrm>
            <a:off x="1106450" y="3114946"/>
            <a:ext cx="933103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Ordering (</a:t>
            </a:r>
            <a:r>
              <a:rPr lang="en-US" b="1" dirty="0" err="1"/>
              <a:t>OrderBy</a:t>
            </a:r>
            <a:r>
              <a:rPr lang="en-US" b="1" dirty="0"/>
              <a:t>/</a:t>
            </a:r>
            <a:r>
              <a:rPr lang="en-US" b="1" dirty="0" err="1"/>
              <a:t>OrderByDescending</a:t>
            </a:r>
            <a:r>
              <a:rPr lang="en-US" b="1" dirty="0"/>
              <a:t>)</a:t>
            </a:r>
            <a:br>
              <a:rPr lang="en-US" dirty="0"/>
            </a:br>
            <a:r>
              <a:rPr lang="en-US" b="1" dirty="0"/>
              <a:t>Use Case: </a:t>
            </a:r>
            <a:r>
              <a:rPr lang="en-US" dirty="0"/>
              <a:t>Orders elements in ascending or descending order.</a:t>
            </a:r>
          </a:p>
        </p:txBody>
      </p:sp>
    </p:spTree>
    <p:extLst>
      <p:ext uri="{BB962C8B-B14F-4D97-AF65-F5344CB8AC3E}">
        <p14:creationId xmlns:p14="http://schemas.microsoft.com/office/powerpoint/2010/main" val="676778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324292" y="2890176"/>
            <a:ext cx="61722" cy="109728"/>
          </a:xfrm>
          <a:prstGeom prst="rect">
            <a:avLst/>
          </a:prstGeom>
          <a:noFill/>
          <a:ln>
            <a:noFill/>
          </a:ln>
        </p:spPr>
      </p:pic>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Control Flow</a:t>
            </a:r>
          </a:p>
        </p:txBody>
      </p:sp>
      <p:sp>
        <p:nvSpPr>
          <p:cNvPr id="4" name="Rectangle 3"/>
          <p:cNvSpPr/>
          <p:nvPr/>
        </p:nvSpPr>
        <p:spPr>
          <a:xfrm>
            <a:off x="1494754" y="731992"/>
            <a:ext cx="2182008" cy="307777"/>
          </a:xfrm>
          <a:prstGeom prst="rect">
            <a:avLst/>
          </a:prstGeom>
        </p:spPr>
        <p:txBody>
          <a:bodyPr wrap="none">
            <a:spAutoFit/>
          </a:bodyPr>
          <a:lstStyle/>
          <a:p>
            <a:r>
              <a:rPr lang="en-US" b="1" dirty="0"/>
              <a:t>Conditional Statements</a:t>
            </a:r>
          </a:p>
        </p:txBody>
      </p:sp>
      <p:sp>
        <p:nvSpPr>
          <p:cNvPr id="5" name="Rectangle 4"/>
          <p:cNvSpPr/>
          <p:nvPr/>
        </p:nvSpPr>
        <p:spPr>
          <a:xfrm>
            <a:off x="1494754" y="3607092"/>
            <a:ext cx="720069" cy="307777"/>
          </a:xfrm>
          <a:prstGeom prst="rect">
            <a:avLst/>
          </a:prstGeom>
        </p:spPr>
        <p:txBody>
          <a:bodyPr wrap="none">
            <a:spAutoFit/>
          </a:bodyPr>
          <a:lstStyle/>
          <a:p>
            <a:r>
              <a:rPr lang="en-US" b="1" dirty="0"/>
              <a:t>Loops</a:t>
            </a:r>
          </a:p>
        </p:txBody>
      </p:sp>
      <p:sp>
        <p:nvSpPr>
          <p:cNvPr id="6" name="Rectangle 5"/>
          <p:cNvSpPr/>
          <p:nvPr/>
        </p:nvSpPr>
        <p:spPr>
          <a:xfrm>
            <a:off x="1494754" y="1934186"/>
            <a:ext cx="1677062" cy="307777"/>
          </a:xfrm>
          <a:prstGeom prst="rect">
            <a:avLst/>
          </a:prstGeom>
        </p:spPr>
        <p:txBody>
          <a:bodyPr wrap="none">
            <a:spAutoFit/>
          </a:bodyPr>
          <a:lstStyle/>
          <a:p>
            <a:r>
              <a:rPr lang="en-US" b="1" dirty="0"/>
              <a:t>Jump Statements</a:t>
            </a:r>
          </a:p>
        </p:txBody>
      </p:sp>
      <p:sp>
        <p:nvSpPr>
          <p:cNvPr id="7" name="TextBox 6"/>
          <p:cNvSpPr txBox="1"/>
          <p:nvPr/>
        </p:nvSpPr>
        <p:spPr>
          <a:xfrm>
            <a:off x="1630590" y="2424082"/>
            <a:ext cx="3082452" cy="954107"/>
          </a:xfrm>
          <a:prstGeom prst="rect">
            <a:avLst/>
          </a:prstGeom>
          <a:noFill/>
        </p:spPr>
        <p:txBody>
          <a:bodyPr wrap="square" rtlCol="0">
            <a:spAutoFit/>
          </a:bodyPr>
          <a:lstStyle/>
          <a:p>
            <a:pPr marL="285750" indent="-285750">
              <a:buFont typeface="Arial" panose="020B0604020202020204" pitchFamily="34" charset="0"/>
              <a:buChar char="•"/>
            </a:pPr>
            <a:r>
              <a:rPr lang="en-US" dirty="0"/>
              <a:t>Break</a:t>
            </a:r>
          </a:p>
          <a:p>
            <a:pPr marL="285750" indent="-285750">
              <a:buFont typeface="Arial" panose="020B0604020202020204" pitchFamily="34" charset="0"/>
              <a:buChar char="•"/>
            </a:pPr>
            <a:r>
              <a:rPr lang="en-US" dirty="0"/>
              <a:t>Continue</a:t>
            </a:r>
          </a:p>
          <a:p>
            <a:pPr marL="285750" indent="-285750">
              <a:buFont typeface="Arial" panose="020B0604020202020204" pitchFamily="34" charset="0"/>
              <a:buChar char="•"/>
            </a:pPr>
            <a:r>
              <a:rPr lang="en-US" dirty="0"/>
              <a:t>Return</a:t>
            </a:r>
          </a:p>
          <a:p>
            <a:pPr marL="285750" indent="-285750">
              <a:buFont typeface="Arial" panose="020B0604020202020204" pitchFamily="34" charset="0"/>
              <a:buChar char="•"/>
            </a:pPr>
            <a:r>
              <a:rPr lang="en-US" dirty="0" err="1"/>
              <a:t>goto</a:t>
            </a:r>
            <a:endParaRPr lang="en-US" dirty="0"/>
          </a:p>
        </p:txBody>
      </p:sp>
      <p:sp>
        <p:nvSpPr>
          <p:cNvPr id="14" name="TextBox 13"/>
          <p:cNvSpPr txBox="1"/>
          <p:nvPr/>
        </p:nvSpPr>
        <p:spPr>
          <a:xfrm>
            <a:off x="1602024" y="3914869"/>
            <a:ext cx="3082452" cy="954107"/>
          </a:xfrm>
          <a:prstGeom prst="rect">
            <a:avLst/>
          </a:prstGeom>
          <a:noFill/>
        </p:spPr>
        <p:txBody>
          <a:bodyPr wrap="square" rtlCol="0">
            <a:spAutoFit/>
          </a:bodyPr>
          <a:lstStyle/>
          <a:p>
            <a:pPr marL="285750" indent="-285750">
              <a:buFont typeface="Arial" panose="020B0604020202020204" pitchFamily="34" charset="0"/>
              <a:buChar char="•"/>
            </a:pPr>
            <a:r>
              <a:rPr lang="en-US" dirty="0"/>
              <a:t>For</a:t>
            </a:r>
          </a:p>
          <a:p>
            <a:pPr marL="285750" indent="-285750">
              <a:buFont typeface="Arial" panose="020B0604020202020204" pitchFamily="34" charset="0"/>
              <a:buChar char="•"/>
            </a:pPr>
            <a:r>
              <a:rPr lang="en-US" dirty="0" err="1"/>
              <a:t>ForEach</a:t>
            </a:r>
            <a:endParaRPr lang="en-US" dirty="0"/>
          </a:p>
          <a:p>
            <a:pPr marL="285750" indent="-285750">
              <a:buFont typeface="Arial" panose="020B0604020202020204" pitchFamily="34" charset="0"/>
              <a:buChar char="•"/>
            </a:pPr>
            <a:r>
              <a:rPr lang="en-US" dirty="0"/>
              <a:t>While</a:t>
            </a:r>
          </a:p>
          <a:p>
            <a:pPr marL="285750" indent="-285750">
              <a:buFont typeface="Arial" panose="020B0604020202020204" pitchFamily="34" charset="0"/>
              <a:buChar char="•"/>
            </a:pPr>
            <a:r>
              <a:rPr lang="en-US" dirty="0"/>
              <a:t>Do-While</a:t>
            </a:r>
          </a:p>
        </p:txBody>
      </p:sp>
      <p:sp>
        <p:nvSpPr>
          <p:cNvPr id="15" name="TextBox 14"/>
          <p:cNvSpPr txBox="1"/>
          <p:nvPr/>
        </p:nvSpPr>
        <p:spPr>
          <a:xfrm>
            <a:off x="1602024" y="1057573"/>
            <a:ext cx="3082452" cy="738664"/>
          </a:xfrm>
          <a:prstGeom prst="rect">
            <a:avLst/>
          </a:prstGeom>
          <a:noFill/>
        </p:spPr>
        <p:txBody>
          <a:bodyPr wrap="square" rtlCol="0">
            <a:spAutoFit/>
          </a:bodyPr>
          <a:lstStyle/>
          <a:p>
            <a:pPr marL="285750" indent="-285750">
              <a:buFont typeface="Arial" panose="020B0604020202020204" pitchFamily="34" charset="0"/>
              <a:buChar char="•"/>
            </a:pPr>
            <a:r>
              <a:rPr lang="en-US" dirty="0"/>
              <a:t>If-else</a:t>
            </a:r>
          </a:p>
          <a:p>
            <a:pPr marL="285750" indent="-285750">
              <a:buFont typeface="Arial" panose="020B0604020202020204" pitchFamily="34" charset="0"/>
              <a:buChar char="•"/>
            </a:pPr>
            <a:r>
              <a:rPr lang="en-US" dirty="0"/>
              <a:t>else-if</a:t>
            </a:r>
          </a:p>
          <a:p>
            <a:pPr marL="285750" indent="-285750">
              <a:buFont typeface="Arial" panose="020B0604020202020204" pitchFamily="34" charset="0"/>
              <a:buChar char="•"/>
            </a:pPr>
            <a:r>
              <a:rPr lang="en-US" dirty="0"/>
              <a:t>Switch-case</a:t>
            </a:r>
          </a:p>
        </p:txBody>
      </p:sp>
    </p:spTree>
    <p:extLst>
      <p:ext uri="{BB962C8B-B14F-4D97-AF65-F5344CB8AC3E}">
        <p14:creationId xmlns:p14="http://schemas.microsoft.com/office/powerpoint/2010/main" val="1657582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err="1">
                <a:solidFill>
                  <a:schemeClr val="lt1"/>
                </a:solidFill>
                <a:latin typeface="Lato"/>
                <a:ea typeface="Lato"/>
                <a:cs typeface="Lato"/>
                <a:sym typeface="Lato"/>
              </a:rPr>
              <a:t>Enums</a:t>
            </a:r>
            <a:r>
              <a:rPr lang="en-US" sz="2000" b="1" dirty="0">
                <a:solidFill>
                  <a:schemeClr val="lt1"/>
                </a:solidFill>
                <a:latin typeface="Lato"/>
                <a:ea typeface="Lato"/>
                <a:cs typeface="Lato"/>
                <a:sym typeface="Lato"/>
              </a:rPr>
              <a:t> and </a:t>
            </a:r>
            <a:r>
              <a:rPr lang="en-US" sz="2000" b="1" dirty="0" err="1">
                <a:solidFill>
                  <a:schemeClr val="lt1"/>
                </a:solidFill>
                <a:latin typeface="Lato"/>
                <a:ea typeface="Lato"/>
                <a:cs typeface="Lato"/>
                <a:sym typeface="Lato"/>
              </a:rPr>
              <a:t>Structs</a:t>
            </a:r>
            <a:endParaRPr lang="en-US" sz="2000" b="1" dirty="0">
              <a:solidFill>
                <a:schemeClr val="lt1"/>
              </a:solidFill>
              <a:latin typeface="Lato"/>
              <a:ea typeface="Lato"/>
              <a:cs typeface="Lato"/>
              <a:sym typeface="Lato"/>
            </a:endParaRPr>
          </a:p>
        </p:txBody>
      </p:sp>
      <p:sp>
        <p:nvSpPr>
          <p:cNvPr id="2" name="Rectangle 1"/>
          <p:cNvSpPr/>
          <p:nvPr/>
        </p:nvSpPr>
        <p:spPr>
          <a:xfrm>
            <a:off x="436417" y="955964"/>
            <a:ext cx="7550727" cy="2246769"/>
          </a:xfrm>
          <a:prstGeom prst="rect">
            <a:avLst/>
          </a:prstGeom>
        </p:spPr>
        <p:txBody>
          <a:bodyPr wrap="square">
            <a:spAutoFit/>
          </a:bodyPr>
          <a:lstStyle/>
          <a:p>
            <a:pPr algn="just" fontAlgn="base">
              <a:buFont typeface="Arial" panose="020B0604020202020204" pitchFamily="34" charset="0"/>
              <a:buChar char="•"/>
            </a:pPr>
            <a:r>
              <a:rPr lang="en-US" dirty="0">
                <a:solidFill>
                  <a:srgbClr val="222222"/>
                </a:solidFill>
                <a:latin typeface="Lato" panose="020B0604020202020204" charset="0"/>
              </a:rPr>
              <a:t>An </a:t>
            </a:r>
            <a:r>
              <a:rPr lang="en-US" dirty="0" err="1">
                <a:solidFill>
                  <a:srgbClr val="222222"/>
                </a:solidFill>
                <a:latin typeface="Lato" panose="020B0604020202020204" charset="0"/>
              </a:rPr>
              <a:t>enum</a:t>
            </a:r>
            <a:r>
              <a:rPr lang="en-US" dirty="0">
                <a:solidFill>
                  <a:srgbClr val="222222"/>
                </a:solidFill>
                <a:latin typeface="Lato" panose="020B0604020202020204" charset="0"/>
              </a:rPr>
              <a:t> type (or enumeration  type) is a value type defined by a set of constants of with their underlying numeric type. </a:t>
            </a:r>
          </a:p>
          <a:p>
            <a:pPr algn="just" fontAlgn="base">
              <a:buFont typeface="Arial" panose="020B0604020202020204" pitchFamily="34" charset="0"/>
              <a:buChar char="•"/>
            </a:pPr>
            <a:r>
              <a:rPr lang="en-US" dirty="0">
                <a:solidFill>
                  <a:srgbClr val="222222"/>
                </a:solidFill>
                <a:latin typeface="Lato" panose="020B0604020202020204" charset="0"/>
              </a:rPr>
              <a:t>To define an enumeration type, use the </a:t>
            </a:r>
            <a:r>
              <a:rPr lang="en-US" dirty="0" err="1">
                <a:solidFill>
                  <a:srgbClr val="222222"/>
                </a:solidFill>
                <a:latin typeface="Lato" panose="020B0604020202020204" charset="0"/>
              </a:rPr>
              <a:t>enum</a:t>
            </a:r>
            <a:r>
              <a:rPr lang="en-US" dirty="0">
                <a:solidFill>
                  <a:srgbClr val="222222"/>
                </a:solidFill>
                <a:latin typeface="Lato" panose="020B0604020202020204" charset="0"/>
              </a:rPr>
              <a:t> keyword and specify the names of </a:t>
            </a:r>
            <a:r>
              <a:rPr lang="en-US" dirty="0" err="1">
                <a:solidFill>
                  <a:srgbClr val="222222"/>
                </a:solidFill>
                <a:latin typeface="Lato" panose="020B0604020202020204" charset="0"/>
              </a:rPr>
              <a:t>enum</a:t>
            </a:r>
            <a:r>
              <a:rPr lang="en-US" dirty="0">
                <a:solidFill>
                  <a:srgbClr val="222222"/>
                </a:solidFill>
                <a:latin typeface="Lato" panose="020B0604020202020204" charset="0"/>
              </a:rPr>
              <a:t> members.</a:t>
            </a:r>
          </a:p>
          <a:p>
            <a:br>
              <a:rPr lang="en-US" dirty="0"/>
            </a:b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2583876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 name="Google Shape;76;p17"/>
          <p:cNvSpPr txBox="1"/>
          <p:nvPr/>
        </p:nvSpPr>
        <p:spPr>
          <a:xfrm>
            <a:off x="2267074" y="13425"/>
            <a:ext cx="4476900"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err="1">
                <a:solidFill>
                  <a:schemeClr val="lt1"/>
                </a:solidFill>
                <a:latin typeface="Lato"/>
                <a:ea typeface="Lato"/>
                <a:cs typeface="Lato"/>
                <a:sym typeface="Lato"/>
              </a:rPr>
              <a:t>Enums</a:t>
            </a:r>
            <a:r>
              <a:rPr lang="en-US" sz="2000" b="1" dirty="0">
                <a:solidFill>
                  <a:schemeClr val="lt1"/>
                </a:solidFill>
                <a:latin typeface="Lato"/>
                <a:ea typeface="Lato"/>
                <a:cs typeface="Lato"/>
                <a:sym typeface="Lato"/>
              </a:rPr>
              <a:t> and </a:t>
            </a:r>
            <a:r>
              <a:rPr lang="en-US" sz="2000" b="1" dirty="0" err="1">
                <a:solidFill>
                  <a:schemeClr val="lt1"/>
                </a:solidFill>
                <a:latin typeface="Lato"/>
                <a:ea typeface="Lato"/>
                <a:cs typeface="Lato"/>
                <a:sym typeface="Lato"/>
              </a:rPr>
              <a:t>Structs</a:t>
            </a:r>
            <a:endParaRPr lang="en-US" sz="2000" b="1" dirty="0">
              <a:solidFill>
                <a:schemeClr val="lt1"/>
              </a:solidFill>
              <a:latin typeface="Lato"/>
              <a:ea typeface="Lato"/>
              <a:cs typeface="Lato"/>
              <a:sym typeface="Lato"/>
            </a:endParaRPr>
          </a:p>
        </p:txBody>
      </p:sp>
      <p:sp>
        <p:nvSpPr>
          <p:cNvPr id="2" name="Rectangle 1"/>
          <p:cNvSpPr/>
          <p:nvPr/>
        </p:nvSpPr>
        <p:spPr>
          <a:xfrm>
            <a:off x="152400" y="521024"/>
            <a:ext cx="9177867" cy="4893647"/>
          </a:xfrm>
          <a:prstGeom prst="rect">
            <a:avLst/>
          </a:prstGeom>
        </p:spPr>
        <p:txBody>
          <a:bodyPr wrap="square">
            <a:spAutoFit/>
          </a:bodyPr>
          <a:lstStyle/>
          <a:p>
            <a:pPr algn="just"/>
            <a:r>
              <a:rPr lang="en-US" sz="1300" dirty="0">
                <a:latin typeface="Lato" panose="020B0604020202020204" charset="0"/>
              </a:rPr>
              <a:t>public </a:t>
            </a:r>
            <a:r>
              <a:rPr lang="en-US" sz="1300" dirty="0" err="1">
                <a:latin typeface="Lato" panose="020B0604020202020204" charset="0"/>
              </a:rPr>
              <a:t>enum</a:t>
            </a:r>
            <a:r>
              <a:rPr lang="en-US" sz="1300" dirty="0">
                <a:latin typeface="Lato" panose="020B0604020202020204" charset="0"/>
              </a:rPr>
              <a:t> Season</a:t>
            </a:r>
            <a:endParaRPr lang="en-US" sz="1300" dirty="0"/>
          </a:p>
          <a:p>
            <a:pPr algn="just"/>
            <a:r>
              <a:rPr lang="en-US" sz="1300" dirty="0">
                <a:latin typeface="Lato" panose="020B0604020202020204" charset="0"/>
              </a:rPr>
              <a:t>{</a:t>
            </a:r>
            <a:endParaRPr lang="en-US" sz="1300" dirty="0"/>
          </a:p>
          <a:p>
            <a:pPr algn="just"/>
            <a:r>
              <a:rPr lang="en-US" sz="1300" dirty="0">
                <a:latin typeface="Lato" panose="020B0604020202020204" charset="0"/>
              </a:rPr>
              <a:t>    Spring,</a:t>
            </a:r>
            <a:endParaRPr lang="en-US" sz="1300" dirty="0"/>
          </a:p>
          <a:p>
            <a:pPr algn="just"/>
            <a:r>
              <a:rPr lang="en-US" sz="1300" dirty="0">
                <a:latin typeface="Lato" panose="020B0604020202020204" charset="0"/>
              </a:rPr>
              <a:t>    Summer,</a:t>
            </a:r>
            <a:endParaRPr lang="en-US" sz="1300" dirty="0"/>
          </a:p>
          <a:p>
            <a:pPr algn="just"/>
            <a:r>
              <a:rPr lang="en-US" sz="1300" dirty="0">
                <a:latin typeface="Lato" panose="020B0604020202020204" charset="0"/>
              </a:rPr>
              <a:t>    Autumn,</a:t>
            </a:r>
            <a:endParaRPr lang="en-US" sz="1300" dirty="0"/>
          </a:p>
          <a:p>
            <a:pPr algn="just"/>
            <a:r>
              <a:rPr lang="en-US" sz="1300" dirty="0">
                <a:latin typeface="Lato" panose="020B0604020202020204" charset="0"/>
              </a:rPr>
              <a:t>    Winter</a:t>
            </a:r>
            <a:endParaRPr lang="en-US" sz="1300" dirty="0"/>
          </a:p>
          <a:p>
            <a:pPr algn="just"/>
            <a:r>
              <a:rPr lang="en-US" sz="1300" dirty="0">
                <a:latin typeface="Lato" panose="020B0604020202020204" charset="0"/>
              </a:rPr>
              <a:t>}</a:t>
            </a:r>
            <a:endParaRPr lang="en-US" sz="1300" dirty="0"/>
          </a:p>
          <a:p>
            <a:pPr algn="just"/>
            <a:br>
              <a:rPr lang="en-US" sz="1300" dirty="0"/>
            </a:br>
            <a:r>
              <a:rPr lang="en-US" sz="1300" dirty="0">
                <a:latin typeface="Lato" panose="020B0604020202020204" charset="0"/>
              </a:rPr>
              <a:t>public class </a:t>
            </a:r>
            <a:r>
              <a:rPr lang="en-US" sz="1300" dirty="0" err="1">
                <a:latin typeface="Lato" panose="020B0604020202020204" charset="0"/>
              </a:rPr>
              <a:t>EnumConversionExample</a:t>
            </a:r>
            <a:endParaRPr lang="en-US" sz="1300" dirty="0"/>
          </a:p>
          <a:p>
            <a:pPr algn="just"/>
            <a:r>
              <a:rPr lang="en-US" sz="1300" dirty="0">
                <a:latin typeface="Lato" panose="020B0604020202020204" charset="0"/>
              </a:rPr>
              <a:t>{</a:t>
            </a:r>
            <a:endParaRPr lang="en-US" sz="1300" dirty="0"/>
          </a:p>
          <a:p>
            <a:pPr algn="just"/>
            <a:r>
              <a:rPr lang="en-US" sz="1300" dirty="0">
                <a:latin typeface="Lato" panose="020B0604020202020204" charset="0"/>
              </a:rPr>
              <a:t>    public static void Main()</a:t>
            </a:r>
            <a:endParaRPr lang="en-US" sz="1300" dirty="0"/>
          </a:p>
          <a:p>
            <a:pPr algn="just"/>
            <a:r>
              <a:rPr lang="en-US" sz="1300" dirty="0">
                <a:latin typeface="Lato" panose="020B0604020202020204" charset="0"/>
              </a:rPr>
              <a:t>    {</a:t>
            </a:r>
            <a:endParaRPr lang="en-US" sz="1300" dirty="0"/>
          </a:p>
          <a:p>
            <a:pPr algn="just"/>
            <a:r>
              <a:rPr lang="en-US" sz="1300" dirty="0">
                <a:latin typeface="Lato" panose="020B0604020202020204" charset="0"/>
              </a:rPr>
              <a:t>        Season a = </a:t>
            </a:r>
            <a:r>
              <a:rPr lang="en-US" sz="1300" dirty="0" err="1">
                <a:latin typeface="Lato" panose="020B0604020202020204" charset="0"/>
              </a:rPr>
              <a:t>Season.Autumn</a:t>
            </a:r>
            <a:r>
              <a:rPr lang="en-US" sz="1300" dirty="0">
                <a:latin typeface="Lato" panose="020B0604020202020204" charset="0"/>
              </a:rPr>
              <a:t>;</a:t>
            </a:r>
            <a:endParaRPr lang="en-US" sz="1300" dirty="0"/>
          </a:p>
          <a:p>
            <a:pPr algn="just"/>
            <a:r>
              <a:rPr lang="en-US" sz="1300" dirty="0">
                <a:latin typeface="Lato" panose="020B0604020202020204" charset="0"/>
              </a:rPr>
              <a:t>        </a:t>
            </a:r>
            <a:r>
              <a:rPr lang="en-US" sz="1300" dirty="0" err="1">
                <a:latin typeface="Lato" panose="020B0604020202020204" charset="0"/>
              </a:rPr>
              <a:t>Console.WriteLine</a:t>
            </a:r>
            <a:r>
              <a:rPr lang="en-US" sz="1300" dirty="0">
                <a:latin typeface="Lato" panose="020B0604020202020204" charset="0"/>
              </a:rPr>
              <a:t>($"Integral value of {a} is {(</a:t>
            </a:r>
            <a:r>
              <a:rPr lang="en-US" sz="1300" dirty="0" err="1">
                <a:latin typeface="Lato" panose="020B0604020202020204" charset="0"/>
              </a:rPr>
              <a:t>int</a:t>
            </a:r>
            <a:r>
              <a:rPr lang="en-US" sz="1300" dirty="0">
                <a:latin typeface="Lato" panose="020B0604020202020204" charset="0"/>
              </a:rPr>
              <a:t>)a}");                           </a:t>
            </a:r>
            <a:r>
              <a:rPr lang="en-US" sz="1300" b="1" dirty="0">
                <a:latin typeface="Lato" panose="020B0604020202020204" charset="0"/>
              </a:rPr>
              <a:t> </a:t>
            </a:r>
            <a:r>
              <a:rPr lang="en-US" sz="1300" b="1" dirty="0">
                <a:solidFill>
                  <a:srgbClr val="595959"/>
                </a:solidFill>
                <a:latin typeface="Lato" panose="020B0604020202020204" charset="0"/>
              </a:rPr>
              <a:t>// output: Integral value of Autumn is 2</a:t>
            </a:r>
            <a:endParaRPr lang="en-US" sz="1300" dirty="0"/>
          </a:p>
          <a:p>
            <a:pPr algn="just"/>
            <a:br>
              <a:rPr lang="en-US" sz="1300" dirty="0"/>
            </a:br>
            <a:r>
              <a:rPr lang="en-US" sz="1300" dirty="0">
                <a:latin typeface="Lato" panose="020B0604020202020204" charset="0"/>
              </a:rPr>
              <a:t>        </a:t>
            </a:r>
            <a:r>
              <a:rPr lang="en-US" sz="1300" dirty="0" err="1">
                <a:latin typeface="Lato" panose="020B0604020202020204" charset="0"/>
              </a:rPr>
              <a:t>var</a:t>
            </a:r>
            <a:r>
              <a:rPr lang="en-US" sz="1300" dirty="0">
                <a:latin typeface="Lato" panose="020B0604020202020204" charset="0"/>
              </a:rPr>
              <a:t> b = (Season)1;</a:t>
            </a:r>
            <a:endParaRPr lang="en-US" sz="1300" dirty="0"/>
          </a:p>
          <a:p>
            <a:pPr algn="just"/>
            <a:r>
              <a:rPr lang="en-US" sz="1300" dirty="0">
                <a:latin typeface="Lato" panose="020B0604020202020204" charset="0"/>
              </a:rPr>
              <a:t>        </a:t>
            </a:r>
            <a:r>
              <a:rPr lang="en-US" sz="1300" dirty="0" err="1">
                <a:latin typeface="Lato" panose="020B0604020202020204" charset="0"/>
              </a:rPr>
              <a:t>Console.WriteLine</a:t>
            </a:r>
            <a:r>
              <a:rPr lang="en-US" sz="1300" dirty="0">
                <a:latin typeface="Lato" panose="020B0604020202020204" charset="0"/>
              </a:rPr>
              <a:t>(b);  </a:t>
            </a:r>
            <a:r>
              <a:rPr lang="en-US" sz="1300" dirty="0">
                <a:solidFill>
                  <a:srgbClr val="595959"/>
                </a:solidFill>
                <a:latin typeface="Lato" panose="020B0604020202020204" charset="0"/>
              </a:rPr>
              <a:t> </a:t>
            </a:r>
            <a:r>
              <a:rPr lang="en-US" sz="1300" b="1" dirty="0">
                <a:solidFill>
                  <a:srgbClr val="595959"/>
                </a:solidFill>
                <a:latin typeface="Lato" panose="020B0604020202020204" charset="0"/>
              </a:rPr>
              <a:t>// output: Summer</a:t>
            </a:r>
            <a:endParaRPr lang="en-US" sz="1300" dirty="0"/>
          </a:p>
          <a:p>
            <a:pPr algn="just"/>
            <a:br>
              <a:rPr lang="en-US" sz="1300" dirty="0"/>
            </a:br>
            <a:r>
              <a:rPr lang="en-US" sz="1300" dirty="0">
                <a:latin typeface="Lato" panose="020B0604020202020204" charset="0"/>
              </a:rPr>
              <a:t>        </a:t>
            </a:r>
            <a:r>
              <a:rPr lang="en-US" sz="1300" dirty="0" err="1">
                <a:latin typeface="Lato" panose="020B0604020202020204" charset="0"/>
              </a:rPr>
              <a:t>var</a:t>
            </a:r>
            <a:r>
              <a:rPr lang="en-US" sz="1300" dirty="0">
                <a:latin typeface="Lato" panose="020B0604020202020204" charset="0"/>
              </a:rPr>
              <a:t> c = (Season)4;</a:t>
            </a:r>
            <a:endParaRPr lang="en-US" sz="1300" dirty="0"/>
          </a:p>
          <a:p>
            <a:pPr algn="just"/>
            <a:r>
              <a:rPr lang="en-US" sz="1300" dirty="0">
                <a:latin typeface="Lato" panose="020B0604020202020204" charset="0"/>
              </a:rPr>
              <a:t>        </a:t>
            </a:r>
            <a:r>
              <a:rPr lang="en-US" sz="1300" dirty="0" err="1">
                <a:latin typeface="Lato" panose="020B0604020202020204" charset="0"/>
              </a:rPr>
              <a:t>Console.WriteLine</a:t>
            </a:r>
            <a:r>
              <a:rPr lang="en-US" sz="1300" dirty="0">
                <a:latin typeface="Lato" panose="020B0604020202020204" charset="0"/>
              </a:rPr>
              <a:t>(c);  </a:t>
            </a:r>
            <a:r>
              <a:rPr lang="en-US" sz="1300" b="1" dirty="0">
                <a:solidFill>
                  <a:srgbClr val="595959"/>
                </a:solidFill>
                <a:latin typeface="Lato" panose="020B0604020202020204" charset="0"/>
              </a:rPr>
              <a:t>// output: 4</a:t>
            </a:r>
            <a:endParaRPr lang="en-US" sz="1300" dirty="0"/>
          </a:p>
          <a:p>
            <a:pPr algn="just"/>
            <a:r>
              <a:rPr lang="en-US" sz="1300" dirty="0">
                <a:latin typeface="Lato" panose="020B0604020202020204" charset="0"/>
              </a:rPr>
              <a:t>    }</a:t>
            </a:r>
            <a:endParaRPr lang="en-US" sz="1300" dirty="0"/>
          </a:p>
          <a:p>
            <a:pPr algn="just"/>
            <a:r>
              <a:rPr lang="en-US" sz="1300" dirty="0">
                <a:latin typeface="Lato" panose="020B0604020202020204" charset="0"/>
              </a:rPr>
              <a:t>}</a:t>
            </a:r>
            <a:endParaRPr lang="en-US" sz="1300" dirty="0"/>
          </a:p>
          <a:p>
            <a:br>
              <a:rPr lang="en-US" sz="1300" dirty="0"/>
            </a:br>
            <a:endParaRPr lang="en-US" sz="1300" dirty="0"/>
          </a:p>
        </p:txBody>
      </p:sp>
    </p:spTree>
    <p:extLst>
      <p:ext uri="{BB962C8B-B14F-4D97-AF65-F5344CB8AC3E}">
        <p14:creationId xmlns:p14="http://schemas.microsoft.com/office/powerpoint/2010/main" val="2395019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5" name="Google Shape;75;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6" name="Google Shape;76;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 sz="2000" b="1" i="0" u="none" strike="noStrike" cap="none" dirty="0">
                <a:solidFill>
                  <a:schemeClr val="lt1"/>
                </a:solidFill>
                <a:latin typeface="Lato"/>
                <a:ea typeface="Lato"/>
                <a:cs typeface="Lato"/>
                <a:sym typeface="Lato"/>
              </a:rPr>
              <a:t>In this session</a:t>
            </a:r>
            <a:endParaRPr sz="2000" b="1" i="0" u="none" strike="noStrike" cap="none" dirty="0">
              <a:solidFill>
                <a:schemeClr val="lt1"/>
              </a:solidFill>
              <a:latin typeface="Lato"/>
              <a:ea typeface="Lato"/>
              <a:cs typeface="Lato"/>
              <a:sym typeface="Lato"/>
            </a:endParaRPr>
          </a:p>
        </p:txBody>
      </p:sp>
      <p:pic>
        <p:nvPicPr>
          <p:cNvPr id="77" name="Google Shape;77;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8" name="Google Shape;78;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9" name="Google Shape;79;p17"/>
          <p:cNvSpPr txBox="1"/>
          <p:nvPr/>
        </p:nvSpPr>
        <p:spPr>
          <a:xfrm>
            <a:off x="294875" y="756732"/>
            <a:ext cx="6819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222222"/>
                </a:solidFill>
                <a:latin typeface="Lato"/>
                <a:ea typeface="Lato"/>
                <a:cs typeface="Lato"/>
                <a:sym typeface="Lato"/>
              </a:rPr>
              <a:t>What we are learning in this session</a:t>
            </a:r>
            <a:endParaRPr sz="1600" b="1" i="0" u="none" strike="noStrike" cap="none">
              <a:solidFill>
                <a:srgbClr val="222222"/>
              </a:solidFill>
              <a:latin typeface="Lato"/>
              <a:ea typeface="Lato"/>
              <a:cs typeface="Lato"/>
              <a:sym typeface="Lato"/>
            </a:endParaRPr>
          </a:p>
        </p:txBody>
      </p:sp>
      <p:grpSp>
        <p:nvGrpSpPr>
          <p:cNvPr id="80" name="Google Shape;80;p17"/>
          <p:cNvGrpSpPr/>
          <p:nvPr/>
        </p:nvGrpSpPr>
        <p:grpSpPr>
          <a:xfrm>
            <a:off x="455908" y="1087633"/>
            <a:ext cx="2738870" cy="615523"/>
            <a:chOff x="400492" y="1176242"/>
            <a:chExt cx="2326167" cy="615523"/>
          </a:xfrm>
        </p:grpSpPr>
        <p:sp>
          <p:nvSpPr>
            <p:cNvPr id="81" name="Google Shape;81;p17"/>
            <p:cNvSpPr txBox="1"/>
            <p:nvPr/>
          </p:nvSpPr>
          <p:spPr>
            <a:xfrm>
              <a:off x="493732" y="1176242"/>
              <a:ext cx="2232927" cy="615523"/>
            </a:xfrm>
            <a:prstGeom prst="rect">
              <a:avLst/>
            </a:prstGeom>
            <a:noFill/>
            <a:ln>
              <a:noFill/>
            </a:ln>
          </p:spPr>
          <p:txBody>
            <a:bodyPr spcFirstLastPara="1" wrap="square" lIns="91425" tIns="91425" rIns="91425" bIns="91425" anchor="t" anchorCtr="0">
              <a:spAutoFit/>
            </a:bodyPr>
            <a:lstStyle/>
            <a:p>
              <a:pPr lvl="0">
                <a:buClr>
                  <a:schemeClr val="dk1"/>
                </a:buClr>
                <a:buSzPts val="1600"/>
              </a:pPr>
              <a:r>
                <a:rPr lang="en-US" dirty="0">
                  <a:solidFill>
                    <a:srgbClr val="222222"/>
                  </a:solidFill>
                  <a:latin typeface="Lato"/>
                  <a:ea typeface="Lato"/>
                  <a:cs typeface="Lato"/>
                  <a:sym typeface="Lato"/>
                </a:rPr>
                <a:t>Namespaces and Assemblies</a:t>
              </a:r>
              <a:endParaRPr sz="1400" b="0" i="0" u="none" strike="noStrike" cap="none" dirty="0">
                <a:solidFill>
                  <a:srgbClr val="222222"/>
                </a:solidFill>
                <a:latin typeface="Lato"/>
                <a:ea typeface="Lato"/>
                <a:cs typeface="Lato"/>
                <a:sym typeface="Lato"/>
              </a:endParaRPr>
            </a:p>
          </p:txBody>
        </p:sp>
        <p:pic>
          <p:nvPicPr>
            <p:cNvPr id="82" name="Google Shape;82;p17"/>
            <p:cNvPicPr preferRelativeResize="0"/>
            <p:nvPr/>
          </p:nvPicPr>
          <p:blipFill rotWithShape="1">
            <a:blip r:embed="rId5">
              <a:alphaModFix/>
            </a:blip>
            <a:srcRect/>
            <a:stretch/>
          </p:blipFill>
          <p:spPr>
            <a:xfrm>
              <a:off x="400492" y="1301037"/>
              <a:ext cx="61722" cy="109728"/>
            </a:xfrm>
            <a:prstGeom prst="rect">
              <a:avLst/>
            </a:prstGeom>
            <a:noFill/>
            <a:ln>
              <a:noFill/>
            </a:ln>
          </p:spPr>
        </p:pic>
      </p:grpSp>
      <p:grpSp>
        <p:nvGrpSpPr>
          <p:cNvPr id="83" name="Google Shape;83;p17"/>
          <p:cNvGrpSpPr/>
          <p:nvPr/>
        </p:nvGrpSpPr>
        <p:grpSpPr>
          <a:xfrm>
            <a:off x="455908" y="1469441"/>
            <a:ext cx="2124583" cy="400200"/>
            <a:chOff x="400492" y="1177050"/>
            <a:chExt cx="2124583" cy="400200"/>
          </a:xfrm>
        </p:grpSpPr>
        <p:sp>
          <p:nvSpPr>
            <p:cNvPr id="84" name="Google Shape;84;p17"/>
            <p:cNvSpPr txBox="1"/>
            <p:nvPr/>
          </p:nvSpPr>
          <p:spPr>
            <a:xfrm>
              <a:off x="510275" y="1177050"/>
              <a:ext cx="2014800" cy="400200"/>
            </a:xfrm>
            <a:prstGeom prst="rect">
              <a:avLst/>
            </a:prstGeom>
            <a:noFill/>
            <a:ln>
              <a:noFill/>
            </a:ln>
          </p:spPr>
          <p:txBody>
            <a:bodyPr spcFirstLastPara="1" wrap="square" lIns="91425" tIns="91425" rIns="91425" bIns="91425" anchor="t" anchorCtr="0">
              <a:spAutoFit/>
            </a:bodyPr>
            <a:lstStyle/>
            <a:p>
              <a:pPr lvl="0">
                <a:buClr>
                  <a:schemeClr val="dk1"/>
                </a:buClr>
                <a:buSzPts val="1600"/>
              </a:pPr>
              <a:r>
                <a:rPr lang="en-US" dirty="0">
                  <a:solidFill>
                    <a:srgbClr val="222222"/>
                  </a:solidFill>
                  <a:latin typeface="Lato"/>
                  <a:ea typeface="Lato"/>
                  <a:cs typeface="Lato"/>
                  <a:sym typeface="Lato"/>
                </a:rPr>
                <a:t>Lambda Expressions</a:t>
              </a:r>
              <a:endParaRPr sz="1400" b="0" i="0" u="none" strike="noStrike" cap="none" dirty="0">
                <a:solidFill>
                  <a:srgbClr val="222222"/>
                </a:solidFill>
                <a:latin typeface="Lato"/>
                <a:ea typeface="Lato"/>
                <a:cs typeface="Lato"/>
                <a:sym typeface="Lato"/>
              </a:endParaRPr>
            </a:p>
          </p:txBody>
        </p:sp>
        <p:pic>
          <p:nvPicPr>
            <p:cNvPr id="85" name="Google Shape;85;p17"/>
            <p:cNvPicPr preferRelativeResize="0"/>
            <p:nvPr/>
          </p:nvPicPr>
          <p:blipFill rotWithShape="1">
            <a:blip r:embed="rId5">
              <a:alphaModFix/>
            </a:blip>
            <a:srcRect/>
            <a:stretch/>
          </p:blipFill>
          <p:spPr>
            <a:xfrm>
              <a:off x="400492" y="1301037"/>
              <a:ext cx="61722" cy="109728"/>
            </a:xfrm>
            <a:prstGeom prst="rect">
              <a:avLst/>
            </a:prstGeom>
            <a:noFill/>
            <a:ln>
              <a:noFill/>
            </a:ln>
          </p:spPr>
        </p:pic>
      </p:grpSp>
      <p:grpSp>
        <p:nvGrpSpPr>
          <p:cNvPr id="86" name="Google Shape;86;p17"/>
          <p:cNvGrpSpPr/>
          <p:nvPr/>
        </p:nvGrpSpPr>
        <p:grpSpPr>
          <a:xfrm>
            <a:off x="455908" y="1850441"/>
            <a:ext cx="2124583" cy="400200"/>
            <a:chOff x="400492" y="1177050"/>
            <a:chExt cx="2124583" cy="400200"/>
          </a:xfrm>
        </p:grpSpPr>
        <p:sp>
          <p:nvSpPr>
            <p:cNvPr id="87" name="Google Shape;87;p17"/>
            <p:cNvSpPr txBox="1"/>
            <p:nvPr/>
          </p:nvSpPr>
          <p:spPr>
            <a:xfrm>
              <a:off x="510275" y="1177050"/>
              <a:ext cx="2014800" cy="400200"/>
            </a:xfrm>
            <a:prstGeom prst="rect">
              <a:avLst/>
            </a:prstGeom>
            <a:noFill/>
            <a:ln>
              <a:noFill/>
            </a:ln>
          </p:spPr>
          <p:txBody>
            <a:bodyPr spcFirstLastPara="1" wrap="square" lIns="91425" tIns="91425" rIns="91425" bIns="91425" anchor="t" anchorCtr="0">
              <a:spAutoFit/>
            </a:bodyPr>
            <a:lstStyle/>
            <a:p>
              <a:pPr lvl="0">
                <a:buClr>
                  <a:schemeClr val="dk1"/>
                </a:buClr>
                <a:buSzPts val="1600"/>
              </a:pPr>
              <a:r>
                <a:rPr lang="en-US" dirty="0">
                  <a:solidFill>
                    <a:srgbClr val="222222"/>
                  </a:solidFill>
                  <a:latin typeface="Lato"/>
                  <a:ea typeface="Lato"/>
                  <a:cs typeface="Lato"/>
                  <a:sym typeface="Lato"/>
                </a:rPr>
                <a:t>Generics</a:t>
              </a:r>
              <a:endParaRPr sz="1400" b="0" i="0" u="none" strike="noStrike" cap="none" dirty="0">
                <a:solidFill>
                  <a:srgbClr val="222222"/>
                </a:solidFill>
                <a:latin typeface="Lato"/>
                <a:ea typeface="Lato"/>
                <a:cs typeface="Lato"/>
                <a:sym typeface="Lato"/>
              </a:endParaRPr>
            </a:p>
          </p:txBody>
        </p:sp>
        <p:pic>
          <p:nvPicPr>
            <p:cNvPr id="88" name="Google Shape;88;p17"/>
            <p:cNvPicPr preferRelativeResize="0"/>
            <p:nvPr/>
          </p:nvPicPr>
          <p:blipFill rotWithShape="1">
            <a:blip r:embed="rId5">
              <a:alphaModFix/>
            </a:blip>
            <a:srcRect/>
            <a:stretch/>
          </p:blipFill>
          <p:spPr>
            <a:xfrm>
              <a:off x="400492" y="1301037"/>
              <a:ext cx="61722" cy="109728"/>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114002" y="1049253"/>
            <a:ext cx="61722" cy="109728"/>
          </a:xfrm>
          <a:prstGeom prst="rect">
            <a:avLst/>
          </a:prstGeom>
          <a:noFill/>
          <a:ln>
            <a:noFill/>
          </a:ln>
        </p:spPr>
      </p:pic>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Namespaces and Assemblies</a:t>
            </a:r>
          </a:p>
        </p:txBody>
      </p:sp>
      <p:sp>
        <p:nvSpPr>
          <p:cNvPr id="2" name="Rectangle 1"/>
          <p:cNvSpPr/>
          <p:nvPr/>
        </p:nvSpPr>
        <p:spPr>
          <a:xfrm>
            <a:off x="1594888" y="921571"/>
            <a:ext cx="1279517" cy="307777"/>
          </a:xfrm>
          <a:prstGeom prst="rect">
            <a:avLst/>
          </a:prstGeom>
        </p:spPr>
        <p:txBody>
          <a:bodyPr wrap="none">
            <a:spAutoFit/>
          </a:bodyPr>
          <a:lstStyle/>
          <a:p>
            <a:r>
              <a:rPr lang="en-US" b="1" dirty="0"/>
              <a:t>Namespaces</a:t>
            </a:r>
          </a:p>
        </p:txBody>
      </p:sp>
      <p:sp>
        <p:nvSpPr>
          <p:cNvPr id="3" name="Rectangle 2"/>
          <p:cNvSpPr/>
          <p:nvPr/>
        </p:nvSpPr>
        <p:spPr>
          <a:xfrm>
            <a:off x="1717964" y="1249566"/>
            <a:ext cx="5216236" cy="738664"/>
          </a:xfrm>
          <a:prstGeom prst="rect">
            <a:avLst/>
          </a:prstGeom>
        </p:spPr>
        <p:txBody>
          <a:bodyPr wrap="square">
            <a:spAutoFit/>
          </a:bodyPr>
          <a:lstStyle/>
          <a:p>
            <a:r>
              <a:rPr lang="en-US" dirty="0"/>
              <a:t>A namespace in is a container for classes, interfaces, </a:t>
            </a:r>
            <a:r>
              <a:rPr lang="en-US" dirty="0" err="1"/>
              <a:t>structs</a:t>
            </a:r>
            <a:r>
              <a:rPr lang="en-US" dirty="0"/>
              <a:t>, </a:t>
            </a:r>
            <a:r>
              <a:rPr lang="en-US" dirty="0" err="1"/>
              <a:t>enums</a:t>
            </a:r>
            <a:r>
              <a:rPr lang="en-US" dirty="0"/>
              <a:t>, and delegates, used to organize code logically and avoid naming conflicts.</a:t>
            </a:r>
          </a:p>
        </p:txBody>
      </p:sp>
      <p:sp>
        <p:nvSpPr>
          <p:cNvPr id="4" name="Rectangle 3"/>
          <p:cNvSpPr/>
          <p:nvPr/>
        </p:nvSpPr>
        <p:spPr>
          <a:xfrm>
            <a:off x="1594888" y="2314476"/>
            <a:ext cx="1159292" cy="307777"/>
          </a:xfrm>
          <a:prstGeom prst="rect">
            <a:avLst/>
          </a:prstGeom>
        </p:spPr>
        <p:txBody>
          <a:bodyPr wrap="none">
            <a:spAutoFit/>
          </a:bodyPr>
          <a:lstStyle/>
          <a:p>
            <a:r>
              <a:rPr lang="en-US" b="1" dirty="0"/>
              <a:t>Key Points</a:t>
            </a:r>
            <a:r>
              <a:rPr lang="en-US" dirty="0"/>
              <a:t>:</a:t>
            </a:r>
          </a:p>
        </p:txBody>
      </p:sp>
      <p:sp>
        <p:nvSpPr>
          <p:cNvPr id="5" name="Rectangle 1"/>
          <p:cNvSpPr>
            <a:spLocks noChangeArrowheads="1"/>
          </p:cNvSpPr>
          <p:nvPr/>
        </p:nvSpPr>
        <p:spPr bwMode="auto">
          <a:xfrm>
            <a:off x="1717964" y="2709022"/>
            <a:ext cx="683929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Syntax</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namespace </a:t>
            </a:r>
            <a:r>
              <a:rPr kumimoji="0" lang="en-US" altLang="en-US" b="0" i="0" u="none" strike="noStrike" cap="none" normalizeH="0" baseline="0" dirty="0" err="1">
                <a:ln>
                  <a:noFill/>
                </a:ln>
                <a:solidFill>
                  <a:schemeClr val="tx1"/>
                </a:solidFill>
                <a:effectLst/>
                <a:latin typeface="Arial Unicode MS"/>
              </a:rPr>
              <a:t>NamespaceName</a:t>
            </a:r>
            <a:r>
              <a:rPr kumimoji="0" lang="en-US" altLang="en-US" b="0" i="0" u="none" strike="noStrike" cap="none" normalizeH="0" baseline="0" dirty="0">
                <a:ln>
                  <a:noFill/>
                </a:ln>
                <a:solidFill>
                  <a:schemeClr val="tx1"/>
                </a:solidFill>
                <a:effectLst/>
                <a:latin typeface="Arial Unicode MS"/>
              </a:rPr>
              <a:t> { // members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Provides a way to group related types (e.g., </a:t>
            </a:r>
            <a:r>
              <a:rPr kumimoji="0" lang="en-US" altLang="en-US" b="0" i="0" u="none" strike="noStrike" cap="none" normalizeH="0" baseline="0" dirty="0" err="1">
                <a:ln>
                  <a:noFill/>
                </a:ln>
                <a:solidFill>
                  <a:schemeClr val="tx1"/>
                </a:solidFill>
                <a:effectLst/>
                <a:latin typeface="Arial Unicode MS"/>
              </a:rPr>
              <a:t>System.Collections.Generic</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Helps prevent </a:t>
            </a:r>
            <a:r>
              <a:rPr kumimoji="0" lang="en-US" altLang="en-US" b="1" i="0" u="none" strike="noStrike" cap="none" normalizeH="0" baseline="0" dirty="0">
                <a:ln>
                  <a:noFill/>
                </a:ln>
                <a:solidFill>
                  <a:schemeClr val="tx1"/>
                </a:solidFill>
                <a:effectLst/>
                <a:latin typeface="Arial" panose="020B0604020202020204" pitchFamily="34" charset="0"/>
              </a:rPr>
              <a:t>name clashes</a:t>
            </a:r>
            <a:r>
              <a:rPr kumimoji="0" lang="en-US" altLang="en-US" b="0" i="0" u="none" strike="noStrike" cap="none" normalizeH="0" baseline="0" dirty="0">
                <a:ln>
                  <a:noFill/>
                </a:ln>
                <a:solidFill>
                  <a:schemeClr val="tx1"/>
                </a:solidFill>
                <a:effectLst/>
                <a:latin typeface="Arial" panose="020B0604020202020204" pitchFamily="34" charset="0"/>
              </a:rPr>
              <a:t> by isolating identifiers.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Multiple levels of namespaces can be nested. </a:t>
            </a:r>
          </a:p>
        </p:txBody>
      </p:sp>
    </p:spTree>
    <p:extLst>
      <p:ext uri="{BB962C8B-B14F-4D97-AF65-F5344CB8AC3E}">
        <p14:creationId xmlns:p14="http://schemas.microsoft.com/office/powerpoint/2010/main" val="3350548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324292" y="2890176"/>
            <a:ext cx="61722" cy="109728"/>
          </a:xfrm>
          <a:prstGeom prst="rect">
            <a:avLst/>
          </a:prstGeom>
          <a:noFill/>
          <a:ln>
            <a:noFill/>
          </a:ln>
        </p:spPr>
      </p:pic>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Namespaces and Assemblies</a:t>
            </a:r>
          </a:p>
        </p:txBody>
      </p:sp>
      <p:sp>
        <p:nvSpPr>
          <p:cNvPr id="2" name="Rectangle 1"/>
          <p:cNvSpPr/>
          <p:nvPr/>
        </p:nvSpPr>
        <p:spPr>
          <a:xfrm>
            <a:off x="1420090" y="1738746"/>
            <a:ext cx="6040582" cy="1600438"/>
          </a:xfrm>
          <a:prstGeom prst="rect">
            <a:avLst/>
          </a:prstGeom>
          <a:solidFill>
            <a:schemeClr val="bg1">
              <a:lumMod val="85000"/>
            </a:schemeClr>
          </a:solidFill>
        </p:spPr>
        <p:txBody>
          <a:bodyPr wrap="square">
            <a:spAutoFit/>
          </a:bodyPr>
          <a:lstStyle/>
          <a:p>
            <a:r>
              <a:rPr lang="en-US" dirty="0"/>
              <a:t>namespace </a:t>
            </a:r>
            <a:r>
              <a:rPr lang="en-US" dirty="0" err="1"/>
              <a:t>MyApp.Utilities</a:t>
            </a:r>
            <a:endParaRPr lang="en-US" dirty="0"/>
          </a:p>
          <a:p>
            <a:r>
              <a:rPr lang="en-US" dirty="0"/>
              <a:t>{</a:t>
            </a:r>
          </a:p>
          <a:p>
            <a:r>
              <a:rPr lang="en-US" dirty="0"/>
              <a:t>    public class Logger</a:t>
            </a:r>
          </a:p>
          <a:p>
            <a:r>
              <a:rPr lang="en-US" dirty="0"/>
              <a:t>    {</a:t>
            </a:r>
          </a:p>
          <a:p>
            <a:r>
              <a:rPr lang="en-US" dirty="0"/>
              <a:t>        public void Log(string message) =&gt; </a:t>
            </a:r>
            <a:r>
              <a:rPr lang="en-US" dirty="0" err="1"/>
              <a:t>Console.WriteLine</a:t>
            </a:r>
            <a:r>
              <a:rPr lang="en-US" dirty="0"/>
              <a:t>(message);</a:t>
            </a:r>
          </a:p>
          <a:p>
            <a:r>
              <a:rPr lang="en-US" dirty="0"/>
              <a:t>    }</a:t>
            </a:r>
          </a:p>
          <a:p>
            <a:r>
              <a:rPr lang="en-US"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017712" y="1176716"/>
            <a:ext cx="61722" cy="109728"/>
          </a:xfrm>
          <a:prstGeom prst="rect">
            <a:avLst/>
          </a:prstGeom>
          <a:noFill/>
          <a:ln>
            <a:noFill/>
          </a:ln>
        </p:spPr>
      </p:pic>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Namespaces and Assemblies</a:t>
            </a:r>
          </a:p>
        </p:txBody>
      </p:sp>
      <p:sp>
        <p:nvSpPr>
          <p:cNvPr id="2" name="Rectangle 1"/>
          <p:cNvSpPr/>
          <p:nvPr/>
        </p:nvSpPr>
        <p:spPr>
          <a:xfrm>
            <a:off x="1494754" y="1073972"/>
            <a:ext cx="1180131" cy="307777"/>
          </a:xfrm>
          <a:prstGeom prst="rect">
            <a:avLst/>
          </a:prstGeom>
        </p:spPr>
        <p:txBody>
          <a:bodyPr wrap="none">
            <a:spAutoFit/>
          </a:bodyPr>
          <a:lstStyle/>
          <a:p>
            <a:r>
              <a:rPr lang="en-US" b="1" dirty="0"/>
              <a:t>Assemblies</a:t>
            </a:r>
          </a:p>
        </p:txBody>
      </p:sp>
      <p:sp>
        <p:nvSpPr>
          <p:cNvPr id="3" name="Rectangle 2"/>
          <p:cNvSpPr/>
          <p:nvPr/>
        </p:nvSpPr>
        <p:spPr>
          <a:xfrm>
            <a:off x="1683977" y="1471974"/>
            <a:ext cx="6935737" cy="523220"/>
          </a:xfrm>
          <a:prstGeom prst="rect">
            <a:avLst/>
          </a:prstGeom>
        </p:spPr>
        <p:txBody>
          <a:bodyPr wrap="square">
            <a:spAutoFit/>
          </a:bodyPr>
          <a:lstStyle/>
          <a:p>
            <a:r>
              <a:rPr lang="en-US" dirty="0"/>
              <a:t>An assembly is a compiled code library used for deployment, versioning, and security in .NET. It contains </a:t>
            </a:r>
            <a:r>
              <a:rPr lang="en-US" b="1" dirty="0"/>
              <a:t>Intermediate Language (IL)</a:t>
            </a:r>
            <a:r>
              <a:rPr lang="en-US" dirty="0"/>
              <a:t> code and metadata.</a:t>
            </a:r>
          </a:p>
        </p:txBody>
      </p:sp>
      <p:sp>
        <p:nvSpPr>
          <p:cNvPr id="4" name="Rectangle 3"/>
          <p:cNvSpPr/>
          <p:nvPr/>
        </p:nvSpPr>
        <p:spPr>
          <a:xfrm>
            <a:off x="1494753" y="2113557"/>
            <a:ext cx="2013693" cy="307777"/>
          </a:xfrm>
          <a:prstGeom prst="rect">
            <a:avLst/>
          </a:prstGeom>
        </p:spPr>
        <p:txBody>
          <a:bodyPr wrap="none">
            <a:spAutoFit/>
          </a:bodyPr>
          <a:lstStyle/>
          <a:p>
            <a:r>
              <a:rPr lang="en-US" b="1" dirty="0"/>
              <a:t>Types of Assemblies</a:t>
            </a:r>
            <a:r>
              <a:rPr lang="en-US" dirty="0"/>
              <a:t>:</a:t>
            </a:r>
          </a:p>
        </p:txBody>
      </p:sp>
      <p:sp>
        <p:nvSpPr>
          <p:cNvPr id="5" name="Rectangle 1"/>
          <p:cNvSpPr>
            <a:spLocks noChangeArrowheads="1"/>
          </p:cNvSpPr>
          <p:nvPr/>
        </p:nvSpPr>
        <p:spPr bwMode="auto">
          <a:xfrm>
            <a:off x="1683977" y="2476133"/>
            <a:ext cx="45525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Executable (EXE)</a:t>
            </a:r>
            <a:r>
              <a:rPr kumimoji="0" lang="en-US" altLang="en-US" b="0" i="0" u="none" strike="noStrike" cap="none" normalizeH="0" baseline="0" dirty="0">
                <a:ln>
                  <a:noFill/>
                </a:ln>
                <a:solidFill>
                  <a:schemeClr val="tx1"/>
                </a:solidFill>
                <a:effectLst/>
                <a:latin typeface="Arial" panose="020B0604020202020204" pitchFamily="34" charset="0"/>
              </a:rPr>
              <a:t>: Entry point for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Library (DLL)</a:t>
            </a:r>
            <a:r>
              <a:rPr kumimoji="0" lang="en-US" altLang="en-US" b="0" i="0" u="none" strike="noStrike" cap="none" normalizeH="0" baseline="0" dirty="0">
                <a:ln>
                  <a:noFill/>
                </a:ln>
                <a:solidFill>
                  <a:schemeClr val="tx1"/>
                </a:solidFill>
                <a:effectLst/>
                <a:latin typeface="Arial" panose="020B0604020202020204" pitchFamily="34" charset="0"/>
              </a:rPr>
              <a:t>: Reusable components. </a:t>
            </a:r>
          </a:p>
        </p:txBody>
      </p:sp>
      <p:sp>
        <p:nvSpPr>
          <p:cNvPr id="6" name="Rectangle 5"/>
          <p:cNvSpPr/>
          <p:nvPr/>
        </p:nvSpPr>
        <p:spPr>
          <a:xfrm>
            <a:off x="1494753" y="3138454"/>
            <a:ext cx="1705916" cy="307777"/>
          </a:xfrm>
          <a:prstGeom prst="rect">
            <a:avLst/>
          </a:prstGeom>
        </p:spPr>
        <p:txBody>
          <a:bodyPr wrap="none">
            <a:spAutoFit/>
          </a:bodyPr>
          <a:lstStyle/>
          <a:p>
            <a:r>
              <a:rPr lang="en-US" b="1" dirty="0"/>
              <a:t>Key Components</a:t>
            </a:r>
            <a:r>
              <a:rPr lang="en-US" dirty="0"/>
              <a:t>:</a:t>
            </a:r>
          </a:p>
        </p:txBody>
      </p:sp>
      <p:sp>
        <p:nvSpPr>
          <p:cNvPr id="7" name="Rectangle 2"/>
          <p:cNvSpPr>
            <a:spLocks noChangeArrowheads="1"/>
          </p:cNvSpPr>
          <p:nvPr/>
        </p:nvSpPr>
        <p:spPr bwMode="auto">
          <a:xfrm>
            <a:off x="1683977" y="3517365"/>
            <a:ext cx="596190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Manifest</a:t>
            </a:r>
            <a:r>
              <a:rPr kumimoji="0" lang="en-US" altLang="en-US" b="0" i="0" u="none" strike="noStrike" cap="none" normalizeH="0" baseline="0" dirty="0">
                <a:ln>
                  <a:noFill/>
                </a:ln>
                <a:solidFill>
                  <a:schemeClr val="tx1"/>
                </a:solidFill>
                <a:effectLst/>
                <a:latin typeface="Arial" panose="020B0604020202020204" pitchFamily="34" charset="0"/>
              </a:rPr>
              <a:t>: Metadata about the assembly (name, version, culture,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IL Code</a:t>
            </a:r>
            <a:r>
              <a:rPr kumimoji="0" lang="en-US" altLang="en-US" b="0" i="0" u="none" strike="noStrike" cap="none" normalizeH="0" baseline="0" dirty="0">
                <a:ln>
                  <a:noFill/>
                </a:ln>
                <a:solidFill>
                  <a:schemeClr val="tx1"/>
                </a:solidFill>
                <a:effectLst/>
                <a:latin typeface="Arial" panose="020B0604020202020204" pitchFamily="34" charset="0"/>
              </a:rPr>
              <a:t>: Compiled .NET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Metadata</a:t>
            </a:r>
            <a:r>
              <a:rPr kumimoji="0" lang="en-US" altLang="en-US" b="0" i="0" u="none" strike="noStrike" cap="none" normalizeH="0" baseline="0" dirty="0">
                <a:ln>
                  <a:noFill/>
                </a:ln>
                <a:solidFill>
                  <a:schemeClr val="tx1"/>
                </a:solidFill>
                <a:effectLst/>
                <a:latin typeface="Arial" panose="020B0604020202020204" pitchFamily="34" charset="0"/>
              </a:rPr>
              <a:t>: Descriptions of types, members, and references. </a:t>
            </a:r>
          </a:p>
        </p:txBody>
      </p:sp>
    </p:spTree>
    <p:extLst>
      <p:ext uri="{BB962C8B-B14F-4D97-AF65-F5344CB8AC3E}">
        <p14:creationId xmlns:p14="http://schemas.microsoft.com/office/powerpoint/2010/main" val="4155159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231764" y="1013668"/>
            <a:ext cx="61722" cy="109728"/>
          </a:xfrm>
          <a:prstGeom prst="rect">
            <a:avLst/>
          </a:prstGeom>
          <a:noFill/>
          <a:ln>
            <a:noFill/>
          </a:ln>
        </p:spPr>
      </p:pic>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Lambda Expressions</a:t>
            </a:r>
          </a:p>
        </p:txBody>
      </p:sp>
      <p:sp>
        <p:nvSpPr>
          <p:cNvPr id="2" name="Rectangle 1"/>
          <p:cNvSpPr/>
          <p:nvPr/>
        </p:nvSpPr>
        <p:spPr>
          <a:xfrm>
            <a:off x="1494754" y="914644"/>
            <a:ext cx="1984839" cy="307777"/>
          </a:xfrm>
          <a:prstGeom prst="rect">
            <a:avLst/>
          </a:prstGeom>
        </p:spPr>
        <p:txBody>
          <a:bodyPr wrap="none">
            <a:spAutoFit/>
          </a:bodyPr>
          <a:lstStyle/>
          <a:p>
            <a:r>
              <a:rPr lang="en-US" b="1" dirty="0"/>
              <a:t>Lambda Expressions</a:t>
            </a:r>
          </a:p>
        </p:txBody>
      </p:sp>
      <p:sp>
        <p:nvSpPr>
          <p:cNvPr id="3" name="Rectangle 1"/>
          <p:cNvSpPr>
            <a:spLocks noChangeArrowheads="1"/>
          </p:cNvSpPr>
          <p:nvPr/>
        </p:nvSpPr>
        <p:spPr bwMode="auto">
          <a:xfrm>
            <a:off x="1494754" y="1355908"/>
            <a:ext cx="74137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 </a:t>
            </a:r>
            <a:r>
              <a:rPr kumimoji="0" lang="en-US" altLang="en-US" b="1" i="0" u="none" strike="noStrike" cap="none" normalizeH="0" baseline="0" dirty="0">
                <a:ln>
                  <a:noFill/>
                </a:ln>
                <a:solidFill>
                  <a:schemeClr val="tx1"/>
                </a:solidFill>
                <a:effectLst/>
                <a:latin typeface="Arial" panose="020B0604020202020204" pitchFamily="34" charset="0"/>
              </a:rPr>
              <a:t>lambda expression</a:t>
            </a:r>
            <a:r>
              <a:rPr kumimoji="0" lang="en-US" altLang="en-US" b="0" i="0" u="none" strike="noStrike" cap="none" normalizeH="0" baseline="0" dirty="0">
                <a:ln>
                  <a:noFill/>
                </a:ln>
                <a:solidFill>
                  <a:schemeClr val="tx1"/>
                </a:solidFill>
                <a:effectLst/>
                <a:latin typeface="Arial" panose="020B0604020202020204" pitchFamily="34" charset="0"/>
              </a:rPr>
              <a:t> is a concise way to represent an anonymous method using the </a:t>
            </a:r>
            <a:r>
              <a:rPr kumimoji="0" lang="en-US" altLang="en-US" b="0" i="0" u="none" strike="noStrike" cap="none" normalizeH="0" baseline="0" dirty="0">
                <a:ln>
                  <a:noFill/>
                </a:ln>
                <a:solidFill>
                  <a:schemeClr val="tx1"/>
                </a:solidFill>
                <a:effectLst/>
                <a:latin typeface="Arial Unicode MS"/>
              </a:rPr>
              <a:t>=&gt;</a:t>
            </a:r>
            <a:r>
              <a:rPr kumimoji="0" lang="en-US" altLang="en-US" b="0" i="0" u="none" strike="noStrike" cap="none" normalizeH="0" baseline="0" dirty="0">
                <a:ln>
                  <a:noFill/>
                </a:ln>
                <a:solidFill>
                  <a:schemeClr val="tx1"/>
                </a:solidFill>
                <a:effectLst/>
              </a:rPr>
              <a:t> (lambda) operator.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1607128" y="235935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Syntax</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(parameters) =&gt; expression</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1494754" y="3172696"/>
            <a:ext cx="2157963" cy="307777"/>
          </a:xfrm>
          <a:prstGeom prst="rect">
            <a:avLst/>
          </a:prstGeom>
        </p:spPr>
        <p:txBody>
          <a:bodyPr wrap="none">
            <a:spAutoFit/>
          </a:bodyPr>
          <a:lstStyle/>
          <a:p>
            <a:r>
              <a:rPr lang="en-US" dirty="0" err="1"/>
              <a:t>nums.Where</a:t>
            </a:r>
            <a:r>
              <a:rPr lang="en-US" dirty="0"/>
              <a:t>(x =&gt; x &gt; 5);</a:t>
            </a:r>
          </a:p>
        </p:txBody>
      </p:sp>
    </p:spTree>
    <p:extLst>
      <p:ext uri="{BB962C8B-B14F-4D97-AF65-F5344CB8AC3E}">
        <p14:creationId xmlns:p14="http://schemas.microsoft.com/office/powerpoint/2010/main" val="1404825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2"/>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51" name="Google Shape;551;p42"/>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52" name="Google Shape;552;p42"/>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chemeClr val="lt1"/>
                </a:solidFill>
                <a:latin typeface="Lato"/>
                <a:ea typeface="Lato"/>
                <a:cs typeface="Lato"/>
                <a:sym typeface="Lato"/>
              </a:rPr>
              <a:t>Generics</a:t>
            </a:r>
            <a:endParaRPr sz="2000" b="0" i="0" u="none" strike="noStrike" cap="none" dirty="0">
              <a:solidFill>
                <a:schemeClr val="lt1"/>
              </a:solidFill>
              <a:latin typeface="Lato"/>
              <a:ea typeface="Lato"/>
              <a:cs typeface="Lato"/>
              <a:sym typeface="Lato"/>
            </a:endParaRPr>
          </a:p>
        </p:txBody>
      </p:sp>
      <p:pic>
        <p:nvPicPr>
          <p:cNvPr id="553" name="Google Shape;553;p4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54" name="Google Shape;554;p4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555" name="Google Shape;555;p42"/>
          <p:cNvSpPr txBox="1"/>
          <p:nvPr/>
        </p:nvSpPr>
        <p:spPr>
          <a:xfrm>
            <a:off x="371500" y="609050"/>
            <a:ext cx="8334900" cy="4012500"/>
          </a:xfrm>
          <a:prstGeom prst="rect">
            <a:avLst/>
          </a:prstGeom>
          <a:noFill/>
          <a:ln>
            <a:noFill/>
          </a:ln>
        </p:spPr>
        <p:txBody>
          <a:bodyPr spcFirstLastPara="1" wrap="square" lIns="91425" tIns="91425" rIns="91425" bIns="91425" anchor="t" anchorCtr="0">
            <a:noAutofit/>
          </a:bodyPr>
          <a:lstStyle/>
          <a:p>
            <a:pPr marL="457200" marR="0" lvl="0" indent="-317500" algn="just" rtl="0">
              <a:lnSpc>
                <a:spcPct val="150000"/>
              </a:lnSpc>
              <a:spcBef>
                <a:spcPts val="0"/>
              </a:spcBef>
              <a:spcAft>
                <a:spcPts val="0"/>
              </a:spcAft>
              <a:buClr>
                <a:schemeClr val="dk1"/>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Generic is to allow type to be a parameter to methods, classes, and interfaces</a:t>
            </a:r>
            <a:r>
              <a:rPr lang="en" sz="1400" b="0" i="0" u="none" strike="noStrike" cap="none">
                <a:solidFill>
                  <a:schemeClr val="dk1"/>
                </a:solidFill>
                <a:latin typeface="Lato"/>
                <a:ea typeface="Lato"/>
                <a:cs typeface="Lato"/>
                <a:sym typeface="Lato"/>
              </a:rPr>
              <a:t>.</a:t>
            </a:r>
            <a:r>
              <a:rPr lang="en" sz="1300" b="0" i="0" u="none" strike="noStrike" cap="none">
                <a:solidFill>
                  <a:srgbClr val="273239"/>
                </a:solidFill>
                <a:highlight>
                  <a:srgbClr val="FFFFFF"/>
                </a:highlight>
                <a:latin typeface="Nunito"/>
                <a:ea typeface="Nunito"/>
                <a:cs typeface="Nunito"/>
                <a:sym typeface="Nunito"/>
              </a:rPr>
              <a:t> </a:t>
            </a:r>
            <a:endParaRPr sz="1300" b="0" i="0" u="none" strike="noStrike" cap="none">
              <a:solidFill>
                <a:srgbClr val="273239"/>
              </a:solidFill>
              <a:highlight>
                <a:srgbClr val="FFFFFF"/>
              </a:highlight>
              <a:latin typeface="Nunito"/>
              <a:ea typeface="Nunito"/>
              <a:cs typeface="Nunito"/>
              <a:sym typeface="Nunito"/>
            </a:endParaRPr>
          </a:p>
          <a:p>
            <a:pPr marL="457200" marR="0" lvl="0" indent="-317500" algn="just" rtl="0">
              <a:lnSpc>
                <a:spcPct val="150000"/>
              </a:lnSpc>
              <a:spcBef>
                <a:spcPts val="0"/>
              </a:spcBef>
              <a:spcAft>
                <a:spcPts val="0"/>
              </a:spcAft>
              <a:buClr>
                <a:schemeClr val="dk1"/>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It enables to create classes, interfaces, and methods that work with different data types without having to define the data type explicitly.</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50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It provides type safety. When a generic class, interface or method is defined, the type parameter that it can work with can be specified. </a:t>
            </a:r>
            <a:endParaRPr sz="1400" b="0" i="0" u="none" strike="noStrike" cap="none">
              <a:solidFill>
                <a:srgbClr val="273239"/>
              </a:solidFill>
              <a:highlight>
                <a:srgbClr val="FFFFFF"/>
              </a:highlight>
              <a:latin typeface="Lato"/>
              <a:ea typeface="Lato"/>
              <a:cs typeface="Lato"/>
              <a:sym typeface="Lato"/>
            </a:endParaRPr>
          </a:p>
          <a:p>
            <a:pPr marL="457200" marR="0" lvl="0" indent="-317500" algn="just" rtl="0">
              <a:lnSpc>
                <a:spcPct val="150000"/>
              </a:lnSpc>
              <a:spcBef>
                <a:spcPts val="0"/>
              </a:spcBef>
              <a:spcAft>
                <a:spcPts val="0"/>
              </a:spcAft>
              <a:buClr>
                <a:srgbClr val="273239"/>
              </a:buClr>
              <a:buSzPts val="1400"/>
              <a:buFont typeface="Lato"/>
              <a:buChar char="●"/>
            </a:pPr>
            <a:r>
              <a:rPr lang="en" sz="1400" b="0" i="0" u="none" strike="noStrike" cap="none">
                <a:solidFill>
                  <a:srgbClr val="273239"/>
                </a:solidFill>
                <a:highlight>
                  <a:srgbClr val="FFFFFF"/>
                </a:highlight>
                <a:latin typeface="Lato"/>
                <a:ea typeface="Lato"/>
                <a:cs typeface="Lato"/>
                <a:sym typeface="Lato"/>
              </a:rPr>
              <a:t>This ensures that the code will only accept and operate on data types that match the specified type parameter, preventing errors that can occur due to data type mismatches.</a:t>
            </a:r>
            <a:endParaRPr sz="1400" b="0" i="0" u="none" strike="noStrike" cap="none">
              <a:solidFill>
                <a:srgbClr val="273239"/>
              </a:solidFill>
              <a:highlight>
                <a:srgbClr val="FFFFFF"/>
              </a:highlight>
              <a:latin typeface="Lato"/>
              <a:ea typeface="Lato"/>
              <a:cs typeface="Lato"/>
              <a:sym typeface="Lato"/>
            </a:endParaRPr>
          </a:p>
          <a:p>
            <a:pPr marL="457200" marR="0" lvl="0" indent="-323850" algn="just" rtl="0">
              <a:lnSpc>
                <a:spcPct val="150000"/>
              </a:lnSpc>
              <a:spcBef>
                <a:spcPts val="0"/>
              </a:spcBef>
              <a:spcAft>
                <a:spcPts val="0"/>
              </a:spcAft>
              <a:buClr>
                <a:srgbClr val="273239"/>
              </a:buClr>
              <a:buSzPts val="1500"/>
              <a:buFont typeface="Lato"/>
              <a:buChar char="●"/>
            </a:pPr>
            <a:r>
              <a:rPr lang="en" sz="1400" b="0" i="0" u="none" strike="noStrike" cap="none">
                <a:solidFill>
                  <a:srgbClr val="273239"/>
                </a:solidFill>
                <a:highlight>
                  <a:srgbClr val="FFFFFF"/>
                </a:highlight>
                <a:latin typeface="Lato"/>
                <a:ea typeface="Lato"/>
                <a:cs typeface="Lato"/>
                <a:sym typeface="Lato"/>
              </a:rPr>
              <a:t>C# provides a number of built-in generic types, such as List&lt;T&gt;, Dictionary&lt;TKey, TValue&gt;,</a:t>
            </a:r>
            <a:endParaRPr sz="1500" b="0" i="0" u="none" strike="noStrike" cap="none">
              <a:solidFill>
                <a:srgbClr val="273239"/>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214680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3"/>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561" name="Google Shape;561;p43"/>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562" name="Google Shape;562;p43"/>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Generics</a:t>
            </a:r>
            <a:endParaRPr sz="2000" b="1" i="0" u="none" strike="noStrike" cap="none">
              <a:solidFill>
                <a:schemeClr val="lt1"/>
              </a:solidFill>
              <a:latin typeface="Lato"/>
              <a:ea typeface="Lato"/>
              <a:cs typeface="Lato"/>
              <a:sym typeface="Lato"/>
            </a:endParaRPr>
          </a:p>
        </p:txBody>
      </p:sp>
      <p:pic>
        <p:nvPicPr>
          <p:cNvPr id="563" name="Google Shape;563;p4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564" name="Google Shape;564;p4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565" name="Google Shape;565;p43"/>
          <p:cNvSpPr txBox="1"/>
          <p:nvPr/>
        </p:nvSpPr>
        <p:spPr>
          <a:xfrm>
            <a:off x="219100" y="723150"/>
            <a:ext cx="4415700" cy="369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FF"/>
                </a:solidFill>
                <a:latin typeface="Lato"/>
                <a:ea typeface="Lato"/>
                <a:cs typeface="Lato"/>
                <a:sym typeface="Lato"/>
              </a:rPr>
              <a:t>class</a:t>
            </a:r>
            <a:r>
              <a:rPr lang="en" sz="1400" b="0" i="0" u="none" strike="noStrike" cap="none">
                <a:solidFill>
                  <a:schemeClr val="dk1"/>
                </a:solidFill>
                <a:latin typeface="Lato"/>
                <a:ea typeface="Lato"/>
                <a:cs typeface="Lato"/>
                <a:sym typeface="Lato"/>
              </a:rPr>
              <a:t> </a:t>
            </a:r>
            <a:r>
              <a:rPr lang="en" sz="1400" b="0" i="0" u="none" strike="noStrike" cap="none">
                <a:solidFill>
                  <a:srgbClr val="2B91AF"/>
                </a:solidFill>
                <a:latin typeface="Lato"/>
                <a:ea typeface="Lato"/>
                <a:cs typeface="Lato"/>
                <a:sym typeface="Lato"/>
              </a:rPr>
              <a:t>DataStore</a:t>
            </a:r>
            <a:r>
              <a:rPr lang="en" sz="1400" b="0" i="0" u="none" strike="noStrike" cap="none">
                <a:solidFill>
                  <a:schemeClr val="dk1"/>
                </a:solidFill>
                <a:latin typeface="Lato"/>
                <a:ea typeface="Lato"/>
                <a:cs typeface="Lato"/>
                <a:sym typeface="Lato"/>
              </a:rPr>
              <a:t>&lt;T&gt;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private</a:t>
            </a:r>
            <a:r>
              <a:rPr lang="en" sz="1400" b="0" i="0" u="none" strike="noStrike" cap="none">
                <a:solidFill>
                  <a:schemeClr val="dk1"/>
                </a:solidFill>
                <a:latin typeface="Lato"/>
                <a:ea typeface="Lato"/>
                <a:cs typeface="Lato"/>
                <a:sym typeface="Lato"/>
              </a:rPr>
              <a:t> </a:t>
            </a:r>
            <a:r>
              <a:rPr lang="en" sz="1400" b="0" i="0" u="none" strike="noStrike" cap="none">
                <a:solidFill>
                  <a:srgbClr val="2B91AF"/>
                </a:solidFill>
                <a:latin typeface="Lato"/>
                <a:ea typeface="Lato"/>
                <a:cs typeface="Lato"/>
                <a:sym typeface="Lato"/>
              </a:rPr>
              <a:t>T</a:t>
            </a:r>
            <a:r>
              <a:rPr lang="en" sz="1400" b="0" i="0" u="none" strike="noStrike" cap="none">
                <a:solidFill>
                  <a:schemeClr val="dk1"/>
                </a:solidFill>
                <a:latin typeface="Lato"/>
                <a:ea typeface="Lato"/>
                <a:cs typeface="Lato"/>
                <a:sym typeface="Lato"/>
              </a:rPr>
              <a:t>[] _data = </a:t>
            </a:r>
            <a:r>
              <a:rPr lang="en" sz="1400" b="0" i="0" u="none" strike="noStrike" cap="none">
                <a:solidFill>
                  <a:srgbClr val="0000FF"/>
                </a:solidFill>
                <a:latin typeface="Lato"/>
                <a:ea typeface="Lato"/>
                <a:cs typeface="Lato"/>
                <a:sym typeface="Lato"/>
              </a:rPr>
              <a:t>new</a:t>
            </a:r>
            <a:r>
              <a:rPr lang="en" sz="1400" b="0" i="0" u="none" strike="noStrike" cap="none">
                <a:solidFill>
                  <a:schemeClr val="dk1"/>
                </a:solidFill>
                <a:latin typeface="Lato"/>
                <a:ea typeface="Lato"/>
                <a:cs typeface="Lato"/>
                <a:sym typeface="Lato"/>
              </a:rPr>
              <a:t> </a:t>
            </a:r>
            <a:r>
              <a:rPr lang="en" sz="1400" b="0" i="0" u="none" strike="noStrike" cap="none">
                <a:solidFill>
                  <a:srgbClr val="2B91AF"/>
                </a:solidFill>
                <a:latin typeface="Lato"/>
                <a:ea typeface="Lato"/>
                <a:cs typeface="Lato"/>
                <a:sym typeface="Lato"/>
              </a:rPr>
              <a:t>T</a:t>
            </a:r>
            <a:r>
              <a:rPr lang="en" sz="1400" b="0" i="0" u="none" strike="noStrike" cap="none">
                <a:solidFill>
                  <a:schemeClr val="dk1"/>
                </a:solidFill>
                <a:latin typeface="Lato"/>
                <a:ea typeface="Lato"/>
                <a:cs typeface="Lato"/>
                <a:sym typeface="Lato"/>
              </a:rPr>
              <a:t>[10];    </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public void</a:t>
            </a:r>
            <a:r>
              <a:rPr lang="en" sz="1400" b="0" i="0" u="none" strike="noStrike" cap="none">
                <a:solidFill>
                  <a:schemeClr val="dk1"/>
                </a:solidFill>
                <a:latin typeface="Lato"/>
                <a:ea typeface="Lato"/>
                <a:cs typeface="Lato"/>
                <a:sym typeface="Lato"/>
              </a:rPr>
              <a:t> AddOrUpdate(</a:t>
            </a:r>
            <a:r>
              <a:rPr lang="en" sz="1400" b="0" i="0" u="none" strike="noStrike" cap="none">
                <a:solidFill>
                  <a:srgbClr val="0000FF"/>
                </a:solidFill>
                <a:latin typeface="Lato"/>
                <a:ea typeface="Lato"/>
                <a:cs typeface="Lato"/>
                <a:sym typeface="Lato"/>
              </a:rPr>
              <a:t>int</a:t>
            </a:r>
            <a:r>
              <a:rPr lang="en" sz="1400" b="0" i="0" u="none" strike="noStrike" cap="none">
                <a:solidFill>
                  <a:schemeClr val="dk1"/>
                </a:solidFill>
                <a:latin typeface="Lato"/>
                <a:ea typeface="Lato"/>
                <a:cs typeface="Lato"/>
                <a:sym typeface="Lato"/>
              </a:rPr>
              <a:t> index, </a:t>
            </a:r>
            <a:r>
              <a:rPr lang="en" sz="1400" b="0" i="0" u="none" strike="noStrike" cap="none">
                <a:solidFill>
                  <a:srgbClr val="2B91AF"/>
                </a:solidFill>
                <a:latin typeface="Lato"/>
                <a:ea typeface="Lato"/>
                <a:cs typeface="Lato"/>
                <a:sym typeface="Lato"/>
              </a:rPr>
              <a:t>T</a:t>
            </a:r>
            <a:r>
              <a:rPr lang="en" sz="1400" b="0" i="0" u="none" strike="noStrike" cap="none">
                <a:solidFill>
                  <a:schemeClr val="dk1"/>
                </a:solidFill>
                <a:latin typeface="Lato"/>
                <a:ea typeface="Lato"/>
                <a:cs typeface="Lato"/>
                <a:sym typeface="Lato"/>
              </a:rPr>
              <a:t> item) {</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if</a:t>
            </a:r>
            <a:r>
              <a:rPr lang="en" sz="1400" b="0" i="0" u="none" strike="noStrike" cap="none">
                <a:solidFill>
                  <a:schemeClr val="dk1"/>
                </a:solidFill>
                <a:latin typeface="Lato"/>
                <a:ea typeface="Lato"/>
                <a:cs typeface="Lato"/>
                <a:sym typeface="Lato"/>
              </a:rPr>
              <a:t>(index &gt;= 0 &amp;&amp; index &lt; 10)   _data[index] = item;</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public</a:t>
            </a:r>
            <a:r>
              <a:rPr lang="en" sz="1400" b="0" i="0" u="none" strike="noStrike" cap="none">
                <a:solidFill>
                  <a:schemeClr val="dk1"/>
                </a:solidFill>
                <a:latin typeface="Lato"/>
                <a:ea typeface="Lato"/>
                <a:cs typeface="Lato"/>
                <a:sym typeface="Lato"/>
              </a:rPr>
              <a:t> </a:t>
            </a:r>
            <a:r>
              <a:rPr lang="en" sz="1400" b="0" i="0" u="none" strike="noStrike" cap="none">
                <a:solidFill>
                  <a:srgbClr val="2B91AF"/>
                </a:solidFill>
                <a:latin typeface="Lato"/>
                <a:ea typeface="Lato"/>
                <a:cs typeface="Lato"/>
                <a:sym typeface="Lato"/>
              </a:rPr>
              <a:t>T</a:t>
            </a:r>
            <a:r>
              <a:rPr lang="en" sz="1400" b="0" i="0" u="none" strike="noStrike" cap="none">
                <a:solidFill>
                  <a:schemeClr val="dk1"/>
                </a:solidFill>
                <a:latin typeface="Lato"/>
                <a:ea typeface="Lato"/>
                <a:cs typeface="Lato"/>
                <a:sym typeface="Lato"/>
              </a:rPr>
              <a:t> GetData(</a:t>
            </a:r>
            <a:r>
              <a:rPr lang="en" sz="1400" b="0" i="0" u="none" strike="noStrike" cap="none">
                <a:solidFill>
                  <a:srgbClr val="0000FF"/>
                </a:solidFill>
                <a:latin typeface="Lato"/>
                <a:ea typeface="Lato"/>
                <a:cs typeface="Lato"/>
                <a:sym typeface="Lato"/>
              </a:rPr>
              <a:t>int</a:t>
            </a:r>
            <a:r>
              <a:rPr lang="en" sz="1400" b="0" i="0" u="none" strike="noStrike" cap="none">
                <a:solidFill>
                  <a:schemeClr val="dk1"/>
                </a:solidFill>
                <a:latin typeface="Lato"/>
                <a:ea typeface="Lato"/>
                <a:cs typeface="Lato"/>
                <a:sym typeface="Lato"/>
              </a:rPr>
              <a:t> index) {</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if</a:t>
            </a:r>
            <a:r>
              <a:rPr lang="en" sz="1400" b="0" i="0" u="none" strike="noStrike" cap="none">
                <a:solidFill>
                  <a:schemeClr val="dk1"/>
                </a:solidFill>
                <a:latin typeface="Lato"/>
                <a:ea typeface="Lato"/>
                <a:cs typeface="Lato"/>
                <a:sym typeface="Lato"/>
              </a:rPr>
              <a:t>(index &gt;= 0 &amp;&amp; index &lt; 10)   </a:t>
            </a:r>
            <a:r>
              <a:rPr lang="en" sz="1400" b="0" i="0" u="none" strike="noStrike" cap="none">
                <a:solidFill>
                  <a:srgbClr val="0000FF"/>
                </a:solidFill>
                <a:latin typeface="Lato"/>
                <a:ea typeface="Lato"/>
                <a:cs typeface="Lato"/>
                <a:sym typeface="Lato"/>
              </a:rPr>
              <a:t>return</a:t>
            </a:r>
            <a:r>
              <a:rPr lang="en" sz="1400" b="0" i="0" u="none" strike="noStrike" cap="none">
                <a:solidFill>
                  <a:schemeClr val="dk1"/>
                </a:solidFill>
                <a:latin typeface="Lato"/>
                <a:ea typeface="Lato"/>
                <a:cs typeface="Lato"/>
                <a:sym typeface="Lato"/>
              </a:rPr>
              <a:t> _data[index];</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else</a:t>
            </a:r>
            <a:r>
              <a:rPr lang="en" sz="1400" b="0" i="0" u="none" strike="noStrike" cap="none">
                <a:solidFill>
                  <a:schemeClr val="dk1"/>
                </a:solidFill>
                <a:latin typeface="Lato"/>
                <a:ea typeface="Lato"/>
                <a:cs typeface="Lato"/>
                <a:sym typeface="Lato"/>
              </a:rPr>
              <a:t>     </a:t>
            </a:r>
            <a:r>
              <a:rPr lang="en" sz="1400" b="0" i="0" u="none" strike="noStrike" cap="none">
                <a:solidFill>
                  <a:srgbClr val="0000FF"/>
                </a:solidFill>
                <a:latin typeface="Lato"/>
                <a:ea typeface="Lato"/>
                <a:cs typeface="Lato"/>
                <a:sym typeface="Lato"/>
              </a:rPr>
              <a:t>return</a:t>
            </a:r>
            <a:r>
              <a:rPr lang="en" sz="1400" b="0" i="0" u="none" strike="noStrike" cap="none">
                <a:solidFill>
                  <a:schemeClr val="dk1"/>
                </a:solidFill>
                <a:latin typeface="Lato"/>
                <a:ea typeface="Lato"/>
                <a:cs typeface="Lato"/>
                <a:sym typeface="Lato"/>
              </a:rPr>
              <a:t> default(T);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    }</a:t>
            </a:r>
            <a:endParaRPr sz="1400" b="0" i="0" u="none" strike="noStrike" cap="none">
              <a:solidFill>
                <a:schemeClr val="dk1"/>
              </a:solidFill>
              <a:latin typeface="Lato"/>
              <a:ea typeface="Lato"/>
              <a:cs typeface="Lato"/>
              <a:sym typeface="Lato"/>
            </a:endParaRPr>
          </a:p>
          <a:p>
            <a:pPr marL="508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Lato"/>
                <a:ea typeface="Lato"/>
                <a:cs typeface="Lato"/>
                <a:sym typeface="Lato"/>
              </a:rPr>
              <a:t>}</a:t>
            </a:r>
            <a:endParaRPr sz="1400" b="0" i="0" u="none" strike="noStrike" cap="none">
              <a:solidFill>
                <a:srgbClr val="222222"/>
              </a:solidFill>
              <a:latin typeface="Lato"/>
              <a:ea typeface="Lato"/>
              <a:cs typeface="Lato"/>
              <a:sym typeface="Lato"/>
            </a:endParaRPr>
          </a:p>
        </p:txBody>
      </p:sp>
      <p:sp>
        <p:nvSpPr>
          <p:cNvPr id="566" name="Google Shape;566;p43"/>
          <p:cNvSpPr txBox="1"/>
          <p:nvPr/>
        </p:nvSpPr>
        <p:spPr>
          <a:xfrm flipH="1">
            <a:off x="4710900" y="722425"/>
            <a:ext cx="4035300" cy="3697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B91AF"/>
                </a:solidFill>
                <a:latin typeface="Lato"/>
                <a:ea typeface="Lato"/>
                <a:cs typeface="Lato"/>
                <a:sym typeface="Lato"/>
              </a:rPr>
              <a:t>DataStore</a:t>
            </a:r>
            <a:r>
              <a:rPr lang="en" sz="1400" b="0" i="0" u="none" strike="noStrike" cap="none">
                <a:solidFill>
                  <a:schemeClr val="dk1"/>
                </a:solidFill>
                <a:latin typeface="Lato"/>
                <a:ea typeface="Lato"/>
                <a:cs typeface="Lato"/>
                <a:sym typeface="Lato"/>
              </a:rPr>
              <a:t>&lt;</a:t>
            </a:r>
            <a:r>
              <a:rPr lang="en" sz="1400" b="0" i="0" u="none" strike="noStrike" cap="none">
                <a:solidFill>
                  <a:srgbClr val="0000FF"/>
                </a:solidFill>
                <a:latin typeface="Lato"/>
                <a:ea typeface="Lato"/>
                <a:cs typeface="Lato"/>
                <a:sym typeface="Lato"/>
              </a:rPr>
              <a:t>string</a:t>
            </a:r>
            <a:r>
              <a:rPr lang="en" sz="1400" b="0" i="0" u="none" strike="noStrike" cap="none">
                <a:solidFill>
                  <a:schemeClr val="dk1"/>
                </a:solidFill>
                <a:latin typeface="Lato"/>
                <a:ea typeface="Lato"/>
                <a:cs typeface="Lato"/>
                <a:sym typeface="Lato"/>
              </a:rPr>
              <a:t>&gt; cities = </a:t>
            </a:r>
            <a:r>
              <a:rPr lang="en" sz="1400" b="0" i="0" u="none" strike="noStrike" cap="none">
                <a:solidFill>
                  <a:srgbClr val="0000FF"/>
                </a:solidFill>
                <a:latin typeface="Lato"/>
                <a:ea typeface="Lato"/>
                <a:cs typeface="Lato"/>
                <a:sym typeface="Lato"/>
              </a:rPr>
              <a:t>new</a:t>
            </a:r>
            <a:r>
              <a:rPr lang="en" sz="1400" b="0" i="0" u="none" strike="noStrike" cap="none">
                <a:solidFill>
                  <a:schemeClr val="dk1"/>
                </a:solidFill>
                <a:latin typeface="Lato"/>
                <a:ea typeface="Lato"/>
                <a:cs typeface="Lato"/>
                <a:sym typeface="Lato"/>
              </a:rPr>
              <a:t> </a:t>
            </a:r>
            <a:r>
              <a:rPr lang="en" sz="1400" b="0" i="0" u="none" strike="noStrike" cap="none">
                <a:solidFill>
                  <a:srgbClr val="2B91AF"/>
                </a:solidFill>
                <a:latin typeface="Lato"/>
                <a:ea typeface="Lato"/>
                <a:cs typeface="Lato"/>
                <a:sym typeface="Lato"/>
              </a:rPr>
              <a:t>DataStore</a:t>
            </a:r>
            <a:r>
              <a:rPr lang="en" sz="1400" b="0" i="0" u="none" strike="noStrike" cap="none">
                <a:solidFill>
                  <a:schemeClr val="dk1"/>
                </a:solidFill>
                <a:latin typeface="Lato"/>
                <a:ea typeface="Lato"/>
                <a:cs typeface="Lato"/>
                <a:sym typeface="Lato"/>
              </a:rPr>
              <a:t>&lt;</a:t>
            </a:r>
            <a:r>
              <a:rPr lang="en" sz="1400" b="0" i="0" u="none" strike="noStrike" cap="none">
                <a:solidFill>
                  <a:srgbClr val="0000FF"/>
                </a:solidFill>
                <a:latin typeface="Lato"/>
                <a:ea typeface="Lato"/>
                <a:cs typeface="Lato"/>
                <a:sym typeface="Lato"/>
              </a:rPr>
              <a:t>string</a:t>
            </a:r>
            <a:r>
              <a:rPr lang="en" sz="1400" b="0" i="0" u="none" strike="noStrike" cap="none">
                <a:solidFill>
                  <a:schemeClr val="dk1"/>
                </a:solidFill>
                <a:latin typeface="Lato"/>
                <a:ea typeface="Lato"/>
                <a:cs typeface="Lato"/>
                <a:sym typeface="Lato"/>
              </a:rPr>
              <a:t>&gt;();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cities.AddOrUpdate(0, </a:t>
            </a:r>
            <a:r>
              <a:rPr lang="en" sz="1400" b="0" i="0" u="none" strike="noStrike" cap="none">
                <a:solidFill>
                  <a:srgbClr val="A31515"/>
                </a:solidFill>
                <a:latin typeface="Lato"/>
                <a:ea typeface="Lato"/>
                <a:cs typeface="Lato"/>
                <a:sym typeface="Lato"/>
              </a:rPr>
              <a:t>"Mumbai"</a:t>
            </a:r>
            <a:r>
              <a:rPr lang="en" sz="1400" b="0" i="0" u="none" strike="noStrike" cap="none">
                <a:solidFill>
                  <a:schemeClr val="dk1"/>
                </a:solidFill>
                <a:latin typeface="Lato"/>
                <a:ea typeface="Lato"/>
                <a:cs typeface="Lato"/>
                <a:sym typeface="Lato"/>
              </a:rPr>
              <a: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cities.AddOrUpdate(1, </a:t>
            </a:r>
            <a:r>
              <a:rPr lang="en" sz="1400" b="0" i="0" u="none" strike="noStrike" cap="none">
                <a:solidFill>
                  <a:srgbClr val="A31515"/>
                </a:solidFill>
                <a:latin typeface="Lato"/>
                <a:ea typeface="Lato"/>
                <a:cs typeface="Lato"/>
                <a:sym typeface="Lato"/>
              </a:rPr>
              <a:t>"Chicago"</a:t>
            </a:r>
            <a:r>
              <a:rPr lang="en" sz="1400" b="0" i="0" u="none" strike="noStrike" cap="none">
                <a:solidFill>
                  <a:schemeClr val="dk1"/>
                </a:solidFill>
                <a:latin typeface="Lato"/>
                <a:ea typeface="Lato"/>
                <a:cs typeface="Lato"/>
                <a:sym typeface="Lato"/>
              </a:rPr>
              <a: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cities.AddOrUpdate(2, </a:t>
            </a:r>
            <a:r>
              <a:rPr lang="en" sz="1400" b="0" i="0" u="none" strike="noStrike" cap="none">
                <a:solidFill>
                  <a:srgbClr val="A31515"/>
                </a:solidFill>
                <a:latin typeface="Lato"/>
                <a:ea typeface="Lato"/>
                <a:cs typeface="Lato"/>
                <a:sym typeface="Lato"/>
              </a:rPr>
              <a:t>"London"</a:t>
            </a:r>
            <a:r>
              <a:rPr lang="en" sz="1400" b="0" i="0" u="none" strike="noStrike" cap="none">
                <a:solidFill>
                  <a:schemeClr val="dk1"/>
                </a:solidFill>
                <a:latin typeface="Lato"/>
                <a:ea typeface="Lato"/>
                <a:cs typeface="Lato"/>
                <a:sym typeface="Lato"/>
              </a:rPr>
              <a: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2B91AF"/>
                </a:solidFill>
                <a:latin typeface="Lato"/>
                <a:ea typeface="Lato"/>
                <a:cs typeface="Lato"/>
                <a:sym typeface="Lato"/>
              </a:rPr>
              <a:t>DataStore</a:t>
            </a:r>
            <a:r>
              <a:rPr lang="en" sz="1400" b="0" i="0" u="none" strike="noStrike" cap="none">
                <a:solidFill>
                  <a:schemeClr val="dk1"/>
                </a:solidFill>
                <a:latin typeface="Lato"/>
                <a:ea typeface="Lato"/>
                <a:cs typeface="Lato"/>
                <a:sym typeface="Lato"/>
              </a:rPr>
              <a:t>&lt;</a:t>
            </a:r>
            <a:r>
              <a:rPr lang="en" sz="1400" b="0" i="0" u="none" strike="noStrike" cap="none">
                <a:solidFill>
                  <a:srgbClr val="0000FF"/>
                </a:solidFill>
                <a:latin typeface="Lato"/>
                <a:ea typeface="Lato"/>
                <a:cs typeface="Lato"/>
                <a:sym typeface="Lato"/>
              </a:rPr>
              <a:t>int</a:t>
            </a:r>
            <a:r>
              <a:rPr lang="en" sz="1400" b="0" i="0" u="none" strike="noStrike" cap="none">
                <a:solidFill>
                  <a:schemeClr val="dk1"/>
                </a:solidFill>
                <a:latin typeface="Lato"/>
                <a:ea typeface="Lato"/>
                <a:cs typeface="Lato"/>
                <a:sym typeface="Lato"/>
              </a:rPr>
              <a:t>&gt; empIds = </a:t>
            </a:r>
            <a:r>
              <a:rPr lang="en" sz="1400" b="0" i="0" u="none" strike="noStrike" cap="none">
                <a:solidFill>
                  <a:srgbClr val="0000FF"/>
                </a:solidFill>
                <a:latin typeface="Lato"/>
                <a:ea typeface="Lato"/>
                <a:cs typeface="Lato"/>
                <a:sym typeface="Lato"/>
              </a:rPr>
              <a:t>new</a:t>
            </a:r>
            <a:r>
              <a:rPr lang="en" sz="1400" b="0" i="0" u="none" strike="noStrike" cap="none">
                <a:solidFill>
                  <a:schemeClr val="dk1"/>
                </a:solidFill>
                <a:latin typeface="Lato"/>
                <a:ea typeface="Lato"/>
                <a:cs typeface="Lato"/>
                <a:sym typeface="Lato"/>
              </a:rPr>
              <a:t> </a:t>
            </a:r>
            <a:r>
              <a:rPr lang="en" sz="1400" b="0" i="0" u="none" strike="noStrike" cap="none">
                <a:solidFill>
                  <a:srgbClr val="2B91AF"/>
                </a:solidFill>
                <a:latin typeface="Lato"/>
                <a:ea typeface="Lato"/>
                <a:cs typeface="Lato"/>
                <a:sym typeface="Lato"/>
              </a:rPr>
              <a:t>DataStore</a:t>
            </a:r>
            <a:r>
              <a:rPr lang="en" sz="1400" b="0" i="0" u="none" strike="noStrike" cap="none">
                <a:solidFill>
                  <a:schemeClr val="dk1"/>
                </a:solidFill>
                <a:latin typeface="Lato"/>
                <a:ea typeface="Lato"/>
                <a:cs typeface="Lato"/>
                <a:sym typeface="Lato"/>
              </a:rPr>
              <a:t>&lt;</a:t>
            </a:r>
            <a:r>
              <a:rPr lang="en" sz="1400" b="0" i="0" u="none" strike="noStrike" cap="none">
                <a:solidFill>
                  <a:srgbClr val="0000FF"/>
                </a:solidFill>
                <a:latin typeface="Lato"/>
                <a:ea typeface="Lato"/>
                <a:cs typeface="Lato"/>
                <a:sym typeface="Lato"/>
              </a:rPr>
              <a:t>int</a:t>
            </a:r>
            <a:r>
              <a:rPr lang="en" sz="1400" b="0" i="0" u="none" strike="noStrike" cap="none">
                <a:solidFill>
                  <a:schemeClr val="dk1"/>
                </a:solidFill>
                <a:latin typeface="Lato"/>
                <a:ea typeface="Lato"/>
                <a:cs typeface="Lato"/>
                <a:sym typeface="Lato"/>
              </a:rPr>
              <a:t>&gt;();</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empIds.AddOrUpdate(0, 50);</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empIds.AddOrUpdate(1, 65);</a:t>
            </a:r>
            <a:endParaRPr sz="1400" b="0" i="0" u="none" strike="noStrike" cap="none">
              <a:solidFill>
                <a:schemeClr val="dk1"/>
              </a:solidFill>
              <a:latin typeface="Lato"/>
              <a:ea typeface="Lato"/>
              <a:cs typeface="Lato"/>
              <a:sym typeface="Lato"/>
            </a:endParaRPr>
          </a:p>
          <a:p>
            <a:pPr marL="508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Lato"/>
                <a:ea typeface="Lato"/>
                <a:cs typeface="Lato"/>
                <a:sym typeface="Lato"/>
              </a:rPr>
              <a:t>empIds.AddOrUpdate(2, 89);</a:t>
            </a:r>
            <a:endParaRPr sz="1400" b="0" i="0" u="none" strike="noStrike" cap="none">
              <a:solidFill>
                <a:schemeClr val="dk1"/>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400"/>
              <a:buFont typeface="Arial"/>
              <a:buNone/>
            </a:pPr>
            <a:endParaRPr sz="1400" b="0" i="0" u="none" strike="noStrike" cap="none">
              <a:solidFill>
                <a:schemeClr val="dk1"/>
              </a:solidFill>
              <a:highlight>
                <a:srgbClr val="FFFFFF"/>
              </a:highlight>
              <a:latin typeface="Lato"/>
              <a:ea typeface="Lato"/>
              <a:cs typeface="Lato"/>
              <a:sym typeface="Lato"/>
            </a:endParaRPr>
          </a:p>
        </p:txBody>
      </p:sp>
    </p:spTree>
    <p:extLst>
      <p:ext uri="{BB962C8B-B14F-4D97-AF65-F5344CB8AC3E}">
        <p14:creationId xmlns:p14="http://schemas.microsoft.com/office/powerpoint/2010/main" val="4250823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8135"/>
        </a:solidFill>
        <a:effectLst/>
      </p:bgPr>
    </p:bg>
    <p:spTree>
      <p:nvGrpSpPr>
        <p:cNvPr id="1" name="Shape 233"/>
        <p:cNvGrpSpPr/>
        <p:nvPr/>
      </p:nvGrpSpPr>
      <p:grpSpPr>
        <a:xfrm>
          <a:off x="0" y="0"/>
          <a:ext cx="0" cy="0"/>
          <a:chOff x="0" y="0"/>
          <a:chExt cx="0" cy="0"/>
        </a:xfrm>
      </p:grpSpPr>
      <p:sp>
        <p:nvSpPr>
          <p:cNvPr id="234" name="Google Shape;234;p29"/>
          <p:cNvSpPr txBox="1"/>
          <p:nvPr/>
        </p:nvSpPr>
        <p:spPr>
          <a:xfrm>
            <a:off x="0" y="622723"/>
            <a:ext cx="91440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chemeClr val="lt1"/>
                </a:solidFill>
                <a:latin typeface="Arial"/>
                <a:ea typeface="Arial"/>
                <a:cs typeface="Arial"/>
                <a:sym typeface="Arial"/>
              </a:rPr>
              <a:t>Self Learning</a:t>
            </a:r>
            <a:endParaRPr sz="3600" b="0" i="0" u="none" strike="noStrike" cap="none" dirty="0">
              <a:solidFill>
                <a:schemeClr val="lt1"/>
              </a:solidFill>
              <a:latin typeface="Arial"/>
              <a:ea typeface="Arial"/>
              <a:cs typeface="Arial"/>
              <a:sym typeface="Arial"/>
            </a:endParaRPr>
          </a:p>
        </p:txBody>
      </p:sp>
      <p:sp>
        <p:nvSpPr>
          <p:cNvPr id="12" name="Rectangle 11"/>
          <p:cNvSpPr/>
          <p:nvPr/>
        </p:nvSpPr>
        <p:spPr>
          <a:xfrm>
            <a:off x="5167746" y="2271857"/>
            <a:ext cx="4572000" cy="954107"/>
          </a:xfrm>
          <a:prstGeom prst="rect">
            <a:avLst/>
          </a:prstGeom>
        </p:spPr>
        <p:txBody>
          <a:bodyPr>
            <a:spAutoFit/>
          </a:bodyPr>
          <a:lstStyle/>
          <a:p>
            <a:pPr fontAlgn="t"/>
            <a:r>
              <a:rPr lang="en-US" b="1" dirty="0">
                <a:latin typeface="Arial" panose="020B0604020202020204" pitchFamily="34" charset="0"/>
              </a:rPr>
              <a:t>Advanced C# Concepts</a:t>
            </a:r>
            <a:br>
              <a:rPr lang="en-US" b="1" dirty="0">
                <a:latin typeface="Arial" panose="020B0604020202020204" pitchFamily="34" charset="0"/>
              </a:rPr>
            </a:br>
            <a:r>
              <a:rPr lang="en-US" dirty="0">
                <a:latin typeface="Arial" panose="020B0604020202020204" pitchFamily="34" charset="0"/>
              </a:rPr>
              <a:t>- Boxing and Unboxing</a:t>
            </a:r>
            <a:br>
              <a:rPr lang="en-US" dirty="0">
                <a:latin typeface="Arial" panose="020B0604020202020204" pitchFamily="34" charset="0"/>
              </a:rPr>
            </a:br>
            <a:r>
              <a:rPr lang="en-US" dirty="0">
                <a:latin typeface="Arial" panose="020B0604020202020204" pitchFamily="34" charset="0"/>
              </a:rPr>
              <a:t>- Type Casting</a:t>
            </a:r>
            <a:br>
              <a:rPr lang="en-US" dirty="0">
                <a:latin typeface="Arial" panose="020B0604020202020204" pitchFamily="34" charset="0"/>
              </a:rPr>
            </a:br>
            <a:r>
              <a:rPr lang="en-US" dirty="0">
                <a:latin typeface="Arial" panose="020B0604020202020204" pitchFamily="34" charset="0"/>
              </a:rPr>
              <a:t>- Extension Methods</a:t>
            </a:r>
            <a:endParaRPr lang="en-US" b="1" dirty="0">
              <a:latin typeface="Arial" panose="020B0604020202020204" pitchFamily="34" charset="0"/>
            </a:endParaRPr>
          </a:p>
        </p:txBody>
      </p:sp>
      <p:sp>
        <p:nvSpPr>
          <p:cNvPr id="14" name="Rectangle 13"/>
          <p:cNvSpPr/>
          <p:nvPr/>
        </p:nvSpPr>
        <p:spPr>
          <a:xfrm>
            <a:off x="1212272" y="2295299"/>
            <a:ext cx="4572000" cy="954107"/>
          </a:xfrm>
          <a:prstGeom prst="rect">
            <a:avLst/>
          </a:prstGeom>
        </p:spPr>
        <p:txBody>
          <a:bodyPr>
            <a:spAutoFit/>
          </a:bodyPr>
          <a:lstStyle/>
          <a:p>
            <a:pPr fontAlgn="t"/>
            <a:r>
              <a:rPr lang="en-US" b="1" dirty="0">
                <a:latin typeface="Arial" panose="020B0604020202020204" pitchFamily="34" charset="0"/>
              </a:rPr>
              <a:t>Delegates and Events</a:t>
            </a:r>
            <a:br>
              <a:rPr lang="en-US" b="1" dirty="0">
                <a:latin typeface="Arial" panose="020B0604020202020204" pitchFamily="34" charset="0"/>
              </a:rPr>
            </a:br>
            <a:r>
              <a:rPr lang="en-US" dirty="0">
                <a:latin typeface="Arial" panose="020B0604020202020204" pitchFamily="34" charset="0"/>
              </a:rPr>
              <a:t>- Creating and using delegates</a:t>
            </a:r>
            <a:br>
              <a:rPr lang="en-US" dirty="0">
                <a:latin typeface="Arial" panose="020B0604020202020204" pitchFamily="34" charset="0"/>
              </a:rPr>
            </a:br>
            <a:r>
              <a:rPr lang="en-US" dirty="0">
                <a:latin typeface="Arial" panose="020B0604020202020204" pitchFamily="34" charset="0"/>
              </a:rPr>
              <a:t>- Anonymous methods</a:t>
            </a:r>
            <a:br>
              <a:rPr lang="en-US" dirty="0">
                <a:latin typeface="Arial" panose="020B0604020202020204" pitchFamily="34" charset="0"/>
              </a:rPr>
            </a:br>
            <a:r>
              <a:rPr lang="en-US" dirty="0">
                <a:latin typeface="Arial" panose="020B0604020202020204" pitchFamily="34" charset="0"/>
              </a:rPr>
              <a:t>- Events and event handlers</a:t>
            </a:r>
            <a:endParaRPr lang="en-US" b="1" dirty="0">
              <a:latin typeface="Arial" panose="020B0604020202020204" pitchFamily="34" charset="0"/>
            </a:endParaRPr>
          </a:p>
        </p:txBody>
      </p:sp>
    </p:spTree>
    <p:extLst>
      <p:ext uri="{BB962C8B-B14F-4D97-AF65-F5344CB8AC3E}">
        <p14:creationId xmlns:p14="http://schemas.microsoft.com/office/powerpoint/2010/main" val="1893290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052280" y="1104116"/>
            <a:ext cx="61722" cy="109728"/>
          </a:xfrm>
          <a:prstGeom prst="rect">
            <a:avLst/>
          </a:prstGeom>
          <a:noFill/>
          <a:ln>
            <a:noFill/>
          </a:ln>
        </p:spPr>
      </p:pic>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Asynchronous Programming</a:t>
            </a:r>
          </a:p>
        </p:txBody>
      </p:sp>
      <p:sp>
        <p:nvSpPr>
          <p:cNvPr id="7" name="Rectangle 6"/>
          <p:cNvSpPr/>
          <p:nvPr/>
        </p:nvSpPr>
        <p:spPr>
          <a:xfrm>
            <a:off x="1371599" y="1005092"/>
            <a:ext cx="3117273" cy="307777"/>
          </a:xfrm>
          <a:prstGeom prst="rect">
            <a:avLst/>
          </a:prstGeom>
        </p:spPr>
        <p:txBody>
          <a:bodyPr wrap="square">
            <a:spAutoFit/>
          </a:bodyPr>
          <a:lstStyle/>
          <a:p>
            <a:r>
              <a:rPr lang="en-US" b="1" dirty="0"/>
              <a:t>Asynchronous Programming</a:t>
            </a:r>
          </a:p>
        </p:txBody>
      </p:sp>
      <p:sp>
        <p:nvSpPr>
          <p:cNvPr id="8" name="Rectangle 2"/>
          <p:cNvSpPr>
            <a:spLocks noChangeArrowheads="1"/>
          </p:cNvSpPr>
          <p:nvPr/>
        </p:nvSpPr>
        <p:spPr bwMode="auto">
          <a:xfrm>
            <a:off x="1455913" y="1318629"/>
            <a:ext cx="5479473" cy="1019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Lato" panose="020B0604020202020204" charset="0"/>
              </a:rPr>
              <a:t>async</a:t>
            </a:r>
            <a:r>
              <a:rPr kumimoji="0" lang="en-US" altLang="en-US" b="0" i="0" u="none" strike="noStrike" cap="none" normalizeH="0" baseline="0" dirty="0">
                <a:ln>
                  <a:noFill/>
                </a:ln>
                <a:solidFill>
                  <a:schemeClr val="tx1"/>
                </a:solidFill>
                <a:effectLst/>
                <a:latin typeface="Lato" panose="020B0604020202020204" charset="0"/>
              </a:rPr>
              <a:t> and await keywords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Task-based asynchronous programming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Parallel processing with Task and </a:t>
            </a:r>
            <a:r>
              <a:rPr kumimoji="0" lang="en-US" altLang="en-US" b="0" i="0" u="none" strike="noStrike" cap="none" normalizeH="0" baseline="0" dirty="0" err="1">
                <a:ln>
                  <a:noFill/>
                </a:ln>
                <a:solidFill>
                  <a:schemeClr val="tx1"/>
                </a:solidFill>
                <a:effectLst/>
                <a:latin typeface="Lato" panose="020B0604020202020204" charset="0"/>
              </a:rPr>
              <a:t>Task.Run</a:t>
            </a:r>
            <a:r>
              <a:rPr kumimoji="0" lang="en-US" altLang="en-US" b="0" i="0" u="none" strike="noStrike" cap="none" normalizeH="0" baseline="0" dirty="0">
                <a:ln>
                  <a:noFill/>
                </a:ln>
                <a:solidFill>
                  <a:schemeClr val="tx1"/>
                </a:solidFill>
                <a:effectLst/>
                <a:latin typeface="Lato" panose="020B0604020202020204" charset="0"/>
              </a:rPr>
              <a:t> </a:t>
            </a:r>
          </a:p>
        </p:txBody>
      </p:sp>
      <p:pic>
        <p:nvPicPr>
          <p:cNvPr id="15" name="Google Shape;144;p21"/>
          <p:cNvPicPr preferRelativeResize="0"/>
          <p:nvPr/>
        </p:nvPicPr>
        <p:blipFill rotWithShape="1">
          <a:blip r:embed="rId5">
            <a:alphaModFix/>
          </a:blip>
          <a:srcRect/>
          <a:stretch/>
        </p:blipFill>
        <p:spPr>
          <a:xfrm>
            <a:off x="1057295" y="2555182"/>
            <a:ext cx="61722" cy="109728"/>
          </a:xfrm>
          <a:prstGeom prst="rect">
            <a:avLst/>
          </a:prstGeom>
          <a:noFill/>
          <a:ln>
            <a:noFill/>
          </a:ln>
        </p:spPr>
      </p:pic>
      <p:sp>
        <p:nvSpPr>
          <p:cNvPr id="9" name="Rectangle 8"/>
          <p:cNvSpPr/>
          <p:nvPr/>
        </p:nvSpPr>
        <p:spPr>
          <a:xfrm>
            <a:off x="1371600" y="2453530"/>
            <a:ext cx="4495800" cy="307777"/>
          </a:xfrm>
          <a:prstGeom prst="rect">
            <a:avLst/>
          </a:prstGeom>
        </p:spPr>
        <p:txBody>
          <a:bodyPr wrap="square">
            <a:spAutoFit/>
          </a:bodyPr>
          <a:lstStyle/>
          <a:p>
            <a:r>
              <a:rPr lang="en-US" b="1" dirty="0"/>
              <a:t>Multithreading and Parallel Programming</a:t>
            </a:r>
          </a:p>
        </p:txBody>
      </p:sp>
      <p:sp>
        <p:nvSpPr>
          <p:cNvPr id="10" name="Rectangle 3"/>
          <p:cNvSpPr>
            <a:spLocks noChangeArrowheads="1"/>
          </p:cNvSpPr>
          <p:nvPr/>
        </p:nvSpPr>
        <p:spPr bwMode="auto">
          <a:xfrm>
            <a:off x="1455913" y="2761307"/>
            <a:ext cx="8501301" cy="1021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Using Thread, Task, and Parallel classes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Synchronization mechanisms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Concurrent collections </a:t>
            </a:r>
          </a:p>
        </p:txBody>
      </p:sp>
      <p:sp>
        <p:nvSpPr>
          <p:cNvPr id="18" name="Rectangle 17"/>
          <p:cNvSpPr/>
          <p:nvPr/>
        </p:nvSpPr>
        <p:spPr>
          <a:xfrm>
            <a:off x="1475696" y="4017005"/>
            <a:ext cx="4572000" cy="523220"/>
          </a:xfrm>
          <a:prstGeom prst="rect">
            <a:avLst/>
          </a:prstGeom>
        </p:spPr>
        <p:txBody>
          <a:bodyPr>
            <a:spAutoFit/>
          </a:bodyPr>
          <a:lstStyle/>
          <a:p>
            <a:pPr>
              <a:buFont typeface="Arial" panose="020B0604020202020204" pitchFamily="34" charset="0"/>
              <a:buChar char="•"/>
            </a:pPr>
            <a:r>
              <a:rPr lang="en-US" b="1" dirty="0"/>
              <a:t>Key </a:t>
            </a:r>
            <a:r>
              <a:rPr lang="en-US" b="1" dirty="0" err="1"/>
              <a:t>Features:</a:t>
            </a:r>
            <a:r>
              <a:rPr lang="en-US" dirty="0" err="1"/>
              <a:t>Non-blocking</a:t>
            </a:r>
            <a:r>
              <a:rPr lang="en-US" dirty="0"/>
              <a:t> I/O operations</a:t>
            </a:r>
          </a:p>
          <a:p>
            <a:pPr>
              <a:buFont typeface="Arial" panose="020B0604020202020204" pitchFamily="34" charset="0"/>
              <a:buChar char="•"/>
            </a:pPr>
            <a:r>
              <a:rPr lang="en-US" dirty="0"/>
              <a:t>Efficient resource utilization</a:t>
            </a:r>
          </a:p>
        </p:txBody>
      </p:sp>
    </p:spTree>
    <p:extLst>
      <p:ext uri="{BB962C8B-B14F-4D97-AF65-F5344CB8AC3E}">
        <p14:creationId xmlns:p14="http://schemas.microsoft.com/office/powerpoint/2010/main" val="3350548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Asynchronous Programming</a:t>
            </a:r>
          </a:p>
        </p:txBody>
      </p:sp>
      <p:sp>
        <p:nvSpPr>
          <p:cNvPr id="5" name="Rectangle 1"/>
          <p:cNvSpPr>
            <a:spLocks noChangeArrowheads="1"/>
          </p:cNvSpPr>
          <p:nvPr/>
        </p:nvSpPr>
        <p:spPr bwMode="auto">
          <a:xfrm>
            <a:off x="1198417" y="1054802"/>
            <a:ext cx="7890165" cy="884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Lato" panose="020B0604020202020204" charset="0"/>
              </a:rPr>
              <a:t>async</a:t>
            </a:r>
            <a:r>
              <a:rPr kumimoji="0" lang="en-US" altLang="en-US" b="1" i="0" u="none" strike="noStrike" cap="none" normalizeH="0" baseline="0" dirty="0">
                <a:ln>
                  <a:noFill/>
                </a:ln>
                <a:solidFill>
                  <a:schemeClr val="tx1"/>
                </a:solidFill>
                <a:effectLst/>
                <a:latin typeface="Lato" panose="020B0604020202020204" charset="0"/>
              </a:rPr>
              <a:t>:</a:t>
            </a:r>
            <a:r>
              <a:rPr kumimoji="0" lang="en-US" altLang="en-US" b="0" i="0" u="none" strike="noStrike" cap="none" normalizeH="0" baseline="0" dirty="0">
                <a:ln>
                  <a:noFill/>
                </a:ln>
                <a:solidFill>
                  <a:schemeClr val="tx1"/>
                </a:solidFill>
                <a:effectLst/>
                <a:latin typeface="Lato" panose="020B0604020202020204" charset="0"/>
              </a:rPr>
              <a:t> Marks a method as asynchronous, enabling the use of await.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Lato" panose="020B0604020202020204" charset="0"/>
              </a:rPr>
              <a:t>await:</a:t>
            </a:r>
            <a:r>
              <a:rPr kumimoji="0" lang="en-US" altLang="en-US" b="0" i="0" u="none" strike="noStrike" cap="none" normalizeH="0" baseline="0" dirty="0">
                <a:ln>
                  <a:noFill/>
                </a:ln>
                <a:solidFill>
                  <a:schemeClr val="tx1"/>
                </a:solidFill>
                <a:effectLst/>
                <a:latin typeface="Lato" panose="020B0604020202020204" charset="0"/>
              </a:rPr>
              <a:t> Suspends the method execution until the awaited task is complete. </a:t>
            </a:r>
          </a:p>
        </p:txBody>
      </p:sp>
      <p:sp>
        <p:nvSpPr>
          <p:cNvPr id="10" name="Rectangle 9"/>
          <p:cNvSpPr/>
          <p:nvPr/>
        </p:nvSpPr>
        <p:spPr>
          <a:xfrm>
            <a:off x="1357744" y="2952245"/>
            <a:ext cx="4572000" cy="1169551"/>
          </a:xfrm>
          <a:prstGeom prst="rect">
            <a:avLst/>
          </a:prstGeom>
          <a:solidFill>
            <a:schemeClr val="bg1">
              <a:lumMod val="85000"/>
            </a:schemeClr>
          </a:solidFill>
        </p:spPr>
        <p:txBody>
          <a:bodyPr>
            <a:spAutoFit/>
          </a:bodyPr>
          <a:lstStyle/>
          <a:p>
            <a:r>
              <a:rPr lang="en-US" dirty="0"/>
              <a:t>public </a:t>
            </a:r>
            <a:r>
              <a:rPr lang="en-US" dirty="0" err="1"/>
              <a:t>async</a:t>
            </a:r>
            <a:r>
              <a:rPr lang="en-US" dirty="0"/>
              <a:t> Task </a:t>
            </a:r>
            <a:r>
              <a:rPr lang="en-US" dirty="0" err="1"/>
              <a:t>FetchDataAsync</a:t>
            </a:r>
            <a:r>
              <a:rPr lang="en-US" dirty="0"/>
              <a:t>()  </a:t>
            </a:r>
          </a:p>
          <a:p>
            <a:r>
              <a:rPr lang="en-US" dirty="0"/>
              <a:t>{  </a:t>
            </a:r>
          </a:p>
          <a:p>
            <a:r>
              <a:rPr lang="en-US" dirty="0"/>
              <a:t>    </a:t>
            </a:r>
            <a:r>
              <a:rPr lang="en-US" dirty="0" err="1"/>
              <a:t>var</a:t>
            </a:r>
            <a:r>
              <a:rPr lang="en-US" dirty="0"/>
              <a:t> data = await </a:t>
            </a:r>
            <a:r>
              <a:rPr lang="en-US" dirty="0" err="1"/>
              <a:t>GetDataFromAPI</a:t>
            </a:r>
            <a:r>
              <a:rPr lang="en-US" dirty="0"/>
              <a:t>();  </a:t>
            </a:r>
          </a:p>
          <a:p>
            <a:r>
              <a:rPr lang="en-US" dirty="0"/>
              <a:t>    </a:t>
            </a:r>
            <a:r>
              <a:rPr lang="en-US" dirty="0" err="1"/>
              <a:t>Console.WriteLine</a:t>
            </a:r>
            <a:r>
              <a:rPr lang="en-US" dirty="0"/>
              <a:t>(data);  </a:t>
            </a:r>
          </a:p>
          <a:p>
            <a:r>
              <a:rPr lang="en-US" dirty="0"/>
              <a:t>}</a:t>
            </a:r>
          </a:p>
        </p:txBody>
      </p:sp>
      <p:sp>
        <p:nvSpPr>
          <p:cNvPr id="11" name="Rectangle 10"/>
          <p:cNvSpPr/>
          <p:nvPr/>
        </p:nvSpPr>
        <p:spPr>
          <a:xfrm>
            <a:off x="1293863" y="2528621"/>
            <a:ext cx="922047" cy="307777"/>
          </a:xfrm>
          <a:prstGeom prst="rect">
            <a:avLst/>
          </a:prstGeom>
        </p:spPr>
        <p:txBody>
          <a:bodyPr wrap="none">
            <a:spAutoFit/>
          </a:bodyPr>
          <a:lstStyle/>
          <a:p>
            <a:r>
              <a:rPr lang="en-US" b="1" dirty="0"/>
              <a:t>Example</a:t>
            </a:r>
            <a:endParaRPr lang="en-US" dirty="0"/>
          </a:p>
        </p:txBody>
      </p:sp>
    </p:spTree>
    <p:extLst>
      <p:ext uri="{BB962C8B-B14F-4D97-AF65-F5344CB8AC3E}">
        <p14:creationId xmlns:p14="http://schemas.microsoft.com/office/powerpoint/2010/main" val="3283786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 name="Google Shape;76;p17"/>
          <p:cNvSpPr txBox="1"/>
          <p:nvPr/>
        </p:nvSpPr>
        <p:spPr>
          <a:xfrm>
            <a:off x="2267074" y="13425"/>
            <a:ext cx="4667126"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Asynchronous Programming</a:t>
            </a:r>
          </a:p>
        </p:txBody>
      </p:sp>
      <p:sp>
        <p:nvSpPr>
          <p:cNvPr id="2" name="Rectangle 1"/>
          <p:cNvSpPr>
            <a:spLocks noChangeArrowheads="1"/>
          </p:cNvSpPr>
          <p:nvPr/>
        </p:nvSpPr>
        <p:spPr bwMode="auto">
          <a:xfrm>
            <a:off x="1494754" y="774366"/>
            <a:ext cx="422904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Lato" panose="020B0604020202020204" charset="0"/>
              </a:rPr>
              <a:t>Task Class:</a:t>
            </a:r>
            <a:r>
              <a:rPr kumimoji="0" lang="en-US" altLang="en-US" b="0" i="0" u="none" strike="noStrike" cap="none" normalizeH="0" baseline="0" dirty="0">
                <a:ln>
                  <a:noFill/>
                </a:ln>
                <a:solidFill>
                  <a:schemeClr val="tx1"/>
                </a:solidFill>
                <a:effectLst/>
                <a:latin typeface="Lato" panose="020B0604020202020204" charset="0"/>
              </a:rPr>
              <a:t> Represents an asynchronous operation. </a:t>
            </a:r>
          </a:p>
        </p:txBody>
      </p:sp>
      <p:sp>
        <p:nvSpPr>
          <p:cNvPr id="3" name="Rectangle 2"/>
          <p:cNvSpPr/>
          <p:nvPr/>
        </p:nvSpPr>
        <p:spPr>
          <a:xfrm>
            <a:off x="1475696" y="1828566"/>
            <a:ext cx="4572000" cy="523220"/>
          </a:xfrm>
          <a:prstGeom prst="rect">
            <a:avLst/>
          </a:prstGeom>
        </p:spPr>
        <p:txBody>
          <a:bodyPr>
            <a:spAutoFit/>
          </a:bodyPr>
          <a:lstStyle/>
          <a:p>
            <a:pPr>
              <a:buFont typeface="Arial" panose="020B0604020202020204" pitchFamily="34" charset="0"/>
              <a:buChar char="•"/>
            </a:pPr>
            <a:r>
              <a:rPr lang="en-US" dirty="0"/>
              <a:t>Simplified handling of asynchronous code.</a:t>
            </a:r>
          </a:p>
          <a:p>
            <a:pPr>
              <a:buFont typeface="Arial" panose="020B0604020202020204" pitchFamily="34" charset="0"/>
              <a:buChar char="•"/>
            </a:pPr>
            <a:r>
              <a:rPr lang="en-US" dirty="0"/>
              <a:t>Supports cancellation and continuations.</a:t>
            </a:r>
          </a:p>
        </p:txBody>
      </p:sp>
      <p:sp>
        <p:nvSpPr>
          <p:cNvPr id="4" name="Rectangle 3"/>
          <p:cNvSpPr/>
          <p:nvPr/>
        </p:nvSpPr>
        <p:spPr>
          <a:xfrm>
            <a:off x="1494754" y="1397017"/>
            <a:ext cx="1197764" cy="307777"/>
          </a:xfrm>
          <a:prstGeom prst="rect">
            <a:avLst/>
          </a:prstGeom>
        </p:spPr>
        <p:txBody>
          <a:bodyPr wrap="none">
            <a:spAutoFit/>
          </a:bodyPr>
          <a:lstStyle/>
          <a:p>
            <a:r>
              <a:rPr lang="en-US" b="1" dirty="0"/>
              <a:t>Advantages</a:t>
            </a:r>
            <a:endParaRPr lang="en-US" dirty="0"/>
          </a:p>
        </p:txBody>
      </p:sp>
      <p:sp>
        <p:nvSpPr>
          <p:cNvPr id="5" name="Rectangle 4"/>
          <p:cNvSpPr/>
          <p:nvPr/>
        </p:nvSpPr>
        <p:spPr>
          <a:xfrm>
            <a:off x="1494754" y="3447713"/>
            <a:ext cx="4572000" cy="523220"/>
          </a:xfrm>
          <a:prstGeom prst="rect">
            <a:avLst/>
          </a:prstGeom>
          <a:solidFill>
            <a:schemeClr val="bg1">
              <a:lumMod val="85000"/>
            </a:schemeClr>
          </a:solidFill>
        </p:spPr>
        <p:txBody>
          <a:bodyPr>
            <a:spAutoFit/>
          </a:bodyPr>
          <a:lstStyle/>
          <a:p>
            <a:r>
              <a:rPr lang="en-US" dirty="0"/>
              <a:t>Task&lt;</a:t>
            </a:r>
            <a:r>
              <a:rPr lang="en-US" dirty="0" err="1"/>
              <a:t>int</a:t>
            </a:r>
            <a:r>
              <a:rPr lang="en-US" dirty="0"/>
              <a:t>&gt; task = </a:t>
            </a:r>
            <a:r>
              <a:rPr lang="en-US" dirty="0" err="1"/>
              <a:t>Task.Run</a:t>
            </a:r>
            <a:r>
              <a:rPr lang="en-US" dirty="0"/>
              <a:t>(() =&gt; </a:t>
            </a:r>
            <a:r>
              <a:rPr lang="en-US" dirty="0" err="1"/>
              <a:t>ComputeSum</a:t>
            </a:r>
            <a:r>
              <a:rPr lang="en-US" dirty="0"/>
              <a:t>());  </a:t>
            </a:r>
          </a:p>
          <a:p>
            <a:r>
              <a:rPr lang="en-US" dirty="0" err="1"/>
              <a:t>int</a:t>
            </a:r>
            <a:r>
              <a:rPr lang="en-US" dirty="0"/>
              <a:t> result = await task;  </a:t>
            </a:r>
          </a:p>
        </p:txBody>
      </p:sp>
      <p:sp>
        <p:nvSpPr>
          <p:cNvPr id="11" name="Rectangle 10"/>
          <p:cNvSpPr/>
          <p:nvPr/>
        </p:nvSpPr>
        <p:spPr>
          <a:xfrm>
            <a:off x="1494754" y="3007471"/>
            <a:ext cx="922047" cy="307777"/>
          </a:xfrm>
          <a:prstGeom prst="rect">
            <a:avLst/>
          </a:prstGeom>
        </p:spPr>
        <p:txBody>
          <a:bodyPr wrap="none">
            <a:spAutoFit/>
          </a:bodyPr>
          <a:lstStyle/>
          <a:p>
            <a:r>
              <a:rPr lang="en-US" b="1" dirty="0"/>
              <a:t>Example</a:t>
            </a:r>
            <a:endParaRPr lang="en-US" dirty="0"/>
          </a:p>
        </p:txBody>
      </p:sp>
    </p:spTree>
    <p:extLst>
      <p:ext uri="{BB962C8B-B14F-4D97-AF65-F5344CB8AC3E}">
        <p14:creationId xmlns:p14="http://schemas.microsoft.com/office/powerpoint/2010/main" val="3021304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204056" y="1090817"/>
            <a:ext cx="61722" cy="109728"/>
          </a:xfrm>
          <a:prstGeom prst="rect">
            <a:avLst/>
          </a:prstGeom>
          <a:noFill/>
          <a:ln>
            <a:noFill/>
          </a:ln>
        </p:spPr>
      </p:pic>
      <p:sp>
        <p:nvSpPr>
          <p:cNvPr id="13" name="Google Shape;76;p17"/>
          <p:cNvSpPr txBox="1"/>
          <p:nvPr/>
        </p:nvSpPr>
        <p:spPr>
          <a:xfrm>
            <a:off x="1988127" y="13425"/>
            <a:ext cx="5333999"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Multithreading and Parallel Programming</a:t>
            </a:r>
          </a:p>
        </p:txBody>
      </p:sp>
      <p:sp>
        <p:nvSpPr>
          <p:cNvPr id="2" name="Rectangle 1"/>
          <p:cNvSpPr/>
          <p:nvPr/>
        </p:nvSpPr>
        <p:spPr>
          <a:xfrm>
            <a:off x="1494754" y="976989"/>
            <a:ext cx="1008609" cy="307777"/>
          </a:xfrm>
          <a:prstGeom prst="rect">
            <a:avLst/>
          </a:prstGeom>
        </p:spPr>
        <p:txBody>
          <a:bodyPr wrap="none">
            <a:spAutoFit/>
          </a:bodyPr>
          <a:lstStyle/>
          <a:p>
            <a:r>
              <a:rPr lang="en-US" b="1" dirty="0"/>
              <a:t>Definition</a:t>
            </a:r>
          </a:p>
        </p:txBody>
      </p:sp>
      <p:sp>
        <p:nvSpPr>
          <p:cNvPr id="3" name="Rectangle 2"/>
          <p:cNvSpPr/>
          <p:nvPr/>
        </p:nvSpPr>
        <p:spPr>
          <a:xfrm>
            <a:off x="1494753" y="1414929"/>
            <a:ext cx="5390955" cy="307777"/>
          </a:xfrm>
          <a:prstGeom prst="rect">
            <a:avLst/>
          </a:prstGeom>
        </p:spPr>
        <p:txBody>
          <a:bodyPr wrap="square">
            <a:spAutoFit/>
          </a:bodyPr>
          <a:lstStyle/>
          <a:p>
            <a:r>
              <a:rPr lang="en-US" dirty="0"/>
              <a:t>Running multiple threads in parallel within the same process.</a:t>
            </a:r>
          </a:p>
        </p:txBody>
      </p:sp>
      <p:sp>
        <p:nvSpPr>
          <p:cNvPr id="4" name="Rectangle 3"/>
          <p:cNvSpPr/>
          <p:nvPr/>
        </p:nvSpPr>
        <p:spPr>
          <a:xfrm>
            <a:off x="1494753" y="2120983"/>
            <a:ext cx="1467068" cy="307777"/>
          </a:xfrm>
          <a:prstGeom prst="rect">
            <a:avLst/>
          </a:prstGeom>
        </p:spPr>
        <p:txBody>
          <a:bodyPr wrap="none">
            <a:spAutoFit/>
          </a:bodyPr>
          <a:lstStyle/>
          <a:p>
            <a:r>
              <a:rPr lang="en-US" b="1"/>
              <a:t>Key Objectives</a:t>
            </a:r>
          </a:p>
        </p:txBody>
      </p:sp>
      <p:sp>
        <p:nvSpPr>
          <p:cNvPr id="5" name="Rectangle 1"/>
          <p:cNvSpPr>
            <a:spLocks noChangeArrowheads="1"/>
          </p:cNvSpPr>
          <p:nvPr/>
        </p:nvSpPr>
        <p:spPr bwMode="auto">
          <a:xfrm>
            <a:off x="1494753" y="2411096"/>
            <a:ext cx="702425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Utilize multiple CPU cores.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Improve performance for computationally intensive operations. </a:t>
            </a:r>
          </a:p>
        </p:txBody>
      </p:sp>
      <p:sp>
        <p:nvSpPr>
          <p:cNvPr id="6" name="Rectangle 5"/>
          <p:cNvSpPr/>
          <p:nvPr/>
        </p:nvSpPr>
        <p:spPr>
          <a:xfrm>
            <a:off x="1494753" y="3430152"/>
            <a:ext cx="922047" cy="307777"/>
          </a:xfrm>
          <a:prstGeom prst="rect">
            <a:avLst/>
          </a:prstGeom>
        </p:spPr>
        <p:txBody>
          <a:bodyPr wrap="none">
            <a:spAutoFit/>
          </a:bodyPr>
          <a:lstStyle/>
          <a:p>
            <a:r>
              <a:rPr lang="en-US" b="1" dirty="0"/>
              <a:t>Example</a:t>
            </a:r>
          </a:p>
        </p:txBody>
      </p:sp>
      <p:sp>
        <p:nvSpPr>
          <p:cNvPr id="7" name="Rectangle 6"/>
          <p:cNvSpPr/>
          <p:nvPr/>
        </p:nvSpPr>
        <p:spPr>
          <a:xfrm>
            <a:off x="1505328" y="3789380"/>
            <a:ext cx="4572000" cy="738664"/>
          </a:xfrm>
          <a:prstGeom prst="rect">
            <a:avLst/>
          </a:prstGeom>
          <a:solidFill>
            <a:schemeClr val="bg1">
              <a:lumMod val="85000"/>
            </a:schemeClr>
          </a:solidFill>
        </p:spPr>
        <p:txBody>
          <a:bodyPr>
            <a:spAutoFit/>
          </a:bodyPr>
          <a:lstStyle/>
          <a:p>
            <a:r>
              <a:rPr lang="en-US" dirty="0"/>
              <a:t>Thread t = new Thread(() =&gt; </a:t>
            </a:r>
            <a:r>
              <a:rPr lang="en-US" dirty="0" err="1"/>
              <a:t>Console.WriteLine</a:t>
            </a:r>
            <a:r>
              <a:rPr lang="en-US" dirty="0"/>
              <a:t>("Thread Example"));  </a:t>
            </a:r>
          </a:p>
          <a:p>
            <a:r>
              <a:rPr lang="en-US" dirty="0" err="1"/>
              <a:t>t.Start</a:t>
            </a:r>
            <a:r>
              <a:rPr lang="en-US"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7" name="Google Shape;137;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8" name="Google Shape;13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9" name="Google Shape;13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144" name="Google Shape;144;p21"/>
          <p:cNvPicPr preferRelativeResize="0"/>
          <p:nvPr/>
        </p:nvPicPr>
        <p:blipFill rotWithShape="1">
          <a:blip r:embed="rId5">
            <a:alphaModFix/>
          </a:blip>
          <a:srcRect/>
          <a:stretch/>
        </p:blipFill>
        <p:spPr>
          <a:xfrm>
            <a:off x="1037801" y="965177"/>
            <a:ext cx="61722" cy="109728"/>
          </a:xfrm>
          <a:prstGeom prst="rect">
            <a:avLst/>
          </a:prstGeom>
          <a:noFill/>
          <a:ln>
            <a:noFill/>
          </a:ln>
        </p:spPr>
      </p:pic>
      <p:sp>
        <p:nvSpPr>
          <p:cNvPr id="13" name="Google Shape;76;p17"/>
          <p:cNvSpPr txBox="1"/>
          <p:nvPr/>
        </p:nvSpPr>
        <p:spPr>
          <a:xfrm>
            <a:off x="1988127" y="13425"/>
            <a:ext cx="5333999"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Multithreading and Parallel Programming</a:t>
            </a:r>
          </a:p>
        </p:txBody>
      </p:sp>
      <p:sp>
        <p:nvSpPr>
          <p:cNvPr id="2" name="Rectangle 1"/>
          <p:cNvSpPr/>
          <p:nvPr/>
        </p:nvSpPr>
        <p:spPr>
          <a:xfrm>
            <a:off x="1494754" y="866153"/>
            <a:ext cx="2699778" cy="307777"/>
          </a:xfrm>
          <a:prstGeom prst="rect">
            <a:avLst/>
          </a:prstGeom>
        </p:spPr>
        <p:txBody>
          <a:bodyPr wrap="none">
            <a:spAutoFit/>
          </a:bodyPr>
          <a:lstStyle/>
          <a:p>
            <a:r>
              <a:rPr lang="en-US" b="1" dirty="0"/>
              <a:t>Synchronization</a:t>
            </a:r>
            <a:r>
              <a:rPr lang="en-US" dirty="0"/>
              <a:t> </a:t>
            </a:r>
            <a:r>
              <a:rPr lang="en-US" b="1" dirty="0"/>
              <a:t>Mechanisms</a:t>
            </a:r>
          </a:p>
        </p:txBody>
      </p:sp>
      <p:sp>
        <p:nvSpPr>
          <p:cNvPr id="3" name="Rectangle 2"/>
          <p:cNvSpPr/>
          <p:nvPr/>
        </p:nvSpPr>
        <p:spPr>
          <a:xfrm>
            <a:off x="1494754" y="1173930"/>
            <a:ext cx="4312399" cy="307777"/>
          </a:xfrm>
          <a:prstGeom prst="rect">
            <a:avLst/>
          </a:prstGeom>
        </p:spPr>
        <p:txBody>
          <a:bodyPr wrap="none">
            <a:spAutoFit/>
          </a:bodyPr>
          <a:lstStyle/>
          <a:p>
            <a:r>
              <a:rPr lang="en-US" dirty="0"/>
              <a:t>Used to avoid data corruption in shared resources.</a:t>
            </a:r>
          </a:p>
        </p:txBody>
      </p:sp>
      <p:sp>
        <p:nvSpPr>
          <p:cNvPr id="4" name="Rectangle 3"/>
          <p:cNvSpPr/>
          <p:nvPr/>
        </p:nvSpPr>
        <p:spPr>
          <a:xfrm>
            <a:off x="1494754" y="1769717"/>
            <a:ext cx="1745991" cy="307777"/>
          </a:xfrm>
          <a:prstGeom prst="rect">
            <a:avLst/>
          </a:prstGeom>
        </p:spPr>
        <p:txBody>
          <a:bodyPr wrap="none">
            <a:spAutoFit/>
          </a:bodyPr>
          <a:lstStyle/>
          <a:p>
            <a:r>
              <a:rPr lang="en-US" b="1" dirty="0"/>
              <a:t>Mechanisms in C#</a:t>
            </a:r>
          </a:p>
        </p:txBody>
      </p:sp>
      <p:sp>
        <p:nvSpPr>
          <p:cNvPr id="5" name="Rectangle 1"/>
          <p:cNvSpPr>
            <a:spLocks noChangeArrowheads="1"/>
          </p:cNvSpPr>
          <p:nvPr/>
        </p:nvSpPr>
        <p:spPr bwMode="auto">
          <a:xfrm>
            <a:off x="1494754" y="2090905"/>
            <a:ext cx="452351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lock: Simplest way to synchronize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Monitor: Fine-grained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Lato" panose="020B0604020202020204" charset="0"/>
              </a:rPr>
              <a:t>Mutex</a:t>
            </a:r>
            <a:r>
              <a:rPr kumimoji="0" lang="en-US" altLang="en-US" b="0" i="0" u="none" strike="noStrike" cap="none" normalizeH="0" baseline="0" dirty="0">
                <a:ln>
                  <a:noFill/>
                </a:ln>
                <a:solidFill>
                  <a:schemeClr val="tx1"/>
                </a:solidFill>
                <a:effectLst/>
                <a:latin typeface="Lato" panose="020B0604020202020204" charset="0"/>
              </a:rPr>
              <a:t>: Inter-process synchronization.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Lato" panose="020B0604020202020204" charset="0"/>
              </a:rPr>
              <a:t>Semaphore: Controls access to a resource pool. </a:t>
            </a:r>
          </a:p>
        </p:txBody>
      </p:sp>
      <p:sp>
        <p:nvSpPr>
          <p:cNvPr id="6" name="Rectangle 5"/>
          <p:cNvSpPr/>
          <p:nvPr/>
        </p:nvSpPr>
        <p:spPr>
          <a:xfrm>
            <a:off x="1494754" y="3469326"/>
            <a:ext cx="4572000" cy="954107"/>
          </a:xfrm>
          <a:prstGeom prst="rect">
            <a:avLst/>
          </a:prstGeom>
          <a:solidFill>
            <a:schemeClr val="bg1">
              <a:lumMod val="85000"/>
            </a:schemeClr>
          </a:solidFill>
        </p:spPr>
        <p:txBody>
          <a:bodyPr>
            <a:spAutoFit/>
          </a:bodyPr>
          <a:lstStyle/>
          <a:p>
            <a:r>
              <a:rPr lang="en-US" dirty="0"/>
              <a:t>lock(</a:t>
            </a:r>
            <a:r>
              <a:rPr lang="en-US" dirty="0" err="1"/>
              <a:t>obj</a:t>
            </a:r>
            <a:r>
              <a:rPr lang="en-US" dirty="0"/>
              <a:t>)  </a:t>
            </a:r>
          </a:p>
          <a:p>
            <a:r>
              <a:rPr lang="en-US" dirty="0"/>
              <a:t>{  </a:t>
            </a:r>
          </a:p>
          <a:p>
            <a:r>
              <a:rPr lang="en-US" dirty="0"/>
              <a:t>    </a:t>
            </a:r>
            <a:r>
              <a:rPr lang="en-US" dirty="0" err="1"/>
              <a:t>sharedResource</a:t>
            </a:r>
            <a:r>
              <a:rPr lang="en-US" dirty="0"/>
              <a:t>++;  </a:t>
            </a:r>
          </a:p>
          <a:p>
            <a:r>
              <a:rPr lang="en-US" dirty="0"/>
              <a:t>}  </a:t>
            </a:r>
          </a:p>
        </p:txBody>
      </p:sp>
    </p:spTree>
    <p:extLst>
      <p:ext uri="{BB962C8B-B14F-4D97-AF65-F5344CB8AC3E}">
        <p14:creationId xmlns:p14="http://schemas.microsoft.com/office/powerpoint/2010/main" val="3495322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chemeClr val="lt1"/>
                </a:solidFill>
                <a:latin typeface="Lato"/>
                <a:ea typeface="Lato"/>
                <a:cs typeface="Lato"/>
                <a:sym typeface="Lato"/>
              </a:rPr>
              <a:t>Introduction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3416290"/>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Object-oriented programming (OOP) is a way of developing software applications using real-world terminologies to create entities that interact with one another using objects.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OOP makes applications flexible, reusable, well-structured, and easy to debug and test.</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The basic building blocks of OOP are classes, methods, properties, and objects.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Classes define the structure of an object, methods represent the behavior of an object, properties hold the data of an object, and objects are instances of a class.</a:t>
            </a:r>
          </a:p>
          <a:p>
            <a:pPr marL="285750" lvl="8"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Here are some of the benefits of OOP:</a:t>
            </a:r>
          </a:p>
          <a:p>
            <a:pPr marL="285750" lvl="8"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Reusability:</a:t>
            </a:r>
            <a:r>
              <a:rPr lang="en-US" dirty="0">
                <a:latin typeface="Lato" panose="020B0604020202020204" charset="0"/>
              </a:rPr>
              <a:t> Object-oriented programming (OOP) introduces </a:t>
            </a:r>
            <a:r>
              <a:rPr lang="en-US" i="1" dirty="0">
                <a:latin typeface="Lato" panose="020B0604020202020204" charset="0"/>
              </a:rPr>
              <a:t>Classes</a:t>
            </a:r>
            <a:r>
              <a:rPr lang="en-US" dirty="0">
                <a:latin typeface="Lato" panose="020B0604020202020204" charset="0"/>
              </a:rPr>
              <a:t> and </a:t>
            </a:r>
            <a:r>
              <a:rPr lang="en-US" i="1" dirty="0">
                <a:latin typeface="Lato" panose="020B0604020202020204" charset="0"/>
              </a:rPr>
              <a:t>Objects</a:t>
            </a:r>
            <a:r>
              <a:rPr lang="en-US" dirty="0">
                <a:latin typeface="Lato" panose="020B0604020202020204" charset="0"/>
              </a:rPr>
              <a:t> to promote code reuse. Instead of repeating the same code, you can create a class once and use its object multiple times wherever needed.</a:t>
            </a:r>
            <a:r>
              <a:rPr lang="en-US" b="1" dirty="0">
                <a:latin typeface="Lato" panose="020B0604020202020204" charset="0"/>
              </a:rPr>
              <a:t>		</a:t>
            </a:r>
          </a:p>
        </p:txBody>
      </p:sp>
    </p:spTree>
    <p:extLst>
      <p:ext uri="{BB962C8B-B14F-4D97-AF65-F5344CB8AC3E}">
        <p14:creationId xmlns:p14="http://schemas.microsoft.com/office/powerpoint/2010/main" val="12637027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chemeClr val="lt1"/>
                </a:solidFill>
                <a:latin typeface="Lato"/>
                <a:ea typeface="Lato"/>
                <a:cs typeface="Lato"/>
                <a:sym typeface="Lato"/>
              </a:rPr>
              <a:t>Introduction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2769959"/>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Extensibility: </a:t>
            </a:r>
            <a:r>
              <a:rPr lang="en-US" dirty="0">
                <a:latin typeface="Lato" panose="020B0604020202020204" charset="0"/>
              </a:rPr>
              <a:t>OOP allows you to add new features without rewriting everything. Using concepts like </a:t>
            </a:r>
            <a:r>
              <a:rPr lang="en-US" i="1" dirty="0">
                <a:latin typeface="Lato" panose="020B0604020202020204" charset="0"/>
              </a:rPr>
              <a:t>Inheritance</a:t>
            </a:r>
            <a:r>
              <a:rPr lang="en-US" dirty="0">
                <a:latin typeface="Lato" panose="020B0604020202020204" charset="0"/>
              </a:rPr>
              <a:t> you can extend existing code easily.</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Simplicity:</a:t>
            </a:r>
            <a:r>
              <a:rPr lang="en-US" dirty="0">
                <a:latin typeface="Lato" panose="020B0604020202020204" charset="0"/>
              </a:rPr>
              <a:t> Unlike traditional modular programming, where code can be scattered and harder to secure, OOP organizes code using </a:t>
            </a:r>
            <a:r>
              <a:rPr lang="en-US" i="1" dirty="0">
                <a:latin typeface="Lato" panose="020B0604020202020204" charset="0"/>
              </a:rPr>
              <a:t>Abstraction</a:t>
            </a:r>
            <a:r>
              <a:rPr lang="en-US" dirty="0">
                <a:latin typeface="Lato" panose="020B0604020202020204" charset="0"/>
              </a:rPr>
              <a:t>, </a:t>
            </a:r>
            <a:r>
              <a:rPr lang="en-US" i="1" dirty="0">
                <a:latin typeface="Lato" panose="020B0604020202020204" charset="0"/>
              </a:rPr>
              <a:t>Encapsulation</a:t>
            </a:r>
            <a:r>
              <a:rPr lang="en-US" dirty="0">
                <a:latin typeface="Lato" panose="020B0604020202020204" charset="0"/>
              </a:rPr>
              <a:t>, and </a:t>
            </a:r>
            <a:r>
              <a:rPr lang="en-US" i="1" dirty="0">
                <a:latin typeface="Lato" panose="020B0604020202020204" charset="0"/>
              </a:rPr>
              <a:t>Polymorphism</a:t>
            </a:r>
            <a:r>
              <a:rPr lang="en-US" dirty="0">
                <a:latin typeface="Lato" panose="020B0604020202020204" charset="0"/>
              </a:rPr>
              <a:t>. This simplifies understanding and enhances security.</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Maintainability:</a:t>
            </a:r>
            <a:r>
              <a:rPr lang="en-US" dirty="0">
                <a:latin typeface="Lato" panose="020B0604020202020204" charset="0"/>
              </a:rPr>
              <a:t> Since OOP focuses on Reusability, Extensibility, and Simplicity, it results in clean, organized, and easy-to-maintain code. This improves the overall quality and lifespan of applications.</a:t>
            </a:r>
            <a:r>
              <a:rPr lang="en-US" b="1" dirty="0">
                <a:latin typeface="Lato" panose="020B0604020202020204" charset="0"/>
              </a:rPr>
              <a:t>		</a:t>
            </a:r>
          </a:p>
        </p:txBody>
      </p:sp>
    </p:spTree>
    <p:extLst>
      <p:ext uri="{BB962C8B-B14F-4D97-AF65-F5344CB8AC3E}">
        <p14:creationId xmlns:p14="http://schemas.microsoft.com/office/powerpoint/2010/main" val="1624135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dirty="0">
                <a:solidFill>
                  <a:schemeClr val="lt1"/>
                </a:solidFill>
                <a:latin typeface="Lato"/>
                <a:ea typeface="Lato"/>
                <a:cs typeface="Lato"/>
                <a:sym typeface="Lato"/>
              </a:rPr>
              <a:t>Classes and Objects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724434" cy="3093124"/>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Class : </a:t>
            </a:r>
            <a:r>
              <a:rPr lang="en-US" dirty="0">
                <a:latin typeface="Lato" panose="020B0604020202020204" charset="0"/>
              </a:rPr>
              <a:t>A class is a user-defined blueprint that defines both </a:t>
            </a:r>
            <a:r>
              <a:rPr lang="en-US" i="1" dirty="0">
                <a:latin typeface="Lato" panose="020B0604020202020204" charset="0"/>
              </a:rPr>
              <a:t>state</a:t>
            </a:r>
            <a:r>
              <a:rPr lang="en-US" dirty="0">
                <a:latin typeface="Lato" panose="020B0604020202020204" charset="0"/>
              </a:rPr>
              <a:t> (properties) and </a:t>
            </a:r>
            <a:r>
              <a:rPr lang="en-US" i="1" dirty="0">
                <a:latin typeface="Lato" panose="020B0604020202020204" charset="0"/>
              </a:rPr>
              <a:t>behavior</a:t>
            </a:r>
            <a:r>
              <a:rPr lang="en-US" dirty="0">
                <a:latin typeface="Lato" panose="020B0604020202020204" charset="0"/>
              </a:rPr>
              <a:t> (actions). It serves as a template for creating objects. In C#, a class consists of a name, attributes (properties), and operations (methods).</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Object:  </a:t>
            </a:r>
            <a:r>
              <a:rPr lang="en-US" dirty="0">
                <a:latin typeface="Lato" panose="020B0604020202020204" charset="0"/>
              </a:rPr>
              <a:t>An object is a specific instance of a class. It brings the class to life and performs actions defined by the class. To access a class's members (attributes and methods), you use an object along with the dot(.) Operator.</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Methods:</a:t>
            </a:r>
            <a:r>
              <a:rPr lang="en-US" dirty="0">
                <a:latin typeface="Lato" panose="020B0604020202020204" charset="0"/>
              </a:rPr>
              <a:t>  A method represents a particular behavior. It performs some action and might return information about an object, or update an object’s data.</a:t>
            </a:r>
            <a:r>
              <a:rPr lang="en-US" b="1"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Properties: </a:t>
            </a:r>
            <a:r>
              <a:rPr lang="en-US" dirty="0">
                <a:latin typeface="Lato" panose="020B0604020202020204" charset="0"/>
              </a:rPr>
              <a:t>Properties hold the data temporarily during the execution of an application.	</a:t>
            </a:r>
          </a:p>
        </p:txBody>
      </p:sp>
      <p:sp>
        <p:nvSpPr>
          <p:cNvPr id="8" name="TextBox 7"/>
          <p:cNvSpPr txBox="1"/>
          <p:nvPr/>
        </p:nvSpPr>
        <p:spPr>
          <a:xfrm>
            <a:off x="1087582" y="3124200"/>
            <a:ext cx="3532909" cy="307777"/>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2855697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dirty="0">
                <a:solidFill>
                  <a:schemeClr val="lt1"/>
                </a:solidFill>
                <a:latin typeface="Lato"/>
                <a:ea typeface="Lato"/>
                <a:cs typeface="Lato"/>
                <a:sym typeface="Lato"/>
              </a:rPr>
              <a:t>Classes and Objects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78003" y="951170"/>
            <a:ext cx="8724434" cy="2769959"/>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Ex:</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lvl="0">
              <a:lnSpc>
                <a:spcPct val="150000"/>
              </a:lnSpc>
              <a:buClr>
                <a:schemeClr val="accent4">
                  <a:lumMod val="75000"/>
                </a:schemeClr>
              </a:buClr>
              <a:buSzPct val="80000"/>
            </a:pPr>
            <a:endParaRPr lang="en-US" dirty="0">
              <a:latin typeface="Lato" panose="020B0604020202020204" charset="0"/>
            </a:endParaRPr>
          </a:p>
        </p:txBody>
      </p:sp>
      <p:sp>
        <p:nvSpPr>
          <p:cNvPr id="8" name="TextBox 7"/>
          <p:cNvSpPr txBox="1"/>
          <p:nvPr/>
        </p:nvSpPr>
        <p:spPr>
          <a:xfrm>
            <a:off x="1087582" y="3124200"/>
            <a:ext cx="3532909" cy="307777"/>
          </a:xfrm>
          <a:prstGeom prst="rect">
            <a:avLst/>
          </a:prstGeom>
          <a:noFill/>
        </p:spPr>
        <p:txBody>
          <a:bodyPr wrap="square" rtlCol="0">
            <a:spAutoFit/>
          </a:bodyPr>
          <a:lstStyle/>
          <a:p>
            <a:endParaRPr lang="en-US" dirty="0"/>
          </a:p>
        </p:txBody>
      </p:sp>
      <p:sp>
        <p:nvSpPr>
          <p:cNvPr id="6" name="Rounded Rectangle 5"/>
          <p:cNvSpPr/>
          <p:nvPr/>
        </p:nvSpPr>
        <p:spPr>
          <a:xfrm>
            <a:off x="1142450" y="1357744"/>
            <a:ext cx="4018367" cy="176220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fontAlgn="base"/>
            <a:r>
              <a:rPr lang="en-US" b="1" dirty="0">
                <a:latin typeface="Lato" panose="020B0604020202020204" charset="0"/>
              </a:rPr>
              <a:t>public</a:t>
            </a:r>
            <a:r>
              <a:rPr lang="en-US" dirty="0">
                <a:latin typeface="Lato" panose="020B0604020202020204" charset="0"/>
              </a:rPr>
              <a:t> </a:t>
            </a:r>
            <a:r>
              <a:rPr lang="en-US" b="1" dirty="0">
                <a:latin typeface="Lato" panose="020B0604020202020204" charset="0"/>
              </a:rPr>
              <a:t>class</a:t>
            </a:r>
            <a:r>
              <a:rPr lang="en-US" dirty="0">
                <a:latin typeface="Lato" panose="020B0604020202020204" charset="0"/>
              </a:rPr>
              <a:t> Calculator</a:t>
            </a:r>
          </a:p>
          <a:p>
            <a:pPr fontAlgn="base"/>
            <a:r>
              <a:rPr lang="en-US" b="1" dirty="0">
                <a:latin typeface="Lato" panose="020B0604020202020204" charset="0"/>
              </a:rPr>
              <a:t>{</a:t>
            </a:r>
            <a:endParaRPr lang="en-US" dirty="0">
              <a:latin typeface="Lato" panose="020B0604020202020204" charset="0"/>
            </a:endParaRPr>
          </a:p>
          <a:p>
            <a:pPr fontAlgn="base"/>
            <a:r>
              <a:rPr lang="en-US" b="1" dirty="0">
                <a:latin typeface="Lato" panose="020B0604020202020204" charset="0"/>
              </a:rPr>
              <a:t>   public</a:t>
            </a:r>
            <a:r>
              <a:rPr lang="en-US" dirty="0">
                <a:latin typeface="Lato" panose="020B0604020202020204" charset="0"/>
              </a:rPr>
              <a:t> </a:t>
            </a:r>
            <a:r>
              <a:rPr lang="en-US" b="1" dirty="0" err="1">
                <a:latin typeface="Lato" panose="020B0604020202020204" charset="0"/>
              </a:rPr>
              <a:t>int</a:t>
            </a:r>
            <a:r>
              <a:rPr lang="en-US" dirty="0">
                <a:latin typeface="Lato" panose="020B0604020202020204" charset="0"/>
              </a:rPr>
              <a:t> </a:t>
            </a:r>
            <a:r>
              <a:rPr lang="en-US" dirty="0" err="1">
                <a:latin typeface="Lato" panose="020B0604020202020204" charset="0"/>
              </a:rPr>
              <a:t>CalculateSum</a:t>
            </a:r>
            <a:r>
              <a:rPr lang="en-US" b="1" dirty="0">
                <a:latin typeface="Lato" panose="020B0604020202020204" charset="0"/>
              </a:rPr>
              <a:t>(</a:t>
            </a:r>
            <a:r>
              <a:rPr lang="en-US" b="1" dirty="0" err="1">
                <a:latin typeface="Lato" panose="020B0604020202020204" charset="0"/>
              </a:rPr>
              <a:t>int</a:t>
            </a:r>
            <a:r>
              <a:rPr lang="en-US" dirty="0">
                <a:latin typeface="Lato" panose="020B0604020202020204" charset="0"/>
              </a:rPr>
              <a:t> no1, </a:t>
            </a:r>
            <a:r>
              <a:rPr lang="en-US" b="1" dirty="0" err="1">
                <a:latin typeface="Lato" panose="020B0604020202020204" charset="0"/>
              </a:rPr>
              <a:t>int</a:t>
            </a:r>
            <a:r>
              <a:rPr lang="en-US" dirty="0">
                <a:latin typeface="Lato" panose="020B0604020202020204" charset="0"/>
              </a:rPr>
              <a:t> no2</a:t>
            </a:r>
            <a:r>
              <a:rPr lang="en-US" b="1" dirty="0">
                <a:latin typeface="Lato" panose="020B0604020202020204" charset="0"/>
              </a:rPr>
              <a:t>)</a:t>
            </a:r>
            <a:endParaRPr lang="en-US" dirty="0">
              <a:latin typeface="Lato" panose="020B0604020202020204" charset="0"/>
            </a:endParaRPr>
          </a:p>
          <a:p>
            <a:pPr fontAlgn="base"/>
            <a:r>
              <a:rPr lang="en-US" b="1" dirty="0">
                <a:latin typeface="Lato" panose="020B0604020202020204" charset="0"/>
              </a:rPr>
              <a:t>    {</a:t>
            </a:r>
            <a:endParaRPr lang="en-US" dirty="0">
              <a:latin typeface="Lato" panose="020B0604020202020204" charset="0"/>
            </a:endParaRPr>
          </a:p>
          <a:p>
            <a:pPr fontAlgn="base"/>
            <a:r>
              <a:rPr lang="en-US" b="1" dirty="0">
                <a:latin typeface="Lato" panose="020B0604020202020204" charset="0"/>
              </a:rPr>
              <a:t>       return</a:t>
            </a:r>
            <a:r>
              <a:rPr lang="en-US" dirty="0">
                <a:latin typeface="Lato" panose="020B0604020202020204" charset="0"/>
              </a:rPr>
              <a:t> no1 + no2;</a:t>
            </a:r>
          </a:p>
          <a:p>
            <a:pPr fontAlgn="base"/>
            <a:r>
              <a:rPr lang="en-US" b="1" dirty="0">
                <a:latin typeface="Lato" panose="020B0604020202020204" charset="0"/>
              </a:rPr>
              <a:t>    }</a:t>
            </a:r>
            <a:endParaRPr lang="en-US" dirty="0">
              <a:latin typeface="Lato" panose="020B0604020202020204" charset="0"/>
            </a:endParaRPr>
          </a:p>
          <a:p>
            <a:pPr fontAlgn="base"/>
            <a:r>
              <a:rPr lang="en-US" b="1" dirty="0">
                <a:latin typeface="Lato" panose="020B0604020202020204" charset="0"/>
              </a:rPr>
              <a:t>}  </a:t>
            </a:r>
            <a:endParaRPr lang="en-US" dirty="0">
              <a:latin typeface="Lato" panose="020B0604020202020204" charset="0"/>
            </a:endParaRPr>
          </a:p>
        </p:txBody>
      </p:sp>
      <p:sp>
        <p:nvSpPr>
          <p:cNvPr id="7" name="Rounded Rectangle 6"/>
          <p:cNvSpPr/>
          <p:nvPr/>
        </p:nvSpPr>
        <p:spPr>
          <a:xfrm>
            <a:off x="5285509" y="1323109"/>
            <a:ext cx="3747655" cy="17968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fontAlgn="base"/>
            <a:r>
              <a:rPr lang="en-US" dirty="0">
                <a:latin typeface="Lato" panose="020B0604020202020204" charset="0"/>
              </a:rPr>
              <a:t>//Creating object</a:t>
            </a:r>
          </a:p>
          <a:p>
            <a:pPr fontAlgn="base"/>
            <a:r>
              <a:rPr lang="en-US" dirty="0">
                <a:latin typeface="Lato" panose="020B0604020202020204" charset="0"/>
              </a:rPr>
              <a:t>Calculator </a:t>
            </a:r>
            <a:r>
              <a:rPr lang="en-US" dirty="0" err="1">
                <a:latin typeface="Lato" panose="020B0604020202020204" charset="0"/>
              </a:rPr>
              <a:t>calObject</a:t>
            </a:r>
            <a:r>
              <a:rPr lang="en-US" dirty="0">
                <a:latin typeface="Lato" panose="020B0604020202020204" charset="0"/>
              </a:rPr>
              <a:t> = new Calculator</a:t>
            </a:r>
            <a:r>
              <a:rPr lang="en-US" b="1" dirty="0">
                <a:latin typeface="Lato" panose="020B0604020202020204" charset="0"/>
              </a:rPr>
              <a:t>()</a:t>
            </a:r>
            <a:r>
              <a:rPr lang="en-US" dirty="0">
                <a:latin typeface="Lato" panose="020B0604020202020204" charset="0"/>
              </a:rPr>
              <a:t>;</a:t>
            </a:r>
          </a:p>
          <a:p>
            <a:pPr fontAlgn="base"/>
            <a:endParaRPr lang="en-US" dirty="0">
              <a:latin typeface="Lato" panose="020B0604020202020204" charset="0"/>
            </a:endParaRPr>
          </a:p>
          <a:p>
            <a:pPr fontAlgn="base"/>
            <a:r>
              <a:rPr lang="en-US" dirty="0">
                <a:latin typeface="Lato" panose="020B0604020202020204" charset="0"/>
              </a:rPr>
              <a:t>//Accessing Calculator class member using Calculator class object</a:t>
            </a:r>
          </a:p>
          <a:p>
            <a:pPr fontAlgn="base"/>
            <a:endParaRPr lang="en-US" dirty="0">
              <a:latin typeface="Lato" panose="020B0604020202020204" charset="0"/>
            </a:endParaRPr>
          </a:p>
          <a:p>
            <a:pPr fontAlgn="base"/>
            <a:r>
              <a:rPr lang="en-US" b="1" dirty="0" err="1">
                <a:latin typeface="Lato" panose="020B0604020202020204" charset="0"/>
              </a:rPr>
              <a:t>int</a:t>
            </a:r>
            <a:r>
              <a:rPr lang="en-US" dirty="0">
                <a:latin typeface="Lato" panose="020B0604020202020204" charset="0"/>
              </a:rPr>
              <a:t> result = </a:t>
            </a:r>
            <a:r>
              <a:rPr lang="en-US" dirty="0" err="1">
                <a:latin typeface="Lato" panose="020B0604020202020204" charset="0"/>
              </a:rPr>
              <a:t>calObject.CalculateSum</a:t>
            </a:r>
            <a:r>
              <a:rPr lang="en-US" b="1" dirty="0">
                <a:latin typeface="Lato" panose="020B0604020202020204" charset="0"/>
              </a:rPr>
              <a:t>(</a:t>
            </a:r>
            <a:r>
              <a:rPr lang="en-US" dirty="0">
                <a:latin typeface="Lato" panose="020B0604020202020204" charset="0"/>
              </a:rPr>
              <a:t>10, 20</a:t>
            </a:r>
            <a:r>
              <a:rPr lang="en-US" b="1" dirty="0">
                <a:latin typeface="Lato" panose="020B0604020202020204" charset="0"/>
              </a:rPr>
              <a:t>)</a:t>
            </a:r>
            <a:r>
              <a:rPr lang="en-US" dirty="0">
                <a:latin typeface="Lato" panose="020B0604020202020204" charset="0"/>
              </a:rPr>
              <a:t>;</a:t>
            </a:r>
          </a:p>
        </p:txBody>
      </p:sp>
    </p:spTree>
    <p:extLst>
      <p:ext uri="{BB962C8B-B14F-4D97-AF65-F5344CB8AC3E}">
        <p14:creationId xmlns:p14="http://schemas.microsoft.com/office/powerpoint/2010/main" val="19577448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Constructors and Destructors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724434" cy="2123628"/>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err="1">
                <a:latin typeface="Lato" panose="020B0604020202020204" charset="0"/>
              </a:rPr>
              <a:t>Consructor</a:t>
            </a:r>
            <a:r>
              <a:rPr lang="en-US" b="1" dirty="0">
                <a:latin typeface="Lato" panose="020B0604020202020204" charset="0"/>
              </a:rPr>
              <a:t>:  </a:t>
            </a:r>
            <a:r>
              <a:rPr lang="en-US" dirty="0">
                <a:latin typeface="Lato" panose="020B0604020202020204" charset="0"/>
              </a:rPr>
              <a:t>It is a special method present inside a class responsible for initializing the variables of that class.</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Destructor: </a:t>
            </a:r>
            <a:r>
              <a:rPr lang="en-US" dirty="0">
                <a:latin typeface="Lato" panose="020B0604020202020204" charset="0"/>
              </a:rPr>
              <a:t>A </a:t>
            </a:r>
            <a:r>
              <a:rPr lang="en-US" i="1" dirty="0">
                <a:latin typeface="Lato" panose="020B0604020202020204" charset="0"/>
              </a:rPr>
              <a:t>destructor</a:t>
            </a:r>
            <a:r>
              <a:rPr lang="en-US" dirty="0">
                <a:latin typeface="Lato" panose="020B0604020202020204" charset="0"/>
              </a:rPr>
              <a:t> is a special method that is called automatically when an object is destroyed or goes out of scope. It is used to release resources. In C#, a destructor has the same name as the class but is preceded by a tilde (~).</a:t>
            </a:r>
          </a:p>
          <a:p>
            <a:pPr lvl="5">
              <a:lnSpc>
                <a:spcPct val="150000"/>
              </a:lnSpc>
              <a:buClr>
                <a:schemeClr val="accent4">
                  <a:lumMod val="75000"/>
                </a:schemeClr>
              </a:buClr>
              <a:buSzPct val="80000"/>
            </a:pPr>
            <a:endParaRPr lang="en-US" dirty="0">
              <a:latin typeface="Lato" panose="020B0604020202020204" charset="0"/>
            </a:endParaRPr>
          </a:p>
        </p:txBody>
      </p:sp>
      <p:sp>
        <p:nvSpPr>
          <p:cNvPr id="8" name="TextBox 7"/>
          <p:cNvSpPr txBox="1"/>
          <p:nvPr/>
        </p:nvSpPr>
        <p:spPr>
          <a:xfrm>
            <a:off x="1087582" y="3124200"/>
            <a:ext cx="3532909" cy="307777"/>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41791529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Constructors and Destructors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724434" cy="507801"/>
          </a:xfrm>
          <a:prstGeom prst="rect">
            <a:avLst/>
          </a:prstGeom>
          <a:noFill/>
          <a:ln>
            <a:noFill/>
          </a:ln>
        </p:spPr>
        <p:txBody>
          <a:bodyPr spcFirstLastPara="1" wrap="square" lIns="91425" tIns="91425" rIns="91425" bIns="91425" anchor="t" anchorCtr="0">
            <a:spAutoFit/>
          </a:bodyPr>
          <a:lstStyle/>
          <a:p>
            <a:pPr lvl="5">
              <a:lnSpc>
                <a:spcPct val="150000"/>
              </a:lnSpc>
              <a:buClr>
                <a:schemeClr val="accent4">
                  <a:lumMod val="75000"/>
                </a:schemeClr>
              </a:buClr>
              <a:buSzPct val="80000"/>
            </a:pPr>
            <a:endParaRPr lang="en-US" dirty="0">
              <a:latin typeface="Lato" panose="020B0604020202020204" charset="0"/>
            </a:endParaRPr>
          </a:p>
        </p:txBody>
      </p:sp>
      <p:sp>
        <p:nvSpPr>
          <p:cNvPr id="8" name="TextBox 7"/>
          <p:cNvSpPr txBox="1"/>
          <p:nvPr/>
        </p:nvSpPr>
        <p:spPr>
          <a:xfrm>
            <a:off x="1087582" y="3124200"/>
            <a:ext cx="3532909" cy="307777"/>
          </a:xfrm>
          <a:prstGeom prst="rect">
            <a:avLst/>
          </a:prstGeom>
          <a:noFill/>
        </p:spPr>
        <p:txBody>
          <a:bodyPr wrap="square" rtlCol="0">
            <a:spAutoFit/>
          </a:bodyPr>
          <a:lstStyle/>
          <a:p>
            <a:endParaRPr lang="en-US"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016" y="907473"/>
            <a:ext cx="4034857" cy="3211296"/>
          </a:xfrm>
          <a:prstGeom prst="rect">
            <a:avLst/>
          </a:prstGeom>
        </p:spPr>
      </p:pic>
    </p:spTree>
    <p:extLst>
      <p:ext uri="{BB962C8B-B14F-4D97-AF65-F5344CB8AC3E}">
        <p14:creationId xmlns:p14="http://schemas.microsoft.com/office/powerpoint/2010/main" val="22995100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Access Modifiers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724434" cy="507801"/>
          </a:xfrm>
          <a:prstGeom prst="rect">
            <a:avLst/>
          </a:prstGeom>
          <a:noFill/>
          <a:ln>
            <a:noFill/>
          </a:ln>
        </p:spPr>
        <p:txBody>
          <a:bodyPr spcFirstLastPara="1" wrap="square" lIns="91425" tIns="91425" rIns="91425" bIns="91425" anchor="t" anchorCtr="0">
            <a:spAutoFit/>
          </a:bodyPr>
          <a:lstStyle/>
          <a:p>
            <a:pPr lvl="5">
              <a:lnSpc>
                <a:spcPct val="150000"/>
              </a:lnSpc>
              <a:buClr>
                <a:schemeClr val="accent4">
                  <a:lumMod val="75000"/>
                </a:schemeClr>
              </a:buClr>
              <a:buSzPct val="80000"/>
            </a:pPr>
            <a:endParaRPr lang="en-US" dirty="0">
              <a:latin typeface="Lato" panose="020B0604020202020204" charset="0"/>
            </a:endParaRPr>
          </a:p>
        </p:txBody>
      </p:sp>
      <p:sp>
        <p:nvSpPr>
          <p:cNvPr id="8" name="TextBox 7"/>
          <p:cNvSpPr txBox="1"/>
          <p:nvPr/>
        </p:nvSpPr>
        <p:spPr>
          <a:xfrm>
            <a:off x="1087582" y="3124200"/>
            <a:ext cx="3532909" cy="307777"/>
          </a:xfrm>
          <a:prstGeom prst="rect">
            <a:avLst/>
          </a:prstGeom>
          <a:noFill/>
        </p:spPr>
        <p:txBody>
          <a:bodyPr wrap="square" rtlCol="0">
            <a:spAutoFit/>
          </a:bodyPr>
          <a:lstStyle/>
          <a:p>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192340632"/>
              </p:ext>
            </p:extLst>
          </p:nvPr>
        </p:nvGraphicFramePr>
        <p:xfrm>
          <a:off x="1407986" y="1022571"/>
          <a:ext cx="6096000" cy="3306850"/>
        </p:xfrm>
        <a:graphic>
          <a:graphicData uri="http://schemas.openxmlformats.org/drawingml/2006/table">
            <a:tbl>
              <a:tblPr firstRow="1" bandRow="1">
                <a:tableStyleId>{5C22544A-7EE6-4342-B048-85BDC9FD1C3A}</a:tableStyleId>
              </a:tblPr>
              <a:tblGrid>
                <a:gridCol w="2022682">
                  <a:extLst>
                    <a:ext uri="{9D8B030D-6E8A-4147-A177-3AD203B41FA5}">
                      <a16:colId xmlns:a16="http://schemas.microsoft.com/office/drawing/2014/main" val="913197121"/>
                    </a:ext>
                  </a:extLst>
                </a:gridCol>
                <a:gridCol w="4073318">
                  <a:extLst>
                    <a:ext uri="{9D8B030D-6E8A-4147-A177-3AD203B41FA5}">
                      <a16:colId xmlns:a16="http://schemas.microsoft.com/office/drawing/2014/main" val="3379841822"/>
                    </a:ext>
                  </a:extLst>
                </a:gridCol>
              </a:tblGrid>
              <a:tr h="492530">
                <a:tc>
                  <a:txBody>
                    <a:bodyPr/>
                    <a:lstStyle/>
                    <a:p>
                      <a:pPr algn="ctr"/>
                      <a:r>
                        <a:rPr lang="en-US" dirty="0">
                          <a:latin typeface="Lato" panose="020B0604020202020204" charset="0"/>
                        </a:rPr>
                        <a:t>Modifier</a:t>
                      </a:r>
                    </a:p>
                  </a:txBody>
                  <a:tcPr/>
                </a:tc>
                <a:tc>
                  <a:txBody>
                    <a:bodyPr/>
                    <a:lstStyle/>
                    <a:p>
                      <a:pPr algn="ctr"/>
                      <a:r>
                        <a:rPr lang="en-US" dirty="0">
                          <a:latin typeface="Lato" panose="020B0604020202020204" charset="0"/>
                        </a:rPr>
                        <a:t>Accessibility</a:t>
                      </a:r>
                    </a:p>
                  </a:txBody>
                  <a:tcPr/>
                </a:tc>
                <a:extLst>
                  <a:ext uri="{0D108BD9-81ED-4DB2-BD59-A6C34878D82A}">
                    <a16:rowId xmlns:a16="http://schemas.microsoft.com/office/drawing/2014/main" val="923699742"/>
                  </a:ext>
                </a:extLst>
              </a:tr>
              <a:tr h="370840">
                <a:tc>
                  <a:txBody>
                    <a:bodyPr/>
                    <a:lstStyle/>
                    <a:p>
                      <a:r>
                        <a:rPr lang="en-US" dirty="0">
                          <a:latin typeface="Lato" panose="020B0604020202020204" charset="0"/>
                        </a:rPr>
                        <a:t>Public</a:t>
                      </a:r>
                    </a:p>
                  </a:txBody>
                  <a:tcPr/>
                </a:tc>
                <a:tc>
                  <a:txBody>
                    <a:bodyPr/>
                    <a:lstStyle/>
                    <a:p>
                      <a:r>
                        <a:rPr lang="en-US" dirty="0"/>
                        <a:t>Accessible from anywhere in the application.</a:t>
                      </a:r>
                      <a:endParaRPr lang="en-US" dirty="0">
                        <a:latin typeface="Lato" panose="020B0604020202020204" charset="0"/>
                      </a:endParaRPr>
                    </a:p>
                  </a:txBody>
                  <a:tcPr/>
                </a:tc>
                <a:extLst>
                  <a:ext uri="{0D108BD9-81ED-4DB2-BD59-A6C34878D82A}">
                    <a16:rowId xmlns:a16="http://schemas.microsoft.com/office/drawing/2014/main" val="3390094012"/>
                  </a:ext>
                </a:extLst>
              </a:tr>
              <a:tr h="370840">
                <a:tc>
                  <a:txBody>
                    <a:bodyPr/>
                    <a:lstStyle/>
                    <a:p>
                      <a:r>
                        <a:rPr lang="en-US" dirty="0">
                          <a:latin typeface="Lato" panose="020B0604020202020204" charset="0"/>
                        </a:rPr>
                        <a:t>Private</a:t>
                      </a:r>
                    </a:p>
                  </a:txBody>
                  <a:tcPr/>
                </a:tc>
                <a:tc>
                  <a:txBody>
                    <a:bodyPr/>
                    <a:lstStyle/>
                    <a:p>
                      <a:r>
                        <a:rPr lang="en-US" dirty="0"/>
                        <a:t>Accessible only within the class where it is defined.</a:t>
                      </a:r>
                      <a:endParaRPr lang="en-US" dirty="0">
                        <a:latin typeface="Lato" panose="020B0604020202020204" charset="0"/>
                      </a:endParaRPr>
                    </a:p>
                  </a:txBody>
                  <a:tcPr/>
                </a:tc>
                <a:extLst>
                  <a:ext uri="{0D108BD9-81ED-4DB2-BD59-A6C34878D82A}">
                    <a16:rowId xmlns:a16="http://schemas.microsoft.com/office/drawing/2014/main" val="871086166"/>
                  </a:ext>
                </a:extLst>
              </a:tr>
              <a:tr h="370840">
                <a:tc>
                  <a:txBody>
                    <a:bodyPr/>
                    <a:lstStyle/>
                    <a:p>
                      <a:r>
                        <a:rPr lang="en-US" dirty="0">
                          <a:latin typeface="Lato" panose="020B0604020202020204" charset="0"/>
                        </a:rPr>
                        <a:t>Protected</a:t>
                      </a:r>
                    </a:p>
                  </a:txBody>
                  <a:tcPr/>
                </a:tc>
                <a:tc>
                  <a:txBody>
                    <a:bodyPr/>
                    <a:lstStyle/>
                    <a:p>
                      <a:r>
                        <a:rPr lang="en-US" dirty="0"/>
                        <a:t>Accessible within the class and by derived classes.</a:t>
                      </a:r>
                      <a:endParaRPr lang="en-US" dirty="0">
                        <a:latin typeface="Lato" panose="020B0604020202020204" charset="0"/>
                      </a:endParaRPr>
                    </a:p>
                  </a:txBody>
                  <a:tcPr/>
                </a:tc>
                <a:extLst>
                  <a:ext uri="{0D108BD9-81ED-4DB2-BD59-A6C34878D82A}">
                    <a16:rowId xmlns:a16="http://schemas.microsoft.com/office/drawing/2014/main" val="2817191567"/>
                  </a:ext>
                </a:extLst>
              </a:tr>
              <a:tr h="370840">
                <a:tc>
                  <a:txBody>
                    <a:bodyPr/>
                    <a:lstStyle/>
                    <a:p>
                      <a:r>
                        <a:rPr lang="en-US" dirty="0">
                          <a:latin typeface="Lato" panose="020B0604020202020204" charset="0"/>
                        </a:rPr>
                        <a:t>Internal</a:t>
                      </a:r>
                    </a:p>
                  </a:txBody>
                  <a:tcPr/>
                </a:tc>
                <a:tc>
                  <a:txBody>
                    <a:bodyPr/>
                    <a:lstStyle/>
                    <a:p>
                      <a:r>
                        <a:rPr lang="en-US" dirty="0"/>
                        <a:t>Accessible within the same assembly (project).</a:t>
                      </a:r>
                      <a:endParaRPr lang="en-US" dirty="0">
                        <a:latin typeface="Lato" panose="020B0604020202020204" charset="0"/>
                      </a:endParaRPr>
                    </a:p>
                  </a:txBody>
                  <a:tcPr/>
                </a:tc>
                <a:extLst>
                  <a:ext uri="{0D108BD9-81ED-4DB2-BD59-A6C34878D82A}">
                    <a16:rowId xmlns:a16="http://schemas.microsoft.com/office/drawing/2014/main" val="3967861498"/>
                  </a:ext>
                </a:extLst>
              </a:tr>
              <a:tr h="370840">
                <a:tc>
                  <a:txBody>
                    <a:bodyPr/>
                    <a:lstStyle/>
                    <a:p>
                      <a:r>
                        <a:rPr lang="en-US" dirty="0">
                          <a:latin typeface="Lato" panose="020B0604020202020204" charset="0"/>
                        </a:rPr>
                        <a:t>Protected Internal</a:t>
                      </a:r>
                    </a:p>
                  </a:txBody>
                  <a:tcPr/>
                </a:tc>
                <a:tc>
                  <a:txBody>
                    <a:bodyPr/>
                    <a:lstStyle/>
                    <a:p>
                      <a:r>
                        <a:rPr lang="en-US" dirty="0"/>
                        <a:t>Accessible within the same assembly or by derived classes.</a:t>
                      </a:r>
                      <a:endParaRPr lang="en-US" dirty="0">
                        <a:latin typeface="Lato" panose="020B0604020202020204" charset="0"/>
                      </a:endParaRPr>
                    </a:p>
                  </a:txBody>
                  <a:tcPr/>
                </a:tc>
                <a:extLst>
                  <a:ext uri="{0D108BD9-81ED-4DB2-BD59-A6C34878D82A}">
                    <a16:rowId xmlns:a16="http://schemas.microsoft.com/office/drawing/2014/main" val="180071584"/>
                  </a:ext>
                </a:extLst>
              </a:tr>
              <a:tr h="370840">
                <a:tc>
                  <a:txBody>
                    <a:bodyPr/>
                    <a:lstStyle/>
                    <a:p>
                      <a:r>
                        <a:rPr lang="en-US" dirty="0">
                          <a:latin typeface="Lato" panose="020B0604020202020204" charset="0"/>
                        </a:rPr>
                        <a:t>Private Protected</a:t>
                      </a:r>
                    </a:p>
                  </a:txBody>
                  <a:tcPr/>
                </a:tc>
                <a:tc>
                  <a:txBody>
                    <a:bodyPr/>
                    <a:lstStyle/>
                    <a:p>
                      <a:r>
                        <a:rPr lang="en-US" dirty="0"/>
                        <a:t>Accessible within the same class and derived classes, but only in the same assembly.</a:t>
                      </a:r>
                      <a:endParaRPr lang="en-US" dirty="0">
                        <a:latin typeface="Lato" panose="020B0604020202020204" charset="0"/>
                      </a:endParaRPr>
                    </a:p>
                  </a:txBody>
                  <a:tcPr/>
                </a:tc>
                <a:extLst>
                  <a:ext uri="{0D108BD9-81ED-4DB2-BD59-A6C34878D82A}">
                    <a16:rowId xmlns:a16="http://schemas.microsoft.com/office/drawing/2014/main" val="1284831534"/>
                  </a:ext>
                </a:extLst>
              </a:tr>
            </a:tbl>
          </a:graphicData>
        </a:graphic>
      </p:graphicFrame>
    </p:spTree>
    <p:extLst>
      <p:ext uri="{BB962C8B-B14F-4D97-AF65-F5344CB8AC3E}">
        <p14:creationId xmlns:p14="http://schemas.microsoft.com/office/powerpoint/2010/main" val="39947938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Encapsulation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724434" cy="3093124"/>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Property: </a:t>
            </a:r>
            <a:r>
              <a:rPr lang="en-US" dirty="0">
                <a:latin typeface="Lato" panose="020B0604020202020204" charset="0"/>
              </a:rPr>
              <a:t>Properties hold the data temporarily during the execution of an application.</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Fields : </a:t>
            </a:r>
            <a:r>
              <a:rPr lang="en-US" dirty="0">
                <a:latin typeface="Lato" panose="020B0604020202020204" charset="0"/>
              </a:rPr>
              <a:t>Fields are variables that directly hold data in a class. Typically kept private to restrict direct access and ensure better control.</a:t>
            </a:r>
          </a:p>
          <a:p>
            <a:pPr marL="285750" lvl="0" indent="-285750">
              <a:lnSpc>
                <a:spcPct val="150000"/>
              </a:lnSpc>
              <a:buClr>
                <a:schemeClr val="accent4">
                  <a:lumMod val="75000"/>
                </a:schemeClr>
              </a:buClr>
              <a:buSzPct val="80000"/>
              <a:buFont typeface="Lato" panose="020B0604020202020204" charset="0"/>
              <a:buChar char="►"/>
            </a:pPr>
            <a:r>
              <a:rPr lang="en-US" b="1" dirty="0" err="1">
                <a:latin typeface="Lato" panose="020B0604020202020204" charset="0"/>
              </a:rPr>
              <a:t>Accessors</a:t>
            </a:r>
            <a:r>
              <a:rPr lang="en-US" b="1" dirty="0">
                <a:latin typeface="Lato" panose="020B0604020202020204" charset="0"/>
              </a:rPr>
              <a:t> : </a:t>
            </a:r>
            <a:r>
              <a:rPr lang="en-US" dirty="0">
                <a:latin typeface="Lato" panose="020B0604020202020204" charset="0"/>
              </a:rPr>
              <a:t>An </a:t>
            </a:r>
            <a:r>
              <a:rPr lang="en-US" dirty="0" err="1">
                <a:latin typeface="Lato" panose="020B0604020202020204" charset="0"/>
              </a:rPr>
              <a:t>accessor</a:t>
            </a:r>
            <a:r>
              <a:rPr lang="en-US" dirty="0">
                <a:latin typeface="Lato" panose="020B0604020202020204" charset="0"/>
              </a:rPr>
              <a:t> is a special block of code in a property that is used to get (retrieve) or set (assign) the value of a private field in a controlled way.</a:t>
            </a:r>
            <a:br>
              <a:rPr lang="en-US" dirty="0">
                <a:latin typeface="Lato" panose="020B0604020202020204" charset="0"/>
              </a:rPr>
            </a:br>
            <a:r>
              <a:rPr lang="en-US" b="1" dirty="0">
                <a:latin typeface="Lato" panose="020B0604020202020204" charset="0"/>
              </a:rPr>
              <a:t>Get </a:t>
            </a:r>
            <a:r>
              <a:rPr lang="en-US" b="1" dirty="0" err="1">
                <a:latin typeface="Lato" panose="020B0604020202020204" charset="0"/>
              </a:rPr>
              <a:t>Accessor</a:t>
            </a:r>
            <a:r>
              <a:rPr lang="en-US" b="1" dirty="0">
                <a:latin typeface="Lato" panose="020B0604020202020204" charset="0"/>
              </a:rPr>
              <a:t> : </a:t>
            </a:r>
            <a:r>
              <a:rPr lang="en-US" dirty="0">
                <a:latin typeface="Lato" panose="020B0604020202020204" charset="0"/>
              </a:rPr>
              <a:t>The get </a:t>
            </a:r>
            <a:r>
              <a:rPr lang="en-US" dirty="0" err="1">
                <a:latin typeface="Lato" panose="020B0604020202020204" charset="0"/>
              </a:rPr>
              <a:t>accessor</a:t>
            </a:r>
            <a:r>
              <a:rPr lang="en-US" dirty="0">
                <a:latin typeface="Lato" panose="020B0604020202020204" charset="0"/>
              </a:rPr>
              <a:t> is used to retrieve the value of a private field.</a:t>
            </a:r>
            <a:br>
              <a:rPr lang="en-US" b="1" dirty="0">
                <a:latin typeface="Lato" panose="020B0604020202020204" charset="0"/>
              </a:rPr>
            </a:br>
            <a:r>
              <a:rPr lang="en-US" b="1" dirty="0">
                <a:latin typeface="Lato" panose="020B0604020202020204" charset="0"/>
              </a:rPr>
              <a:t>Set </a:t>
            </a:r>
            <a:r>
              <a:rPr lang="en-US" b="1" dirty="0" err="1">
                <a:latin typeface="Lato" panose="020B0604020202020204" charset="0"/>
              </a:rPr>
              <a:t>Accessor</a:t>
            </a:r>
            <a:r>
              <a:rPr lang="en-US" b="1" dirty="0">
                <a:latin typeface="Lato" panose="020B0604020202020204" charset="0"/>
              </a:rPr>
              <a:t> :  </a:t>
            </a:r>
            <a:r>
              <a:rPr lang="en-US" dirty="0">
                <a:latin typeface="Lato" panose="020B0604020202020204" charset="0"/>
              </a:rPr>
              <a:t>The set </a:t>
            </a:r>
            <a:r>
              <a:rPr lang="en-US" dirty="0" err="1">
                <a:latin typeface="Lato" panose="020B0604020202020204" charset="0"/>
              </a:rPr>
              <a:t>accessor</a:t>
            </a:r>
            <a:r>
              <a:rPr lang="en-US" dirty="0">
                <a:latin typeface="Lato" panose="020B0604020202020204" charset="0"/>
              </a:rPr>
              <a:t> is used to assign a value to a private field.</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36551993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Encapsulation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724434" cy="1154132"/>
          </a:xfrm>
          <a:prstGeom prst="rect">
            <a:avLst/>
          </a:prstGeom>
          <a:noFill/>
          <a:ln>
            <a:noFill/>
          </a:ln>
        </p:spPr>
        <p:txBody>
          <a:bodyPr spcFirstLastPara="1" wrap="square" lIns="91425" tIns="91425" rIns="91425" bIns="91425" anchor="t" anchorCtr="0">
            <a:spAutoFit/>
          </a:bodyPr>
          <a:lstStyle/>
          <a:p>
            <a:pPr lvl="4">
              <a:lnSpc>
                <a:spcPct val="150000"/>
              </a:lnSpc>
              <a:buClr>
                <a:schemeClr val="accent4">
                  <a:lumMod val="75000"/>
                </a:schemeClr>
              </a:buClr>
              <a:buSzPct val="80000"/>
            </a:pPr>
            <a:br>
              <a:rPr lang="en-US" dirty="0"/>
            </a:br>
            <a:r>
              <a:rPr lang="en-US" dirty="0"/>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5980" y="1032404"/>
            <a:ext cx="3266011" cy="3532921"/>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54605" y="1032403"/>
            <a:ext cx="4818100" cy="3532921"/>
          </a:xfrm>
          <a:prstGeom prst="rect">
            <a:avLst/>
          </a:prstGeom>
        </p:spPr>
      </p:pic>
    </p:spTree>
    <p:extLst>
      <p:ext uri="{BB962C8B-B14F-4D97-AF65-F5344CB8AC3E}">
        <p14:creationId xmlns:p14="http://schemas.microsoft.com/office/powerpoint/2010/main" val="39277931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Encapsulation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63390" y="704505"/>
            <a:ext cx="8724434" cy="4708951"/>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Encapsulation Hides the internal state and functionality of an object and only allows access through a public set of functions.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The Encapsulation Principle in C# is very similar to a Capsule. As a capsule binds its medicine within it, in the same way in C#, the Encapsulation Principle binds the State (Variables) and </a:t>
            </a:r>
            <a:r>
              <a:rPr lang="en-US" dirty="0" err="1">
                <a:latin typeface="Lato" panose="020B0604020202020204" charset="0"/>
              </a:rPr>
              <a:t>Behaviour</a:t>
            </a:r>
            <a:r>
              <a:rPr lang="en-US" dirty="0">
                <a:latin typeface="Lato" panose="020B0604020202020204" charset="0"/>
              </a:rPr>
              <a:t> (Methods) into a single unit called class, </a:t>
            </a:r>
            <a:r>
              <a:rPr lang="en-US" dirty="0" err="1">
                <a:latin typeface="Lato" panose="020B0604020202020204" charset="0"/>
              </a:rPr>
              <a:t>enum</a:t>
            </a:r>
            <a:r>
              <a:rPr lang="en-US" dirty="0">
                <a:latin typeface="Lato" panose="020B0604020202020204" charset="0"/>
              </a:rPr>
              <a:t>, interface, etc.</a:t>
            </a:r>
          </a:p>
          <a:p>
            <a:pPr marL="285750" lvl="0" indent="-285750">
              <a:lnSpc>
                <a:spcPct val="150000"/>
              </a:lnSpc>
              <a:buClr>
                <a:schemeClr val="accent4">
                  <a:lumMod val="75000"/>
                </a:schemeClr>
              </a:buClr>
              <a:buSzPct val="80000"/>
              <a:buFont typeface="Lato" panose="020B0604020202020204" charset="0"/>
              <a:buChar char="►"/>
            </a:pPr>
            <a:r>
              <a:rPr lang="en" dirty="0">
                <a:solidFill>
                  <a:srgbClr val="222222"/>
                </a:solidFill>
                <a:latin typeface="Lato" panose="020B0604020202020204" charset="0"/>
                <a:ea typeface="Lato"/>
                <a:cs typeface="Lato"/>
                <a:sym typeface="Lato"/>
              </a:rPr>
              <a:t>Encapsulation hides the data and implementation details show only the required members within a class, thus hiding complexity from other code. No other code needs to know about implementation detail and also can’t modify the code of the class’s data and methods</a:t>
            </a:r>
            <a:endParaRPr lang="en-US" dirty="0">
              <a:latin typeface="Lato" panose="020B0604020202020204" charset="0"/>
            </a:endParaRP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panose="020B0604020202020204" charset="0"/>
                <a:ea typeface="Lato"/>
                <a:cs typeface="Lato"/>
                <a:sym typeface="Lato"/>
              </a:rPr>
              <a:t>Most object-oriented programming languages allow you to create classes and their properties and methods along with the access modifiers such as public, private, protected, and internal to show or hide data members and implementation details. Interfaces and abstract classes can also be used for encapsulation.</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3379449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Encapsulation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503103" y="879165"/>
            <a:ext cx="8724434" cy="1800463"/>
          </a:xfrm>
          <a:prstGeom prst="rect">
            <a:avLst/>
          </a:prstGeom>
          <a:noFill/>
          <a:ln>
            <a:noFill/>
          </a:ln>
        </p:spPr>
        <p:txBody>
          <a:bodyPr spcFirstLastPara="1" wrap="square" lIns="91425" tIns="91425" rIns="91425" bIns="91425" anchor="t" anchorCtr="0">
            <a:spAutoFit/>
          </a:bodyPr>
          <a:lstStyle/>
          <a:p>
            <a:pPr lvl="0" algn="just">
              <a:buSzPts val="1600"/>
            </a:pPr>
            <a:r>
              <a:rPr lang="en-US" b="1" dirty="0">
                <a:solidFill>
                  <a:srgbClr val="222222"/>
                </a:solidFill>
                <a:latin typeface="Lato"/>
                <a:ea typeface="Lato"/>
                <a:cs typeface="Lato"/>
                <a:sym typeface="Lato"/>
              </a:rPr>
              <a:t> Advantages of Encapsulation:</a:t>
            </a:r>
          </a:p>
          <a:p>
            <a:pPr marL="457200" lvl="0" indent="-317500" algn="just">
              <a:buClr>
                <a:srgbClr val="222222"/>
              </a:buClr>
              <a:buSzPts val="1400"/>
              <a:buFont typeface="Lato"/>
              <a:buChar char="●"/>
            </a:pPr>
            <a:r>
              <a:rPr lang="en-US" dirty="0">
                <a:solidFill>
                  <a:srgbClr val="222222"/>
                </a:solidFill>
                <a:latin typeface="Lato"/>
                <a:ea typeface="Lato"/>
                <a:cs typeface="Lato"/>
                <a:sym typeface="Lato"/>
              </a:rPr>
              <a:t>Hides data and complexities.</a:t>
            </a:r>
          </a:p>
          <a:p>
            <a:pPr marL="457200" lvl="0" indent="-317500" algn="just">
              <a:buClr>
                <a:srgbClr val="222222"/>
              </a:buClr>
              <a:buSzPts val="1400"/>
              <a:buFont typeface="Lato"/>
              <a:buChar char="●"/>
            </a:pPr>
            <a:r>
              <a:rPr lang="en-US" dirty="0">
                <a:solidFill>
                  <a:srgbClr val="222222"/>
                </a:solidFill>
                <a:latin typeface="Lato"/>
                <a:ea typeface="Lato"/>
                <a:cs typeface="Lato"/>
                <a:sym typeface="Lato"/>
              </a:rPr>
              <a:t>Restrict unauthorized access of data by allowing authorization before data access.</a:t>
            </a:r>
          </a:p>
          <a:p>
            <a:pPr marL="457200" lvl="0" indent="-317500" algn="just">
              <a:buClr>
                <a:srgbClr val="222222"/>
              </a:buClr>
              <a:buSzPts val="1400"/>
              <a:buFont typeface="Lato"/>
              <a:buChar char="●"/>
            </a:pPr>
            <a:r>
              <a:rPr lang="en-US" dirty="0">
                <a:solidFill>
                  <a:srgbClr val="222222"/>
                </a:solidFill>
                <a:latin typeface="Lato"/>
                <a:ea typeface="Lato"/>
                <a:cs typeface="Lato"/>
                <a:sym typeface="Lato"/>
              </a:rPr>
              <a:t>Allow validation before setting data.</a:t>
            </a:r>
          </a:p>
          <a:p>
            <a:pPr marL="457200" lvl="0" indent="-317500" algn="just">
              <a:buClr>
                <a:srgbClr val="222222"/>
              </a:buClr>
              <a:buSzPts val="1400"/>
              <a:buFont typeface="Lato"/>
              <a:buChar char="●"/>
            </a:pPr>
            <a:r>
              <a:rPr lang="en-US" dirty="0">
                <a:solidFill>
                  <a:srgbClr val="222222"/>
                </a:solidFill>
                <a:latin typeface="Lato"/>
                <a:ea typeface="Lato"/>
                <a:cs typeface="Lato"/>
                <a:sym typeface="Lato"/>
              </a:rPr>
              <a:t>Only the author of the class needs to understand the implementation, not others.</a:t>
            </a:r>
          </a:p>
          <a:p>
            <a:pPr marL="457200" lvl="0" indent="-317500" algn="just">
              <a:buClr>
                <a:srgbClr val="222222"/>
              </a:buClr>
              <a:buSzPts val="1400"/>
              <a:buFont typeface="Lato"/>
              <a:buChar char="●"/>
            </a:pPr>
            <a:r>
              <a:rPr lang="en-US" dirty="0">
                <a:solidFill>
                  <a:srgbClr val="222222"/>
                </a:solidFill>
                <a:latin typeface="Lato"/>
                <a:ea typeface="Lato"/>
                <a:cs typeface="Lato"/>
                <a:sym typeface="Lato"/>
              </a:rPr>
              <a:t>Makes applications easy to maintain.</a:t>
            </a: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endParaRPr lang="en-US" b="1" dirty="0">
              <a:latin typeface="Lato" panose="020B0604020202020204" charset="0"/>
            </a:endParaRPr>
          </a:p>
        </p:txBody>
      </p:sp>
      <p:pic>
        <p:nvPicPr>
          <p:cNvPr id="8" name="Google Shape;196;p24"/>
          <p:cNvPicPr preferRelativeResize="0"/>
          <p:nvPr/>
        </p:nvPicPr>
        <p:blipFill rotWithShape="1">
          <a:blip r:embed="rId5">
            <a:alphaModFix/>
          </a:blip>
          <a:srcRect/>
          <a:stretch/>
        </p:blipFill>
        <p:spPr>
          <a:xfrm>
            <a:off x="441381" y="1029609"/>
            <a:ext cx="61722" cy="109728"/>
          </a:xfrm>
          <a:prstGeom prst="rect">
            <a:avLst/>
          </a:prstGeom>
          <a:noFill/>
          <a:ln>
            <a:noFill/>
          </a:ln>
        </p:spPr>
      </p:pic>
    </p:spTree>
    <p:extLst>
      <p:ext uri="{BB962C8B-B14F-4D97-AF65-F5344CB8AC3E}">
        <p14:creationId xmlns:p14="http://schemas.microsoft.com/office/powerpoint/2010/main" val="24615518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Inheritance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63390" y="704505"/>
            <a:ext cx="8724434" cy="4385786"/>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 object-oriented programming, inheritance is another type of relationship between classes. Inheritance is a mechanism of reusing the functionalities of one class into another related class.</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Inheritance is referred to as "is a" relationship. In the real world example, a customer is a person. In the same way, a student is a person and an employee is also a person. They all have some common things, for example, they all have a first name, middle name, and last name.</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To translate this into object-oriented programming, we can create the Person class with first name, middle name, and last name properties and inherit the Customer, Student, and Employee classes from the Person class. That way we don't need to create the same properties in all classes and avoid the violation of the DRY (Do not Repeat Yourself) principle.</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Note that the inheritance can only be used with related classes where they should have some common behaviors and perfectly substitutable.</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31994458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19" name="Google Shape;219;p26"/>
          <p:cNvPicPr preferRelativeResize="0"/>
          <p:nvPr/>
        </p:nvPicPr>
        <p:blipFill rotWithShape="1">
          <a:blip r:embed="rId3">
            <a:alphaModFix/>
          </a:blip>
          <a:srcRect/>
          <a:stretch/>
        </p:blipFill>
        <p:spPr>
          <a:xfrm>
            <a:off x="0" y="4774041"/>
            <a:ext cx="9144000" cy="369454"/>
          </a:xfrm>
          <a:prstGeom prst="rect">
            <a:avLst/>
          </a:prstGeom>
          <a:noFill/>
          <a:ln>
            <a:noFill/>
          </a:ln>
        </p:spPr>
      </p:pic>
      <p:sp>
        <p:nvSpPr>
          <p:cNvPr id="220" name="Google Shape;220;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21" name="Google Shape;221;p2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22" name="Google Shape;222;p26"/>
          <p:cNvPicPr preferRelativeResize="0"/>
          <p:nvPr/>
        </p:nvPicPr>
        <p:blipFill rotWithShape="1">
          <a:blip r:embed="rId4">
            <a:alphaModFix/>
          </a:blip>
          <a:srcRect/>
          <a:stretch/>
        </p:blipFill>
        <p:spPr>
          <a:xfrm>
            <a:off x="1494754" y="0"/>
            <a:ext cx="6151128" cy="585216"/>
          </a:xfrm>
          <a:prstGeom prst="rect">
            <a:avLst/>
          </a:prstGeom>
          <a:noFill/>
          <a:ln>
            <a:noFill/>
          </a:ln>
        </p:spPr>
      </p:pic>
      <p:sp>
        <p:nvSpPr>
          <p:cNvPr id="223" name="Google Shape;223;p2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a:solidFill>
                  <a:schemeClr val="lt1"/>
                </a:solidFill>
                <a:latin typeface="Lato"/>
                <a:ea typeface="Lato"/>
                <a:cs typeface="Lato"/>
                <a:sym typeface="Lato"/>
              </a:rPr>
              <a:t>Inheritance</a:t>
            </a:r>
            <a:endParaRPr sz="2000" b="1" i="0" u="none" strike="noStrike" cap="none">
              <a:solidFill>
                <a:schemeClr val="lt1"/>
              </a:solidFill>
              <a:latin typeface="Lato"/>
              <a:ea typeface="Lato"/>
              <a:cs typeface="Lato"/>
              <a:sym typeface="Lato"/>
            </a:endParaRPr>
          </a:p>
        </p:txBody>
      </p:sp>
      <p:pic>
        <p:nvPicPr>
          <p:cNvPr id="224" name="Google Shape;224;p26"/>
          <p:cNvPicPr preferRelativeResize="0"/>
          <p:nvPr/>
        </p:nvPicPr>
        <p:blipFill>
          <a:blip r:embed="rId5">
            <a:alphaModFix/>
          </a:blip>
          <a:stretch>
            <a:fillRect/>
          </a:stretch>
        </p:blipFill>
        <p:spPr>
          <a:xfrm>
            <a:off x="281000" y="1053475"/>
            <a:ext cx="4138600" cy="2054250"/>
          </a:xfrm>
          <a:prstGeom prst="rect">
            <a:avLst/>
          </a:prstGeom>
          <a:noFill/>
          <a:ln>
            <a:noFill/>
          </a:ln>
        </p:spPr>
      </p:pic>
      <p:sp>
        <p:nvSpPr>
          <p:cNvPr id="225" name="Google Shape;225;p26"/>
          <p:cNvSpPr txBox="1"/>
          <p:nvPr/>
        </p:nvSpPr>
        <p:spPr>
          <a:xfrm>
            <a:off x="225000" y="3361075"/>
            <a:ext cx="4347000" cy="831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a:solidFill>
                  <a:srgbClr val="222222"/>
                </a:solidFill>
                <a:latin typeface="Lato"/>
                <a:ea typeface="Lato"/>
                <a:cs typeface="Lato"/>
                <a:sym typeface="Lato"/>
              </a:rPr>
              <a:t>In C#, use the : symbol to inherit a class from another class. For example, the following Employee class inherits from the Person class in C#.</a:t>
            </a:r>
            <a:endParaRPr i="0" u="none" strike="noStrike" cap="none">
              <a:solidFill>
                <a:srgbClr val="222222"/>
              </a:solidFill>
              <a:latin typeface="Lato"/>
              <a:ea typeface="Lato"/>
              <a:cs typeface="Lato"/>
              <a:sym typeface="Lato"/>
            </a:endParaRPr>
          </a:p>
        </p:txBody>
      </p:sp>
      <p:pic>
        <p:nvPicPr>
          <p:cNvPr id="226" name="Google Shape;226;p26"/>
          <p:cNvPicPr preferRelativeResize="0"/>
          <p:nvPr/>
        </p:nvPicPr>
        <p:blipFill rotWithShape="1">
          <a:blip r:embed="rId6">
            <a:alphaModFix/>
          </a:blip>
          <a:srcRect/>
          <a:stretch/>
        </p:blipFill>
        <p:spPr>
          <a:xfrm>
            <a:off x="171892" y="3510837"/>
            <a:ext cx="61722" cy="109728"/>
          </a:xfrm>
          <a:prstGeom prst="rect">
            <a:avLst/>
          </a:prstGeom>
          <a:noFill/>
          <a:ln>
            <a:noFill/>
          </a:ln>
        </p:spPr>
      </p:pic>
      <p:cxnSp>
        <p:nvCxnSpPr>
          <p:cNvPr id="227" name="Google Shape;227;p26"/>
          <p:cNvCxnSpPr/>
          <p:nvPr/>
        </p:nvCxnSpPr>
        <p:spPr>
          <a:xfrm>
            <a:off x="4636900" y="944625"/>
            <a:ext cx="11100" cy="3485700"/>
          </a:xfrm>
          <a:prstGeom prst="straightConnector1">
            <a:avLst/>
          </a:prstGeom>
          <a:noFill/>
          <a:ln w="9525" cap="flat" cmpd="sng">
            <a:solidFill>
              <a:schemeClr val="dk2"/>
            </a:solidFill>
            <a:prstDash val="solid"/>
            <a:round/>
            <a:headEnd type="none" w="med" len="med"/>
            <a:tailEnd type="none" w="med" len="med"/>
          </a:ln>
        </p:spPr>
      </p:cxnSp>
      <p:sp>
        <p:nvSpPr>
          <p:cNvPr id="228" name="Google Shape;228;p26"/>
          <p:cNvSpPr txBox="1"/>
          <p:nvPr/>
        </p:nvSpPr>
        <p:spPr>
          <a:xfrm>
            <a:off x="4797000" y="998875"/>
            <a:ext cx="43470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b="1">
                <a:solidFill>
                  <a:srgbClr val="222222"/>
                </a:solidFill>
                <a:latin typeface="Lato"/>
                <a:ea typeface="Lato"/>
                <a:cs typeface="Lato"/>
                <a:sym typeface="Lato"/>
              </a:rPr>
              <a:t>Example: Class Inheritance in C#</a:t>
            </a:r>
            <a:endParaRPr b="1" i="0" u="none" strike="noStrike" cap="none">
              <a:solidFill>
                <a:srgbClr val="222222"/>
              </a:solidFill>
              <a:latin typeface="Lato"/>
              <a:ea typeface="Lato"/>
              <a:cs typeface="Lato"/>
              <a:sym typeface="Lato"/>
            </a:endParaRPr>
          </a:p>
        </p:txBody>
      </p:sp>
      <p:pic>
        <p:nvPicPr>
          <p:cNvPr id="229" name="Google Shape;229;p26"/>
          <p:cNvPicPr preferRelativeResize="0"/>
          <p:nvPr/>
        </p:nvPicPr>
        <p:blipFill rotWithShape="1">
          <a:blip r:embed="rId6">
            <a:alphaModFix/>
          </a:blip>
          <a:srcRect/>
          <a:stretch/>
        </p:blipFill>
        <p:spPr>
          <a:xfrm>
            <a:off x="4743892" y="1148637"/>
            <a:ext cx="61722" cy="109728"/>
          </a:xfrm>
          <a:prstGeom prst="rect">
            <a:avLst/>
          </a:prstGeom>
          <a:noFill/>
          <a:ln>
            <a:noFill/>
          </a:ln>
        </p:spPr>
      </p:pic>
      <p:sp>
        <p:nvSpPr>
          <p:cNvPr id="230" name="Google Shape;230;p26"/>
          <p:cNvSpPr txBox="1"/>
          <p:nvPr/>
        </p:nvSpPr>
        <p:spPr>
          <a:xfrm>
            <a:off x="4854200" y="1399075"/>
            <a:ext cx="3982800" cy="2955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Lato"/>
                <a:ea typeface="Lato"/>
                <a:cs typeface="Lato"/>
                <a:sym typeface="Lato"/>
              </a:rPr>
              <a:t>class Person</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public string FirstName { get; set; }</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public string LastName { get; set; }</a:t>
            </a:r>
            <a:endParaRPr sz="1200" dirty="0">
              <a:latin typeface="Lato"/>
              <a:ea typeface="Lato"/>
              <a:cs typeface="Lato"/>
              <a:sym typeface="Lato"/>
            </a:endParaRPr>
          </a:p>
          <a:p>
            <a:pPr marL="0" lvl="0" indent="0" algn="l" rtl="0">
              <a:spcBef>
                <a:spcPts val="0"/>
              </a:spcBef>
              <a:spcAft>
                <a:spcPts val="0"/>
              </a:spcAft>
              <a:buNone/>
            </a:pP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public string GetFullName(){ </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return FirstName + " " + LastName;</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a:t>
            </a:r>
            <a:endParaRPr sz="1200" dirty="0">
              <a:latin typeface="Lato"/>
              <a:ea typeface="Lato"/>
              <a:cs typeface="Lato"/>
              <a:sym typeface="Lato"/>
            </a:endParaRPr>
          </a:p>
          <a:p>
            <a:pPr marL="0" lvl="0" indent="0" algn="l" rtl="0">
              <a:spcBef>
                <a:spcPts val="0"/>
              </a:spcBef>
              <a:spcAft>
                <a:spcPts val="0"/>
              </a:spcAft>
              <a:buNone/>
            </a:pP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class Employee : Person</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public int EmployeeId { get; set; }</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    public string CompanyName { get; set; }   </a:t>
            </a:r>
            <a:endParaRPr sz="1200" dirty="0">
              <a:latin typeface="Lato"/>
              <a:ea typeface="Lato"/>
              <a:cs typeface="Lato"/>
              <a:sym typeface="Lato"/>
            </a:endParaRPr>
          </a:p>
          <a:p>
            <a:pPr marL="0" lvl="0" indent="0" algn="l" rtl="0">
              <a:spcBef>
                <a:spcPts val="0"/>
              </a:spcBef>
              <a:spcAft>
                <a:spcPts val="0"/>
              </a:spcAft>
              <a:buNone/>
            </a:pPr>
            <a:r>
              <a:rPr lang="en" sz="1200" dirty="0">
                <a:latin typeface="Lato"/>
                <a:ea typeface="Lato"/>
                <a:cs typeface="Lato"/>
                <a:sym typeface="Lato"/>
              </a:rPr>
              <a:t>}</a:t>
            </a:r>
            <a:endParaRPr sz="1200" dirty="0">
              <a:latin typeface="Lato"/>
              <a:ea typeface="Lato"/>
              <a:cs typeface="Lato"/>
              <a:sym typeface="Lato"/>
            </a:endParaRPr>
          </a:p>
        </p:txBody>
      </p:sp>
    </p:spTree>
    <p:extLst>
      <p:ext uri="{BB962C8B-B14F-4D97-AF65-F5344CB8AC3E}">
        <p14:creationId xmlns:p14="http://schemas.microsoft.com/office/powerpoint/2010/main" val="12460847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Inheritance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63390" y="704505"/>
            <a:ext cx="8724434" cy="4062620"/>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 the above example, the Person class is called the base class or the parent class, and the Employee class is called the derived class or the child class.</a:t>
            </a:r>
          </a:p>
          <a:p>
            <a:pPr marL="285750" lvl="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The Employee class inherits from the Person class and so it automatically acquires all the public members of the Person class. It means even if the Employee class does not include </a:t>
            </a:r>
            <a:r>
              <a:rPr lang="en-US" dirty="0" err="1">
                <a:solidFill>
                  <a:srgbClr val="222222"/>
                </a:solidFill>
                <a:latin typeface="Lato"/>
                <a:ea typeface="Lato"/>
                <a:cs typeface="Lato"/>
                <a:sym typeface="Lato"/>
              </a:rPr>
              <a:t>FirstName</a:t>
            </a:r>
            <a:r>
              <a:rPr lang="en-US" dirty="0">
                <a:solidFill>
                  <a:srgbClr val="222222"/>
                </a:solidFill>
                <a:latin typeface="Lato"/>
                <a:ea typeface="Lato"/>
                <a:cs typeface="Lato"/>
                <a:sym typeface="Lato"/>
              </a:rPr>
              <a:t>, </a:t>
            </a:r>
            <a:r>
              <a:rPr lang="en-US" dirty="0" err="1">
                <a:solidFill>
                  <a:srgbClr val="222222"/>
                </a:solidFill>
                <a:latin typeface="Lato"/>
                <a:ea typeface="Lato"/>
                <a:cs typeface="Lato"/>
                <a:sym typeface="Lato"/>
              </a:rPr>
              <a:t>LastName</a:t>
            </a:r>
            <a:r>
              <a:rPr lang="en-US" dirty="0">
                <a:solidFill>
                  <a:srgbClr val="222222"/>
                </a:solidFill>
                <a:latin typeface="Lato"/>
                <a:ea typeface="Lato"/>
                <a:cs typeface="Lato"/>
                <a:sym typeface="Lato"/>
              </a:rPr>
              <a:t> properties and </a:t>
            </a:r>
            <a:r>
              <a:rPr lang="en-US" dirty="0" err="1">
                <a:solidFill>
                  <a:srgbClr val="222222"/>
                </a:solidFill>
                <a:latin typeface="Lato"/>
                <a:ea typeface="Lato"/>
                <a:cs typeface="Lato"/>
                <a:sym typeface="Lato"/>
              </a:rPr>
              <a:t>GetFullName</a:t>
            </a:r>
            <a:r>
              <a:rPr lang="en-US" dirty="0">
                <a:solidFill>
                  <a:srgbClr val="222222"/>
                </a:solidFill>
                <a:latin typeface="Lato"/>
                <a:ea typeface="Lato"/>
                <a:cs typeface="Lato"/>
                <a:sym typeface="Lato"/>
              </a:rPr>
              <a:t>() method, an object of the Employee class will have all the properties and methods of the Person class along with its own members.</a:t>
            </a:r>
          </a:p>
          <a:p>
            <a:pPr lvl="0">
              <a:lnSpc>
                <a:spcPct val="150000"/>
              </a:lnSpc>
              <a:buClr>
                <a:schemeClr val="accent4">
                  <a:lumMod val="75000"/>
                </a:schemeClr>
              </a:buClr>
              <a:buSzPct val="80000"/>
            </a:pPr>
            <a:br>
              <a:rPr lang="en-US" dirty="0">
                <a:latin typeface="Lato" panose="020B0604020202020204" charset="0"/>
              </a:rPr>
            </a:br>
            <a:r>
              <a:rPr lang="en-US" b="1" dirty="0">
                <a:solidFill>
                  <a:srgbClr val="FF0000"/>
                </a:solidFill>
                <a:latin typeface="Lato"/>
                <a:ea typeface="Lato"/>
                <a:cs typeface="Lato"/>
                <a:sym typeface="Lato"/>
              </a:rPr>
              <a:t>Note: </a:t>
            </a:r>
            <a:r>
              <a:rPr lang="en-US" dirty="0">
                <a:solidFill>
                  <a:srgbClr val="FF0000"/>
                </a:solidFill>
                <a:latin typeface="Lato"/>
                <a:ea typeface="Lato"/>
                <a:cs typeface="Lato"/>
                <a:sym typeface="Lato"/>
              </a:rPr>
              <a:t>C# does not allow a class to inherit multiple classes. A class can only achieve multiple inheritance through interfaces.</a:t>
            </a:r>
          </a:p>
          <a:p>
            <a:pPr>
              <a:lnSpc>
                <a:spcPct val="150000"/>
              </a:lnSpc>
              <a:buClr>
                <a:schemeClr val="accent4">
                  <a:lumMod val="75000"/>
                </a:schemeClr>
              </a:buClr>
              <a:buSzPct val="80000"/>
            </a:pP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41625242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Inheritance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03211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solidFill>
                  <a:srgbClr val="222222"/>
                </a:solidFill>
                <a:latin typeface="Lato"/>
                <a:ea typeface="Lato"/>
                <a:cs typeface="Lato"/>
                <a:sym typeface="Lato"/>
              </a:rPr>
              <a:t>Constructors:</a:t>
            </a:r>
            <a:br>
              <a:rPr lang="en-US" b="1" dirty="0">
                <a:solidFill>
                  <a:srgbClr val="222222"/>
                </a:solidFill>
                <a:latin typeface="Lato"/>
                <a:ea typeface="Lato"/>
                <a:cs typeface="Lato"/>
                <a:sym typeface="Lato"/>
              </a:rPr>
            </a:br>
            <a:r>
              <a:rPr lang="en-US" dirty="0">
                <a:solidFill>
                  <a:srgbClr val="222222"/>
                </a:solidFill>
                <a:latin typeface="Lato"/>
                <a:ea typeface="Lato"/>
                <a:cs typeface="Lato"/>
                <a:sym typeface="Lato"/>
              </a:rPr>
              <a:t>Creating an object of the derived class will first call the constructor of the base class and then the derived class. If there are multiple levels of inheritance then the constructor of the first base class will be called and then the second base class and so on.</a:t>
            </a:r>
          </a:p>
          <a:p>
            <a:pPr marL="285750" indent="-285750">
              <a:lnSpc>
                <a:spcPct val="150000"/>
              </a:lnSpc>
              <a:buClr>
                <a:schemeClr val="accent4">
                  <a:lumMod val="75000"/>
                </a:schemeClr>
              </a:buClr>
              <a:buSzPct val="80000"/>
              <a:buFont typeface="Lato" panose="020B0604020202020204" charset="0"/>
              <a:buChar char="►"/>
            </a:pPr>
            <a:r>
              <a:rPr lang="en-US" b="1" dirty="0">
                <a:solidFill>
                  <a:srgbClr val="222222"/>
                </a:solidFill>
                <a:latin typeface="Lato"/>
                <a:ea typeface="Lato"/>
                <a:cs typeface="Lato"/>
                <a:sym typeface="Lato"/>
              </a:rPr>
              <a:t>Object Initialization:</a:t>
            </a:r>
            <a:br>
              <a:rPr lang="en-US" b="1" dirty="0">
                <a:solidFill>
                  <a:srgbClr val="222222"/>
                </a:solidFill>
                <a:latin typeface="Lato"/>
                <a:ea typeface="Lato"/>
                <a:cs typeface="Lato"/>
                <a:sym typeface="Lato"/>
              </a:rPr>
            </a:br>
            <a:r>
              <a:rPr lang="en-US" dirty="0">
                <a:solidFill>
                  <a:srgbClr val="222222"/>
                </a:solidFill>
                <a:latin typeface="Lato"/>
                <a:ea typeface="Lato"/>
                <a:cs typeface="Lato"/>
                <a:sym typeface="Lato"/>
              </a:rPr>
              <a:t>You can create an instance of the derived class and assign it to a variable of the base class or derived class. The instance's properties and methods are depending on the type of variable it is assigned to. Here, a type can be a class or an interface, or an abstract class.</a:t>
            </a:r>
          </a:p>
          <a:p>
            <a:pPr marL="285750" indent="-285750">
              <a:lnSpc>
                <a:spcPct val="150000"/>
              </a:lnSpc>
              <a:buClr>
                <a:schemeClr val="accent4">
                  <a:lumMod val="75000"/>
                </a:schemeClr>
              </a:buClr>
              <a:buSzPct val="80000"/>
              <a:buFont typeface="Lato" panose="020B0604020202020204" charset="0"/>
              <a:buChar char="►"/>
            </a:pPr>
            <a:r>
              <a:rPr lang="en-US" b="1" dirty="0">
                <a:solidFill>
                  <a:srgbClr val="222222"/>
                </a:solidFill>
                <a:latin typeface="Lato"/>
                <a:ea typeface="Lato"/>
                <a:cs typeface="Lato"/>
                <a:sym typeface="Lato"/>
              </a:rPr>
              <a:t>The following table list supported members based on a variable type and instance type.</a:t>
            </a:r>
            <a:endParaRPr lang="en-US" dirty="0">
              <a:solidFill>
                <a:srgbClr val="222222"/>
              </a:solidFill>
              <a:latin typeface="Lato"/>
              <a:ea typeface="Lato"/>
              <a:cs typeface="Lato"/>
              <a:sym typeface="Lato"/>
            </a:endParaRPr>
          </a:p>
          <a:p>
            <a:pPr marL="285750" lvl="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8" name="Google Shape;285;p29"/>
          <p:cNvPicPr preferRelativeResize="0"/>
          <p:nvPr/>
        </p:nvPicPr>
        <p:blipFill>
          <a:blip r:embed="rId5">
            <a:alphaModFix/>
          </a:blip>
          <a:stretch>
            <a:fillRect/>
          </a:stretch>
        </p:blipFill>
        <p:spPr>
          <a:xfrm>
            <a:off x="813630" y="3613619"/>
            <a:ext cx="6748525" cy="985079"/>
          </a:xfrm>
          <a:prstGeom prst="rect">
            <a:avLst/>
          </a:prstGeom>
          <a:noFill/>
          <a:ln>
            <a:noFill/>
          </a:ln>
        </p:spPr>
      </p:pic>
    </p:spTree>
    <p:extLst>
      <p:ext uri="{BB962C8B-B14F-4D97-AF65-F5344CB8AC3E}">
        <p14:creationId xmlns:p14="http://schemas.microsoft.com/office/powerpoint/2010/main" val="27273003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Inheritance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123628"/>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297" y="774236"/>
            <a:ext cx="3769278" cy="383781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81150" y="774236"/>
            <a:ext cx="4507752" cy="3837810"/>
          </a:xfrm>
          <a:prstGeom prst="rect">
            <a:avLst/>
          </a:prstGeom>
        </p:spPr>
      </p:pic>
    </p:spTree>
    <p:extLst>
      <p:ext uri="{BB962C8B-B14F-4D97-AF65-F5344CB8AC3E}">
        <p14:creationId xmlns:p14="http://schemas.microsoft.com/office/powerpoint/2010/main" val="3269786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30"/>
          <p:cNvPicPr preferRelativeResize="0"/>
          <p:nvPr/>
        </p:nvPicPr>
        <p:blipFill rotWithShape="1">
          <a:blip r:embed="rId3">
            <a:alphaModFix/>
          </a:blip>
          <a:srcRect/>
          <a:stretch/>
        </p:blipFill>
        <p:spPr>
          <a:xfrm>
            <a:off x="0" y="4774041"/>
            <a:ext cx="9144000" cy="369454"/>
          </a:xfrm>
          <a:prstGeom prst="rect">
            <a:avLst/>
          </a:prstGeom>
          <a:noFill/>
          <a:ln>
            <a:noFill/>
          </a:ln>
        </p:spPr>
      </p:pic>
      <p:sp>
        <p:nvSpPr>
          <p:cNvPr id="291" name="Google Shape;291;p3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92" name="Google Shape;292;p30"/>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sp>
        <p:nvSpPr>
          <p:cNvPr id="293" name="Google Shape;293;p30"/>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94" name="Google Shape;294;p30"/>
          <p:cNvPicPr preferRelativeResize="0"/>
          <p:nvPr/>
        </p:nvPicPr>
        <p:blipFill rotWithShape="1">
          <a:blip r:embed="rId4">
            <a:alphaModFix/>
          </a:blip>
          <a:srcRect/>
          <a:stretch/>
        </p:blipFill>
        <p:spPr>
          <a:xfrm>
            <a:off x="1494754" y="0"/>
            <a:ext cx="6151128" cy="585216"/>
          </a:xfrm>
          <a:prstGeom prst="rect">
            <a:avLst/>
          </a:prstGeom>
          <a:noFill/>
          <a:ln>
            <a:noFill/>
          </a:ln>
        </p:spPr>
      </p:pic>
      <p:sp>
        <p:nvSpPr>
          <p:cNvPr id="295" name="Google Shape;295;p30"/>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a:solidFill>
                  <a:schemeClr val="lt1"/>
                </a:solidFill>
                <a:latin typeface="Lato"/>
                <a:ea typeface="Lato"/>
                <a:cs typeface="Lato"/>
                <a:sym typeface="Lato"/>
              </a:rPr>
              <a:t>Inheritance</a:t>
            </a:r>
            <a:endParaRPr sz="2000" b="1" i="0" u="none" strike="noStrike" cap="none">
              <a:solidFill>
                <a:schemeClr val="lt1"/>
              </a:solidFill>
              <a:latin typeface="Lato"/>
              <a:ea typeface="Lato"/>
              <a:cs typeface="Lato"/>
              <a:sym typeface="Lato"/>
            </a:endParaRPr>
          </a:p>
        </p:txBody>
      </p:sp>
      <p:sp>
        <p:nvSpPr>
          <p:cNvPr id="296" name="Google Shape;296;p30"/>
          <p:cNvSpPr txBox="1"/>
          <p:nvPr/>
        </p:nvSpPr>
        <p:spPr>
          <a:xfrm>
            <a:off x="225000" y="846475"/>
            <a:ext cx="8593200" cy="1908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b="1" dirty="0">
                <a:solidFill>
                  <a:srgbClr val="222222"/>
                </a:solidFill>
                <a:latin typeface="Lato"/>
                <a:ea typeface="Lato"/>
                <a:cs typeface="Lato"/>
                <a:sym typeface="Lato"/>
              </a:rPr>
              <a:t>Important Points:</a:t>
            </a:r>
            <a:endParaRPr b="1"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A class can inherit a single class only. It cannot inherit from multiple classes.</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A class cannot inherit from a struct.</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A class can inherit (implement) one or more interfaces.</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A Struct can inherit from one or more interfaces. However, it cannot inherit from another struct or class.</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An interface can inherit from one or more interfaces but cannot inherit from a class or a struct.</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Constructors or destructors cannot be inherited.</a:t>
            </a:r>
            <a:endParaRPr dirty="0">
              <a:solidFill>
                <a:srgbClr val="222222"/>
              </a:solidFill>
              <a:latin typeface="Lato"/>
              <a:ea typeface="Lato"/>
              <a:cs typeface="Lato"/>
              <a:sym typeface="Lato"/>
            </a:endParaRPr>
          </a:p>
        </p:txBody>
      </p:sp>
      <p:pic>
        <p:nvPicPr>
          <p:cNvPr id="297" name="Google Shape;297;p30"/>
          <p:cNvPicPr preferRelativeResize="0"/>
          <p:nvPr/>
        </p:nvPicPr>
        <p:blipFill rotWithShape="1">
          <a:blip r:embed="rId5">
            <a:alphaModFix/>
          </a:blip>
          <a:srcRect/>
          <a:stretch/>
        </p:blipFill>
        <p:spPr>
          <a:xfrm>
            <a:off x="171892" y="996237"/>
            <a:ext cx="61722" cy="109728"/>
          </a:xfrm>
          <a:prstGeom prst="rect">
            <a:avLst/>
          </a:prstGeom>
          <a:noFill/>
          <a:ln>
            <a:noFill/>
          </a:ln>
        </p:spPr>
      </p:pic>
    </p:spTree>
    <p:extLst>
      <p:ext uri="{BB962C8B-B14F-4D97-AF65-F5344CB8AC3E}">
        <p14:creationId xmlns:p14="http://schemas.microsoft.com/office/powerpoint/2010/main" val="33716292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31"/>
          <p:cNvPicPr preferRelativeResize="0"/>
          <p:nvPr/>
        </p:nvPicPr>
        <p:blipFill rotWithShape="1">
          <a:blip r:embed="rId3">
            <a:alphaModFix/>
          </a:blip>
          <a:srcRect/>
          <a:stretch/>
        </p:blipFill>
        <p:spPr>
          <a:xfrm>
            <a:off x="0" y="4774041"/>
            <a:ext cx="9144000" cy="369454"/>
          </a:xfrm>
          <a:prstGeom prst="rect">
            <a:avLst/>
          </a:prstGeom>
          <a:noFill/>
          <a:ln>
            <a:noFill/>
          </a:ln>
        </p:spPr>
      </p:pic>
      <p:sp>
        <p:nvSpPr>
          <p:cNvPr id="303" name="Google Shape;303;p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304" name="Google Shape;304;p3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sp>
        <p:nvSpPr>
          <p:cNvPr id="305" name="Google Shape;305;p3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306" name="Google Shape;306;p31"/>
          <p:cNvPicPr preferRelativeResize="0"/>
          <p:nvPr/>
        </p:nvPicPr>
        <p:blipFill rotWithShape="1">
          <a:blip r:embed="rId4">
            <a:alphaModFix/>
          </a:blip>
          <a:srcRect/>
          <a:stretch/>
        </p:blipFill>
        <p:spPr>
          <a:xfrm>
            <a:off x="1494754" y="0"/>
            <a:ext cx="6151128" cy="585216"/>
          </a:xfrm>
          <a:prstGeom prst="rect">
            <a:avLst/>
          </a:prstGeom>
          <a:noFill/>
          <a:ln>
            <a:noFill/>
          </a:ln>
        </p:spPr>
      </p:pic>
      <p:sp>
        <p:nvSpPr>
          <p:cNvPr id="307" name="Google Shape;307;p31"/>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a:solidFill>
                  <a:schemeClr val="lt1"/>
                </a:solidFill>
                <a:latin typeface="Lato"/>
                <a:ea typeface="Lato"/>
                <a:cs typeface="Lato"/>
                <a:sym typeface="Lato"/>
              </a:rPr>
              <a:t>Polymorphism</a:t>
            </a:r>
            <a:endParaRPr sz="2000" b="1" i="0" u="none" strike="noStrike" cap="none">
              <a:solidFill>
                <a:schemeClr val="lt1"/>
              </a:solidFill>
              <a:latin typeface="Lato"/>
              <a:ea typeface="Lato"/>
              <a:cs typeface="Lato"/>
              <a:sym typeface="Lato"/>
            </a:endParaRPr>
          </a:p>
        </p:txBody>
      </p:sp>
      <p:sp>
        <p:nvSpPr>
          <p:cNvPr id="308" name="Google Shape;308;p31"/>
          <p:cNvSpPr txBox="1"/>
          <p:nvPr/>
        </p:nvSpPr>
        <p:spPr>
          <a:xfrm>
            <a:off x="225000" y="694075"/>
            <a:ext cx="85932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dirty="0">
                <a:solidFill>
                  <a:srgbClr val="222222"/>
                </a:solidFill>
                <a:latin typeface="Lato"/>
                <a:ea typeface="Lato"/>
                <a:cs typeface="Lato"/>
                <a:sym typeface="Lato"/>
              </a:rPr>
              <a:t>Polymorphism is a Greek word that means multiple forms or shapes. You can use polymorphism if you want to have multiple forms of one or more methods of a class with the same name.</a:t>
            </a:r>
            <a:endParaRPr dirty="0">
              <a:solidFill>
                <a:srgbClr val="222222"/>
              </a:solidFill>
              <a:latin typeface="Lato"/>
              <a:ea typeface="Lato"/>
              <a:cs typeface="Lato"/>
              <a:sym typeface="Lato"/>
            </a:endParaRPr>
          </a:p>
        </p:txBody>
      </p:sp>
      <p:pic>
        <p:nvPicPr>
          <p:cNvPr id="309" name="Google Shape;309;p31"/>
          <p:cNvPicPr preferRelativeResize="0"/>
          <p:nvPr/>
        </p:nvPicPr>
        <p:blipFill rotWithShape="1">
          <a:blip r:embed="rId5">
            <a:alphaModFix/>
          </a:blip>
          <a:srcRect/>
          <a:stretch/>
        </p:blipFill>
        <p:spPr>
          <a:xfrm>
            <a:off x="171892" y="843837"/>
            <a:ext cx="61722" cy="109728"/>
          </a:xfrm>
          <a:prstGeom prst="rect">
            <a:avLst/>
          </a:prstGeom>
          <a:noFill/>
          <a:ln>
            <a:noFill/>
          </a:ln>
        </p:spPr>
      </p:pic>
      <p:sp>
        <p:nvSpPr>
          <p:cNvPr id="310" name="Google Shape;310;p31"/>
          <p:cNvSpPr txBox="1"/>
          <p:nvPr/>
        </p:nvSpPr>
        <p:spPr>
          <a:xfrm>
            <a:off x="225000" y="1227475"/>
            <a:ext cx="8593200" cy="831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b="1" dirty="0">
                <a:solidFill>
                  <a:srgbClr val="222222"/>
                </a:solidFill>
                <a:latin typeface="Lato"/>
                <a:ea typeface="Lato"/>
                <a:cs typeface="Lato"/>
                <a:sym typeface="Lato"/>
              </a:rPr>
              <a:t>In C#, polymorphism can be achieved in two ways:</a:t>
            </a:r>
            <a:endParaRPr b="1"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Compile-time Polymorphism</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Run-time Polymorphism</a:t>
            </a:r>
            <a:endParaRPr dirty="0">
              <a:solidFill>
                <a:srgbClr val="222222"/>
              </a:solidFill>
              <a:latin typeface="Lato"/>
              <a:ea typeface="Lato"/>
              <a:cs typeface="Lato"/>
              <a:sym typeface="Lato"/>
            </a:endParaRPr>
          </a:p>
        </p:txBody>
      </p:sp>
      <p:pic>
        <p:nvPicPr>
          <p:cNvPr id="311" name="Google Shape;311;p31"/>
          <p:cNvPicPr preferRelativeResize="0"/>
          <p:nvPr/>
        </p:nvPicPr>
        <p:blipFill rotWithShape="1">
          <a:blip r:embed="rId5">
            <a:alphaModFix/>
          </a:blip>
          <a:srcRect/>
          <a:stretch/>
        </p:blipFill>
        <p:spPr>
          <a:xfrm>
            <a:off x="171892" y="1377237"/>
            <a:ext cx="61722" cy="109728"/>
          </a:xfrm>
          <a:prstGeom prst="rect">
            <a:avLst/>
          </a:prstGeom>
          <a:noFill/>
          <a:ln>
            <a:noFill/>
          </a:ln>
        </p:spPr>
      </p:pic>
      <p:sp>
        <p:nvSpPr>
          <p:cNvPr id="312" name="Google Shape;312;p31"/>
          <p:cNvSpPr txBox="1"/>
          <p:nvPr/>
        </p:nvSpPr>
        <p:spPr>
          <a:xfrm>
            <a:off x="225000" y="1989475"/>
            <a:ext cx="8593200" cy="1262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b="1" dirty="0">
                <a:solidFill>
                  <a:srgbClr val="222222"/>
                </a:solidFill>
                <a:latin typeface="Lato"/>
                <a:ea typeface="Lato"/>
                <a:cs typeface="Lato"/>
                <a:sym typeface="Lato"/>
              </a:rPr>
              <a:t>Compile-time Polymorphism (Method Overloading):</a:t>
            </a:r>
            <a:endParaRPr b="1"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Compile-time polymorphism is also known as method overloading. C# allows us to define more than one method with the same name but with different signatures. This is called method overloading.</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Method overloading is also known as early binding or static binding because which method to call is decided at compile time, early than the runtime.</a:t>
            </a:r>
            <a:endParaRPr dirty="0">
              <a:solidFill>
                <a:srgbClr val="222222"/>
              </a:solidFill>
              <a:latin typeface="Lato"/>
              <a:ea typeface="Lato"/>
              <a:cs typeface="Lato"/>
              <a:sym typeface="Lato"/>
            </a:endParaRPr>
          </a:p>
        </p:txBody>
      </p:sp>
      <p:pic>
        <p:nvPicPr>
          <p:cNvPr id="313" name="Google Shape;313;p31"/>
          <p:cNvPicPr preferRelativeResize="0"/>
          <p:nvPr/>
        </p:nvPicPr>
        <p:blipFill rotWithShape="1">
          <a:blip r:embed="rId5">
            <a:alphaModFix/>
          </a:blip>
          <a:srcRect/>
          <a:stretch/>
        </p:blipFill>
        <p:spPr>
          <a:xfrm>
            <a:off x="171892" y="2139237"/>
            <a:ext cx="61722" cy="109728"/>
          </a:xfrm>
          <a:prstGeom prst="rect">
            <a:avLst/>
          </a:prstGeom>
          <a:noFill/>
          <a:ln>
            <a:noFill/>
          </a:ln>
        </p:spPr>
      </p:pic>
      <p:sp>
        <p:nvSpPr>
          <p:cNvPr id="314" name="Google Shape;314;p31"/>
          <p:cNvSpPr txBox="1"/>
          <p:nvPr/>
        </p:nvSpPr>
        <p:spPr>
          <a:xfrm>
            <a:off x="225000" y="3132475"/>
            <a:ext cx="8593200" cy="14775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b="1" dirty="0">
                <a:solidFill>
                  <a:srgbClr val="222222"/>
                </a:solidFill>
                <a:latin typeface="Lato"/>
                <a:ea typeface="Lato"/>
                <a:cs typeface="Lato"/>
                <a:sym typeface="Lato"/>
              </a:rPr>
              <a:t>Rules for Method Overloading:</a:t>
            </a:r>
            <a:endParaRPr b="1"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Method names should be the same but method signatures must be different. Either the number of parameters, type of parameters, or order of parameters must be different.</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The return type of the methods does not play any role in the method overloading.</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Optional Parameters take precedence over implicit type conversion when deciding which method definition to bind.</a:t>
            </a:r>
            <a:endParaRPr dirty="0">
              <a:solidFill>
                <a:srgbClr val="222222"/>
              </a:solidFill>
              <a:latin typeface="Lato"/>
              <a:ea typeface="Lato"/>
              <a:cs typeface="Lato"/>
              <a:sym typeface="Lato"/>
            </a:endParaRPr>
          </a:p>
        </p:txBody>
      </p:sp>
      <p:pic>
        <p:nvPicPr>
          <p:cNvPr id="315" name="Google Shape;315;p31"/>
          <p:cNvPicPr preferRelativeResize="0"/>
          <p:nvPr/>
        </p:nvPicPr>
        <p:blipFill rotWithShape="1">
          <a:blip r:embed="rId5">
            <a:alphaModFix/>
          </a:blip>
          <a:srcRect/>
          <a:stretch/>
        </p:blipFill>
        <p:spPr>
          <a:xfrm>
            <a:off x="171892" y="3282237"/>
            <a:ext cx="61722" cy="109728"/>
          </a:xfrm>
          <a:prstGeom prst="rect">
            <a:avLst/>
          </a:prstGeom>
          <a:noFill/>
          <a:ln>
            <a:noFill/>
          </a:ln>
        </p:spPr>
      </p:pic>
    </p:spTree>
    <p:extLst>
      <p:ext uri="{BB962C8B-B14F-4D97-AF65-F5344CB8AC3E}">
        <p14:creationId xmlns:p14="http://schemas.microsoft.com/office/powerpoint/2010/main" val="1473758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Method Overloading</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08101" y="851721"/>
            <a:ext cx="8724434" cy="2446793"/>
          </a:xfrm>
          <a:prstGeom prst="rect">
            <a:avLst/>
          </a:prstGeom>
          <a:noFill/>
          <a:ln>
            <a:noFill/>
          </a:ln>
        </p:spPr>
        <p:txBody>
          <a:bodyPr spcFirstLastPara="1" wrap="square" lIns="91425" tIns="91425" rIns="91425" bIns="91425" anchor="t" anchorCtr="0">
            <a:spAutoFit/>
          </a:bodyPr>
          <a:lstStyle/>
          <a:p>
            <a:pPr>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4657" y="930662"/>
            <a:ext cx="4224833" cy="3631286"/>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9696" y="930662"/>
            <a:ext cx="4398755" cy="3606757"/>
          </a:xfrm>
          <a:prstGeom prst="rect">
            <a:avLst/>
          </a:prstGeom>
        </p:spPr>
      </p:pic>
    </p:spTree>
    <p:extLst>
      <p:ext uri="{BB962C8B-B14F-4D97-AF65-F5344CB8AC3E}">
        <p14:creationId xmlns:p14="http://schemas.microsoft.com/office/powerpoint/2010/main" val="24676872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Method Overriding</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08101" y="851721"/>
            <a:ext cx="8724434" cy="4708951"/>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Run-time polymorphism is also known as inheritance-based polymorphism or method overriding.</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Inheritance allows you to inherit a base class into a derived class and all the public members of the base class automatically become members of the derived class. However, you can redefine the base class's member in the derived class to provide a different implementation than the base class. This is called method overriding that also known as runtime polymorphism.</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 C#, by default, all the members of a class are sealed and cannot be redefined in the derived class. Use the virtual keyword with a member of the base class to make it </a:t>
            </a:r>
            <a:r>
              <a:rPr lang="en-US" dirty="0" err="1">
                <a:solidFill>
                  <a:srgbClr val="222222"/>
                </a:solidFill>
                <a:latin typeface="Lato"/>
                <a:ea typeface="Lato"/>
                <a:cs typeface="Lato"/>
                <a:sym typeface="Lato"/>
              </a:rPr>
              <a:t>overridable</a:t>
            </a:r>
            <a:r>
              <a:rPr lang="en-US" dirty="0">
                <a:solidFill>
                  <a:srgbClr val="222222"/>
                </a:solidFill>
                <a:latin typeface="Lato"/>
                <a:ea typeface="Lato"/>
                <a:cs typeface="Lato"/>
                <a:sym typeface="Lato"/>
              </a:rPr>
              <a:t>, and use the override keyword in the derived class to indicate that this member of the base class is being redefined in the derived class</a:t>
            </a: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41110497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Method Overriding</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297" y="1254797"/>
            <a:ext cx="4101818" cy="3023527"/>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05524" y="1254796"/>
            <a:ext cx="4278497" cy="3023527"/>
          </a:xfrm>
          <a:prstGeom prst="rect">
            <a:avLst/>
          </a:prstGeom>
        </p:spPr>
      </p:pic>
    </p:spTree>
    <p:extLst>
      <p:ext uri="{BB962C8B-B14F-4D97-AF65-F5344CB8AC3E}">
        <p14:creationId xmlns:p14="http://schemas.microsoft.com/office/powerpoint/2010/main" val="7429045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Method Overriding</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18645" y="618116"/>
            <a:ext cx="5512480" cy="6001613"/>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As you learned in the previous chapter the C# compiler decides which methods to call at the compile time in the compile-time polymorphism. In the run time polymorphism, it will be decided at run time depending upon the type of an object.</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To understand why method overriding is called the runtime polymorphism, look at the given example.</a:t>
            </a:r>
          </a:p>
          <a:p>
            <a:pPr marL="285750" indent="-285750">
              <a:lnSpc>
                <a:spcPct val="150000"/>
              </a:lnSpc>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 the above example, the Display() method takes a parameter of the Person type. Thus, you can pass an object of the Person type or the Employee type when you call the Display() method. The Display() method does not know the type of parameter you passed at compile time. It can be anything at runtime. That's why method overriding is called runtime polymorphism.</a:t>
            </a: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45635" y="819181"/>
            <a:ext cx="3283855" cy="3842769"/>
          </a:xfrm>
          <a:prstGeom prst="rect">
            <a:avLst/>
          </a:prstGeom>
        </p:spPr>
      </p:pic>
    </p:spTree>
    <p:extLst>
      <p:ext uri="{BB962C8B-B14F-4D97-AF65-F5344CB8AC3E}">
        <p14:creationId xmlns:p14="http://schemas.microsoft.com/office/powerpoint/2010/main" val="8401843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pic>
        <p:nvPicPr>
          <p:cNvPr id="379" name="Google Shape;379;p36"/>
          <p:cNvPicPr preferRelativeResize="0"/>
          <p:nvPr/>
        </p:nvPicPr>
        <p:blipFill rotWithShape="1">
          <a:blip r:embed="rId3">
            <a:alphaModFix/>
          </a:blip>
          <a:srcRect/>
          <a:stretch/>
        </p:blipFill>
        <p:spPr>
          <a:xfrm>
            <a:off x="0" y="4774041"/>
            <a:ext cx="9144000" cy="369454"/>
          </a:xfrm>
          <a:prstGeom prst="rect">
            <a:avLst/>
          </a:prstGeom>
          <a:noFill/>
          <a:ln>
            <a:noFill/>
          </a:ln>
        </p:spPr>
      </p:pic>
      <p:sp>
        <p:nvSpPr>
          <p:cNvPr id="380" name="Google Shape;380;p3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381" name="Google Shape;381;p3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sp>
        <p:nvSpPr>
          <p:cNvPr id="382" name="Google Shape;382;p3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383" name="Google Shape;383;p36"/>
          <p:cNvPicPr preferRelativeResize="0"/>
          <p:nvPr/>
        </p:nvPicPr>
        <p:blipFill rotWithShape="1">
          <a:blip r:embed="rId4">
            <a:alphaModFix/>
          </a:blip>
          <a:srcRect/>
          <a:stretch/>
        </p:blipFill>
        <p:spPr>
          <a:xfrm>
            <a:off x="1494754" y="0"/>
            <a:ext cx="6151128" cy="585216"/>
          </a:xfrm>
          <a:prstGeom prst="rect">
            <a:avLst/>
          </a:prstGeom>
          <a:noFill/>
          <a:ln>
            <a:noFill/>
          </a:ln>
        </p:spPr>
      </p:pic>
      <p:sp>
        <p:nvSpPr>
          <p:cNvPr id="384" name="Google Shape;384;p36"/>
          <p:cNvSpPr txBox="1"/>
          <p:nvPr/>
        </p:nvSpPr>
        <p:spPr>
          <a:xfrm>
            <a:off x="1940153" y="13425"/>
            <a:ext cx="525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a:solidFill>
                  <a:schemeClr val="lt1"/>
                </a:solidFill>
                <a:latin typeface="Lato"/>
                <a:ea typeface="Lato"/>
                <a:cs typeface="Lato"/>
                <a:sym typeface="Lato"/>
              </a:rPr>
              <a:t>Runtime Polymorphism (Method Overriding)</a:t>
            </a:r>
            <a:endParaRPr sz="2000" b="1" i="0" u="none" strike="noStrike" cap="none">
              <a:solidFill>
                <a:schemeClr val="lt1"/>
              </a:solidFill>
              <a:latin typeface="Lato"/>
              <a:ea typeface="Lato"/>
              <a:cs typeface="Lato"/>
              <a:sym typeface="Lato"/>
            </a:endParaRPr>
          </a:p>
        </p:txBody>
      </p:sp>
      <p:sp>
        <p:nvSpPr>
          <p:cNvPr id="385" name="Google Shape;385;p36"/>
          <p:cNvSpPr txBox="1"/>
          <p:nvPr/>
        </p:nvSpPr>
        <p:spPr>
          <a:xfrm>
            <a:off x="225000" y="694075"/>
            <a:ext cx="8593200" cy="1262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b="1" dirty="0">
                <a:solidFill>
                  <a:srgbClr val="222222"/>
                </a:solidFill>
                <a:latin typeface="Lato"/>
                <a:ea typeface="Lato"/>
                <a:cs typeface="Lato"/>
                <a:sym typeface="Lato"/>
              </a:rPr>
              <a:t>Rules for Overriding:</a:t>
            </a:r>
            <a:endParaRPr b="1"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A method, property, indexer, or event can be overridden in the derived class.</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Static methods cannot be overridden.</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Must use virtual keyword in the base class methods to indicate that the methods can be overridden.</a:t>
            </a:r>
            <a:endParaRPr dirty="0">
              <a:solidFill>
                <a:srgbClr val="222222"/>
              </a:solidFill>
              <a:latin typeface="Lato"/>
              <a:ea typeface="Lato"/>
              <a:cs typeface="Lato"/>
              <a:sym typeface="Lato"/>
            </a:endParaRPr>
          </a:p>
          <a:p>
            <a:pPr marL="457200" marR="0" lvl="0" indent="-317500" algn="just" rtl="0">
              <a:lnSpc>
                <a:spcPct val="100000"/>
              </a:lnSpc>
              <a:spcBef>
                <a:spcPts val="0"/>
              </a:spcBef>
              <a:spcAft>
                <a:spcPts val="0"/>
              </a:spcAft>
              <a:buClr>
                <a:srgbClr val="222222"/>
              </a:buClr>
              <a:buSzPts val="1400"/>
              <a:buFont typeface="Lato"/>
              <a:buChar char="●"/>
            </a:pPr>
            <a:r>
              <a:rPr lang="en" dirty="0">
                <a:solidFill>
                  <a:srgbClr val="222222"/>
                </a:solidFill>
                <a:latin typeface="Lato"/>
                <a:ea typeface="Lato"/>
                <a:cs typeface="Lato"/>
                <a:sym typeface="Lato"/>
              </a:rPr>
              <a:t>Must use the override keyword in the derived class to override the base class method.</a:t>
            </a:r>
            <a:endParaRPr dirty="0">
              <a:solidFill>
                <a:srgbClr val="222222"/>
              </a:solidFill>
              <a:latin typeface="Lato"/>
              <a:ea typeface="Lato"/>
              <a:cs typeface="Lato"/>
              <a:sym typeface="Lato"/>
            </a:endParaRPr>
          </a:p>
        </p:txBody>
      </p:sp>
      <p:pic>
        <p:nvPicPr>
          <p:cNvPr id="386" name="Google Shape;386;p36"/>
          <p:cNvPicPr preferRelativeResize="0"/>
          <p:nvPr/>
        </p:nvPicPr>
        <p:blipFill rotWithShape="1">
          <a:blip r:embed="rId5">
            <a:alphaModFix/>
          </a:blip>
          <a:srcRect/>
          <a:stretch/>
        </p:blipFill>
        <p:spPr>
          <a:xfrm>
            <a:off x="171892" y="843837"/>
            <a:ext cx="61722" cy="109728"/>
          </a:xfrm>
          <a:prstGeom prst="rect">
            <a:avLst/>
          </a:prstGeom>
          <a:noFill/>
          <a:ln>
            <a:noFill/>
          </a:ln>
        </p:spPr>
      </p:pic>
    </p:spTree>
    <p:extLst>
      <p:ext uri="{BB962C8B-B14F-4D97-AF65-F5344CB8AC3E}">
        <p14:creationId xmlns:p14="http://schemas.microsoft.com/office/powerpoint/2010/main" val="13139552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lt1"/>
                </a:solidFill>
                <a:latin typeface="Lato"/>
                <a:ea typeface="Lato"/>
                <a:cs typeface="Lato"/>
                <a:sym typeface="Lato"/>
              </a:rPr>
              <a:t>Virtual Methods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67844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t>In C#, a virtual method is a method that can be overridden in a derived class.</a:t>
            </a:r>
          </a:p>
          <a:p>
            <a:pPr marL="285750" lvl="0" indent="-285750">
              <a:lnSpc>
                <a:spcPct val="150000"/>
              </a:lnSpc>
              <a:buClr>
                <a:schemeClr val="accent4">
                  <a:lumMod val="75000"/>
                </a:schemeClr>
              </a:buClr>
              <a:buSzPct val="80000"/>
              <a:buFont typeface="Lato" panose="020B0604020202020204" charset="0"/>
              <a:buChar char="►"/>
            </a:pPr>
            <a:r>
              <a:rPr lang="en-US" dirty="0"/>
              <a:t>When a method is declared as virtual in a base class, it allows a derived class to provide its own implementation of the method.</a:t>
            </a:r>
          </a:p>
          <a:p>
            <a:pPr marL="285750" lvl="0" indent="-285750">
              <a:lnSpc>
                <a:spcPct val="150000"/>
              </a:lnSpc>
              <a:buClr>
                <a:schemeClr val="accent4">
                  <a:lumMod val="75000"/>
                </a:schemeClr>
              </a:buClr>
              <a:buSzPct val="80000"/>
              <a:buFont typeface="Lato" panose="020B0604020202020204" charset="0"/>
              <a:buChar char="►"/>
            </a:pPr>
            <a:r>
              <a:rPr lang="en-US" dirty="0"/>
              <a:t>To declare a method as virtual in C#, the "virtual" keyword is used in the method declaration in the base class.</a:t>
            </a:r>
          </a:p>
          <a:p>
            <a:pPr marL="285750" lvl="0" indent="-285750">
              <a:lnSpc>
                <a:spcPct val="150000"/>
              </a:lnSpc>
              <a:buClr>
                <a:schemeClr val="accent4">
                  <a:lumMod val="75000"/>
                </a:schemeClr>
              </a:buClr>
              <a:buSzPct val="80000"/>
              <a:buFont typeface="Lato" panose="020B0604020202020204" charset="0"/>
              <a:buChar char="►"/>
            </a:pPr>
            <a:r>
              <a:rPr lang="en-US" dirty="0"/>
              <a:t>In the derived class, the method can be overridden by using the "override" keyword in the method declaration. For example.</a:t>
            </a:r>
          </a:p>
          <a:p>
            <a:pPr marL="285750" lvl="0" indent="-285750">
              <a:lnSpc>
                <a:spcPct val="150000"/>
              </a:lnSpc>
              <a:buClr>
                <a:schemeClr val="accent4">
                  <a:lumMod val="75000"/>
                </a:schemeClr>
              </a:buClr>
              <a:buSzPct val="80000"/>
              <a:buFont typeface="Lato" panose="020B0604020202020204" charset="0"/>
              <a:buChar char="►"/>
            </a:pPr>
            <a:r>
              <a:rPr lang="en-US" dirty="0"/>
              <a:t>Using virtual methods can be useful in situations where you want to provide a base implementation in a base class, but allow derived classes to modify or extend the behavior of that method.</a:t>
            </a:r>
          </a:p>
          <a:p>
            <a:pPr marL="285750" indent="-285750">
              <a:lnSpc>
                <a:spcPct val="150000"/>
              </a:lnSpc>
              <a:buClr>
                <a:schemeClr val="accent4">
                  <a:lumMod val="75000"/>
                </a:schemeClr>
              </a:buClr>
              <a:buSzPct val="80000"/>
              <a:buFont typeface="Lato" panose="020B0604020202020204" charset="0"/>
              <a:buChar char="►"/>
            </a:pPr>
            <a:r>
              <a:rPr lang="en-US" dirty="0"/>
              <a:t>We can't use the virtual modifier with the static, abstract, private, or override modifiers. </a:t>
            </a:r>
          </a:p>
          <a:p>
            <a:pPr lvl="0">
              <a:lnSpc>
                <a:spcPct val="150000"/>
              </a:lnSpc>
              <a:buClr>
                <a:schemeClr val="accent4">
                  <a:lumMod val="75000"/>
                </a:schemeClr>
              </a:buClr>
              <a:buSzPct val="80000"/>
            </a:pP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3509462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lt1"/>
                </a:solidFill>
                <a:latin typeface="Lato"/>
                <a:ea typeface="Lato"/>
                <a:cs typeface="Lato"/>
                <a:sym typeface="Lato"/>
              </a:rPr>
              <a:t>Virtual Methods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182" y="670494"/>
            <a:ext cx="4055094" cy="3968938"/>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1797" y="985292"/>
            <a:ext cx="4470774" cy="3159112"/>
          </a:xfrm>
          <a:prstGeom prst="rect">
            <a:avLst/>
          </a:prstGeom>
        </p:spPr>
      </p:pic>
    </p:spTree>
    <p:extLst>
      <p:ext uri="{BB962C8B-B14F-4D97-AF65-F5344CB8AC3E}">
        <p14:creationId xmlns:p14="http://schemas.microsoft.com/office/powerpoint/2010/main" val="40790020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Abstract class and methods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67844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An abstract class is a class that cannot be instantiated. It is designed to be a base class and must be inherited by other classes. It can have abstract methods (without implementation) and concrete methods (with implementation).</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Abstract classes and methods are declared using the abstract keyword.</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Abstract classes cannot be instantiated directly, but they can be used as base classes for other classes that derive from them.</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 method without the body is known as the Abstract Method. What the method contains is only the declaration of the method.</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Who will Provide the Implementation of Abstract Methods? Answer is child class</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An abstract class can contain both abstract and non-abstract methods. If a child class of an abstract class wants to consume any non-abstract methods of its parent, it should implement all abstract methods.</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34215821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lt1"/>
                </a:solidFill>
                <a:latin typeface="Lato"/>
                <a:ea typeface="Lato"/>
                <a:cs typeface="Lato"/>
                <a:sym typeface="Lato"/>
              </a:rPr>
              <a:t>Abstract class and methods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811" y="1077446"/>
            <a:ext cx="4163713" cy="3415613"/>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51826" y="1077446"/>
            <a:ext cx="4129038" cy="3415613"/>
          </a:xfrm>
          <a:prstGeom prst="rect">
            <a:avLst/>
          </a:prstGeom>
        </p:spPr>
      </p:pic>
    </p:spTree>
    <p:extLst>
      <p:ext uri="{BB962C8B-B14F-4D97-AF65-F5344CB8AC3E}">
        <p14:creationId xmlns:p14="http://schemas.microsoft.com/office/powerpoint/2010/main" val="9245389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Interface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6001613"/>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The Interface in C# is a Fully Unimplemented Class used for declaring a set of operations/methods of an object.</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An interface is a contract that defines what a class should do, but not how it does it. It only contains method declarations (without implementation), and any class that implements the interface must provide implementations for all its methods.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By default, every member of an interface is abstract, so we aren’t required to use the abstract modifier on it again, just like we do in the case of an abstract class.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We cannot declare fields/variables, constructors, and destructors in an interface in C#.</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C# does not support multiple inheritance for classes (a class cannot inherit from multiple classes) but supports multiple interface implementation. If you need a class to inherit behavior or structure from multiple sources, you can use interfaces to achieve this. This allows you to share code among different classes without the complexities of multiple-class inheritance.</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24019244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lt1"/>
                </a:solidFill>
                <a:latin typeface="Lato"/>
                <a:ea typeface="Lato"/>
                <a:cs typeface="Lato"/>
                <a:sym typeface="Lato"/>
              </a:rPr>
              <a:t>Interface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297" y="1100030"/>
            <a:ext cx="4322323" cy="299032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6349" y="1100030"/>
            <a:ext cx="3967311" cy="2990320"/>
          </a:xfrm>
          <a:prstGeom prst="rect">
            <a:avLst/>
          </a:prstGeom>
        </p:spPr>
      </p:pic>
    </p:spTree>
    <p:extLst>
      <p:ext uri="{BB962C8B-B14F-4D97-AF65-F5344CB8AC3E}">
        <p14:creationId xmlns:p14="http://schemas.microsoft.com/office/powerpoint/2010/main" val="3401830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996901" y="0"/>
            <a:ext cx="7459579" cy="585216"/>
          </a:xfrm>
          <a:prstGeom prst="rect">
            <a:avLst/>
          </a:prstGeom>
          <a:noFill/>
          <a:ln>
            <a:noFill/>
          </a:ln>
        </p:spPr>
      </p:pic>
      <p:sp>
        <p:nvSpPr>
          <p:cNvPr id="75" name="Google Shape;75;p17"/>
          <p:cNvSpPr txBox="1"/>
          <p:nvPr/>
        </p:nvSpPr>
        <p:spPr>
          <a:xfrm>
            <a:off x="1560667" y="13425"/>
            <a:ext cx="5747073"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Difference between Abstract Class and Interface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648575715"/>
              </p:ext>
            </p:extLst>
          </p:nvPr>
        </p:nvGraphicFramePr>
        <p:xfrm>
          <a:off x="515909" y="733514"/>
          <a:ext cx="8345218" cy="3759603"/>
        </p:xfrm>
        <a:graphic>
          <a:graphicData uri="http://schemas.openxmlformats.org/drawingml/2006/table">
            <a:tbl>
              <a:tblPr firstRow="1" bandRow="1">
                <a:tableStyleId>{5C22544A-7EE6-4342-B048-85BDC9FD1C3A}</a:tableStyleId>
              </a:tblPr>
              <a:tblGrid>
                <a:gridCol w="4172609">
                  <a:extLst>
                    <a:ext uri="{9D8B030D-6E8A-4147-A177-3AD203B41FA5}">
                      <a16:colId xmlns:a16="http://schemas.microsoft.com/office/drawing/2014/main" val="116378460"/>
                    </a:ext>
                  </a:extLst>
                </a:gridCol>
                <a:gridCol w="4172609">
                  <a:extLst>
                    <a:ext uri="{9D8B030D-6E8A-4147-A177-3AD203B41FA5}">
                      <a16:colId xmlns:a16="http://schemas.microsoft.com/office/drawing/2014/main" val="2719973194"/>
                    </a:ext>
                  </a:extLst>
                </a:gridCol>
              </a:tblGrid>
              <a:tr h="310963">
                <a:tc>
                  <a:txBody>
                    <a:bodyPr/>
                    <a:lstStyle/>
                    <a:p>
                      <a:pPr algn="ctr"/>
                      <a:r>
                        <a:rPr lang="en-US" dirty="0">
                          <a:latin typeface="Lato" panose="020B0604020202020204" charset="0"/>
                        </a:rPr>
                        <a:t>Abstract Class</a:t>
                      </a:r>
                    </a:p>
                  </a:txBody>
                  <a:tcPr/>
                </a:tc>
                <a:tc>
                  <a:txBody>
                    <a:bodyPr/>
                    <a:lstStyle/>
                    <a:p>
                      <a:pPr algn="ctr"/>
                      <a:r>
                        <a:rPr lang="en-US" dirty="0">
                          <a:latin typeface="Lato" panose="020B0604020202020204" charset="0"/>
                        </a:rPr>
                        <a:t>Interface</a:t>
                      </a:r>
                    </a:p>
                  </a:txBody>
                  <a:tcPr/>
                </a:tc>
                <a:extLst>
                  <a:ext uri="{0D108BD9-81ED-4DB2-BD59-A6C34878D82A}">
                    <a16:rowId xmlns:a16="http://schemas.microsoft.com/office/drawing/2014/main" val="1632854141"/>
                  </a:ext>
                </a:extLst>
              </a:tr>
              <a:tr h="857840">
                <a:tc>
                  <a:txBody>
                    <a:bodyPr/>
                    <a:lstStyle/>
                    <a:p>
                      <a:r>
                        <a:rPr lang="en-US" dirty="0">
                          <a:latin typeface="Lato" panose="020B0604020202020204" charset="0"/>
                        </a:rPr>
                        <a:t>It contains both declaration and implementation parts.</a:t>
                      </a:r>
                    </a:p>
                  </a:txBody>
                  <a:tcPr/>
                </a:tc>
                <a:tc>
                  <a:txBody>
                    <a:bodyPr/>
                    <a:lstStyle/>
                    <a:p>
                      <a:r>
                        <a:rPr lang="en-US" dirty="0">
                          <a:latin typeface="Lato" panose="020B0604020202020204" charset="0"/>
                        </a:rPr>
                        <a:t>It</a:t>
                      </a:r>
                      <a:r>
                        <a:rPr lang="en-US" baseline="0" dirty="0">
                          <a:latin typeface="Lato" panose="020B0604020202020204" charset="0"/>
                        </a:rPr>
                        <a:t> contains only the declaration of methods, properties, events or indexes. Since C# 8, default implementations can also be included in interfaces</a:t>
                      </a:r>
                      <a:endParaRPr lang="en-US" dirty="0">
                        <a:latin typeface="Lato" panose="020B0604020202020204" charset="0"/>
                      </a:endParaRPr>
                    </a:p>
                  </a:txBody>
                  <a:tcPr/>
                </a:tc>
                <a:extLst>
                  <a:ext uri="{0D108BD9-81ED-4DB2-BD59-A6C34878D82A}">
                    <a16:rowId xmlns:a16="http://schemas.microsoft.com/office/drawing/2014/main" val="4188088602"/>
                  </a:ext>
                </a:extLst>
              </a:tr>
              <a:tr h="470428">
                <a:tc>
                  <a:txBody>
                    <a:bodyPr/>
                    <a:lstStyle/>
                    <a:p>
                      <a:r>
                        <a:rPr lang="en-US" dirty="0">
                          <a:latin typeface="Lato" panose="020B0604020202020204" charset="0"/>
                        </a:rPr>
                        <a:t>Multiple inheritance is not achieved by abstract class.</a:t>
                      </a:r>
                    </a:p>
                  </a:txBody>
                  <a:tcPr/>
                </a:tc>
                <a:tc>
                  <a:txBody>
                    <a:bodyPr/>
                    <a:lstStyle/>
                    <a:p>
                      <a:r>
                        <a:rPr lang="en-US" dirty="0">
                          <a:latin typeface="Lato" panose="020B0604020202020204" charset="0"/>
                        </a:rPr>
                        <a:t>Multiple inheritance is achieved by interface.</a:t>
                      </a:r>
                    </a:p>
                  </a:txBody>
                  <a:tcPr/>
                </a:tc>
                <a:extLst>
                  <a:ext uri="{0D108BD9-81ED-4DB2-BD59-A6C34878D82A}">
                    <a16:rowId xmlns:a16="http://schemas.microsoft.com/office/drawing/2014/main" val="1630518562"/>
                  </a:ext>
                </a:extLst>
              </a:tr>
              <a:tr h="276723">
                <a:tc>
                  <a:txBody>
                    <a:bodyPr/>
                    <a:lstStyle/>
                    <a:p>
                      <a:r>
                        <a:rPr lang="en-US" dirty="0">
                          <a:latin typeface="Lato" panose="020B0604020202020204" charset="0"/>
                        </a:rPr>
                        <a:t>It contain constructor.</a:t>
                      </a:r>
                    </a:p>
                  </a:txBody>
                  <a:tcPr/>
                </a:tc>
                <a:tc>
                  <a:txBody>
                    <a:bodyPr/>
                    <a:lstStyle/>
                    <a:p>
                      <a:r>
                        <a:rPr lang="en-US" dirty="0">
                          <a:latin typeface="Lato" panose="020B0604020202020204" charset="0"/>
                        </a:rPr>
                        <a:t>It does not contain constructor.</a:t>
                      </a:r>
                    </a:p>
                  </a:txBody>
                  <a:tcPr/>
                </a:tc>
                <a:extLst>
                  <a:ext uri="{0D108BD9-81ED-4DB2-BD59-A6C34878D82A}">
                    <a16:rowId xmlns:a16="http://schemas.microsoft.com/office/drawing/2014/main" val="1032554291"/>
                  </a:ext>
                </a:extLst>
              </a:tr>
              <a:tr h="470428">
                <a:tc>
                  <a:txBody>
                    <a:bodyPr/>
                    <a:lstStyle/>
                    <a:p>
                      <a:r>
                        <a:rPr lang="en-US" dirty="0">
                          <a:latin typeface="Lato" panose="020B0604020202020204" charset="0"/>
                        </a:rPr>
                        <a:t>It can contain static members.</a:t>
                      </a:r>
                    </a:p>
                  </a:txBody>
                  <a:tcPr/>
                </a:tc>
                <a:tc>
                  <a:txBody>
                    <a:bodyPr/>
                    <a:lstStyle/>
                    <a:p>
                      <a:r>
                        <a:rPr lang="en-US" dirty="0">
                          <a:latin typeface="Lato" panose="020B0604020202020204" charset="0"/>
                        </a:rPr>
                        <a:t>It does not contain static members.</a:t>
                      </a:r>
                    </a:p>
                    <a:p>
                      <a:endParaRPr lang="en-US" dirty="0">
                        <a:latin typeface="Lato" panose="020B0604020202020204" charset="0"/>
                      </a:endParaRPr>
                    </a:p>
                  </a:txBody>
                  <a:tcPr/>
                </a:tc>
                <a:extLst>
                  <a:ext uri="{0D108BD9-81ED-4DB2-BD59-A6C34878D82A}">
                    <a16:rowId xmlns:a16="http://schemas.microsoft.com/office/drawing/2014/main" val="563659421"/>
                  </a:ext>
                </a:extLst>
              </a:tr>
              <a:tr h="470428">
                <a:tc>
                  <a:txBody>
                    <a:bodyPr/>
                    <a:lstStyle/>
                    <a:p>
                      <a:r>
                        <a:rPr lang="en-US" dirty="0">
                          <a:latin typeface="Lato" panose="020B0604020202020204" charset="0"/>
                        </a:rPr>
                        <a:t>It can contain different types of access modifiers like public, private, protected etc.</a:t>
                      </a:r>
                    </a:p>
                  </a:txBody>
                  <a:tcPr/>
                </a:tc>
                <a:tc>
                  <a:txBody>
                    <a:bodyPr/>
                    <a:lstStyle/>
                    <a:p>
                      <a:r>
                        <a:rPr lang="en-US" dirty="0">
                          <a:latin typeface="Lato" panose="020B0604020202020204" charset="0"/>
                        </a:rPr>
                        <a:t>It only contains public access modifier because everything in the interface is public.</a:t>
                      </a:r>
                    </a:p>
                  </a:txBody>
                  <a:tcPr/>
                </a:tc>
                <a:extLst>
                  <a:ext uri="{0D108BD9-81ED-4DB2-BD59-A6C34878D82A}">
                    <a16:rowId xmlns:a16="http://schemas.microsoft.com/office/drawing/2014/main" val="3175789470"/>
                  </a:ext>
                </a:extLst>
              </a:tr>
              <a:tr h="664134">
                <a:tc>
                  <a:txBody>
                    <a:bodyPr/>
                    <a:lstStyle/>
                    <a:p>
                      <a:r>
                        <a:rPr lang="en-US" dirty="0">
                          <a:latin typeface="Lato" panose="020B0604020202020204" charset="0"/>
                        </a:rPr>
                        <a:t>The performance of an abstract class is fast.</a:t>
                      </a:r>
                    </a:p>
                  </a:txBody>
                  <a:tcPr/>
                </a:tc>
                <a:tc>
                  <a:txBody>
                    <a:bodyPr/>
                    <a:lstStyle/>
                    <a:p>
                      <a:r>
                        <a:rPr lang="en-US" dirty="0">
                          <a:latin typeface="Lato" panose="020B0604020202020204" charset="0"/>
                        </a:rPr>
                        <a:t>The performance of interface is slow because it requires time to search actual method in the corresponding class.</a:t>
                      </a:r>
                    </a:p>
                  </a:txBody>
                  <a:tcPr/>
                </a:tc>
                <a:extLst>
                  <a:ext uri="{0D108BD9-81ED-4DB2-BD59-A6C34878D82A}">
                    <a16:rowId xmlns:a16="http://schemas.microsoft.com/office/drawing/2014/main" val="1059465306"/>
                  </a:ext>
                </a:extLst>
              </a:tr>
            </a:tbl>
          </a:graphicData>
        </a:graphic>
      </p:graphicFrame>
    </p:spTree>
    <p:extLst>
      <p:ext uri="{BB962C8B-B14F-4D97-AF65-F5344CB8AC3E}">
        <p14:creationId xmlns:p14="http://schemas.microsoft.com/office/powerpoint/2010/main" val="36792333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996901" y="0"/>
            <a:ext cx="7459579" cy="585216"/>
          </a:xfrm>
          <a:prstGeom prst="rect">
            <a:avLst/>
          </a:prstGeom>
          <a:noFill/>
          <a:ln>
            <a:noFill/>
          </a:ln>
        </p:spPr>
      </p:pic>
      <p:sp>
        <p:nvSpPr>
          <p:cNvPr id="75" name="Google Shape;75;p17"/>
          <p:cNvSpPr txBox="1"/>
          <p:nvPr/>
        </p:nvSpPr>
        <p:spPr>
          <a:xfrm>
            <a:off x="1560667" y="13425"/>
            <a:ext cx="5747073"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Difference between Abstract Class and Interface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867982969"/>
              </p:ext>
            </p:extLst>
          </p:nvPr>
        </p:nvGraphicFramePr>
        <p:xfrm>
          <a:off x="515909" y="733514"/>
          <a:ext cx="8345218" cy="3795249"/>
        </p:xfrm>
        <a:graphic>
          <a:graphicData uri="http://schemas.openxmlformats.org/drawingml/2006/table">
            <a:tbl>
              <a:tblPr firstRow="1" bandRow="1">
                <a:tableStyleId>{5C22544A-7EE6-4342-B048-85BDC9FD1C3A}</a:tableStyleId>
              </a:tblPr>
              <a:tblGrid>
                <a:gridCol w="4172609">
                  <a:extLst>
                    <a:ext uri="{9D8B030D-6E8A-4147-A177-3AD203B41FA5}">
                      <a16:colId xmlns:a16="http://schemas.microsoft.com/office/drawing/2014/main" val="116378460"/>
                    </a:ext>
                  </a:extLst>
                </a:gridCol>
                <a:gridCol w="4172609">
                  <a:extLst>
                    <a:ext uri="{9D8B030D-6E8A-4147-A177-3AD203B41FA5}">
                      <a16:colId xmlns:a16="http://schemas.microsoft.com/office/drawing/2014/main" val="2719973194"/>
                    </a:ext>
                  </a:extLst>
                </a:gridCol>
              </a:tblGrid>
              <a:tr h="476915">
                <a:tc>
                  <a:txBody>
                    <a:bodyPr/>
                    <a:lstStyle/>
                    <a:p>
                      <a:pPr algn="ctr"/>
                      <a:r>
                        <a:rPr lang="en-US" dirty="0">
                          <a:latin typeface="Lato" panose="020B0604020202020204" charset="0"/>
                        </a:rPr>
                        <a:t>Abstract Class</a:t>
                      </a:r>
                    </a:p>
                  </a:txBody>
                  <a:tcPr/>
                </a:tc>
                <a:tc>
                  <a:txBody>
                    <a:bodyPr/>
                    <a:lstStyle/>
                    <a:p>
                      <a:pPr algn="ctr"/>
                      <a:r>
                        <a:rPr lang="en-US" dirty="0">
                          <a:latin typeface="Lato" panose="020B0604020202020204" charset="0"/>
                        </a:rPr>
                        <a:t>Interface</a:t>
                      </a:r>
                    </a:p>
                  </a:txBody>
                  <a:tcPr/>
                </a:tc>
                <a:extLst>
                  <a:ext uri="{0D108BD9-81ED-4DB2-BD59-A6C34878D82A}">
                    <a16:rowId xmlns:a16="http://schemas.microsoft.com/office/drawing/2014/main" val="1632854141"/>
                  </a:ext>
                </a:extLst>
              </a:tr>
              <a:tr h="415932">
                <a:tc>
                  <a:txBody>
                    <a:bodyPr/>
                    <a:lstStyle/>
                    <a:p>
                      <a:r>
                        <a:rPr lang="en-US" dirty="0">
                          <a:latin typeface="Lato" panose="020B0604020202020204" charset="0"/>
                        </a:rPr>
                        <a:t>It is used to implement the core identity of class.</a:t>
                      </a:r>
                    </a:p>
                  </a:txBody>
                  <a:tcPr/>
                </a:tc>
                <a:tc>
                  <a:txBody>
                    <a:bodyPr/>
                    <a:lstStyle/>
                    <a:p>
                      <a:r>
                        <a:rPr lang="en-US" dirty="0">
                          <a:latin typeface="Lato" panose="020B0604020202020204" charset="0"/>
                        </a:rPr>
                        <a:t>It is used to implement peripheral abilities of class.</a:t>
                      </a:r>
                    </a:p>
                  </a:txBody>
                  <a:tcPr/>
                </a:tc>
                <a:extLst>
                  <a:ext uri="{0D108BD9-81ED-4DB2-BD59-A6C34878D82A}">
                    <a16:rowId xmlns:a16="http://schemas.microsoft.com/office/drawing/2014/main" val="4188088602"/>
                  </a:ext>
                </a:extLst>
              </a:tr>
              <a:tr h="470428">
                <a:tc>
                  <a:txBody>
                    <a:bodyPr/>
                    <a:lstStyle/>
                    <a:p>
                      <a:r>
                        <a:rPr lang="en-US" dirty="0">
                          <a:latin typeface="Lato" panose="020B0604020202020204" charset="0"/>
                        </a:rPr>
                        <a:t>A class can only use one abstract class.</a:t>
                      </a:r>
                    </a:p>
                  </a:txBody>
                  <a:tcPr/>
                </a:tc>
                <a:tc>
                  <a:txBody>
                    <a:bodyPr/>
                    <a:lstStyle/>
                    <a:p>
                      <a:r>
                        <a:rPr lang="en-US" dirty="0">
                          <a:latin typeface="Lato" panose="020B0604020202020204" charset="0"/>
                        </a:rPr>
                        <a:t>A class can use multiple interface.</a:t>
                      </a:r>
                    </a:p>
                  </a:txBody>
                  <a:tcPr/>
                </a:tc>
                <a:extLst>
                  <a:ext uri="{0D108BD9-81ED-4DB2-BD59-A6C34878D82A}">
                    <a16:rowId xmlns:a16="http://schemas.microsoft.com/office/drawing/2014/main" val="1630518562"/>
                  </a:ext>
                </a:extLst>
              </a:tr>
              <a:tr h="276723">
                <a:tc>
                  <a:txBody>
                    <a:bodyPr/>
                    <a:lstStyle/>
                    <a:p>
                      <a:r>
                        <a:rPr lang="en-US" dirty="0">
                          <a:latin typeface="Lato" panose="020B0604020202020204" charset="0"/>
                        </a:rPr>
                        <a:t>If many implementations are of the same kind and use common behavior, then it is superior to use abstract class.</a:t>
                      </a:r>
                    </a:p>
                  </a:txBody>
                  <a:tcPr/>
                </a:tc>
                <a:tc>
                  <a:txBody>
                    <a:bodyPr/>
                    <a:lstStyle/>
                    <a:p>
                      <a:r>
                        <a:rPr lang="en-US" dirty="0">
                          <a:latin typeface="Lato" panose="020B0604020202020204" charset="0"/>
                        </a:rPr>
                        <a:t>If many implementations only share methods, then it is superior to use Interface.</a:t>
                      </a:r>
                    </a:p>
                  </a:txBody>
                  <a:tcPr/>
                </a:tc>
                <a:extLst>
                  <a:ext uri="{0D108BD9-81ED-4DB2-BD59-A6C34878D82A}">
                    <a16:rowId xmlns:a16="http://schemas.microsoft.com/office/drawing/2014/main" val="1032554291"/>
                  </a:ext>
                </a:extLst>
              </a:tr>
              <a:tr h="470428">
                <a:tc>
                  <a:txBody>
                    <a:bodyPr/>
                    <a:lstStyle/>
                    <a:p>
                      <a:r>
                        <a:rPr lang="en-US" dirty="0">
                          <a:latin typeface="Lato" panose="020B0604020202020204" charset="0"/>
                        </a:rPr>
                        <a:t>Abstract class can contain methods, fields, constants, etc.</a:t>
                      </a:r>
                    </a:p>
                  </a:txBody>
                  <a:tcPr/>
                </a:tc>
                <a:tc>
                  <a:txBody>
                    <a:bodyPr/>
                    <a:lstStyle/>
                    <a:p>
                      <a:r>
                        <a:rPr lang="en-US" dirty="0">
                          <a:latin typeface="Lato" panose="020B0604020202020204" charset="0"/>
                        </a:rPr>
                        <a:t>Interface can only contains methods, properties, indexers, events.</a:t>
                      </a:r>
                    </a:p>
                  </a:txBody>
                  <a:tcPr/>
                </a:tc>
                <a:extLst>
                  <a:ext uri="{0D108BD9-81ED-4DB2-BD59-A6C34878D82A}">
                    <a16:rowId xmlns:a16="http://schemas.microsoft.com/office/drawing/2014/main" val="563659421"/>
                  </a:ext>
                </a:extLst>
              </a:tr>
              <a:tr h="470428">
                <a:tc>
                  <a:txBody>
                    <a:bodyPr/>
                    <a:lstStyle/>
                    <a:p>
                      <a:r>
                        <a:rPr lang="en-US" dirty="0">
                          <a:latin typeface="Lato" panose="020B0604020202020204" charset="0"/>
                        </a:rPr>
                        <a:t>The keyword “:” can be used for implementing the Abstract class.</a:t>
                      </a:r>
                    </a:p>
                  </a:txBody>
                  <a:tcPr/>
                </a:tc>
                <a:tc>
                  <a:txBody>
                    <a:bodyPr/>
                    <a:lstStyle/>
                    <a:p>
                      <a:r>
                        <a:rPr lang="en-US" dirty="0">
                          <a:latin typeface="Lato" panose="020B0604020202020204" charset="0"/>
                        </a:rPr>
                        <a:t>The keyword “:” and “,” can be used for implementing the Interface.</a:t>
                      </a:r>
                    </a:p>
                  </a:txBody>
                  <a:tcPr/>
                </a:tc>
                <a:extLst>
                  <a:ext uri="{0D108BD9-81ED-4DB2-BD59-A6C34878D82A}">
                    <a16:rowId xmlns:a16="http://schemas.microsoft.com/office/drawing/2014/main" val="3175789470"/>
                  </a:ext>
                </a:extLst>
              </a:tr>
              <a:tr h="664134">
                <a:tc>
                  <a:txBody>
                    <a:bodyPr/>
                    <a:lstStyle/>
                    <a:p>
                      <a:r>
                        <a:rPr lang="en-US" dirty="0">
                          <a:latin typeface="Lato" panose="020B0604020202020204" charset="0"/>
                        </a:rPr>
                        <a:t>It can be fully, partially or not implemented.</a:t>
                      </a:r>
                    </a:p>
                  </a:txBody>
                  <a:tcPr/>
                </a:tc>
                <a:tc>
                  <a:txBody>
                    <a:bodyPr/>
                    <a:lstStyle/>
                    <a:p>
                      <a:r>
                        <a:rPr lang="en-US" dirty="0">
                          <a:latin typeface="Lato" panose="020B0604020202020204" charset="0"/>
                        </a:rPr>
                        <a:t>It should be fully implemented.</a:t>
                      </a:r>
                    </a:p>
                  </a:txBody>
                  <a:tcPr/>
                </a:tc>
                <a:extLst>
                  <a:ext uri="{0D108BD9-81ED-4DB2-BD59-A6C34878D82A}">
                    <a16:rowId xmlns:a16="http://schemas.microsoft.com/office/drawing/2014/main" val="1059465306"/>
                  </a:ext>
                </a:extLst>
              </a:tr>
            </a:tbl>
          </a:graphicData>
        </a:graphic>
      </p:graphicFrame>
    </p:spTree>
    <p:extLst>
      <p:ext uri="{BB962C8B-B14F-4D97-AF65-F5344CB8AC3E}">
        <p14:creationId xmlns:p14="http://schemas.microsoft.com/office/powerpoint/2010/main" val="41138086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Advanced Inheritance &amp; Polymorphism</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03211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New Keyword : </a:t>
            </a:r>
            <a:r>
              <a:rPr lang="en-US" dirty="0">
                <a:latin typeface="Lato" panose="020B0604020202020204" charset="0"/>
              </a:rPr>
              <a:t>The new keyword is used to indicate that a method or property in a derived class is intended to hide, rather than override, a method or property in the base class.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It's important to note that the new keyword can be used to hide any method or property, regardless of whether it's virtual or not.</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The base class method can still be accessed using a base class reference.</a:t>
            </a:r>
            <a:br>
              <a:rPr lang="en-US" dirty="0">
                <a:latin typeface="Lato" panose="020B0604020202020204" charset="0"/>
              </a:rPr>
            </a:br>
            <a:endParaRPr lang="en-US" dirty="0">
              <a:latin typeface="Lato" panose="020B0604020202020204" charset="0"/>
            </a:endParaRPr>
          </a:p>
          <a:p>
            <a:pPr lvl="0">
              <a:lnSpc>
                <a:spcPct val="150000"/>
              </a:lnSpc>
              <a:buClr>
                <a:schemeClr val="accent4">
                  <a:lumMod val="75000"/>
                </a:schemeClr>
              </a:buClr>
              <a:buSzPct val="80000"/>
            </a:pPr>
            <a:r>
              <a:rPr lang="en-US" b="1" dirty="0">
                <a:latin typeface="Lato" panose="020B0604020202020204" charset="0"/>
              </a:rPr>
              <a:t>Usage:</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When you don’t want to override but just define a new implementation of a method in the derived class.</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When both versions of the method should be accessible based on the reference type.</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17413243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Advanced Inheritance &amp; Polymorphism</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297" y="737754"/>
            <a:ext cx="4267921" cy="3932816"/>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2336" y="737755"/>
            <a:ext cx="4135395" cy="3932816"/>
          </a:xfrm>
          <a:prstGeom prst="rect">
            <a:avLst/>
          </a:prstGeom>
        </p:spPr>
      </p:pic>
    </p:spTree>
    <p:extLst>
      <p:ext uri="{BB962C8B-B14F-4D97-AF65-F5344CB8AC3E}">
        <p14:creationId xmlns:p14="http://schemas.microsoft.com/office/powerpoint/2010/main" val="194038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685800" y="0"/>
            <a:ext cx="8175327" cy="585216"/>
          </a:xfrm>
          <a:prstGeom prst="rect">
            <a:avLst/>
          </a:prstGeom>
          <a:noFill/>
          <a:ln>
            <a:noFill/>
          </a:ln>
        </p:spPr>
      </p:pic>
      <p:sp>
        <p:nvSpPr>
          <p:cNvPr id="75" name="Google Shape;75;p17"/>
          <p:cNvSpPr txBox="1"/>
          <p:nvPr/>
        </p:nvSpPr>
        <p:spPr>
          <a:xfrm>
            <a:off x="1102782" y="3065"/>
            <a:ext cx="6938435"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Difference between Method Overriding and Method Hiding</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175190681"/>
              </p:ext>
            </p:extLst>
          </p:nvPr>
        </p:nvGraphicFramePr>
        <p:xfrm>
          <a:off x="515909" y="733514"/>
          <a:ext cx="8345218" cy="3492122"/>
        </p:xfrm>
        <a:graphic>
          <a:graphicData uri="http://schemas.openxmlformats.org/drawingml/2006/table">
            <a:tbl>
              <a:tblPr firstRow="1" bandRow="1">
                <a:tableStyleId>{5C22544A-7EE6-4342-B048-85BDC9FD1C3A}</a:tableStyleId>
              </a:tblPr>
              <a:tblGrid>
                <a:gridCol w="4172609">
                  <a:extLst>
                    <a:ext uri="{9D8B030D-6E8A-4147-A177-3AD203B41FA5}">
                      <a16:colId xmlns:a16="http://schemas.microsoft.com/office/drawing/2014/main" val="116378460"/>
                    </a:ext>
                  </a:extLst>
                </a:gridCol>
                <a:gridCol w="4172609">
                  <a:extLst>
                    <a:ext uri="{9D8B030D-6E8A-4147-A177-3AD203B41FA5}">
                      <a16:colId xmlns:a16="http://schemas.microsoft.com/office/drawing/2014/main" val="2719973194"/>
                    </a:ext>
                  </a:extLst>
                </a:gridCol>
              </a:tblGrid>
              <a:tr h="476915">
                <a:tc>
                  <a:txBody>
                    <a:bodyPr/>
                    <a:lstStyle/>
                    <a:p>
                      <a:pPr algn="ctr"/>
                      <a:r>
                        <a:rPr lang="en-US" dirty="0">
                          <a:latin typeface="Lato" panose="020B0604020202020204" charset="0"/>
                        </a:rPr>
                        <a:t>Method</a:t>
                      </a:r>
                      <a:r>
                        <a:rPr lang="en-US" baseline="0" dirty="0">
                          <a:latin typeface="Lato" panose="020B0604020202020204" charset="0"/>
                        </a:rPr>
                        <a:t> Overriding</a:t>
                      </a:r>
                      <a:endParaRPr lang="en-US" dirty="0">
                        <a:latin typeface="Lato" panose="020B0604020202020204" charset="0"/>
                      </a:endParaRPr>
                    </a:p>
                  </a:txBody>
                  <a:tcPr/>
                </a:tc>
                <a:tc>
                  <a:txBody>
                    <a:bodyPr/>
                    <a:lstStyle/>
                    <a:p>
                      <a:pPr algn="ctr"/>
                      <a:r>
                        <a:rPr lang="en-US" dirty="0">
                          <a:latin typeface="Lato" panose="020B0604020202020204" charset="0"/>
                        </a:rPr>
                        <a:t>Method</a:t>
                      </a:r>
                      <a:r>
                        <a:rPr lang="en-US" baseline="0" dirty="0">
                          <a:latin typeface="Lato" panose="020B0604020202020204" charset="0"/>
                        </a:rPr>
                        <a:t> Hiding (new keyword)</a:t>
                      </a:r>
                      <a:endParaRPr lang="en-US" dirty="0">
                        <a:latin typeface="Lato" panose="020B0604020202020204" charset="0"/>
                      </a:endParaRPr>
                    </a:p>
                  </a:txBody>
                  <a:tcPr/>
                </a:tc>
                <a:extLst>
                  <a:ext uri="{0D108BD9-81ED-4DB2-BD59-A6C34878D82A}">
                    <a16:rowId xmlns:a16="http://schemas.microsoft.com/office/drawing/2014/main" val="1632854141"/>
                  </a:ext>
                </a:extLst>
              </a:tr>
              <a:tr h="415932">
                <a:tc>
                  <a:txBody>
                    <a:bodyPr/>
                    <a:lstStyle/>
                    <a:p>
                      <a:r>
                        <a:rPr lang="en-US" b="1" dirty="0"/>
                        <a:t>Runtime binding</a:t>
                      </a:r>
                      <a:r>
                        <a:rPr lang="en-US" dirty="0"/>
                        <a:t> (based on object type)</a:t>
                      </a:r>
                      <a:endParaRPr lang="en-US" dirty="0">
                        <a:latin typeface="Lato" panose="020B0604020202020204" charset="0"/>
                      </a:endParaRPr>
                    </a:p>
                  </a:txBody>
                  <a:tcPr/>
                </a:tc>
                <a:tc>
                  <a:txBody>
                    <a:bodyPr/>
                    <a:lstStyle/>
                    <a:p>
                      <a:r>
                        <a:rPr lang="en-US" b="1" dirty="0"/>
                        <a:t>Compile-time binding</a:t>
                      </a:r>
                      <a:r>
                        <a:rPr lang="en-US" dirty="0"/>
                        <a:t> (based on reference type)</a:t>
                      </a:r>
                      <a:endParaRPr lang="en-US" dirty="0">
                        <a:latin typeface="Lato" panose="020B0604020202020204" charset="0"/>
                      </a:endParaRPr>
                    </a:p>
                  </a:txBody>
                  <a:tcPr/>
                </a:tc>
                <a:extLst>
                  <a:ext uri="{0D108BD9-81ED-4DB2-BD59-A6C34878D82A}">
                    <a16:rowId xmlns:a16="http://schemas.microsoft.com/office/drawing/2014/main" val="4188088602"/>
                  </a:ext>
                </a:extLst>
              </a:tr>
              <a:tr h="61807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Derived class method is called</a:t>
                      </a:r>
                      <a:r>
                        <a:rPr lang="en-US" dirty="0"/>
                        <a:t> even with base class reference (polymorphism)</a:t>
                      </a:r>
                      <a:endParaRPr lang="en-US" dirty="0">
                        <a:latin typeface="Lato" panose="020B0604020202020204" charset="0"/>
                      </a:endParaRPr>
                    </a:p>
                  </a:txBody>
                  <a:tcPr/>
                </a:tc>
                <a:tc>
                  <a:txBody>
                    <a:bodyPr/>
                    <a:lstStyle/>
                    <a:p>
                      <a:r>
                        <a:rPr lang="en-US" b="1" dirty="0"/>
                        <a:t>Base class method is called</a:t>
                      </a:r>
                      <a:r>
                        <a:rPr lang="en-US" dirty="0"/>
                        <a:t> when using base class reference</a:t>
                      </a:r>
                      <a:endParaRPr lang="en-US" dirty="0">
                        <a:latin typeface="Lato" panose="020B0604020202020204" charset="0"/>
                      </a:endParaRPr>
                    </a:p>
                  </a:txBody>
                  <a:tcPr/>
                </a:tc>
                <a:extLst>
                  <a:ext uri="{0D108BD9-81ED-4DB2-BD59-A6C34878D82A}">
                    <a16:rowId xmlns:a16="http://schemas.microsoft.com/office/drawing/2014/main" val="1630518562"/>
                  </a:ext>
                </a:extLst>
              </a:tr>
              <a:tr h="276723">
                <a:tc>
                  <a:txBody>
                    <a:bodyPr/>
                    <a:lstStyle/>
                    <a:p>
                      <a:r>
                        <a:rPr lang="en-US" dirty="0">
                          <a:latin typeface="Lato" panose="020B0604020202020204" charset="0"/>
                        </a:rPr>
                        <a:t>If many implementations are of the same kind and use common behavior, then it is superior to use abstract class.</a:t>
                      </a:r>
                    </a:p>
                  </a:txBody>
                  <a:tcPr/>
                </a:tc>
                <a:tc>
                  <a:txBody>
                    <a:bodyPr/>
                    <a:lstStyle/>
                    <a:p>
                      <a:r>
                        <a:rPr lang="en-US" dirty="0">
                          <a:latin typeface="Lato" panose="020B0604020202020204" charset="0"/>
                        </a:rPr>
                        <a:t>If many implementations only share methods, then it is superior to use Interface.</a:t>
                      </a:r>
                    </a:p>
                  </a:txBody>
                  <a:tcPr/>
                </a:tc>
                <a:extLst>
                  <a:ext uri="{0D108BD9-81ED-4DB2-BD59-A6C34878D82A}">
                    <a16:rowId xmlns:a16="http://schemas.microsoft.com/office/drawing/2014/main" val="1032554291"/>
                  </a:ext>
                </a:extLst>
              </a:tr>
              <a:tr h="470428">
                <a:tc>
                  <a:txBody>
                    <a:bodyPr/>
                    <a:lstStyle/>
                    <a:p>
                      <a:r>
                        <a:rPr lang="en-US" dirty="0"/>
                        <a:t>Used when a derived class wants to </a:t>
                      </a:r>
                      <a:r>
                        <a:rPr lang="en-US" b="1" dirty="0"/>
                        <a:t>modify base class behavior dynamically</a:t>
                      </a:r>
                      <a:endParaRPr lang="en-US" dirty="0">
                        <a:latin typeface="Lato" panose="020B0604020202020204" charset="0"/>
                      </a:endParaRPr>
                    </a:p>
                  </a:txBody>
                  <a:tcPr/>
                </a:tc>
                <a:tc>
                  <a:txBody>
                    <a:bodyPr/>
                    <a:lstStyle/>
                    <a:p>
                      <a:r>
                        <a:rPr lang="en-US" dirty="0"/>
                        <a:t>Used when a derived class wants to define a </a:t>
                      </a:r>
                      <a:r>
                        <a:rPr lang="en-US" b="1" dirty="0"/>
                        <a:t>completely new independent method</a:t>
                      </a:r>
                      <a:endParaRPr lang="en-US" dirty="0"/>
                    </a:p>
                  </a:txBody>
                  <a:tcPr anchor="ctr"/>
                </a:tc>
                <a:extLst>
                  <a:ext uri="{0D108BD9-81ED-4DB2-BD59-A6C34878D82A}">
                    <a16:rowId xmlns:a16="http://schemas.microsoft.com/office/drawing/2014/main" val="563659421"/>
                  </a:ext>
                </a:extLst>
              </a:tr>
              <a:tr h="470428">
                <a:tc>
                  <a:txBody>
                    <a:bodyPr/>
                    <a:lstStyle/>
                    <a:p>
                      <a:r>
                        <a:rPr lang="en-US" sz="1400" b="0" i="0" u="none" strike="noStrike" cap="none" dirty="0">
                          <a:solidFill>
                            <a:schemeClr val="dk1"/>
                          </a:solidFill>
                          <a:effectLst/>
                          <a:latin typeface="+mn-lt"/>
                          <a:ea typeface="+mn-ea"/>
                          <a:cs typeface="+mn-cs"/>
                          <a:sym typeface="Arial"/>
                        </a:rPr>
                        <a:t>When the parent class reference variable points to the child class, then the method in the child class is invoked while calling.</a:t>
                      </a:r>
                      <a:endParaRPr lang="en-US" dirty="0">
                        <a:latin typeface="Lato" panose="020B0604020202020204" charset="0"/>
                      </a:endParaRPr>
                    </a:p>
                  </a:txBody>
                  <a:tcPr/>
                </a:tc>
                <a:tc>
                  <a:txBody>
                    <a:bodyPr/>
                    <a:lstStyle/>
                    <a:p>
                      <a:r>
                        <a:rPr lang="en-US" sz="1400" b="0" i="0" u="none" strike="noStrike" cap="none" dirty="0">
                          <a:solidFill>
                            <a:schemeClr val="dk1"/>
                          </a:solidFill>
                          <a:effectLst/>
                          <a:latin typeface="+mn-lt"/>
                          <a:ea typeface="+mn-ea"/>
                          <a:cs typeface="+mn-cs"/>
                          <a:sym typeface="Arial"/>
                        </a:rPr>
                        <a:t>When the parent class reference variable points to the child class, then the hidden method in the parent class is invoked while calling.</a:t>
                      </a:r>
                      <a:endParaRPr lang="en-US" dirty="0">
                        <a:latin typeface="Lato" panose="020B0604020202020204" charset="0"/>
                      </a:endParaRPr>
                    </a:p>
                  </a:txBody>
                  <a:tcPr/>
                </a:tc>
                <a:extLst>
                  <a:ext uri="{0D108BD9-81ED-4DB2-BD59-A6C34878D82A}">
                    <a16:rowId xmlns:a16="http://schemas.microsoft.com/office/drawing/2014/main" val="3175789470"/>
                  </a:ext>
                </a:extLst>
              </a:tr>
            </a:tbl>
          </a:graphicData>
        </a:graphic>
      </p:graphicFrame>
    </p:spTree>
    <p:extLst>
      <p:ext uri="{BB962C8B-B14F-4D97-AF65-F5344CB8AC3E}">
        <p14:creationId xmlns:p14="http://schemas.microsoft.com/office/powerpoint/2010/main" val="286273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SOLID Principles</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67844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SOLID is a set of five principles in object-oriented programming (OOP) that help developers write clean, scalable, and maintainable code.</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SOLID Design Principles represent five Design Principles used to make software designs more understandable, flexible, and maintainable. The Five SOLID Design Principles are as follows:</a:t>
            </a:r>
            <a:br>
              <a:rPr lang="en-US" dirty="0">
                <a:latin typeface="Lato" panose="020B0604020202020204" charset="0"/>
              </a:rPr>
            </a:br>
            <a:r>
              <a:rPr lang="en-US" dirty="0">
                <a:latin typeface="Lato" panose="020B0604020202020204" charset="0"/>
              </a:rPr>
              <a:t>1. SRP – Single Responsibility Principle</a:t>
            </a:r>
            <a:br>
              <a:rPr lang="en-US" dirty="0">
                <a:latin typeface="Lato" panose="020B0604020202020204" charset="0"/>
              </a:rPr>
            </a:br>
            <a:r>
              <a:rPr lang="en-US" dirty="0">
                <a:latin typeface="Lato" panose="020B0604020202020204" charset="0"/>
              </a:rPr>
              <a:t>2. OSP – Open – Closed Principle</a:t>
            </a:r>
            <a:br>
              <a:rPr lang="en-US" dirty="0">
                <a:latin typeface="Lato" panose="020B0604020202020204" charset="0"/>
              </a:rPr>
            </a:br>
            <a:r>
              <a:rPr lang="en-US" dirty="0">
                <a:latin typeface="Lato" panose="020B0604020202020204" charset="0"/>
              </a:rPr>
              <a:t>3. LSP – </a:t>
            </a:r>
            <a:r>
              <a:rPr lang="en-US" dirty="0" err="1">
                <a:latin typeface="Lato" panose="020B0604020202020204" charset="0"/>
              </a:rPr>
              <a:t>Liskov</a:t>
            </a:r>
            <a:r>
              <a:rPr lang="en-US" dirty="0">
                <a:latin typeface="Lato" panose="020B0604020202020204" charset="0"/>
              </a:rPr>
              <a:t> Substitution Principle</a:t>
            </a:r>
            <a:br>
              <a:rPr lang="en-US" dirty="0">
                <a:latin typeface="Lato" panose="020B0604020202020204" charset="0"/>
              </a:rPr>
            </a:br>
            <a:r>
              <a:rPr lang="en-US" dirty="0">
                <a:latin typeface="Lato" panose="020B0604020202020204" charset="0"/>
              </a:rPr>
              <a:t>4. ISP – Interface Segregation Principle</a:t>
            </a:r>
            <a:br>
              <a:rPr lang="en-US" dirty="0">
                <a:latin typeface="Lato" panose="020B0604020202020204" charset="0"/>
              </a:rPr>
            </a:br>
            <a:r>
              <a:rPr lang="en-US" dirty="0">
                <a:latin typeface="Lato" panose="020B0604020202020204" charset="0"/>
              </a:rPr>
              <a:t>5. DIP – Dependency Inversion Principle</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Applying the SOLID principles in our Application Development can make our application code more modular, easier to understand, and less error-prone when changes are made.</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15857205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Single Responsibility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4062620"/>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The SRP states that a class should have only one reason to change, meaning it should have only one responsibility. This promotes modularization and makes the code easier to understand and maintain.</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r>
              <a:rPr lang="en-US" b="1" dirty="0">
                <a:latin typeface="Lato" panose="020B0604020202020204" charset="0"/>
              </a:rPr>
              <a:t>Problem:</a:t>
            </a:r>
            <a:r>
              <a:rPr lang="en-US" dirty="0">
                <a:latin typeface="Lato" panose="020B0604020202020204" charset="0"/>
              </a:rPr>
              <a:t> The class is responsible for both salary calculation and report generation, which are</a:t>
            </a:r>
            <a:br>
              <a:rPr lang="en-US" dirty="0">
                <a:latin typeface="Lato" panose="020B0604020202020204" charset="0"/>
              </a:rPr>
            </a:br>
            <a:r>
              <a:rPr lang="en-US" dirty="0">
                <a:latin typeface="Lato" panose="020B0604020202020204" charset="0"/>
              </a:rPr>
              <a:t>      unrelated.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023" y="1558388"/>
            <a:ext cx="7793182" cy="1914541"/>
          </a:xfrm>
          <a:prstGeom prst="rect">
            <a:avLst/>
          </a:prstGeom>
        </p:spPr>
      </p:pic>
    </p:spTree>
    <p:extLst>
      <p:ext uri="{BB962C8B-B14F-4D97-AF65-F5344CB8AC3E}">
        <p14:creationId xmlns:p14="http://schemas.microsoft.com/office/powerpoint/2010/main" val="7754573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Single Responsibility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3416290"/>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Employee handle salaries and </a:t>
            </a:r>
            <a:r>
              <a:rPr lang="en-US" dirty="0" err="1">
                <a:latin typeface="Lato" panose="020B0604020202020204" charset="0"/>
              </a:rPr>
              <a:t>ReportGenerator</a:t>
            </a:r>
            <a:r>
              <a:rPr lang="en-US" dirty="0">
                <a:latin typeface="Lato" panose="020B0604020202020204" charset="0"/>
              </a:rPr>
              <a:t> handles reports (</a:t>
            </a:r>
            <a:r>
              <a:rPr lang="en-US" dirty="0" err="1">
                <a:latin typeface="Lato" panose="020B0604020202020204" charset="0"/>
              </a:rPr>
              <a:t>Sepeartion</a:t>
            </a:r>
            <a:r>
              <a:rPr lang="en-US" dirty="0">
                <a:latin typeface="Lato" panose="020B0604020202020204" charset="0"/>
              </a:rPr>
              <a:t> of concerns).</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759" y="1245472"/>
            <a:ext cx="7917873" cy="2821834"/>
          </a:xfrm>
          <a:prstGeom prst="rect">
            <a:avLst/>
          </a:prstGeom>
        </p:spPr>
      </p:pic>
    </p:spTree>
    <p:extLst>
      <p:ext uri="{BB962C8B-B14F-4D97-AF65-F5344CB8AC3E}">
        <p14:creationId xmlns:p14="http://schemas.microsoft.com/office/powerpoint/2010/main" val="18712821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Open-Closed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4708951"/>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Software entities (classes, modules, functions) should be open for extension but closed for modification.</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Once a class is written, it should be closed for modifications but open for extensions.</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r>
              <a:rPr lang="en-US" dirty="0">
                <a:latin typeface="Lato" panose="020B0604020202020204" charset="0"/>
              </a:rPr>
              <a:t>   </a:t>
            </a:r>
            <a:r>
              <a:rPr lang="en-US" b="1" dirty="0">
                <a:latin typeface="Lato" panose="020B0604020202020204" charset="0"/>
              </a:rPr>
              <a:t>Problem:</a:t>
            </a:r>
            <a:r>
              <a:rPr lang="en-US" dirty="0">
                <a:latin typeface="Lato" panose="020B0604020202020204" charset="0"/>
              </a:rPr>
              <a:t> Every time a new invoice type is added, we need to modify the class, which breaks OCP.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1897" y="1483114"/>
            <a:ext cx="7938655" cy="2590121"/>
          </a:xfrm>
          <a:prstGeom prst="rect">
            <a:avLst/>
          </a:prstGeom>
        </p:spPr>
      </p:pic>
    </p:spTree>
    <p:extLst>
      <p:ext uri="{BB962C8B-B14F-4D97-AF65-F5344CB8AC3E}">
        <p14:creationId xmlns:p14="http://schemas.microsoft.com/office/powerpoint/2010/main" val="10881299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Open-Closed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3739455"/>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t>New invoice types can be added </a:t>
            </a:r>
            <a:r>
              <a:rPr lang="en-US" b="1" dirty="0"/>
              <a:t>without modifying existing code</a:t>
            </a:r>
            <a:r>
              <a:rPr lang="en-US" dirty="0"/>
              <a:t>, only by extending the base class.</a:t>
            </a:r>
            <a:br>
              <a:rPr lang="en-US" dirty="0">
                <a:solidFill>
                  <a:srgbClr val="222222"/>
                </a:solidFill>
                <a:latin typeface="Lato" panose="020B0604020202020204" charset="0"/>
                <a:ea typeface="Lato"/>
                <a:cs typeface="Lato"/>
                <a:sym typeface="Lato"/>
              </a:rPr>
            </a:b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237" y="1196602"/>
            <a:ext cx="7710054" cy="3302661"/>
          </a:xfrm>
          <a:prstGeom prst="rect">
            <a:avLst/>
          </a:prstGeom>
        </p:spPr>
      </p:pic>
    </p:spTree>
    <p:extLst>
      <p:ext uri="{BB962C8B-B14F-4D97-AF65-F5344CB8AC3E}">
        <p14:creationId xmlns:p14="http://schemas.microsoft.com/office/powerpoint/2010/main" val="23342009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err="1">
                <a:solidFill>
                  <a:schemeClr val="lt1"/>
                </a:solidFill>
                <a:latin typeface="Lato"/>
                <a:ea typeface="Lato"/>
                <a:cs typeface="Lato"/>
                <a:sym typeface="Lato"/>
              </a:rPr>
              <a:t>Liskov</a:t>
            </a:r>
            <a:r>
              <a:rPr lang="en-US" sz="2000" b="1" dirty="0">
                <a:solidFill>
                  <a:schemeClr val="lt1"/>
                </a:solidFill>
                <a:latin typeface="Lato"/>
                <a:ea typeface="Lato"/>
                <a:cs typeface="Lato"/>
                <a:sym typeface="Lato"/>
              </a:rPr>
              <a:t> Substitution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3416290"/>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Derived classes should be replaceable for their base classes without affecting correctness. </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 subclass should be able to replace its superclass </a:t>
            </a:r>
            <a:r>
              <a:rPr lang="en-US" b="1" dirty="0">
                <a:latin typeface="Lato" panose="020B0604020202020204" charset="0"/>
              </a:rPr>
              <a:t>without causing errors</a:t>
            </a:r>
            <a:r>
              <a:rPr lang="en-US" dirty="0">
                <a:latin typeface="Lato" panose="020B0604020202020204" charset="0"/>
              </a:rPr>
              <a:t>.</a:t>
            </a:r>
            <a:endParaRPr lang="en-US" dirty="0">
              <a:solidFill>
                <a:srgbClr val="222222"/>
              </a:solidFill>
              <a:latin typeface="Lato" panose="020B0604020202020204" charset="0"/>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0576" y="1691640"/>
            <a:ext cx="5248474" cy="260223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31772" y="1691640"/>
            <a:ext cx="3475960" cy="2602230"/>
          </a:xfrm>
          <a:prstGeom prst="rect">
            <a:avLst/>
          </a:prstGeom>
        </p:spPr>
      </p:pic>
    </p:spTree>
    <p:extLst>
      <p:ext uri="{BB962C8B-B14F-4D97-AF65-F5344CB8AC3E}">
        <p14:creationId xmlns:p14="http://schemas.microsoft.com/office/powerpoint/2010/main" val="20306031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err="1">
                <a:solidFill>
                  <a:schemeClr val="lt1"/>
                </a:solidFill>
                <a:latin typeface="Lato"/>
                <a:ea typeface="Lato"/>
                <a:cs typeface="Lato"/>
                <a:sym typeface="Lato"/>
              </a:rPr>
              <a:t>Liskov</a:t>
            </a:r>
            <a:r>
              <a:rPr lang="en-US" sz="2000" b="1" dirty="0">
                <a:solidFill>
                  <a:schemeClr val="lt1"/>
                </a:solidFill>
                <a:latin typeface="Lato"/>
                <a:ea typeface="Lato"/>
                <a:cs typeface="Lato"/>
                <a:sym typeface="Lato"/>
              </a:rPr>
              <a:t> Substitution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032117"/>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r>
              <a:rPr lang="en-US" b="1" dirty="0">
                <a:latin typeface="Lato" panose="020B0604020202020204" charset="0"/>
              </a:rPr>
              <a:t>Problem :</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Penguin inherits from Bird but cannot fly, so Fly() throws an exception.</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This violates LSP because a Penguin cannot fully substitute a Bird without breaking behavior.</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a:p>
            <a:pPr lvl="0">
              <a:lnSpc>
                <a:spcPct val="150000"/>
              </a:lnSpc>
              <a:buClr>
                <a:schemeClr val="accent4">
                  <a:lumMod val="75000"/>
                </a:schemeClr>
              </a:buClr>
              <a:buSzPct val="80000"/>
            </a:pPr>
            <a:r>
              <a:rPr lang="en-US" b="1" dirty="0">
                <a:latin typeface="Lato" panose="020B0604020202020204" charset="0"/>
              </a:rPr>
              <a:t>Solution :</a:t>
            </a:r>
          </a:p>
          <a:p>
            <a:pPr marL="285750" lvl="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 Instead of forcing all birds to have a Fly() method, we should create separate interfaces for Flying Birds and Non-Flying Birds.</a:t>
            </a: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spTree>
    <p:extLst>
      <p:ext uri="{BB962C8B-B14F-4D97-AF65-F5344CB8AC3E}">
        <p14:creationId xmlns:p14="http://schemas.microsoft.com/office/powerpoint/2010/main" val="25665088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err="1">
                <a:solidFill>
                  <a:schemeClr val="lt1"/>
                </a:solidFill>
                <a:latin typeface="Lato"/>
                <a:ea typeface="Lato"/>
                <a:cs typeface="Lato"/>
                <a:sym typeface="Lato"/>
              </a:rPr>
              <a:t>Liskov</a:t>
            </a:r>
            <a:r>
              <a:rPr lang="en-US" sz="2000" b="1" dirty="0">
                <a:solidFill>
                  <a:schemeClr val="lt1"/>
                </a:solidFill>
                <a:latin typeface="Lato"/>
                <a:ea typeface="Lato"/>
                <a:cs typeface="Lato"/>
                <a:sym typeface="Lato"/>
              </a:rPr>
              <a:t> Substitution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769959"/>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3902" y="742950"/>
            <a:ext cx="3917248" cy="3897630"/>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57700" y="742950"/>
            <a:ext cx="4630636" cy="3897630"/>
          </a:xfrm>
          <a:prstGeom prst="rect">
            <a:avLst/>
          </a:prstGeom>
        </p:spPr>
      </p:pic>
    </p:spTree>
    <p:extLst>
      <p:ext uri="{BB962C8B-B14F-4D97-AF65-F5344CB8AC3E}">
        <p14:creationId xmlns:p14="http://schemas.microsoft.com/office/powerpoint/2010/main" val="29445937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Interface Segregation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4062620"/>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t>The Interface Segregation Principle states that a class should not be forced to implement interfaces it does not use.  </a:t>
            </a:r>
          </a:p>
          <a:p>
            <a:pPr marL="285750" indent="-285750">
              <a:lnSpc>
                <a:spcPct val="150000"/>
              </a:lnSpc>
              <a:buClr>
                <a:schemeClr val="accent4">
                  <a:lumMod val="75000"/>
                </a:schemeClr>
              </a:buClr>
              <a:buSzPct val="80000"/>
              <a:buFont typeface="Lato" panose="020B0604020202020204" charset="0"/>
              <a:buChar char="►"/>
            </a:pPr>
            <a:r>
              <a:rPr lang="en-US" dirty="0"/>
              <a:t>This principle encourages the creation of small, client-specific interfaces.</a:t>
            </a: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7300" y="1672936"/>
            <a:ext cx="5881159" cy="3007800"/>
          </a:xfrm>
          <a:prstGeom prst="rect">
            <a:avLst/>
          </a:prstGeom>
        </p:spPr>
      </p:pic>
    </p:spTree>
    <p:extLst>
      <p:ext uri="{BB962C8B-B14F-4D97-AF65-F5344CB8AC3E}">
        <p14:creationId xmlns:p14="http://schemas.microsoft.com/office/powerpoint/2010/main" val="11543170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Interface Segregation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4385786"/>
          </a:xfrm>
          <a:prstGeom prst="rect">
            <a:avLst/>
          </a:prstGeom>
          <a:noFill/>
          <a:ln>
            <a:noFill/>
          </a:ln>
        </p:spPr>
        <p:txBody>
          <a:bodyPr spcFirstLastPara="1" wrap="square" lIns="91425" tIns="91425" rIns="91425" bIns="91425" anchor="t" anchorCtr="0">
            <a:spAutoFit/>
          </a:bodyPr>
          <a:lstStyle/>
          <a:p>
            <a:pPr>
              <a:lnSpc>
                <a:spcPct val="150000"/>
              </a:lnSpc>
              <a:buClr>
                <a:schemeClr val="accent4">
                  <a:lumMod val="75000"/>
                </a:schemeClr>
              </a:buClr>
              <a:buSzPct val="80000"/>
            </a:pPr>
            <a:r>
              <a:rPr lang="en-US" b="1" dirty="0">
                <a:solidFill>
                  <a:srgbClr val="222222"/>
                </a:solidFill>
                <a:latin typeface="Lato" panose="020B0604020202020204" charset="0"/>
                <a:ea typeface="Lato"/>
                <a:cs typeface="Lato"/>
                <a:sym typeface="Lato"/>
              </a:rPr>
              <a:t>Problem :</a:t>
            </a:r>
          </a:p>
          <a:p>
            <a:pPr marL="285750" indent="-285750">
              <a:lnSpc>
                <a:spcPct val="150000"/>
              </a:lnSpc>
              <a:buClr>
                <a:schemeClr val="accent4">
                  <a:lumMod val="75000"/>
                </a:schemeClr>
              </a:buClr>
              <a:buSzPct val="80000"/>
              <a:buFont typeface="Lato" panose="020B0604020202020204" charset="0"/>
              <a:buChar char="►"/>
            </a:pPr>
            <a:r>
              <a:rPr lang="en-US" b="1" dirty="0">
                <a:solidFill>
                  <a:srgbClr val="222222"/>
                </a:solidFill>
                <a:latin typeface="Lato" panose="020B0604020202020204" charset="0"/>
                <a:ea typeface="Lato"/>
                <a:cs typeface="Lato"/>
                <a:sym typeface="Lato"/>
              </a:rPr>
              <a:t> </a:t>
            </a:r>
            <a:r>
              <a:rPr lang="en-US" dirty="0" err="1">
                <a:solidFill>
                  <a:srgbClr val="222222"/>
                </a:solidFill>
                <a:latin typeface="Lato" panose="020B0604020202020204" charset="0"/>
                <a:ea typeface="Lato"/>
                <a:cs typeface="Lato"/>
                <a:sym typeface="Lato"/>
              </a:rPr>
              <a:t>RobotWorker</a:t>
            </a:r>
            <a:r>
              <a:rPr lang="en-US" dirty="0">
                <a:solidFill>
                  <a:srgbClr val="222222"/>
                </a:solidFill>
                <a:latin typeface="Lato" panose="020B0604020202020204" charset="0"/>
                <a:ea typeface="Lato"/>
                <a:cs typeface="Lato"/>
                <a:sym typeface="Lato"/>
              </a:rPr>
              <a:t> is forced to implement Eat(), which does not make sense for robots.</a:t>
            </a:r>
          </a:p>
          <a:p>
            <a:pPr marL="285750" indent="-285750">
              <a:lnSpc>
                <a:spcPct val="150000"/>
              </a:lnSpc>
              <a:buClr>
                <a:schemeClr val="accent4">
                  <a:lumMod val="75000"/>
                </a:schemeClr>
              </a:buClr>
              <a:buSzPct val="80000"/>
              <a:buFont typeface="Lato" panose="020B0604020202020204" charset="0"/>
              <a:buChar char="►"/>
            </a:pPr>
            <a:endParaRPr lang="en-US" dirty="0">
              <a:solidFill>
                <a:srgbClr val="222222"/>
              </a:solidFill>
              <a:latin typeface="Lato" panose="020B0604020202020204" charset="0"/>
              <a:ea typeface="Lato"/>
              <a:cs typeface="Lato"/>
              <a:sym typeface="Lato"/>
            </a:endParaRPr>
          </a:p>
          <a:p>
            <a:pPr>
              <a:lnSpc>
                <a:spcPct val="150000"/>
              </a:lnSpc>
              <a:buClr>
                <a:schemeClr val="accent4">
                  <a:lumMod val="75000"/>
                </a:schemeClr>
              </a:buClr>
              <a:buSzPct val="80000"/>
            </a:pPr>
            <a:r>
              <a:rPr lang="en-US" b="1" dirty="0">
                <a:solidFill>
                  <a:srgbClr val="222222"/>
                </a:solidFill>
                <a:latin typeface="Lato" panose="020B0604020202020204" charset="0"/>
                <a:ea typeface="Lato"/>
                <a:cs typeface="Lato"/>
                <a:sym typeface="Lato"/>
              </a:rPr>
              <a:t>Solution:</a:t>
            </a:r>
            <a:endParaRPr lang="en-US" dirty="0">
              <a:solidFill>
                <a:srgbClr val="222222"/>
              </a:solidFill>
              <a:latin typeface="Lato" panose="020B0604020202020204" charset="0"/>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r>
              <a:rPr lang="en-US" dirty="0" err="1">
                <a:latin typeface="Lato" panose="020B0604020202020204" charset="0"/>
              </a:rPr>
              <a:t>HumanWorker</a:t>
            </a:r>
            <a:r>
              <a:rPr lang="en-US" dirty="0">
                <a:latin typeface="Lato" panose="020B0604020202020204" charset="0"/>
              </a:rPr>
              <a:t> implements both </a:t>
            </a:r>
            <a:r>
              <a:rPr lang="en-US" dirty="0" err="1">
                <a:latin typeface="Lato" panose="020B0604020202020204" charset="0"/>
              </a:rPr>
              <a:t>IWorkable</a:t>
            </a:r>
            <a:r>
              <a:rPr lang="en-US" dirty="0">
                <a:latin typeface="Lato" panose="020B0604020202020204" charset="0"/>
              </a:rPr>
              <a:t> and </a:t>
            </a:r>
            <a:r>
              <a:rPr lang="en-US" dirty="0" err="1">
                <a:latin typeface="Lato" panose="020B0604020202020204" charset="0"/>
              </a:rPr>
              <a:t>IEatable</a:t>
            </a:r>
            <a:r>
              <a:rPr lang="en-US" dirty="0">
                <a:latin typeface="Lato" panose="020B0604020202020204" charset="0"/>
              </a:rPr>
              <a:t>.</a:t>
            </a:r>
          </a:p>
          <a:p>
            <a:pPr marL="285750" indent="-285750">
              <a:lnSpc>
                <a:spcPct val="150000"/>
              </a:lnSpc>
              <a:buClr>
                <a:schemeClr val="accent4">
                  <a:lumMod val="75000"/>
                </a:schemeClr>
              </a:buClr>
              <a:buSzPct val="80000"/>
              <a:buFont typeface="Lato" panose="020B0604020202020204" charset="0"/>
              <a:buChar char="►"/>
            </a:pPr>
            <a:r>
              <a:rPr lang="en-US" dirty="0" err="1">
                <a:latin typeface="Lato" panose="020B0604020202020204" charset="0"/>
              </a:rPr>
              <a:t>RobotWorker</a:t>
            </a:r>
            <a:r>
              <a:rPr lang="en-US" dirty="0">
                <a:latin typeface="Lato" panose="020B0604020202020204" charset="0"/>
              </a:rPr>
              <a:t> only implements </a:t>
            </a:r>
            <a:r>
              <a:rPr lang="en-US" dirty="0" err="1">
                <a:latin typeface="Lato" panose="020B0604020202020204" charset="0"/>
              </a:rPr>
              <a:t>IWorkable</a:t>
            </a:r>
            <a:r>
              <a:rPr lang="en-US" dirty="0">
                <a:latin typeface="Lato" panose="020B0604020202020204" charset="0"/>
              </a:rPr>
              <a:t>, avoiding the unnecessary Eat() method.</a:t>
            </a: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spTree>
    <p:extLst>
      <p:ext uri="{BB962C8B-B14F-4D97-AF65-F5344CB8AC3E}">
        <p14:creationId xmlns:p14="http://schemas.microsoft.com/office/powerpoint/2010/main" val="37529032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chemeClr val="lt1"/>
                </a:solidFill>
                <a:latin typeface="Lato"/>
                <a:ea typeface="Lato"/>
                <a:cs typeface="Lato"/>
                <a:sym typeface="Lato"/>
              </a:rPr>
              <a:t>Interface Segregation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769959"/>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3419" y="618116"/>
            <a:ext cx="4790963" cy="4083627"/>
          </a:xfrm>
          <a:prstGeom prst="rect">
            <a:avLst/>
          </a:prstGeom>
        </p:spPr>
      </p:pic>
    </p:spTree>
    <p:extLst>
      <p:ext uri="{BB962C8B-B14F-4D97-AF65-F5344CB8AC3E}">
        <p14:creationId xmlns:p14="http://schemas.microsoft.com/office/powerpoint/2010/main" val="20535095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Dependency Inversion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3739455"/>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Dependency Inversion Principle (DIP) states that High-level modules should not depend on low-level modules. Both should depend on abstractions.</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Abstractions should not depend on details. Details should depend on abstractions.</a:t>
            </a: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921" y="1745673"/>
            <a:ext cx="7320023" cy="2899424"/>
          </a:xfrm>
          <a:prstGeom prst="rect">
            <a:avLst/>
          </a:prstGeom>
        </p:spPr>
      </p:pic>
    </p:spTree>
    <p:extLst>
      <p:ext uri="{BB962C8B-B14F-4D97-AF65-F5344CB8AC3E}">
        <p14:creationId xmlns:p14="http://schemas.microsoft.com/office/powerpoint/2010/main" val="6393089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Dependency Inversion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5032117"/>
          </a:xfrm>
          <a:prstGeom prst="rect">
            <a:avLst/>
          </a:prstGeom>
          <a:noFill/>
          <a:ln>
            <a:noFill/>
          </a:ln>
        </p:spPr>
        <p:txBody>
          <a:bodyPr spcFirstLastPara="1" wrap="square" lIns="91425" tIns="91425" rIns="91425" bIns="91425" anchor="t" anchorCtr="0">
            <a:spAutoFit/>
          </a:bodyPr>
          <a:lstStyle/>
          <a:p>
            <a:pPr>
              <a:lnSpc>
                <a:spcPct val="150000"/>
              </a:lnSpc>
              <a:buClr>
                <a:schemeClr val="accent4">
                  <a:lumMod val="75000"/>
                </a:schemeClr>
              </a:buClr>
              <a:buSzPct val="80000"/>
            </a:pPr>
            <a:r>
              <a:rPr lang="en-US" b="1" dirty="0">
                <a:latin typeface="Lato" panose="020B0604020202020204" charset="0"/>
              </a:rPr>
              <a:t>Problem: </a:t>
            </a:r>
          </a:p>
          <a:p>
            <a:pPr marL="285750" indent="-285750">
              <a:lnSpc>
                <a:spcPct val="150000"/>
              </a:lnSpc>
              <a:buClr>
                <a:schemeClr val="accent4">
                  <a:lumMod val="75000"/>
                </a:schemeClr>
              </a:buClr>
              <a:buSzPct val="80000"/>
              <a:buFont typeface="Lato" panose="020B0604020202020204" charset="0"/>
              <a:buChar char="►"/>
            </a:pPr>
            <a:r>
              <a:rPr lang="en-US" dirty="0" err="1">
                <a:latin typeface="Lato" panose="020B0604020202020204" charset="0"/>
              </a:rPr>
              <a:t>NotificationService</a:t>
            </a:r>
            <a:r>
              <a:rPr lang="en-US" dirty="0">
                <a:latin typeface="Lato" panose="020B0604020202020204" charset="0"/>
              </a:rPr>
              <a:t> depends on </a:t>
            </a:r>
            <a:r>
              <a:rPr lang="en-US" dirty="0" err="1">
                <a:latin typeface="Lato" panose="020B0604020202020204" charset="0"/>
              </a:rPr>
              <a:t>EmailService</a:t>
            </a:r>
            <a:r>
              <a:rPr lang="en-US" dirty="0">
                <a:latin typeface="Lato" panose="020B0604020202020204" charset="0"/>
              </a:rPr>
              <a:t> directly.</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If we want to switch to </a:t>
            </a:r>
            <a:r>
              <a:rPr lang="en-US" dirty="0" err="1">
                <a:latin typeface="Lato" panose="020B0604020202020204" charset="0"/>
              </a:rPr>
              <a:t>SMSService</a:t>
            </a:r>
            <a:r>
              <a:rPr lang="en-US" dirty="0">
                <a:latin typeface="Lato" panose="020B0604020202020204" charset="0"/>
              </a:rPr>
              <a:t>, we must modify </a:t>
            </a:r>
            <a:r>
              <a:rPr lang="en-US" dirty="0" err="1">
                <a:latin typeface="Lato" panose="020B0604020202020204" charset="0"/>
              </a:rPr>
              <a:t>NotificationService</a:t>
            </a:r>
            <a:r>
              <a:rPr lang="en-US" dirty="0">
                <a:latin typeface="Lato" panose="020B0604020202020204" charset="0"/>
              </a:rPr>
              <a:t>, violating Open/Closed Principle.</a:t>
            </a:r>
          </a:p>
          <a:p>
            <a:pPr>
              <a:lnSpc>
                <a:spcPct val="150000"/>
              </a:lnSpc>
              <a:buClr>
                <a:schemeClr val="accent4">
                  <a:lumMod val="75000"/>
                </a:schemeClr>
              </a:buClr>
              <a:buSzPct val="80000"/>
            </a:pPr>
            <a:br>
              <a:rPr lang="en-US" dirty="0">
                <a:latin typeface="Lato" panose="020B0604020202020204" charset="0"/>
              </a:rPr>
            </a:br>
            <a:r>
              <a:rPr lang="en-US" b="1" dirty="0">
                <a:latin typeface="Lato" panose="020B0604020202020204" charset="0"/>
              </a:rPr>
              <a:t>Solution:</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Use Abstraction (Interfaces or Abstract Classes)</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High-level modules should depend on this abstraction instead of concrete classes.</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Apply Dependency Injection (DI)</a:t>
            </a:r>
          </a:p>
          <a:p>
            <a:pPr marL="285750" indent="-285750">
              <a:lnSpc>
                <a:spcPct val="150000"/>
              </a:lnSpc>
              <a:buClr>
                <a:schemeClr val="accent4">
                  <a:lumMod val="75000"/>
                </a:schemeClr>
              </a:buClr>
              <a:buSzPct val="80000"/>
              <a:buFont typeface="Lato" panose="020B0604020202020204" charset="0"/>
              <a:buChar char="►"/>
            </a:pPr>
            <a:r>
              <a:rPr lang="en-US" dirty="0">
                <a:latin typeface="Lato" panose="020B0604020202020204" charset="0"/>
              </a:rPr>
              <a:t>Decouple High-Level and Low-Level Modules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spTree>
    <p:extLst>
      <p:ext uri="{BB962C8B-B14F-4D97-AF65-F5344CB8AC3E}">
        <p14:creationId xmlns:p14="http://schemas.microsoft.com/office/powerpoint/2010/main" val="39896531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257300" y="0"/>
            <a:ext cx="6785264" cy="585216"/>
          </a:xfrm>
          <a:prstGeom prst="rect">
            <a:avLst/>
          </a:prstGeom>
          <a:noFill/>
          <a:ln>
            <a:noFill/>
          </a:ln>
        </p:spPr>
      </p:pic>
      <p:sp>
        <p:nvSpPr>
          <p:cNvPr id="75" name="Google Shape;75;p17"/>
          <p:cNvSpPr txBox="1"/>
          <p:nvPr/>
        </p:nvSpPr>
        <p:spPr>
          <a:xfrm>
            <a:off x="2169650" y="13425"/>
            <a:ext cx="4780092" cy="49241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chemeClr val="lt1"/>
                </a:solidFill>
                <a:latin typeface="Lato"/>
                <a:ea typeface="Lato"/>
                <a:cs typeface="Lato"/>
                <a:sym typeface="Lato"/>
              </a:rPr>
              <a:t>Dependency Inversion Principle</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a:lnSpc>
                <a:spcPct val="150000"/>
              </a:lnSpc>
              <a:buClr>
                <a:schemeClr val="accent4">
                  <a:lumMod val="75000"/>
                </a:schemeClr>
              </a:buClr>
              <a:buSzPct val="80000"/>
            </a:pPr>
            <a:r>
              <a:rPr lang="en-US" dirty="0">
                <a:latin typeface="Lato" panose="020B0604020202020204" charset="0"/>
              </a:rPr>
              <a:t>	</a:t>
            </a:r>
            <a:br>
              <a:rPr lang="en-US" dirty="0">
                <a:latin typeface="Lato" panose="020B0604020202020204" charset="0"/>
              </a:rPr>
            </a:br>
            <a:br>
              <a:rPr lang="en-US" dirty="0">
                <a:latin typeface="Lato" panose="020B0604020202020204" charset="0"/>
              </a:rPr>
            </a:br>
            <a:br>
              <a:rPr lang="en-US" dirty="0">
                <a:latin typeface="Lato" panose="020B0604020202020204" charset="0"/>
              </a:rPr>
            </a:br>
            <a:br>
              <a:rPr lang="en-US" dirty="0">
                <a:latin typeface="Lato" panose="020B0604020202020204" charset="0"/>
              </a:rPr>
            </a:br>
            <a:r>
              <a:rPr lang="en-US" dirty="0">
                <a:latin typeface="Lato" panose="020B0604020202020204" charset="0"/>
              </a:rPr>
              <a:t>   </a:t>
            </a: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042" y="766721"/>
            <a:ext cx="4153622" cy="3891179"/>
          </a:xfrm>
          <a:prstGeom prst="rect">
            <a:avLst/>
          </a:prstGeom>
        </p:spPr>
      </p:pic>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3791" y="766721"/>
            <a:ext cx="4653940" cy="3190808"/>
          </a:xfrm>
          <a:prstGeom prst="rect">
            <a:avLst/>
          </a:prstGeom>
        </p:spPr>
      </p:pic>
    </p:spTree>
    <p:extLst>
      <p:ext uri="{BB962C8B-B14F-4D97-AF65-F5344CB8AC3E}">
        <p14:creationId xmlns:p14="http://schemas.microsoft.com/office/powerpoint/2010/main" val="15228284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9"/>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03" name="Google Shape;103;p19"/>
          <p:cNvSpPr txBox="1"/>
          <p:nvPr/>
        </p:nvSpPr>
        <p:spPr>
          <a:xfrm>
            <a:off x="2986500" y="46313"/>
            <a:ext cx="317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Introduction</a:t>
            </a:r>
            <a:endParaRPr sz="2000" b="1" i="0" u="none" strike="noStrike" cap="none">
              <a:solidFill>
                <a:srgbClr val="FFFFFF"/>
              </a:solidFill>
              <a:latin typeface="Lato"/>
              <a:ea typeface="Lato"/>
              <a:cs typeface="Lato"/>
              <a:sym typeface="Lato"/>
            </a:endParaRPr>
          </a:p>
        </p:txBody>
      </p:sp>
      <p:pic>
        <p:nvPicPr>
          <p:cNvPr id="104" name="Google Shape;104;p1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05" name="Google Shape;105;p1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06" name="Google Shape;106;p19"/>
          <p:cNvSpPr txBox="1"/>
          <p:nvPr/>
        </p:nvSpPr>
        <p:spPr>
          <a:xfrm>
            <a:off x="1150150" y="836486"/>
            <a:ext cx="6950100" cy="895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b="1">
                <a:solidFill>
                  <a:schemeClr val="dk1"/>
                </a:solidFill>
                <a:latin typeface="Lato"/>
                <a:ea typeface="Lato"/>
                <a:cs typeface="Lato"/>
                <a:sym typeface="Lato"/>
              </a:rPr>
              <a:t>LINQ</a:t>
            </a:r>
            <a:r>
              <a:rPr lang="en">
                <a:solidFill>
                  <a:schemeClr val="dk1"/>
                </a:solidFill>
                <a:latin typeface="Lato"/>
                <a:ea typeface="Lato"/>
                <a:cs typeface="Lato"/>
                <a:sym typeface="Lato"/>
              </a:rPr>
              <a:t>, which stands for </a:t>
            </a:r>
            <a:r>
              <a:rPr lang="en" b="1">
                <a:solidFill>
                  <a:schemeClr val="dk1"/>
                </a:solidFill>
                <a:latin typeface="Lato"/>
                <a:ea typeface="Lato"/>
                <a:cs typeface="Lato"/>
                <a:sym typeface="Lato"/>
              </a:rPr>
              <a:t>Language Integrated Query</a:t>
            </a:r>
            <a:r>
              <a:rPr lang="en">
                <a:solidFill>
                  <a:schemeClr val="dk1"/>
                </a:solidFill>
                <a:latin typeface="Lato"/>
                <a:ea typeface="Lato"/>
                <a:cs typeface="Lato"/>
                <a:sym typeface="Lato"/>
              </a:rPr>
              <a:t>, is a feature in programming languages like C# and VB.NET that allows developers to write queries directly within the programming language to interact with data.</a:t>
            </a:r>
            <a:endParaRPr>
              <a:highlight>
                <a:srgbClr val="FFFFFF"/>
              </a:highlight>
              <a:latin typeface="Lato"/>
              <a:ea typeface="Lato"/>
              <a:cs typeface="Lato"/>
              <a:sym typeface="Lato"/>
            </a:endParaRPr>
          </a:p>
        </p:txBody>
      </p:sp>
      <p:pic>
        <p:nvPicPr>
          <p:cNvPr id="107" name="Google Shape;107;p19"/>
          <p:cNvPicPr preferRelativeResize="0"/>
          <p:nvPr/>
        </p:nvPicPr>
        <p:blipFill rotWithShape="1">
          <a:blip r:embed="rId5">
            <a:alphaModFix/>
          </a:blip>
          <a:srcRect/>
          <a:stretch/>
        </p:blipFill>
        <p:spPr>
          <a:xfrm>
            <a:off x="1040367" y="960475"/>
            <a:ext cx="61722" cy="109728"/>
          </a:xfrm>
          <a:prstGeom prst="rect">
            <a:avLst/>
          </a:prstGeom>
          <a:noFill/>
          <a:ln>
            <a:noFill/>
          </a:ln>
        </p:spPr>
      </p:pic>
      <p:sp>
        <p:nvSpPr>
          <p:cNvPr id="108" name="Google Shape;108;p19"/>
          <p:cNvSpPr txBox="1"/>
          <p:nvPr/>
        </p:nvSpPr>
        <p:spPr>
          <a:xfrm>
            <a:off x="1139538" y="1818108"/>
            <a:ext cx="6950100" cy="8958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a:highlight>
                  <a:srgbClr val="FFFFFF"/>
                </a:highlight>
                <a:latin typeface="Lato"/>
                <a:ea typeface="Lato"/>
                <a:cs typeface="Lato"/>
                <a:sym typeface="Lato"/>
              </a:rPr>
              <a:t>LINQ provides a consistent model for querying different types of data sources, such as</a:t>
            </a:r>
            <a:endParaRPr>
              <a:highlight>
                <a:srgbClr val="FFFFFF"/>
              </a:highlight>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highlight>
                  <a:srgbClr val="FFFFFF"/>
                </a:highlight>
                <a:latin typeface="Lato"/>
                <a:ea typeface="Lato"/>
                <a:cs typeface="Lato"/>
                <a:sym typeface="Lato"/>
              </a:rPr>
              <a:t>databases, collections, XML, and more.</a:t>
            </a:r>
            <a:endParaRPr>
              <a:highlight>
                <a:srgbClr val="FFFFFF"/>
              </a:highlight>
              <a:latin typeface="Lato"/>
              <a:ea typeface="Lato"/>
              <a:cs typeface="Lato"/>
              <a:sym typeface="Lato"/>
            </a:endParaRPr>
          </a:p>
          <a:p>
            <a:pPr marL="0" marR="0" lvl="0" indent="0" algn="just" rtl="0">
              <a:lnSpc>
                <a:spcPct val="115000"/>
              </a:lnSpc>
              <a:spcBef>
                <a:spcPts val="0"/>
              </a:spcBef>
              <a:spcAft>
                <a:spcPts val="0"/>
              </a:spcAft>
              <a:buClr>
                <a:srgbClr val="000000"/>
              </a:buClr>
              <a:buSzPts val="1600"/>
              <a:buFont typeface="Arial"/>
              <a:buNone/>
            </a:pPr>
            <a:endParaRPr>
              <a:highlight>
                <a:srgbClr val="FFFFFF"/>
              </a:highlight>
              <a:latin typeface="Lato"/>
              <a:ea typeface="Lato"/>
              <a:cs typeface="Lato"/>
              <a:sym typeface="Lato"/>
            </a:endParaRPr>
          </a:p>
        </p:txBody>
      </p:sp>
      <p:pic>
        <p:nvPicPr>
          <p:cNvPr id="109" name="Google Shape;109;p19"/>
          <p:cNvPicPr preferRelativeResize="0"/>
          <p:nvPr/>
        </p:nvPicPr>
        <p:blipFill rotWithShape="1">
          <a:blip r:embed="rId5">
            <a:alphaModFix/>
          </a:blip>
          <a:srcRect/>
          <a:stretch/>
        </p:blipFill>
        <p:spPr>
          <a:xfrm>
            <a:off x="1029755" y="1942097"/>
            <a:ext cx="61722" cy="109728"/>
          </a:xfrm>
          <a:prstGeom prst="rect">
            <a:avLst/>
          </a:prstGeom>
          <a:noFill/>
          <a:ln>
            <a:noFill/>
          </a:ln>
        </p:spPr>
      </p:pic>
      <p:sp>
        <p:nvSpPr>
          <p:cNvPr id="110" name="Google Shape;110;p19"/>
          <p:cNvSpPr txBox="1"/>
          <p:nvPr/>
        </p:nvSpPr>
        <p:spPr>
          <a:xfrm>
            <a:off x="1139538" y="2521433"/>
            <a:ext cx="6950100" cy="4002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a:highlight>
                  <a:srgbClr val="FFFFFF"/>
                </a:highlight>
                <a:latin typeface="Lato"/>
                <a:ea typeface="Lato"/>
                <a:cs typeface="Lato"/>
                <a:sym typeface="Lato"/>
              </a:rPr>
              <a:t>Example : Query a list of numbers in C#</a:t>
            </a:r>
            <a:endParaRPr>
              <a:highlight>
                <a:srgbClr val="FFFFFF"/>
              </a:highlight>
              <a:latin typeface="Lato"/>
              <a:ea typeface="Lato"/>
              <a:cs typeface="Lato"/>
              <a:sym typeface="Lato"/>
            </a:endParaRPr>
          </a:p>
        </p:txBody>
      </p:sp>
      <p:pic>
        <p:nvPicPr>
          <p:cNvPr id="111" name="Google Shape;111;p19"/>
          <p:cNvPicPr preferRelativeResize="0"/>
          <p:nvPr/>
        </p:nvPicPr>
        <p:blipFill rotWithShape="1">
          <a:blip r:embed="rId5">
            <a:alphaModFix/>
          </a:blip>
          <a:srcRect/>
          <a:stretch/>
        </p:blipFill>
        <p:spPr>
          <a:xfrm>
            <a:off x="1029755" y="2645422"/>
            <a:ext cx="61722" cy="109728"/>
          </a:xfrm>
          <a:prstGeom prst="rect">
            <a:avLst/>
          </a:prstGeom>
          <a:noFill/>
          <a:ln>
            <a:noFill/>
          </a:ln>
        </p:spPr>
      </p:pic>
      <p:pic>
        <p:nvPicPr>
          <p:cNvPr id="112" name="Google Shape;112;p19"/>
          <p:cNvPicPr preferRelativeResize="0"/>
          <p:nvPr/>
        </p:nvPicPr>
        <p:blipFill>
          <a:blip r:embed="rId6">
            <a:alphaModFix/>
          </a:blip>
          <a:stretch>
            <a:fillRect/>
          </a:stretch>
        </p:blipFill>
        <p:spPr>
          <a:xfrm>
            <a:off x="1382125" y="3041957"/>
            <a:ext cx="5295900" cy="819150"/>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20"/>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18" name="Google Shape;118;p20"/>
          <p:cNvSpPr txBox="1"/>
          <p:nvPr/>
        </p:nvSpPr>
        <p:spPr>
          <a:xfrm>
            <a:off x="2986500" y="46313"/>
            <a:ext cx="317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          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Usage</a:t>
            </a:r>
            <a:endParaRPr sz="2000" b="1" i="0" u="none" strike="noStrike" cap="none">
              <a:solidFill>
                <a:srgbClr val="FFFFFF"/>
              </a:solidFill>
              <a:latin typeface="Lato"/>
              <a:ea typeface="Lato"/>
              <a:cs typeface="Lato"/>
              <a:sym typeface="Lato"/>
            </a:endParaRPr>
          </a:p>
        </p:txBody>
      </p:sp>
      <p:pic>
        <p:nvPicPr>
          <p:cNvPr id="119" name="Google Shape;119;p2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0" name="Google Shape;120;p2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pic>
        <p:nvPicPr>
          <p:cNvPr id="121" name="Google Shape;121;p20"/>
          <p:cNvPicPr preferRelativeResize="0"/>
          <p:nvPr/>
        </p:nvPicPr>
        <p:blipFill>
          <a:blip r:embed="rId5">
            <a:alphaModFix/>
          </a:blip>
          <a:stretch>
            <a:fillRect/>
          </a:stretch>
        </p:blipFill>
        <p:spPr>
          <a:xfrm>
            <a:off x="985950" y="751488"/>
            <a:ext cx="6884501" cy="38100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1"/>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27" name="Google Shape;127;p21"/>
          <p:cNvSpPr txBox="1"/>
          <p:nvPr/>
        </p:nvSpPr>
        <p:spPr>
          <a:xfrm>
            <a:off x="2986500" y="46313"/>
            <a:ext cx="317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Query Syntax</a:t>
            </a:r>
            <a:endParaRPr sz="2000" b="1" i="0" u="none" strike="noStrike" cap="none">
              <a:solidFill>
                <a:srgbClr val="FFFFFF"/>
              </a:solidFill>
              <a:latin typeface="Lato"/>
              <a:ea typeface="Lato"/>
              <a:cs typeface="Lato"/>
              <a:sym typeface="Lato"/>
            </a:endParaRPr>
          </a:p>
        </p:txBody>
      </p:sp>
      <p:pic>
        <p:nvPicPr>
          <p:cNvPr id="128" name="Google Shape;128;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9" name="Google Shape;129;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30" name="Google Shape;130;p21"/>
          <p:cNvSpPr txBox="1"/>
          <p:nvPr/>
        </p:nvSpPr>
        <p:spPr>
          <a:xfrm>
            <a:off x="1150150" y="836486"/>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a:solidFill>
                  <a:schemeClr val="dk1"/>
                </a:solidFill>
                <a:latin typeface="Lato"/>
                <a:ea typeface="Lato"/>
                <a:cs typeface="Lato"/>
                <a:sym typeface="Lato"/>
              </a:rPr>
              <a:t>Query syntax is</a:t>
            </a:r>
            <a:r>
              <a:rPr lang="en" b="1">
                <a:solidFill>
                  <a:schemeClr val="dk1"/>
                </a:solidFill>
                <a:latin typeface="Lato"/>
                <a:ea typeface="Lato"/>
                <a:cs typeface="Lato"/>
                <a:sym typeface="Lato"/>
              </a:rPr>
              <a:t> similar to SQL.</a:t>
            </a:r>
            <a:endParaRPr>
              <a:highlight>
                <a:srgbClr val="FFFFFF"/>
              </a:highlight>
              <a:latin typeface="Lato"/>
              <a:ea typeface="Lato"/>
              <a:cs typeface="Lato"/>
              <a:sym typeface="Lato"/>
            </a:endParaRPr>
          </a:p>
        </p:txBody>
      </p:sp>
      <p:pic>
        <p:nvPicPr>
          <p:cNvPr id="131" name="Google Shape;131;p21"/>
          <p:cNvPicPr preferRelativeResize="0"/>
          <p:nvPr/>
        </p:nvPicPr>
        <p:blipFill rotWithShape="1">
          <a:blip r:embed="rId5">
            <a:alphaModFix/>
          </a:blip>
          <a:srcRect/>
          <a:stretch/>
        </p:blipFill>
        <p:spPr>
          <a:xfrm>
            <a:off x="1040367" y="960475"/>
            <a:ext cx="61722" cy="109728"/>
          </a:xfrm>
          <a:prstGeom prst="rect">
            <a:avLst/>
          </a:prstGeom>
          <a:noFill/>
          <a:ln>
            <a:noFill/>
          </a:ln>
        </p:spPr>
      </p:pic>
      <p:sp>
        <p:nvSpPr>
          <p:cNvPr id="132" name="Google Shape;132;p21"/>
          <p:cNvSpPr txBox="1"/>
          <p:nvPr/>
        </p:nvSpPr>
        <p:spPr>
          <a:xfrm>
            <a:off x="1139538" y="1229333"/>
            <a:ext cx="6950100" cy="6480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a:highlight>
                  <a:srgbClr val="FFFFFF"/>
                </a:highlight>
                <a:latin typeface="Lato"/>
                <a:ea typeface="Lato"/>
                <a:cs typeface="Lato"/>
                <a:sym typeface="Lato"/>
              </a:rPr>
              <a:t>Starts with </a:t>
            </a:r>
            <a:r>
              <a:rPr lang="en" b="1" i="1">
                <a:highlight>
                  <a:srgbClr val="FFFFFF"/>
                </a:highlight>
                <a:latin typeface="Lato"/>
                <a:ea typeface="Lato"/>
                <a:cs typeface="Lato"/>
                <a:sym typeface="Lato"/>
              </a:rPr>
              <a:t>from </a:t>
            </a:r>
            <a:r>
              <a:rPr lang="en">
                <a:highlight>
                  <a:srgbClr val="FFFFFF"/>
                </a:highlight>
                <a:latin typeface="Lato"/>
                <a:ea typeface="Lato"/>
                <a:cs typeface="Lato"/>
                <a:sym typeface="Lato"/>
              </a:rPr>
              <a:t>clause and can be end with </a:t>
            </a:r>
            <a:r>
              <a:rPr lang="en" b="1" i="1">
                <a:highlight>
                  <a:srgbClr val="FFFFFF"/>
                </a:highlight>
                <a:latin typeface="Lato"/>
                <a:ea typeface="Lato"/>
                <a:cs typeface="Lato"/>
                <a:sym typeface="Lato"/>
              </a:rPr>
              <a:t>Select </a:t>
            </a:r>
            <a:r>
              <a:rPr lang="en">
                <a:highlight>
                  <a:srgbClr val="FFFFFF"/>
                </a:highlight>
                <a:latin typeface="Lato"/>
                <a:ea typeface="Lato"/>
                <a:cs typeface="Lato"/>
                <a:sym typeface="Lato"/>
              </a:rPr>
              <a:t>or </a:t>
            </a:r>
            <a:r>
              <a:rPr lang="en" b="1" i="1">
                <a:highlight>
                  <a:srgbClr val="FFFFFF"/>
                </a:highlight>
                <a:latin typeface="Lato"/>
                <a:ea typeface="Lato"/>
                <a:cs typeface="Lato"/>
                <a:sym typeface="Lato"/>
              </a:rPr>
              <a:t>Group By</a:t>
            </a:r>
            <a:r>
              <a:rPr lang="en">
                <a:highlight>
                  <a:srgbClr val="FFFFFF"/>
                </a:highlight>
                <a:latin typeface="Lato"/>
                <a:ea typeface="Lato"/>
                <a:cs typeface="Lato"/>
                <a:sym typeface="Lato"/>
              </a:rPr>
              <a:t> clause.</a:t>
            </a:r>
            <a:endParaRPr>
              <a:highlight>
                <a:srgbClr val="FFFFFF"/>
              </a:highlight>
              <a:latin typeface="Lato"/>
              <a:ea typeface="Lato"/>
              <a:cs typeface="Lato"/>
              <a:sym typeface="Lato"/>
            </a:endParaRPr>
          </a:p>
          <a:p>
            <a:pPr marL="0" marR="0" lvl="0" indent="0" algn="just" rtl="0">
              <a:lnSpc>
                <a:spcPct val="115000"/>
              </a:lnSpc>
              <a:spcBef>
                <a:spcPts val="0"/>
              </a:spcBef>
              <a:spcAft>
                <a:spcPts val="0"/>
              </a:spcAft>
              <a:buClr>
                <a:srgbClr val="000000"/>
              </a:buClr>
              <a:buSzPts val="1600"/>
              <a:buFont typeface="Arial"/>
              <a:buNone/>
            </a:pPr>
            <a:endParaRPr>
              <a:highlight>
                <a:srgbClr val="FFFFFF"/>
              </a:highlight>
              <a:latin typeface="Lato"/>
              <a:ea typeface="Lato"/>
              <a:cs typeface="Lato"/>
              <a:sym typeface="Lato"/>
            </a:endParaRPr>
          </a:p>
        </p:txBody>
      </p:sp>
      <p:pic>
        <p:nvPicPr>
          <p:cNvPr id="133" name="Google Shape;133;p21"/>
          <p:cNvPicPr preferRelativeResize="0"/>
          <p:nvPr/>
        </p:nvPicPr>
        <p:blipFill rotWithShape="1">
          <a:blip r:embed="rId5">
            <a:alphaModFix/>
          </a:blip>
          <a:srcRect/>
          <a:stretch/>
        </p:blipFill>
        <p:spPr>
          <a:xfrm>
            <a:off x="1029755" y="1353322"/>
            <a:ext cx="61722" cy="109728"/>
          </a:xfrm>
          <a:prstGeom prst="rect">
            <a:avLst/>
          </a:prstGeom>
          <a:noFill/>
          <a:ln>
            <a:noFill/>
          </a:ln>
        </p:spPr>
      </p:pic>
      <p:pic>
        <p:nvPicPr>
          <p:cNvPr id="134" name="Google Shape;134;p21"/>
          <p:cNvPicPr preferRelativeResize="0"/>
          <p:nvPr/>
        </p:nvPicPr>
        <p:blipFill>
          <a:blip r:embed="rId6">
            <a:alphaModFix/>
          </a:blip>
          <a:stretch>
            <a:fillRect/>
          </a:stretch>
        </p:blipFill>
        <p:spPr>
          <a:xfrm>
            <a:off x="1816813" y="1826557"/>
            <a:ext cx="5485786" cy="2591908"/>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p22"/>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40" name="Google Shape;140;p22"/>
          <p:cNvSpPr txBox="1"/>
          <p:nvPr/>
        </p:nvSpPr>
        <p:spPr>
          <a:xfrm>
            <a:off x="2986500" y="46313"/>
            <a:ext cx="317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Method Syntax</a:t>
            </a:r>
            <a:endParaRPr sz="2000" b="1" i="0" u="none" strike="noStrike" cap="none">
              <a:solidFill>
                <a:srgbClr val="FFFFFF"/>
              </a:solidFill>
              <a:latin typeface="Lato"/>
              <a:ea typeface="Lato"/>
              <a:cs typeface="Lato"/>
              <a:sym typeface="Lato"/>
            </a:endParaRPr>
          </a:p>
        </p:txBody>
      </p:sp>
      <p:pic>
        <p:nvPicPr>
          <p:cNvPr id="141" name="Google Shape;141;p2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2" name="Google Shape;142;p2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43" name="Google Shape;143;p22"/>
          <p:cNvSpPr txBox="1"/>
          <p:nvPr/>
        </p:nvSpPr>
        <p:spPr>
          <a:xfrm>
            <a:off x="1150150" y="836486"/>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a:solidFill>
                  <a:schemeClr val="dk1"/>
                </a:solidFill>
                <a:latin typeface="Lato"/>
                <a:ea typeface="Lato"/>
                <a:cs typeface="Lato"/>
                <a:sym typeface="Lato"/>
              </a:rPr>
              <a:t>Method syntax like </a:t>
            </a:r>
            <a:r>
              <a:rPr lang="en" b="1" i="1">
                <a:solidFill>
                  <a:schemeClr val="dk1"/>
                </a:solidFill>
                <a:latin typeface="Lato"/>
                <a:ea typeface="Lato"/>
                <a:cs typeface="Lato"/>
                <a:sym typeface="Lato"/>
              </a:rPr>
              <a:t>calling </a:t>
            </a:r>
            <a:r>
              <a:rPr lang="en">
                <a:solidFill>
                  <a:schemeClr val="dk1"/>
                </a:solidFill>
                <a:latin typeface="Lato"/>
                <a:ea typeface="Lato"/>
                <a:cs typeface="Lato"/>
                <a:sym typeface="Lato"/>
              </a:rPr>
              <a:t>an </a:t>
            </a:r>
            <a:r>
              <a:rPr lang="en" b="1" i="1">
                <a:solidFill>
                  <a:schemeClr val="dk1"/>
                </a:solidFill>
                <a:latin typeface="Lato"/>
                <a:ea typeface="Lato"/>
                <a:cs typeface="Lato"/>
                <a:sym typeface="Lato"/>
              </a:rPr>
              <a:t>extension </a:t>
            </a:r>
            <a:r>
              <a:rPr lang="en">
                <a:solidFill>
                  <a:schemeClr val="dk1"/>
                </a:solidFill>
                <a:latin typeface="Lato"/>
                <a:ea typeface="Lato"/>
                <a:cs typeface="Lato"/>
                <a:sym typeface="Lato"/>
              </a:rPr>
              <a:t>method already included.</a:t>
            </a:r>
            <a:endParaRPr>
              <a:highlight>
                <a:srgbClr val="FFFFFF"/>
              </a:highlight>
              <a:latin typeface="Lato"/>
              <a:ea typeface="Lato"/>
              <a:cs typeface="Lato"/>
              <a:sym typeface="Lato"/>
            </a:endParaRPr>
          </a:p>
        </p:txBody>
      </p:sp>
      <p:pic>
        <p:nvPicPr>
          <p:cNvPr id="144" name="Google Shape;144;p22"/>
          <p:cNvPicPr preferRelativeResize="0"/>
          <p:nvPr/>
        </p:nvPicPr>
        <p:blipFill rotWithShape="1">
          <a:blip r:embed="rId5">
            <a:alphaModFix/>
          </a:blip>
          <a:srcRect/>
          <a:stretch/>
        </p:blipFill>
        <p:spPr>
          <a:xfrm>
            <a:off x="1040367" y="960475"/>
            <a:ext cx="61722" cy="109728"/>
          </a:xfrm>
          <a:prstGeom prst="rect">
            <a:avLst/>
          </a:prstGeom>
          <a:noFill/>
          <a:ln>
            <a:noFill/>
          </a:ln>
        </p:spPr>
      </p:pic>
      <p:sp>
        <p:nvSpPr>
          <p:cNvPr id="145" name="Google Shape;145;p22"/>
          <p:cNvSpPr txBox="1"/>
          <p:nvPr/>
        </p:nvSpPr>
        <p:spPr>
          <a:xfrm>
            <a:off x="1139538" y="1229333"/>
            <a:ext cx="6950100" cy="8958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a:highlight>
                  <a:srgbClr val="FFFFFF"/>
                </a:highlight>
                <a:latin typeface="Lato"/>
                <a:ea typeface="Lato"/>
                <a:cs typeface="Lato"/>
                <a:sym typeface="Lato"/>
              </a:rPr>
              <a:t>It </a:t>
            </a:r>
            <a:r>
              <a:rPr lang="en">
                <a:solidFill>
                  <a:srgbClr val="222222"/>
                </a:solidFill>
                <a:highlight>
                  <a:srgbClr val="FFFFFF"/>
                </a:highlight>
                <a:latin typeface="Lato"/>
                <a:ea typeface="Lato"/>
                <a:cs typeface="Lato"/>
                <a:sym typeface="Lato"/>
              </a:rPr>
              <a:t>uses a lambda expression to define the condition for the Query and </a:t>
            </a:r>
            <a:r>
              <a:rPr lang="en">
                <a:highlight>
                  <a:srgbClr val="FFFFFF"/>
                </a:highlight>
                <a:latin typeface="Lato"/>
                <a:ea typeface="Lato"/>
                <a:cs typeface="Lato"/>
                <a:sym typeface="Lato"/>
              </a:rPr>
              <a:t>implicitly called using variable - var to hold result of the query.</a:t>
            </a:r>
            <a:endParaRPr>
              <a:highlight>
                <a:srgbClr val="FFFFFF"/>
              </a:highlight>
              <a:latin typeface="Lato"/>
              <a:ea typeface="Lato"/>
              <a:cs typeface="Lato"/>
              <a:sym typeface="Lato"/>
            </a:endParaRPr>
          </a:p>
          <a:p>
            <a:pPr marL="0" marR="0" lvl="0" indent="0" algn="just" rtl="0">
              <a:lnSpc>
                <a:spcPct val="115000"/>
              </a:lnSpc>
              <a:spcBef>
                <a:spcPts val="0"/>
              </a:spcBef>
              <a:spcAft>
                <a:spcPts val="0"/>
              </a:spcAft>
              <a:buClr>
                <a:srgbClr val="000000"/>
              </a:buClr>
              <a:buSzPts val="1600"/>
              <a:buFont typeface="Arial"/>
              <a:buNone/>
            </a:pPr>
            <a:endParaRPr>
              <a:highlight>
                <a:srgbClr val="FFFFFF"/>
              </a:highlight>
              <a:latin typeface="Lato"/>
              <a:ea typeface="Lato"/>
              <a:cs typeface="Lato"/>
              <a:sym typeface="Lato"/>
            </a:endParaRPr>
          </a:p>
        </p:txBody>
      </p:sp>
      <p:pic>
        <p:nvPicPr>
          <p:cNvPr id="146" name="Google Shape;146;p22"/>
          <p:cNvPicPr preferRelativeResize="0"/>
          <p:nvPr/>
        </p:nvPicPr>
        <p:blipFill rotWithShape="1">
          <a:blip r:embed="rId5">
            <a:alphaModFix/>
          </a:blip>
          <a:srcRect/>
          <a:stretch/>
        </p:blipFill>
        <p:spPr>
          <a:xfrm>
            <a:off x="1029755" y="1353322"/>
            <a:ext cx="61722" cy="109728"/>
          </a:xfrm>
          <a:prstGeom prst="rect">
            <a:avLst/>
          </a:prstGeom>
          <a:noFill/>
          <a:ln>
            <a:noFill/>
          </a:ln>
        </p:spPr>
      </p:pic>
      <p:pic>
        <p:nvPicPr>
          <p:cNvPr id="147" name="Google Shape;147;p22"/>
          <p:cNvPicPr preferRelativeResize="0"/>
          <p:nvPr/>
        </p:nvPicPr>
        <p:blipFill>
          <a:blip r:embed="rId6">
            <a:alphaModFix/>
          </a:blip>
          <a:stretch>
            <a:fillRect/>
          </a:stretch>
        </p:blipFill>
        <p:spPr>
          <a:xfrm>
            <a:off x="1435600" y="1859808"/>
            <a:ext cx="5467350" cy="2295525"/>
          </a:xfrm>
          <a:prstGeom prst="rect">
            <a:avLst/>
          </a:prstGeom>
          <a:noFill/>
          <a:ln>
            <a:noFill/>
          </a:ln>
        </p:spPr>
      </p:pic>
      <p:sp>
        <p:nvSpPr>
          <p:cNvPr id="148" name="Google Shape;148;p22"/>
          <p:cNvSpPr/>
          <p:nvPr/>
        </p:nvSpPr>
        <p:spPr>
          <a:xfrm>
            <a:off x="3998125" y="3992900"/>
            <a:ext cx="171000" cy="400200"/>
          </a:xfrm>
          <a:prstGeom prst="upArrow">
            <a:avLst>
              <a:gd name="adj1" fmla="val 50000"/>
              <a:gd name="adj2" fmla="val 50000"/>
            </a:avLst>
          </a:prstGeom>
          <a:solidFill>
            <a:schemeClr val="lt2"/>
          </a:solid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0000"/>
              </a:solidFill>
            </a:endParaRPr>
          </a:p>
        </p:txBody>
      </p:sp>
      <p:sp>
        <p:nvSpPr>
          <p:cNvPr id="149" name="Google Shape;149;p22"/>
          <p:cNvSpPr txBox="1"/>
          <p:nvPr/>
        </p:nvSpPr>
        <p:spPr>
          <a:xfrm>
            <a:off x="3337075" y="4298863"/>
            <a:ext cx="1664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latin typeface="Lato"/>
                <a:ea typeface="Lato"/>
                <a:cs typeface="Lato"/>
                <a:sym typeface="Lato"/>
              </a:rPr>
              <a:t>Extension Method</a:t>
            </a:r>
            <a:endParaRPr b="1">
              <a:solidFill>
                <a:srgbClr val="FF0000"/>
              </a:solidFill>
              <a:latin typeface="Lato"/>
              <a:ea typeface="Lato"/>
              <a:cs typeface="Lato"/>
              <a:sym typeface="Lato"/>
            </a:endParaRPr>
          </a:p>
        </p:txBody>
      </p:sp>
      <p:sp>
        <p:nvSpPr>
          <p:cNvPr id="150" name="Google Shape;150;p22"/>
          <p:cNvSpPr/>
          <p:nvPr/>
        </p:nvSpPr>
        <p:spPr>
          <a:xfrm>
            <a:off x="4572000" y="3421150"/>
            <a:ext cx="171000" cy="369300"/>
          </a:xfrm>
          <a:prstGeom prst="downArrow">
            <a:avLst>
              <a:gd name="adj1" fmla="val 50000"/>
              <a:gd name="adj2" fmla="val 50000"/>
            </a:avLst>
          </a:prstGeom>
          <a:solidFill>
            <a:schemeClr val="lt2"/>
          </a:solid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2"/>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latin typeface="Lato"/>
                <a:ea typeface="Lato"/>
                <a:cs typeface="Lato"/>
                <a:sym typeface="Lato"/>
              </a:rPr>
              <a:t>Lambda Expression</a:t>
            </a:r>
            <a:endParaRPr b="1">
              <a:solidFill>
                <a:srgbClr val="FF0000"/>
              </a:solidFill>
              <a:latin typeface="Lato"/>
              <a:ea typeface="Lato"/>
              <a:cs typeface="Lato"/>
              <a:sym typeface="Lato"/>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3"/>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57" name="Google Shape;157;p23"/>
          <p:cNvSpPr txBox="1"/>
          <p:nvPr/>
        </p:nvSpPr>
        <p:spPr>
          <a:xfrm>
            <a:off x="2986500" y="46325"/>
            <a:ext cx="4062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Filtering and Sorting</a:t>
            </a:r>
            <a:endParaRPr sz="2000" b="1" i="0" u="none" strike="noStrike" cap="none">
              <a:solidFill>
                <a:srgbClr val="FFFFFF"/>
              </a:solidFill>
              <a:latin typeface="Lato"/>
              <a:ea typeface="Lato"/>
              <a:cs typeface="Lato"/>
              <a:sym typeface="Lato"/>
            </a:endParaRPr>
          </a:p>
        </p:txBody>
      </p:sp>
      <p:pic>
        <p:nvPicPr>
          <p:cNvPr id="158" name="Google Shape;158;p2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59" name="Google Shape;159;p2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60" name="Google Shape;160;p23"/>
          <p:cNvSpPr txBox="1"/>
          <p:nvPr/>
        </p:nvSpPr>
        <p:spPr>
          <a:xfrm>
            <a:off x="1091200" y="8685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b="1">
                <a:solidFill>
                  <a:schemeClr val="dk1"/>
                </a:solidFill>
                <a:latin typeface="Lato"/>
                <a:ea typeface="Lato"/>
                <a:cs typeface="Lato"/>
                <a:sym typeface="Lato"/>
              </a:rPr>
              <a:t>Filtering:</a:t>
            </a:r>
            <a:r>
              <a:rPr lang="en">
                <a:solidFill>
                  <a:schemeClr val="dk1"/>
                </a:solidFill>
                <a:latin typeface="Lato"/>
                <a:ea typeface="Lato"/>
                <a:cs typeface="Lato"/>
                <a:sym typeface="Lato"/>
              </a:rPr>
              <a:t> </a:t>
            </a:r>
            <a:r>
              <a:rPr lang="en" i="1">
                <a:solidFill>
                  <a:schemeClr val="dk1"/>
                </a:solidFill>
                <a:latin typeface="Lato"/>
                <a:ea typeface="Lato"/>
                <a:cs typeface="Lato"/>
                <a:sym typeface="Lato"/>
              </a:rPr>
              <a:t>Where()</a:t>
            </a:r>
            <a:r>
              <a:rPr lang="en">
                <a:solidFill>
                  <a:schemeClr val="dk1"/>
                </a:solidFill>
                <a:latin typeface="Lato"/>
                <a:ea typeface="Lato"/>
                <a:cs typeface="Lato"/>
                <a:sym typeface="Lato"/>
              </a:rPr>
              <a:t> method filters elements.</a:t>
            </a:r>
            <a:endParaRPr>
              <a:solidFill>
                <a:schemeClr val="dk1"/>
              </a:solidFill>
              <a:latin typeface="Lato"/>
              <a:ea typeface="Lato"/>
              <a:cs typeface="Lato"/>
              <a:sym typeface="Lato"/>
            </a:endParaRPr>
          </a:p>
        </p:txBody>
      </p:sp>
      <p:pic>
        <p:nvPicPr>
          <p:cNvPr id="161" name="Google Shape;161;p23"/>
          <p:cNvPicPr preferRelativeResize="0"/>
          <p:nvPr/>
        </p:nvPicPr>
        <p:blipFill rotWithShape="1">
          <a:blip r:embed="rId5">
            <a:alphaModFix/>
          </a:blip>
          <a:srcRect/>
          <a:stretch/>
        </p:blipFill>
        <p:spPr>
          <a:xfrm>
            <a:off x="981417" y="992550"/>
            <a:ext cx="61722" cy="109728"/>
          </a:xfrm>
          <a:prstGeom prst="rect">
            <a:avLst/>
          </a:prstGeom>
          <a:noFill/>
          <a:ln>
            <a:noFill/>
          </a:ln>
        </p:spPr>
      </p:pic>
      <p:sp>
        <p:nvSpPr>
          <p:cNvPr id="162" name="Google Shape;162;p23"/>
          <p:cNvSpPr txBox="1"/>
          <p:nvPr/>
        </p:nvSpPr>
        <p:spPr>
          <a:xfrm>
            <a:off x="1091213" y="17747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b="1">
                <a:solidFill>
                  <a:schemeClr val="dk1"/>
                </a:solidFill>
                <a:latin typeface="Lato"/>
                <a:ea typeface="Lato"/>
                <a:cs typeface="Lato"/>
                <a:sym typeface="Lato"/>
              </a:rPr>
              <a:t>Sorting: </a:t>
            </a:r>
            <a:r>
              <a:rPr lang="en">
                <a:solidFill>
                  <a:schemeClr val="dk1"/>
                </a:solidFill>
                <a:latin typeface="Lato"/>
                <a:ea typeface="Lato"/>
                <a:cs typeface="Lato"/>
                <a:sym typeface="Lato"/>
              </a:rPr>
              <a:t>data with </a:t>
            </a:r>
            <a:r>
              <a:rPr lang="en" i="1">
                <a:solidFill>
                  <a:srgbClr val="222222"/>
                </a:solidFill>
                <a:latin typeface="Lato"/>
                <a:ea typeface="Lato"/>
                <a:cs typeface="Lato"/>
                <a:sym typeface="Lato"/>
              </a:rPr>
              <a:t>OrderBy, OrderByDescending, ThenBy, ThenByDescending</a:t>
            </a:r>
            <a:endParaRPr i="1">
              <a:solidFill>
                <a:srgbClr val="222222"/>
              </a:solidFill>
              <a:latin typeface="Lato"/>
              <a:ea typeface="Lato"/>
              <a:cs typeface="Lato"/>
              <a:sym typeface="Lato"/>
            </a:endParaRPr>
          </a:p>
        </p:txBody>
      </p:sp>
      <p:pic>
        <p:nvPicPr>
          <p:cNvPr id="163" name="Google Shape;163;p23"/>
          <p:cNvPicPr preferRelativeResize="0"/>
          <p:nvPr/>
        </p:nvPicPr>
        <p:blipFill rotWithShape="1">
          <a:blip r:embed="rId5">
            <a:alphaModFix/>
          </a:blip>
          <a:srcRect/>
          <a:stretch/>
        </p:blipFill>
        <p:spPr>
          <a:xfrm>
            <a:off x="981430" y="1898697"/>
            <a:ext cx="61722" cy="109728"/>
          </a:xfrm>
          <a:prstGeom prst="rect">
            <a:avLst/>
          </a:prstGeom>
          <a:noFill/>
          <a:ln>
            <a:noFill/>
          </a:ln>
        </p:spPr>
      </p:pic>
      <p:sp>
        <p:nvSpPr>
          <p:cNvPr id="164" name="Google Shape;164;p23"/>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165" name="Google Shape;165;p23"/>
          <p:cNvSpPr txBox="1"/>
          <p:nvPr/>
        </p:nvSpPr>
        <p:spPr>
          <a:xfrm>
            <a:off x="1091213" y="3033870"/>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Lato"/>
                <a:ea typeface="Lato"/>
                <a:cs typeface="Lato"/>
                <a:sym typeface="Lato"/>
              </a:rPr>
              <a:t>Working with </a:t>
            </a:r>
            <a:r>
              <a:rPr lang="en" b="1">
                <a:solidFill>
                  <a:schemeClr val="dk1"/>
                </a:solidFill>
                <a:latin typeface="Lato"/>
                <a:ea typeface="Lato"/>
                <a:cs typeface="Lato"/>
                <a:sym typeface="Lato"/>
              </a:rPr>
              <a:t>nullable values</a:t>
            </a:r>
            <a:r>
              <a:rPr lang="en">
                <a:solidFill>
                  <a:schemeClr val="dk1"/>
                </a:solidFill>
                <a:latin typeface="Lato"/>
                <a:ea typeface="Lato"/>
                <a:cs typeface="Lato"/>
                <a:sym typeface="Lato"/>
              </a:rPr>
              <a:t> in queries</a:t>
            </a:r>
            <a:endParaRPr>
              <a:solidFill>
                <a:schemeClr val="dk1"/>
              </a:solidFill>
              <a:latin typeface="Lato"/>
              <a:ea typeface="Lato"/>
              <a:cs typeface="Lato"/>
              <a:sym typeface="Lato"/>
            </a:endParaRPr>
          </a:p>
        </p:txBody>
      </p:sp>
      <p:pic>
        <p:nvPicPr>
          <p:cNvPr id="166" name="Google Shape;166;p23"/>
          <p:cNvPicPr preferRelativeResize="0"/>
          <p:nvPr/>
        </p:nvPicPr>
        <p:blipFill rotWithShape="1">
          <a:blip r:embed="rId5">
            <a:alphaModFix/>
          </a:blip>
          <a:srcRect/>
          <a:stretch/>
        </p:blipFill>
        <p:spPr>
          <a:xfrm>
            <a:off x="981430" y="3157859"/>
            <a:ext cx="61722" cy="109728"/>
          </a:xfrm>
          <a:prstGeom prst="rect">
            <a:avLst/>
          </a:prstGeom>
          <a:noFill/>
          <a:ln>
            <a:noFill/>
          </a:ln>
        </p:spPr>
      </p:pic>
      <p:pic>
        <p:nvPicPr>
          <p:cNvPr id="167" name="Google Shape;167;p23"/>
          <p:cNvPicPr preferRelativeResize="0"/>
          <p:nvPr/>
        </p:nvPicPr>
        <p:blipFill>
          <a:blip r:embed="rId6">
            <a:alphaModFix/>
          </a:blip>
          <a:stretch>
            <a:fillRect/>
          </a:stretch>
        </p:blipFill>
        <p:spPr>
          <a:xfrm>
            <a:off x="1238075" y="1201200"/>
            <a:ext cx="5638800" cy="571500"/>
          </a:xfrm>
          <a:prstGeom prst="rect">
            <a:avLst/>
          </a:prstGeom>
          <a:noFill/>
          <a:ln>
            <a:noFill/>
          </a:ln>
        </p:spPr>
      </p:pic>
      <p:pic>
        <p:nvPicPr>
          <p:cNvPr id="168" name="Google Shape;168;p23"/>
          <p:cNvPicPr preferRelativeResize="0"/>
          <p:nvPr/>
        </p:nvPicPr>
        <p:blipFill>
          <a:blip r:embed="rId7">
            <a:alphaModFix/>
          </a:blip>
          <a:stretch>
            <a:fillRect/>
          </a:stretch>
        </p:blipFill>
        <p:spPr>
          <a:xfrm>
            <a:off x="1238075" y="2241750"/>
            <a:ext cx="5693350" cy="731642"/>
          </a:xfrm>
          <a:prstGeom prst="rect">
            <a:avLst/>
          </a:prstGeom>
          <a:noFill/>
          <a:ln>
            <a:noFill/>
          </a:ln>
        </p:spPr>
      </p:pic>
      <p:pic>
        <p:nvPicPr>
          <p:cNvPr id="169" name="Google Shape;169;p23"/>
          <p:cNvPicPr preferRelativeResize="0"/>
          <p:nvPr/>
        </p:nvPicPr>
        <p:blipFill>
          <a:blip r:embed="rId8">
            <a:alphaModFix/>
          </a:blip>
          <a:stretch>
            <a:fillRect/>
          </a:stretch>
        </p:blipFill>
        <p:spPr>
          <a:xfrm>
            <a:off x="1238075" y="3573350"/>
            <a:ext cx="5638800" cy="99577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24"/>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75" name="Google Shape;175;p24"/>
          <p:cNvSpPr txBox="1"/>
          <p:nvPr/>
        </p:nvSpPr>
        <p:spPr>
          <a:xfrm>
            <a:off x="2986500" y="46325"/>
            <a:ext cx="4062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       Projection in Linq</a:t>
            </a:r>
            <a:endParaRPr sz="2000" b="1" i="0" u="none" strike="noStrike" cap="none">
              <a:solidFill>
                <a:srgbClr val="FFFFFF"/>
              </a:solidFill>
              <a:latin typeface="Lato"/>
              <a:ea typeface="Lato"/>
              <a:cs typeface="Lato"/>
              <a:sym typeface="Lato"/>
            </a:endParaRPr>
          </a:p>
        </p:txBody>
      </p:sp>
      <p:pic>
        <p:nvPicPr>
          <p:cNvPr id="176" name="Google Shape;176;p2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77" name="Google Shape;177;p2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78" name="Google Shape;178;p24"/>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179" name="Google Shape;179;p24"/>
          <p:cNvSpPr txBox="1"/>
          <p:nvPr/>
        </p:nvSpPr>
        <p:spPr>
          <a:xfrm>
            <a:off x="1091200" y="8685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b="1">
                <a:solidFill>
                  <a:schemeClr val="dk1"/>
                </a:solidFill>
                <a:latin typeface="Lato"/>
                <a:ea typeface="Lato"/>
                <a:cs typeface="Lato"/>
                <a:sym typeface="Lato"/>
              </a:rPr>
              <a:t>Select:</a:t>
            </a:r>
            <a:r>
              <a:rPr lang="en">
                <a:solidFill>
                  <a:schemeClr val="dk1"/>
                </a:solidFill>
                <a:latin typeface="Lato"/>
                <a:ea typeface="Lato"/>
                <a:cs typeface="Lato"/>
                <a:sym typeface="Lato"/>
              </a:rPr>
              <a:t> Selecting specific properties using </a:t>
            </a:r>
            <a:r>
              <a:rPr lang="en" i="1">
                <a:solidFill>
                  <a:srgbClr val="222222"/>
                </a:solidFill>
                <a:latin typeface="Lato"/>
                <a:ea typeface="Lato"/>
                <a:cs typeface="Lato"/>
                <a:sym typeface="Lato"/>
              </a:rPr>
              <a:t>Select</a:t>
            </a:r>
            <a:r>
              <a:rPr lang="en">
                <a:solidFill>
                  <a:schemeClr val="dk1"/>
                </a:solidFill>
                <a:latin typeface="Lato"/>
                <a:ea typeface="Lato"/>
                <a:cs typeface="Lato"/>
                <a:sym typeface="Lato"/>
              </a:rPr>
              <a:t>():</a:t>
            </a:r>
            <a:endParaRPr>
              <a:solidFill>
                <a:schemeClr val="dk1"/>
              </a:solidFill>
              <a:latin typeface="Lato"/>
              <a:ea typeface="Lato"/>
              <a:cs typeface="Lato"/>
              <a:sym typeface="Lato"/>
            </a:endParaRPr>
          </a:p>
        </p:txBody>
      </p:sp>
      <p:pic>
        <p:nvPicPr>
          <p:cNvPr id="180" name="Google Shape;180;p24"/>
          <p:cNvPicPr preferRelativeResize="0"/>
          <p:nvPr/>
        </p:nvPicPr>
        <p:blipFill rotWithShape="1">
          <a:blip r:embed="rId5">
            <a:alphaModFix/>
          </a:blip>
          <a:srcRect/>
          <a:stretch/>
        </p:blipFill>
        <p:spPr>
          <a:xfrm>
            <a:off x="981417" y="992550"/>
            <a:ext cx="61722" cy="109728"/>
          </a:xfrm>
          <a:prstGeom prst="rect">
            <a:avLst/>
          </a:prstGeom>
          <a:noFill/>
          <a:ln>
            <a:noFill/>
          </a:ln>
        </p:spPr>
      </p:pic>
      <p:sp>
        <p:nvSpPr>
          <p:cNvPr id="181" name="Google Shape;181;p24"/>
          <p:cNvSpPr txBox="1"/>
          <p:nvPr/>
        </p:nvSpPr>
        <p:spPr>
          <a:xfrm>
            <a:off x="1091213" y="2003308"/>
            <a:ext cx="6950100" cy="801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b="1">
                <a:solidFill>
                  <a:schemeClr val="dk1"/>
                </a:solidFill>
                <a:latin typeface="Lato"/>
                <a:ea typeface="Lato"/>
                <a:cs typeface="Lato"/>
                <a:sym typeface="Lato"/>
              </a:rPr>
              <a:t>Select Many: </a:t>
            </a:r>
            <a:r>
              <a:rPr lang="en">
                <a:solidFill>
                  <a:schemeClr val="dk1"/>
                </a:solidFill>
                <a:latin typeface="Lato"/>
                <a:ea typeface="Lato"/>
                <a:cs typeface="Lato"/>
                <a:sym typeface="Lato"/>
              </a:rPr>
              <a:t>Flattening Collection using </a:t>
            </a:r>
            <a:r>
              <a:rPr lang="en" i="1">
                <a:solidFill>
                  <a:srgbClr val="222222"/>
                </a:solidFill>
                <a:latin typeface="Lato"/>
                <a:ea typeface="Lato"/>
                <a:cs typeface="Lato"/>
                <a:sym typeface="Lato"/>
              </a:rPr>
              <a:t>SelectMany() </a:t>
            </a:r>
            <a:endParaRPr i="1">
              <a:solidFill>
                <a:srgbClr val="222222"/>
              </a:solidFill>
              <a:latin typeface="Lato"/>
              <a:ea typeface="Lato"/>
              <a:cs typeface="Lato"/>
              <a:sym typeface="Lato"/>
            </a:endParaRPr>
          </a:p>
          <a:p>
            <a:pPr marL="457200" lvl="0" indent="-317500" algn="l" rtl="0">
              <a:lnSpc>
                <a:spcPct val="115000"/>
              </a:lnSpc>
              <a:spcBef>
                <a:spcPts val="1200"/>
              </a:spcBef>
              <a:spcAft>
                <a:spcPts val="0"/>
              </a:spcAft>
              <a:buClr>
                <a:srgbClr val="222222"/>
              </a:buClr>
              <a:buSzPts val="1400"/>
              <a:buFont typeface="Lato"/>
              <a:buChar char="●"/>
            </a:pPr>
            <a:r>
              <a:rPr lang="en">
                <a:solidFill>
                  <a:srgbClr val="222222"/>
                </a:solidFill>
                <a:latin typeface="Lato"/>
                <a:ea typeface="Lato"/>
                <a:cs typeface="Lato"/>
                <a:sym typeface="Lato"/>
              </a:rPr>
              <a:t>Applied on nested collections.</a:t>
            </a:r>
            <a:endParaRPr>
              <a:solidFill>
                <a:srgbClr val="222222"/>
              </a:solidFill>
              <a:latin typeface="Lato"/>
              <a:ea typeface="Lato"/>
              <a:cs typeface="Lato"/>
              <a:sym typeface="Lato"/>
            </a:endParaRPr>
          </a:p>
        </p:txBody>
      </p:sp>
      <p:pic>
        <p:nvPicPr>
          <p:cNvPr id="182" name="Google Shape;182;p24"/>
          <p:cNvPicPr preferRelativeResize="0"/>
          <p:nvPr/>
        </p:nvPicPr>
        <p:blipFill rotWithShape="1">
          <a:blip r:embed="rId5">
            <a:alphaModFix/>
          </a:blip>
          <a:srcRect/>
          <a:stretch/>
        </p:blipFill>
        <p:spPr>
          <a:xfrm>
            <a:off x="981430" y="2127297"/>
            <a:ext cx="61722" cy="109728"/>
          </a:xfrm>
          <a:prstGeom prst="rect">
            <a:avLst/>
          </a:prstGeom>
          <a:noFill/>
          <a:ln>
            <a:noFill/>
          </a:ln>
        </p:spPr>
      </p:pic>
      <p:sp>
        <p:nvSpPr>
          <p:cNvPr id="183" name="Google Shape;183;p24"/>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184" name="Google Shape;184;p24"/>
          <p:cNvSpPr txBox="1"/>
          <p:nvPr/>
        </p:nvSpPr>
        <p:spPr>
          <a:xfrm>
            <a:off x="1091213" y="3262470"/>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Lato"/>
                <a:ea typeface="Lato"/>
                <a:cs typeface="Lato"/>
                <a:sym typeface="Lato"/>
              </a:rPr>
              <a:t>Creating </a:t>
            </a:r>
            <a:r>
              <a:rPr lang="en" b="1">
                <a:solidFill>
                  <a:schemeClr val="dk1"/>
                </a:solidFill>
                <a:latin typeface="Lato"/>
                <a:ea typeface="Lato"/>
                <a:cs typeface="Lato"/>
                <a:sym typeface="Lato"/>
              </a:rPr>
              <a:t>Anonymous </a:t>
            </a:r>
            <a:r>
              <a:rPr lang="en">
                <a:solidFill>
                  <a:schemeClr val="dk1"/>
                </a:solidFill>
                <a:latin typeface="Lato"/>
                <a:ea typeface="Lato"/>
                <a:cs typeface="Lato"/>
                <a:sym typeface="Lato"/>
              </a:rPr>
              <a:t>Types:</a:t>
            </a:r>
            <a:endParaRPr>
              <a:solidFill>
                <a:schemeClr val="dk1"/>
              </a:solidFill>
              <a:latin typeface="Lato"/>
              <a:ea typeface="Lato"/>
              <a:cs typeface="Lato"/>
              <a:sym typeface="Lato"/>
            </a:endParaRPr>
          </a:p>
        </p:txBody>
      </p:sp>
      <p:pic>
        <p:nvPicPr>
          <p:cNvPr id="185" name="Google Shape;185;p24"/>
          <p:cNvPicPr preferRelativeResize="0"/>
          <p:nvPr/>
        </p:nvPicPr>
        <p:blipFill rotWithShape="1">
          <a:blip r:embed="rId5">
            <a:alphaModFix/>
          </a:blip>
          <a:srcRect/>
          <a:stretch/>
        </p:blipFill>
        <p:spPr>
          <a:xfrm>
            <a:off x="981430" y="3462659"/>
            <a:ext cx="61722" cy="109728"/>
          </a:xfrm>
          <a:prstGeom prst="rect">
            <a:avLst/>
          </a:prstGeom>
          <a:noFill/>
          <a:ln>
            <a:noFill/>
          </a:ln>
        </p:spPr>
      </p:pic>
      <p:pic>
        <p:nvPicPr>
          <p:cNvPr id="186" name="Google Shape;186;p24"/>
          <p:cNvPicPr preferRelativeResize="0"/>
          <p:nvPr/>
        </p:nvPicPr>
        <p:blipFill>
          <a:blip r:embed="rId6">
            <a:alphaModFix/>
          </a:blip>
          <a:stretch>
            <a:fillRect/>
          </a:stretch>
        </p:blipFill>
        <p:spPr>
          <a:xfrm>
            <a:off x="1091225" y="1204638"/>
            <a:ext cx="6410325" cy="733425"/>
          </a:xfrm>
          <a:prstGeom prst="rect">
            <a:avLst/>
          </a:prstGeom>
          <a:noFill/>
          <a:ln>
            <a:noFill/>
          </a:ln>
        </p:spPr>
      </p:pic>
      <p:pic>
        <p:nvPicPr>
          <p:cNvPr id="187" name="Google Shape;187;p24"/>
          <p:cNvPicPr preferRelativeResize="0"/>
          <p:nvPr/>
        </p:nvPicPr>
        <p:blipFill rotWithShape="1">
          <a:blip r:embed="rId7">
            <a:alphaModFix/>
          </a:blip>
          <a:srcRect r="16915"/>
          <a:stretch/>
        </p:blipFill>
        <p:spPr>
          <a:xfrm>
            <a:off x="1207200" y="2686650"/>
            <a:ext cx="6410326" cy="552450"/>
          </a:xfrm>
          <a:prstGeom prst="rect">
            <a:avLst/>
          </a:prstGeom>
          <a:noFill/>
          <a:ln>
            <a:noFill/>
          </a:ln>
        </p:spPr>
      </p:pic>
      <p:pic>
        <p:nvPicPr>
          <p:cNvPr id="188" name="Google Shape;188;p24"/>
          <p:cNvPicPr preferRelativeResize="0"/>
          <p:nvPr/>
        </p:nvPicPr>
        <p:blipFill>
          <a:blip r:embed="rId8">
            <a:alphaModFix/>
          </a:blip>
          <a:stretch>
            <a:fillRect/>
          </a:stretch>
        </p:blipFill>
        <p:spPr>
          <a:xfrm>
            <a:off x="1207200" y="3639863"/>
            <a:ext cx="7010400" cy="65722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5"/>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94" name="Google Shape;194;p25"/>
          <p:cNvSpPr txBox="1"/>
          <p:nvPr/>
        </p:nvSpPr>
        <p:spPr>
          <a:xfrm>
            <a:off x="2986500" y="46325"/>
            <a:ext cx="4062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Aggregations Functions</a:t>
            </a:r>
            <a:endParaRPr sz="2000" b="1" i="0" u="none" strike="noStrike" cap="none">
              <a:solidFill>
                <a:srgbClr val="FFFFFF"/>
              </a:solidFill>
              <a:latin typeface="Lato"/>
              <a:ea typeface="Lato"/>
              <a:cs typeface="Lato"/>
              <a:sym typeface="Lato"/>
            </a:endParaRPr>
          </a:p>
        </p:txBody>
      </p:sp>
      <p:pic>
        <p:nvPicPr>
          <p:cNvPr id="195" name="Google Shape;195;p2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6" name="Google Shape;196;p2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97" name="Google Shape;197;p25"/>
          <p:cNvSpPr txBox="1"/>
          <p:nvPr/>
        </p:nvSpPr>
        <p:spPr>
          <a:xfrm>
            <a:off x="1091200" y="8685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a:solidFill>
                  <a:schemeClr val="dk1"/>
                </a:solidFill>
                <a:latin typeface="Lato"/>
                <a:ea typeface="Lato"/>
                <a:cs typeface="Lato"/>
                <a:sym typeface="Lato"/>
              </a:rPr>
              <a:t>Using aggregation methods like </a:t>
            </a:r>
            <a:r>
              <a:rPr lang="en" i="1">
                <a:solidFill>
                  <a:srgbClr val="333333"/>
                </a:solidFill>
                <a:latin typeface="Lato"/>
                <a:ea typeface="Lato"/>
                <a:cs typeface="Lato"/>
                <a:sym typeface="Lato"/>
              </a:rPr>
              <a:t>Count, Sum, Average, Min, Max</a:t>
            </a:r>
            <a:endParaRPr i="1">
              <a:solidFill>
                <a:srgbClr val="333333"/>
              </a:solidFill>
              <a:latin typeface="Lato"/>
              <a:ea typeface="Lato"/>
              <a:cs typeface="Lato"/>
              <a:sym typeface="Lato"/>
            </a:endParaRPr>
          </a:p>
        </p:txBody>
      </p:sp>
      <p:pic>
        <p:nvPicPr>
          <p:cNvPr id="198" name="Google Shape;198;p25"/>
          <p:cNvPicPr preferRelativeResize="0"/>
          <p:nvPr/>
        </p:nvPicPr>
        <p:blipFill rotWithShape="1">
          <a:blip r:embed="rId5">
            <a:alphaModFix/>
          </a:blip>
          <a:srcRect/>
          <a:stretch/>
        </p:blipFill>
        <p:spPr>
          <a:xfrm>
            <a:off x="981417" y="992550"/>
            <a:ext cx="61722" cy="109728"/>
          </a:xfrm>
          <a:prstGeom prst="rect">
            <a:avLst/>
          </a:prstGeom>
          <a:noFill/>
          <a:ln>
            <a:noFill/>
          </a:ln>
        </p:spPr>
      </p:pic>
      <p:sp>
        <p:nvSpPr>
          <p:cNvPr id="199" name="Google Shape;199;p25"/>
          <p:cNvSpPr txBox="1"/>
          <p:nvPr/>
        </p:nvSpPr>
        <p:spPr>
          <a:xfrm>
            <a:off x="1091213" y="17747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Lato"/>
                <a:ea typeface="Lato"/>
                <a:cs typeface="Lato"/>
                <a:sym typeface="Lato"/>
              </a:rPr>
              <a:t>Grouping data with </a:t>
            </a:r>
            <a:r>
              <a:rPr lang="en" i="1">
                <a:solidFill>
                  <a:srgbClr val="222222"/>
                </a:solidFill>
                <a:latin typeface="Lato"/>
                <a:ea typeface="Lato"/>
                <a:cs typeface="Lato"/>
                <a:sym typeface="Lato"/>
              </a:rPr>
              <a:t>GroupBy</a:t>
            </a:r>
            <a:endParaRPr i="1">
              <a:solidFill>
                <a:srgbClr val="222222"/>
              </a:solidFill>
              <a:latin typeface="Lato"/>
              <a:ea typeface="Lato"/>
              <a:cs typeface="Lato"/>
              <a:sym typeface="Lato"/>
            </a:endParaRPr>
          </a:p>
        </p:txBody>
      </p:sp>
      <p:pic>
        <p:nvPicPr>
          <p:cNvPr id="200" name="Google Shape;200;p25"/>
          <p:cNvPicPr preferRelativeResize="0"/>
          <p:nvPr/>
        </p:nvPicPr>
        <p:blipFill rotWithShape="1">
          <a:blip r:embed="rId5">
            <a:alphaModFix/>
          </a:blip>
          <a:srcRect/>
          <a:stretch/>
        </p:blipFill>
        <p:spPr>
          <a:xfrm>
            <a:off x="981430" y="1898697"/>
            <a:ext cx="61722" cy="109728"/>
          </a:xfrm>
          <a:prstGeom prst="rect">
            <a:avLst/>
          </a:prstGeom>
          <a:noFill/>
          <a:ln>
            <a:noFill/>
          </a:ln>
        </p:spPr>
      </p:pic>
      <p:sp>
        <p:nvSpPr>
          <p:cNvPr id="201" name="Google Shape;201;p25"/>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202" name="Google Shape;202;p25"/>
          <p:cNvSpPr txBox="1"/>
          <p:nvPr/>
        </p:nvSpPr>
        <p:spPr>
          <a:xfrm>
            <a:off x="1091213" y="2674020"/>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Lato"/>
                <a:ea typeface="Lato"/>
                <a:cs typeface="Lato"/>
                <a:sym typeface="Lato"/>
              </a:rPr>
              <a:t>Selecting aggregated results in projections</a:t>
            </a:r>
            <a:endParaRPr>
              <a:solidFill>
                <a:schemeClr val="dk1"/>
              </a:solidFill>
              <a:latin typeface="Lato"/>
              <a:ea typeface="Lato"/>
              <a:cs typeface="Lato"/>
              <a:sym typeface="Lato"/>
            </a:endParaRPr>
          </a:p>
        </p:txBody>
      </p:sp>
      <p:pic>
        <p:nvPicPr>
          <p:cNvPr id="203" name="Google Shape;203;p25"/>
          <p:cNvPicPr preferRelativeResize="0"/>
          <p:nvPr/>
        </p:nvPicPr>
        <p:blipFill rotWithShape="1">
          <a:blip r:embed="rId5">
            <a:alphaModFix/>
          </a:blip>
          <a:srcRect/>
          <a:stretch/>
        </p:blipFill>
        <p:spPr>
          <a:xfrm>
            <a:off x="981430" y="2798009"/>
            <a:ext cx="61722" cy="109728"/>
          </a:xfrm>
          <a:prstGeom prst="rect">
            <a:avLst/>
          </a:prstGeom>
          <a:noFill/>
          <a:ln>
            <a:noFill/>
          </a:ln>
        </p:spPr>
      </p:pic>
      <p:pic>
        <p:nvPicPr>
          <p:cNvPr id="204" name="Google Shape;204;p25"/>
          <p:cNvPicPr preferRelativeResize="0"/>
          <p:nvPr/>
        </p:nvPicPr>
        <p:blipFill rotWithShape="1">
          <a:blip r:embed="rId6">
            <a:alphaModFix/>
          </a:blip>
          <a:srcRect b="25969"/>
          <a:stretch/>
        </p:blipFill>
        <p:spPr>
          <a:xfrm>
            <a:off x="1185025" y="1170225"/>
            <a:ext cx="3314700" cy="673300"/>
          </a:xfrm>
          <a:prstGeom prst="rect">
            <a:avLst/>
          </a:prstGeom>
          <a:noFill/>
          <a:ln>
            <a:noFill/>
          </a:ln>
        </p:spPr>
      </p:pic>
      <p:pic>
        <p:nvPicPr>
          <p:cNvPr id="205" name="Google Shape;205;p25"/>
          <p:cNvPicPr preferRelativeResize="0"/>
          <p:nvPr/>
        </p:nvPicPr>
        <p:blipFill>
          <a:blip r:embed="rId7">
            <a:alphaModFix/>
          </a:blip>
          <a:stretch>
            <a:fillRect/>
          </a:stretch>
        </p:blipFill>
        <p:spPr>
          <a:xfrm>
            <a:off x="1194300" y="2161620"/>
            <a:ext cx="5726346" cy="554163"/>
          </a:xfrm>
          <a:prstGeom prst="rect">
            <a:avLst/>
          </a:prstGeom>
          <a:noFill/>
          <a:ln>
            <a:noFill/>
          </a:ln>
        </p:spPr>
      </p:pic>
      <p:pic>
        <p:nvPicPr>
          <p:cNvPr id="206" name="Google Shape;206;p25"/>
          <p:cNvPicPr preferRelativeResize="0"/>
          <p:nvPr/>
        </p:nvPicPr>
        <p:blipFill>
          <a:blip r:embed="rId8">
            <a:alphaModFix/>
          </a:blip>
          <a:stretch>
            <a:fillRect/>
          </a:stretch>
        </p:blipFill>
        <p:spPr>
          <a:xfrm>
            <a:off x="1194300" y="3033875"/>
            <a:ext cx="6326925" cy="158992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12" name="Google Shape;212;p26"/>
          <p:cNvSpPr txBox="1"/>
          <p:nvPr/>
        </p:nvSpPr>
        <p:spPr>
          <a:xfrm>
            <a:off x="2736725" y="46313"/>
            <a:ext cx="4062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Grouping Queries</a:t>
            </a:r>
            <a:endParaRPr sz="2000" b="1" i="0" u="none" strike="noStrike" cap="none">
              <a:solidFill>
                <a:srgbClr val="FFFFFF"/>
              </a:solidFill>
              <a:latin typeface="Lato"/>
              <a:ea typeface="Lato"/>
              <a:cs typeface="Lato"/>
              <a:sym typeface="Lato"/>
            </a:endParaRPr>
          </a:p>
        </p:txBody>
      </p:sp>
      <p:pic>
        <p:nvPicPr>
          <p:cNvPr id="213" name="Google Shape;213;p2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4" name="Google Shape;214;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15" name="Google Shape;215;p26"/>
          <p:cNvSpPr txBox="1"/>
          <p:nvPr/>
        </p:nvSpPr>
        <p:spPr>
          <a:xfrm>
            <a:off x="1091200" y="6399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a:solidFill>
                  <a:schemeClr val="dk1"/>
                </a:solidFill>
                <a:latin typeface="Lato"/>
                <a:ea typeface="Lato"/>
                <a:cs typeface="Lato"/>
                <a:sym typeface="Lato"/>
              </a:rPr>
              <a:t>Grouping data using </a:t>
            </a:r>
            <a:r>
              <a:rPr lang="en" i="1">
                <a:latin typeface="Lato"/>
                <a:ea typeface="Lato"/>
                <a:cs typeface="Lato"/>
                <a:sym typeface="Lato"/>
              </a:rPr>
              <a:t>GroupBy </a:t>
            </a:r>
            <a:r>
              <a:rPr lang="en">
                <a:solidFill>
                  <a:schemeClr val="dk1"/>
                </a:solidFill>
                <a:latin typeface="Lato"/>
                <a:ea typeface="Lato"/>
                <a:cs typeface="Lato"/>
                <a:sym typeface="Lato"/>
              </a:rPr>
              <a:t>and </a:t>
            </a:r>
            <a:r>
              <a:rPr lang="en" i="1">
                <a:solidFill>
                  <a:schemeClr val="dk1"/>
                </a:solidFill>
                <a:latin typeface="Lato"/>
                <a:ea typeface="Lato"/>
                <a:cs typeface="Lato"/>
                <a:sym typeface="Lato"/>
              </a:rPr>
              <a:t>ToLookup</a:t>
            </a:r>
            <a:endParaRPr i="1">
              <a:solidFill>
                <a:schemeClr val="dk1"/>
              </a:solidFill>
              <a:latin typeface="Lato"/>
              <a:ea typeface="Lato"/>
              <a:cs typeface="Lato"/>
              <a:sym typeface="Lato"/>
            </a:endParaRPr>
          </a:p>
        </p:txBody>
      </p:sp>
      <p:pic>
        <p:nvPicPr>
          <p:cNvPr id="216" name="Google Shape;216;p26"/>
          <p:cNvPicPr preferRelativeResize="0"/>
          <p:nvPr/>
        </p:nvPicPr>
        <p:blipFill rotWithShape="1">
          <a:blip r:embed="rId5">
            <a:alphaModFix/>
          </a:blip>
          <a:srcRect/>
          <a:stretch/>
        </p:blipFill>
        <p:spPr>
          <a:xfrm>
            <a:off x="981417" y="763950"/>
            <a:ext cx="61722" cy="109728"/>
          </a:xfrm>
          <a:prstGeom prst="rect">
            <a:avLst/>
          </a:prstGeom>
          <a:noFill/>
          <a:ln>
            <a:noFill/>
          </a:ln>
        </p:spPr>
      </p:pic>
      <p:sp>
        <p:nvSpPr>
          <p:cNvPr id="217" name="Google Shape;217;p26"/>
          <p:cNvSpPr txBox="1"/>
          <p:nvPr/>
        </p:nvSpPr>
        <p:spPr>
          <a:xfrm>
            <a:off x="1091213" y="1437520"/>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Lato"/>
                <a:ea typeface="Lato"/>
                <a:cs typeface="Lato"/>
                <a:sym typeface="Lato"/>
              </a:rPr>
              <a:t>Aggregating grouped data with custom selectors</a:t>
            </a:r>
            <a:endParaRPr>
              <a:solidFill>
                <a:schemeClr val="dk1"/>
              </a:solidFill>
              <a:latin typeface="Lato"/>
              <a:ea typeface="Lato"/>
              <a:cs typeface="Lato"/>
              <a:sym typeface="Lato"/>
            </a:endParaRPr>
          </a:p>
        </p:txBody>
      </p:sp>
      <p:pic>
        <p:nvPicPr>
          <p:cNvPr id="218" name="Google Shape;218;p26"/>
          <p:cNvPicPr preferRelativeResize="0"/>
          <p:nvPr/>
        </p:nvPicPr>
        <p:blipFill rotWithShape="1">
          <a:blip r:embed="rId5">
            <a:alphaModFix/>
          </a:blip>
          <a:srcRect/>
          <a:stretch/>
        </p:blipFill>
        <p:spPr>
          <a:xfrm>
            <a:off x="981430" y="1637709"/>
            <a:ext cx="61722" cy="109728"/>
          </a:xfrm>
          <a:prstGeom prst="rect">
            <a:avLst/>
          </a:prstGeom>
          <a:noFill/>
          <a:ln>
            <a:noFill/>
          </a:ln>
        </p:spPr>
      </p:pic>
      <p:sp>
        <p:nvSpPr>
          <p:cNvPr id="219" name="Google Shape;219;p26"/>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pic>
        <p:nvPicPr>
          <p:cNvPr id="220" name="Google Shape;220;p26"/>
          <p:cNvPicPr preferRelativeResize="0"/>
          <p:nvPr/>
        </p:nvPicPr>
        <p:blipFill rotWithShape="1">
          <a:blip r:embed="rId6">
            <a:alphaModFix/>
          </a:blip>
          <a:srcRect t="12079" r="7433" b="23670"/>
          <a:stretch/>
        </p:blipFill>
        <p:spPr>
          <a:xfrm>
            <a:off x="1084100" y="992050"/>
            <a:ext cx="5203375" cy="492600"/>
          </a:xfrm>
          <a:prstGeom prst="rect">
            <a:avLst/>
          </a:prstGeom>
          <a:noFill/>
          <a:ln>
            <a:noFill/>
          </a:ln>
        </p:spPr>
      </p:pic>
      <p:pic>
        <p:nvPicPr>
          <p:cNvPr id="221" name="Google Shape;221;p26"/>
          <p:cNvPicPr preferRelativeResize="0"/>
          <p:nvPr/>
        </p:nvPicPr>
        <p:blipFill rotWithShape="1">
          <a:blip r:embed="rId7">
            <a:alphaModFix/>
          </a:blip>
          <a:srcRect b="6147"/>
          <a:stretch/>
        </p:blipFill>
        <p:spPr>
          <a:xfrm>
            <a:off x="1318150" y="1815275"/>
            <a:ext cx="4969325" cy="1298295"/>
          </a:xfrm>
          <a:prstGeom prst="rect">
            <a:avLst/>
          </a:prstGeom>
          <a:noFill/>
          <a:ln>
            <a:noFill/>
          </a:ln>
        </p:spPr>
      </p:pic>
      <p:sp>
        <p:nvSpPr>
          <p:cNvPr id="222" name="Google Shape;222;p26"/>
          <p:cNvSpPr txBox="1"/>
          <p:nvPr/>
        </p:nvSpPr>
        <p:spPr>
          <a:xfrm>
            <a:off x="1167400" y="30783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a:solidFill>
                  <a:srgbClr val="404040"/>
                </a:solidFill>
                <a:latin typeface="Lato"/>
                <a:ea typeface="Lato"/>
                <a:cs typeface="Lato"/>
                <a:sym typeface="Lato"/>
              </a:rPr>
              <a:t>Creating Nested Queries and Subqueries in LINQ</a:t>
            </a:r>
            <a:endParaRPr sz="1600">
              <a:solidFill>
                <a:schemeClr val="dk1"/>
              </a:solidFill>
              <a:latin typeface="Lato"/>
              <a:ea typeface="Lato"/>
              <a:cs typeface="Lato"/>
              <a:sym typeface="Lato"/>
            </a:endParaRPr>
          </a:p>
        </p:txBody>
      </p:sp>
      <p:pic>
        <p:nvPicPr>
          <p:cNvPr id="223" name="Google Shape;223;p26"/>
          <p:cNvPicPr preferRelativeResize="0"/>
          <p:nvPr/>
        </p:nvPicPr>
        <p:blipFill rotWithShape="1">
          <a:blip r:embed="rId5">
            <a:alphaModFix/>
          </a:blip>
          <a:srcRect/>
          <a:stretch/>
        </p:blipFill>
        <p:spPr>
          <a:xfrm>
            <a:off x="1057617" y="3278550"/>
            <a:ext cx="61722" cy="109728"/>
          </a:xfrm>
          <a:prstGeom prst="rect">
            <a:avLst/>
          </a:prstGeom>
          <a:noFill/>
          <a:ln>
            <a:noFill/>
          </a:ln>
        </p:spPr>
      </p:pic>
      <p:pic>
        <p:nvPicPr>
          <p:cNvPr id="224" name="Google Shape;224;p26"/>
          <p:cNvPicPr preferRelativeResize="0"/>
          <p:nvPr/>
        </p:nvPicPr>
        <p:blipFill>
          <a:blip r:embed="rId8">
            <a:alphaModFix/>
          </a:blip>
          <a:stretch>
            <a:fillRect/>
          </a:stretch>
        </p:blipFill>
        <p:spPr>
          <a:xfrm>
            <a:off x="1400700" y="3402350"/>
            <a:ext cx="6483492" cy="12983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2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30" name="Google Shape;230;p27"/>
          <p:cNvSpPr txBox="1"/>
          <p:nvPr/>
        </p:nvSpPr>
        <p:spPr>
          <a:xfrm>
            <a:off x="2736725" y="46313"/>
            <a:ext cx="4062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b="1">
                <a:solidFill>
                  <a:srgbClr val="FFFFFF"/>
                </a:solidFill>
                <a:latin typeface="Lato"/>
                <a:ea typeface="Lato"/>
                <a:cs typeface="Lato"/>
                <a:sym typeface="Lato"/>
              </a:rPr>
              <a:t>Set Operations</a:t>
            </a:r>
            <a:endParaRPr sz="2000" b="1" i="0" u="none" strike="noStrike" cap="none">
              <a:solidFill>
                <a:srgbClr val="FFFFFF"/>
              </a:solidFill>
              <a:latin typeface="Lato"/>
              <a:ea typeface="Lato"/>
              <a:cs typeface="Lato"/>
              <a:sym typeface="Lato"/>
            </a:endParaRPr>
          </a:p>
        </p:txBody>
      </p:sp>
      <p:pic>
        <p:nvPicPr>
          <p:cNvPr id="231" name="Google Shape;231;p2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2" name="Google Shape;232;p2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33" name="Google Shape;233;p27"/>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234" name="Google Shape;234;p27"/>
          <p:cNvSpPr txBox="1"/>
          <p:nvPr/>
        </p:nvSpPr>
        <p:spPr>
          <a:xfrm>
            <a:off x="1091200" y="8685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b="1">
                <a:solidFill>
                  <a:schemeClr val="dk1"/>
                </a:solidFill>
                <a:latin typeface="Lato"/>
                <a:ea typeface="Lato"/>
                <a:cs typeface="Lato"/>
                <a:sym typeface="Lato"/>
              </a:rPr>
              <a:t>Distinct:</a:t>
            </a:r>
            <a:r>
              <a:rPr lang="en">
                <a:solidFill>
                  <a:schemeClr val="dk1"/>
                </a:solidFill>
                <a:latin typeface="Lato"/>
                <a:ea typeface="Lato"/>
                <a:cs typeface="Lato"/>
                <a:sym typeface="Lato"/>
              </a:rPr>
              <a:t> Removes duplicates from collections</a:t>
            </a:r>
            <a:r>
              <a:rPr lang="en" b="1">
                <a:solidFill>
                  <a:schemeClr val="dk1"/>
                </a:solidFill>
                <a:latin typeface="Lato"/>
                <a:ea typeface="Lato"/>
                <a:cs typeface="Lato"/>
                <a:sym typeface="Lato"/>
              </a:rPr>
              <a:t>:</a:t>
            </a:r>
            <a:endParaRPr>
              <a:solidFill>
                <a:schemeClr val="dk1"/>
              </a:solidFill>
              <a:latin typeface="Lato"/>
              <a:ea typeface="Lato"/>
              <a:cs typeface="Lato"/>
              <a:sym typeface="Lato"/>
            </a:endParaRPr>
          </a:p>
        </p:txBody>
      </p:sp>
      <p:pic>
        <p:nvPicPr>
          <p:cNvPr id="235" name="Google Shape;235;p27"/>
          <p:cNvPicPr preferRelativeResize="0"/>
          <p:nvPr/>
        </p:nvPicPr>
        <p:blipFill rotWithShape="1">
          <a:blip r:embed="rId5">
            <a:alphaModFix/>
          </a:blip>
          <a:srcRect/>
          <a:stretch/>
        </p:blipFill>
        <p:spPr>
          <a:xfrm>
            <a:off x="981417" y="992550"/>
            <a:ext cx="61722" cy="109728"/>
          </a:xfrm>
          <a:prstGeom prst="rect">
            <a:avLst/>
          </a:prstGeom>
          <a:noFill/>
          <a:ln>
            <a:noFill/>
          </a:ln>
        </p:spPr>
      </p:pic>
      <p:sp>
        <p:nvSpPr>
          <p:cNvPr id="236" name="Google Shape;236;p27"/>
          <p:cNvSpPr txBox="1"/>
          <p:nvPr/>
        </p:nvSpPr>
        <p:spPr>
          <a:xfrm>
            <a:off x="1091213" y="19271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b="1">
                <a:solidFill>
                  <a:schemeClr val="dk1"/>
                </a:solidFill>
                <a:latin typeface="Lato"/>
                <a:ea typeface="Lato"/>
                <a:cs typeface="Lato"/>
                <a:sym typeface="Lato"/>
              </a:rPr>
              <a:t>Union:</a:t>
            </a:r>
            <a:r>
              <a:rPr lang="en">
                <a:solidFill>
                  <a:schemeClr val="dk1"/>
                </a:solidFill>
                <a:latin typeface="Lato"/>
                <a:ea typeface="Lato"/>
                <a:cs typeface="Lato"/>
                <a:sym typeface="Lato"/>
              </a:rPr>
              <a:t> Combines two sequences, removing duplicates</a:t>
            </a:r>
            <a:r>
              <a:rPr lang="en" b="1">
                <a:solidFill>
                  <a:schemeClr val="dk1"/>
                </a:solidFill>
                <a:latin typeface="Lato"/>
                <a:ea typeface="Lato"/>
                <a:cs typeface="Lato"/>
                <a:sym typeface="Lato"/>
              </a:rPr>
              <a:t>:</a:t>
            </a:r>
            <a:endParaRPr b="1">
              <a:solidFill>
                <a:schemeClr val="dk1"/>
              </a:solidFill>
              <a:latin typeface="Lato"/>
              <a:ea typeface="Lato"/>
              <a:cs typeface="Lato"/>
              <a:sym typeface="Lato"/>
            </a:endParaRPr>
          </a:p>
        </p:txBody>
      </p:sp>
      <p:pic>
        <p:nvPicPr>
          <p:cNvPr id="237" name="Google Shape;237;p27"/>
          <p:cNvPicPr preferRelativeResize="0"/>
          <p:nvPr/>
        </p:nvPicPr>
        <p:blipFill rotWithShape="1">
          <a:blip r:embed="rId5">
            <a:alphaModFix/>
          </a:blip>
          <a:srcRect/>
          <a:stretch/>
        </p:blipFill>
        <p:spPr>
          <a:xfrm>
            <a:off x="981430" y="2051097"/>
            <a:ext cx="61722" cy="109728"/>
          </a:xfrm>
          <a:prstGeom prst="rect">
            <a:avLst/>
          </a:prstGeom>
          <a:noFill/>
          <a:ln>
            <a:noFill/>
          </a:ln>
        </p:spPr>
      </p:pic>
      <p:sp>
        <p:nvSpPr>
          <p:cNvPr id="238" name="Google Shape;238;p27"/>
          <p:cNvSpPr txBox="1"/>
          <p:nvPr/>
        </p:nvSpPr>
        <p:spPr>
          <a:xfrm>
            <a:off x="1091213" y="26891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b="1">
                <a:solidFill>
                  <a:schemeClr val="dk1"/>
                </a:solidFill>
                <a:latin typeface="Lato"/>
                <a:ea typeface="Lato"/>
                <a:cs typeface="Lato"/>
                <a:sym typeface="Lato"/>
              </a:rPr>
              <a:t>Intersect:</a:t>
            </a:r>
            <a:r>
              <a:rPr lang="en">
                <a:solidFill>
                  <a:schemeClr val="dk1"/>
                </a:solidFill>
                <a:latin typeface="Lato"/>
                <a:ea typeface="Lato"/>
                <a:cs typeface="Lato"/>
                <a:sym typeface="Lato"/>
              </a:rPr>
              <a:t> Finds Common elements between two sequences</a:t>
            </a:r>
            <a:r>
              <a:rPr lang="en" b="1">
                <a:solidFill>
                  <a:schemeClr val="dk1"/>
                </a:solidFill>
                <a:latin typeface="Lato"/>
                <a:ea typeface="Lato"/>
                <a:cs typeface="Lato"/>
                <a:sym typeface="Lato"/>
              </a:rPr>
              <a:t>:</a:t>
            </a:r>
            <a:endParaRPr b="1">
              <a:solidFill>
                <a:schemeClr val="dk1"/>
              </a:solidFill>
              <a:latin typeface="Lato"/>
              <a:ea typeface="Lato"/>
              <a:cs typeface="Lato"/>
              <a:sym typeface="Lato"/>
            </a:endParaRPr>
          </a:p>
        </p:txBody>
      </p:sp>
      <p:pic>
        <p:nvPicPr>
          <p:cNvPr id="239" name="Google Shape;239;p27"/>
          <p:cNvPicPr preferRelativeResize="0"/>
          <p:nvPr/>
        </p:nvPicPr>
        <p:blipFill rotWithShape="1">
          <a:blip r:embed="rId5">
            <a:alphaModFix/>
          </a:blip>
          <a:srcRect/>
          <a:stretch/>
        </p:blipFill>
        <p:spPr>
          <a:xfrm>
            <a:off x="981430" y="2813097"/>
            <a:ext cx="61722" cy="109728"/>
          </a:xfrm>
          <a:prstGeom prst="rect">
            <a:avLst/>
          </a:prstGeom>
          <a:noFill/>
          <a:ln>
            <a:noFill/>
          </a:ln>
        </p:spPr>
      </p:pic>
      <p:sp>
        <p:nvSpPr>
          <p:cNvPr id="240" name="Google Shape;240;p27"/>
          <p:cNvSpPr txBox="1"/>
          <p:nvPr/>
        </p:nvSpPr>
        <p:spPr>
          <a:xfrm>
            <a:off x="1091213" y="3451107"/>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b="1">
                <a:solidFill>
                  <a:schemeClr val="dk1"/>
                </a:solidFill>
                <a:latin typeface="Lato"/>
                <a:ea typeface="Lato"/>
                <a:cs typeface="Lato"/>
                <a:sym typeface="Lato"/>
              </a:rPr>
              <a:t>Except:</a:t>
            </a:r>
            <a:r>
              <a:rPr lang="en">
                <a:solidFill>
                  <a:schemeClr val="dk1"/>
                </a:solidFill>
                <a:latin typeface="Lato"/>
                <a:ea typeface="Lato"/>
                <a:cs typeface="Lato"/>
                <a:sym typeface="Lato"/>
              </a:rPr>
              <a:t> Returns elements from the first sequence not found in the second</a:t>
            </a:r>
            <a:r>
              <a:rPr lang="en" b="1">
                <a:solidFill>
                  <a:schemeClr val="dk1"/>
                </a:solidFill>
                <a:latin typeface="Lato"/>
                <a:ea typeface="Lato"/>
                <a:cs typeface="Lato"/>
                <a:sym typeface="Lato"/>
              </a:rPr>
              <a:t>:</a:t>
            </a:r>
            <a:endParaRPr b="1">
              <a:solidFill>
                <a:schemeClr val="dk1"/>
              </a:solidFill>
              <a:latin typeface="Lato"/>
              <a:ea typeface="Lato"/>
              <a:cs typeface="Lato"/>
              <a:sym typeface="Lato"/>
            </a:endParaRPr>
          </a:p>
        </p:txBody>
      </p:sp>
      <p:pic>
        <p:nvPicPr>
          <p:cNvPr id="241" name="Google Shape;241;p27"/>
          <p:cNvPicPr preferRelativeResize="0"/>
          <p:nvPr/>
        </p:nvPicPr>
        <p:blipFill rotWithShape="1">
          <a:blip r:embed="rId5">
            <a:alphaModFix/>
          </a:blip>
          <a:srcRect/>
          <a:stretch/>
        </p:blipFill>
        <p:spPr>
          <a:xfrm>
            <a:off x="981430" y="3575096"/>
            <a:ext cx="61722" cy="109728"/>
          </a:xfrm>
          <a:prstGeom prst="rect">
            <a:avLst/>
          </a:prstGeom>
          <a:noFill/>
          <a:ln>
            <a:noFill/>
          </a:ln>
        </p:spPr>
      </p:pic>
      <p:pic>
        <p:nvPicPr>
          <p:cNvPr id="242" name="Google Shape;242;p27"/>
          <p:cNvPicPr preferRelativeResize="0"/>
          <p:nvPr/>
        </p:nvPicPr>
        <p:blipFill>
          <a:blip r:embed="rId6">
            <a:alphaModFix/>
          </a:blip>
          <a:stretch>
            <a:fillRect/>
          </a:stretch>
        </p:blipFill>
        <p:spPr>
          <a:xfrm>
            <a:off x="1330475" y="1223483"/>
            <a:ext cx="6143625" cy="781050"/>
          </a:xfrm>
          <a:prstGeom prst="rect">
            <a:avLst/>
          </a:prstGeom>
          <a:noFill/>
          <a:ln>
            <a:noFill/>
          </a:ln>
        </p:spPr>
      </p:pic>
      <p:pic>
        <p:nvPicPr>
          <p:cNvPr id="243" name="Google Shape;243;p27"/>
          <p:cNvPicPr preferRelativeResize="0"/>
          <p:nvPr/>
        </p:nvPicPr>
        <p:blipFill>
          <a:blip r:embed="rId7">
            <a:alphaModFix/>
          </a:blip>
          <a:stretch>
            <a:fillRect/>
          </a:stretch>
        </p:blipFill>
        <p:spPr>
          <a:xfrm>
            <a:off x="1494750" y="2241433"/>
            <a:ext cx="5219700" cy="447675"/>
          </a:xfrm>
          <a:prstGeom prst="rect">
            <a:avLst/>
          </a:prstGeom>
          <a:noFill/>
          <a:ln>
            <a:noFill/>
          </a:ln>
        </p:spPr>
      </p:pic>
      <p:pic>
        <p:nvPicPr>
          <p:cNvPr id="244" name="Google Shape;244;p27"/>
          <p:cNvPicPr preferRelativeResize="0"/>
          <p:nvPr/>
        </p:nvPicPr>
        <p:blipFill>
          <a:blip r:embed="rId8">
            <a:alphaModFix/>
          </a:blip>
          <a:stretch>
            <a:fillRect/>
          </a:stretch>
        </p:blipFill>
        <p:spPr>
          <a:xfrm>
            <a:off x="1501913" y="3103520"/>
            <a:ext cx="5800725" cy="390525"/>
          </a:xfrm>
          <a:prstGeom prst="rect">
            <a:avLst/>
          </a:prstGeom>
          <a:noFill/>
          <a:ln>
            <a:noFill/>
          </a:ln>
        </p:spPr>
      </p:pic>
      <p:pic>
        <p:nvPicPr>
          <p:cNvPr id="245" name="Google Shape;245;p27"/>
          <p:cNvPicPr preferRelativeResize="0"/>
          <p:nvPr/>
        </p:nvPicPr>
        <p:blipFill>
          <a:blip r:embed="rId9">
            <a:alphaModFix/>
          </a:blip>
          <a:stretch>
            <a:fillRect/>
          </a:stretch>
        </p:blipFill>
        <p:spPr>
          <a:xfrm>
            <a:off x="1555200" y="3908483"/>
            <a:ext cx="5324475" cy="29527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8"/>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51" name="Google Shape;251;p28"/>
          <p:cNvSpPr txBox="1"/>
          <p:nvPr/>
        </p:nvSpPr>
        <p:spPr>
          <a:xfrm>
            <a:off x="2285750" y="46325"/>
            <a:ext cx="51762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a:solidFill>
                  <a:schemeClr val="lt1"/>
                </a:solidFill>
                <a:latin typeface="Lato"/>
                <a:ea typeface="Lato"/>
                <a:cs typeface="Lato"/>
                <a:sym typeface="Lato"/>
              </a:rPr>
              <a:t>Deferred vs Immediate Execution</a:t>
            </a:r>
            <a:endParaRPr sz="2000">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1">
              <a:solidFill>
                <a:srgbClr val="FFFFFF"/>
              </a:solidFill>
              <a:latin typeface="Lato"/>
              <a:ea typeface="Lato"/>
              <a:cs typeface="Lato"/>
              <a:sym typeface="Lato"/>
            </a:endParaRPr>
          </a:p>
        </p:txBody>
      </p:sp>
      <p:pic>
        <p:nvPicPr>
          <p:cNvPr id="252" name="Google Shape;252;p2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53" name="Google Shape;253;p2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54" name="Google Shape;254;p28"/>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255" name="Google Shape;255;p28"/>
          <p:cNvSpPr txBox="1"/>
          <p:nvPr/>
        </p:nvSpPr>
        <p:spPr>
          <a:xfrm>
            <a:off x="1091200" y="868561"/>
            <a:ext cx="69501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b="1">
                <a:solidFill>
                  <a:schemeClr val="dk1"/>
                </a:solidFill>
                <a:latin typeface="Lato"/>
                <a:ea typeface="Lato"/>
                <a:cs typeface="Lato"/>
                <a:sym typeface="Lato"/>
              </a:rPr>
              <a:t>Deferred Execution: </a:t>
            </a:r>
            <a:r>
              <a:rPr lang="en">
                <a:solidFill>
                  <a:schemeClr val="dk1"/>
                </a:solidFill>
                <a:latin typeface="Lato"/>
                <a:ea typeface="Lato"/>
                <a:cs typeface="Lato"/>
                <a:sym typeface="Lato"/>
              </a:rPr>
              <a:t>LINQ queries are not executed when they are defined. Instead, they are executed when the result is enumerated</a:t>
            </a:r>
            <a:r>
              <a:rPr lang="en" b="1">
                <a:solidFill>
                  <a:schemeClr val="dk1"/>
                </a:solidFill>
                <a:latin typeface="Lato"/>
                <a:ea typeface="Lato"/>
                <a:cs typeface="Lato"/>
                <a:sym typeface="Lato"/>
              </a:rPr>
              <a:t>.</a:t>
            </a:r>
            <a:endParaRPr>
              <a:solidFill>
                <a:schemeClr val="dk1"/>
              </a:solidFill>
              <a:latin typeface="Lato"/>
              <a:ea typeface="Lato"/>
              <a:cs typeface="Lato"/>
              <a:sym typeface="Lato"/>
            </a:endParaRPr>
          </a:p>
        </p:txBody>
      </p:sp>
      <p:pic>
        <p:nvPicPr>
          <p:cNvPr id="256" name="Google Shape;256;p28"/>
          <p:cNvPicPr preferRelativeResize="0"/>
          <p:nvPr/>
        </p:nvPicPr>
        <p:blipFill rotWithShape="1">
          <a:blip r:embed="rId5">
            <a:alphaModFix/>
          </a:blip>
          <a:srcRect/>
          <a:stretch/>
        </p:blipFill>
        <p:spPr>
          <a:xfrm>
            <a:off x="981417" y="992550"/>
            <a:ext cx="61722" cy="109728"/>
          </a:xfrm>
          <a:prstGeom prst="rect">
            <a:avLst/>
          </a:prstGeom>
          <a:noFill/>
          <a:ln>
            <a:noFill/>
          </a:ln>
        </p:spPr>
      </p:pic>
      <p:sp>
        <p:nvSpPr>
          <p:cNvPr id="257" name="Google Shape;257;p28"/>
          <p:cNvSpPr txBox="1"/>
          <p:nvPr/>
        </p:nvSpPr>
        <p:spPr>
          <a:xfrm>
            <a:off x="1091225" y="3679704"/>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300"/>
              </a:spcBef>
              <a:spcAft>
                <a:spcPts val="0"/>
              </a:spcAft>
              <a:buNone/>
            </a:pPr>
            <a:r>
              <a:rPr lang="en">
                <a:solidFill>
                  <a:schemeClr val="dk1"/>
                </a:solidFill>
                <a:latin typeface="Lato"/>
                <a:ea typeface="Lato"/>
                <a:cs typeface="Lato"/>
                <a:sym typeface="Lato"/>
              </a:rPr>
              <a:t>Queries are re-evaluated each time they are enumerated.</a:t>
            </a:r>
            <a:endParaRPr b="1">
              <a:solidFill>
                <a:schemeClr val="dk1"/>
              </a:solidFill>
              <a:latin typeface="Lato"/>
              <a:ea typeface="Lato"/>
              <a:cs typeface="Lato"/>
              <a:sym typeface="Lato"/>
            </a:endParaRPr>
          </a:p>
        </p:txBody>
      </p:sp>
      <p:pic>
        <p:nvPicPr>
          <p:cNvPr id="258" name="Google Shape;258;p28"/>
          <p:cNvPicPr preferRelativeResize="0"/>
          <p:nvPr/>
        </p:nvPicPr>
        <p:blipFill rotWithShape="1">
          <a:blip r:embed="rId5">
            <a:alphaModFix/>
          </a:blip>
          <a:srcRect/>
          <a:stretch/>
        </p:blipFill>
        <p:spPr>
          <a:xfrm>
            <a:off x="981430" y="3803697"/>
            <a:ext cx="61722" cy="109728"/>
          </a:xfrm>
          <a:prstGeom prst="rect">
            <a:avLst/>
          </a:prstGeom>
          <a:noFill/>
          <a:ln>
            <a:noFill/>
          </a:ln>
        </p:spPr>
      </p:pic>
      <p:pic>
        <p:nvPicPr>
          <p:cNvPr id="259" name="Google Shape;259;p28"/>
          <p:cNvPicPr preferRelativeResize="0"/>
          <p:nvPr/>
        </p:nvPicPr>
        <p:blipFill>
          <a:blip r:embed="rId6">
            <a:alphaModFix/>
          </a:blip>
          <a:stretch>
            <a:fillRect/>
          </a:stretch>
        </p:blipFill>
        <p:spPr>
          <a:xfrm>
            <a:off x="1494738" y="1476375"/>
            <a:ext cx="4600575" cy="2190750"/>
          </a:xfrm>
          <a:prstGeom prst="rect">
            <a:avLst/>
          </a:prstGeom>
          <a:noFill/>
          <a:ln>
            <a:noFill/>
          </a:ln>
        </p:spPr>
      </p:pic>
      <p:sp>
        <p:nvSpPr>
          <p:cNvPr id="260" name="Google Shape;260;p28"/>
          <p:cNvSpPr txBox="1"/>
          <p:nvPr/>
        </p:nvSpPr>
        <p:spPr>
          <a:xfrm>
            <a:off x="1091213" y="40607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Clr>
                <a:schemeClr val="dk1"/>
              </a:buClr>
              <a:buSzPts val="1100"/>
              <a:buFont typeface="Arial"/>
              <a:buNone/>
            </a:pPr>
            <a:r>
              <a:rPr lang="en">
                <a:solidFill>
                  <a:schemeClr val="dk1"/>
                </a:solidFill>
                <a:latin typeface="Lato"/>
                <a:ea typeface="Lato"/>
                <a:cs typeface="Lato"/>
                <a:sym typeface="Lato"/>
              </a:rPr>
              <a:t>Useful for working with large datasets or when the data might change before execution.</a:t>
            </a:r>
            <a:endParaRPr b="1">
              <a:solidFill>
                <a:schemeClr val="dk1"/>
              </a:solidFill>
              <a:latin typeface="Lato"/>
              <a:ea typeface="Lato"/>
              <a:cs typeface="Lato"/>
              <a:sym typeface="Lato"/>
            </a:endParaRPr>
          </a:p>
        </p:txBody>
      </p:sp>
      <p:pic>
        <p:nvPicPr>
          <p:cNvPr id="261" name="Google Shape;261;p28"/>
          <p:cNvPicPr preferRelativeResize="0"/>
          <p:nvPr/>
        </p:nvPicPr>
        <p:blipFill rotWithShape="1">
          <a:blip r:embed="rId5">
            <a:alphaModFix/>
          </a:blip>
          <a:srcRect/>
          <a:stretch/>
        </p:blipFill>
        <p:spPr>
          <a:xfrm>
            <a:off x="981430" y="4184697"/>
            <a:ext cx="61722" cy="10972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29"/>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67" name="Google Shape;267;p29"/>
          <p:cNvSpPr txBox="1"/>
          <p:nvPr/>
        </p:nvSpPr>
        <p:spPr>
          <a:xfrm>
            <a:off x="2285750" y="46325"/>
            <a:ext cx="51762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a:solidFill>
                  <a:schemeClr val="lt1"/>
                </a:solidFill>
                <a:latin typeface="Lato"/>
                <a:ea typeface="Lato"/>
                <a:cs typeface="Lato"/>
                <a:sym typeface="Lato"/>
              </a:rPr>
              <a:t>Deferred vs Immediate Execution</a:t>
            </a:r>
            <a:endParaRPr sz="2000">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1">
              <a:solidFill>
                <a:srgbClr val="FFFFFF"/>
              </a:solidFill>
              <a:latin typeface="Lato"/>
              <a:ea typeface="Lato"/>
              <a:cs typeface="Lato"/>
              <a:sym typeface="Lato"/>
            </a:endParaRPr>
          </a:p>
        </p:txBody>
      </p:sp>
      <p:pic>
        <p:nvPicPr>
          <p:cNvPr id="268" name="Google Shape;268;p2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69" name="Google Shape;269;p2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70" name="Google Shape;270;p29"/>
          <p:cNvSpPr txBox="1"/>
          <p:nvPr/>
        </p:nvSpPr>
        <p:spPr>
          <a:xfrm>
            <a:off x="3837725" y="3073275"/>
            <a:ext cx="186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solidFill>
                <a:srgbClr val="FF0000"/>
              </a:solidFill>
              <a:latin typeface="Lato"/>
              <a:ea typeface="Lato"/>
              <a:cs typeface="Lato"/>
              <a:sym typeface="Lato"/>
            </a:endParaRPr>
          </a:p>
        </p:txBody>
      </p:sp>
      <p:sp>
        <p:nvSpPr>
          <p:cNvPr id="271" name="Google Shape;271;p29"/>
          <p:cNvSpPr txBox="1"/>
          <p:nvPr/>
        </p:nvSpPr>
        <p:spPr>
          <a:xfrm>
            <a:off x="1091200" y="792361"/>
            <a:ext cx="69501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b="1">
                <a:solidFill>
                  <a:schemeClr val="dk1"/>
                </a:solidFill>
                <a:latin typeface="Lato"/>
                <a:ea typeface="Lato"/>
                <a:cs typeface="Lato"/>
                <a:sym typeface="Lato"/>
              </a:rPr>
              <a:t>Immediate Execution: </a:t>
            </a:r>
            <a:r>
              <a:rPr lang="en">
                <a:solidFill>
                  <a:schemeClr val="dk1"/>
                </a:solidFill>
                <a:latin typeface="Lato"/>
                <a:ea typeface="Lato"/>
                <a:cs typeface="Lato"/>
                <a:sym typeface="Lato"/>
              </a:rPr>
              <a:t>Forces the query to execute immediately and return the result as a collection (e.g., ToList, ToArray, ToDictionary)</a:t>
            </a:r>
            <a:endParaRPr>
              <a:solidFill>
                <a:schemeClr val="dk1"/>
              </a:solidFill>
              <a:latin typeface="Lato"/>
              <a:ea typeface="Lato"/>
              <a:cs typeface="Lato"/>
              <a:sym typeface="Lato"/>
            </a:endParaRPr>
          </a:p>
        </p:txBody>
      </p:sp>
      <p:pic>
        <p:nvPicPr>
          <p:cNvPr id="272" name="Google Shape;272;p29"/>
          <p:cNvPicPr preferRelativeResize="0"/>
          <p:nvPr/>
        </p:nvPicPr>
        <p:blipFill rotWithShape="1">
          <a:blip r:embed="rId5">
            <a:alphaModFix/>
          </a:blip>
          <a:srcRect/>
          <a:stretch/>
        </p:blipFill>
        <p:spPr>
          <a:xfrm>
            <a:off x="981417" y="916350"/>
            <a:ext cx="61722" cy="109728"/>
          </a:xfrm>
          <a:prstGeom prst="rect">
            <a:avLst/>
          </a:prstGeom>
          <a:noFill/>
          <a:ln>
            <a:noFill/>
          </a:ln>
        </p:spPr>
      </p:pic>
      <p:sp>
        <p:nvSpPr>
          <p:cNvPr id="273" name="Google Shape;273;p29"/>
          <p:cNvSpPr txBox="1"/>
          <p:nvPr/>
        </p:nvSpPr>
        <p:spPr>
          <a:xfrm>
            <a:off x="1091225" y="3679704"/>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300"/>
              </a:spcBef>
              <a:spcAft>
                <a:spcPts val="0"/>
              </a:spcAft>
              <a:buNone/>
            </a:pPr>
            <a:r>
              <a:rPr lang="en">
                <a:solidFill>
                  <a:schemeClr val="dk1"/>
                </a:solidFill>
                <a:latin typeface="Lato"/>
                <a:ea typeface="Lato"/>
                <a:cs typeface="Lato"/>
                <a:sym typeface="Lato"/>
              </a:rPr>
              <a:t>Give results immediately and don’t want the query to be re-evaluated.</a:t>
            </a:r>
            <a:endParaRPr b="1">
              <a:solidFill>
                <a:schemeClr val="dk1"/>
              </a:solidFill>
              <a:latin typeface="Lato"/>
              <a:ea typeface="Lato"/>
              <a:cs typeface="Lato"/>
              <a:sym typeface="Lato"/>
            </a:endParaRPr>
          </a:p>
        </p:txBody>
      </p:sp>
      <p:pic>
        <p:nvPicPr>
          <p:cNvPr id="274" name="Google Shape;274;p29"/>
          <p:cNvPicPr preferRelativeResize="0"/>
          <p:nvPr/>
        </p:nvPicPr>
        <p:blipFill rotWithShape="1">
          <a:blip r:embed="rId5">
            <a:alphaModFix/>
          </a:blip>
          <a:srcRect/>
          <a:stretch/>
        </p:blipFill>
        <p:spPr>
          <a:xfrm>
            <a:off x="981430" y="3803697"/>
            <a:ext cx="61722" cy="109728"/>
          </a:xfrm>
          <a:prstGeom prst="rect">
            <a:avLst/>
          </a:prstGeom>
          <a:noFill/>
          <a:ln>
            <a:noFill/>
          </a:ln>
        </p:spPr>
      </p:pic>
      <p:sp>
        <p:nvSpPr>
          <p:cNvPr id="275" name="Google Shape;275;p29"/>
          <p:cNvSpPr txBox="1"/>
          <p:nvPr/>
        </p:nvSpPr>
        <p:spPr>
          <a:xfrm>
            <a:off x="1091213" y="40607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n">
                <a:solidFill>
                  <a:schemeClr val="dk1"/>
                </a:solidFill>
                <a:latin typeface="Lato"/>
                <a:ea typeface="Lato"/>
                <a:cs typeface="Lato"/>
                <a:sym typeface="Lato"/>
              </a:rPr>
              <a:t>Useful for caching or small datasets.</a:t>
            </a:r>
            <a:endParaRPr b="1">
              <a:solidFill>
                <a:schemeClr val="dk1"/>
              </a:solidFill>
              <a:latin typeface="Lato"/>
              <a:ea typeface="Lato"/>
              <a:cs typeface="Lato"/>
              <a:sym typeface="Lato"/>
            </a:endParaRPr>
          </a:p>
        </p:txBody>
      </p:sp>
      <p:pic>
        <p:nvPicPr>
          <p:cNvPr id="276" name="Google Shape;276;p29"/>
          <p:cNvPicPr preferRelativeResize="0"/>
          <p:nvPr/>
        </p:nvPicPr>
        <p:blipFill rotWithShape="1">
          <a:blip r:embed="rId5">
            <a:alphaModFix/>
          </a:blip>
          <a:srcRect/>
          <a:stretch/>
        </p:blipFill>
        <p:spPr>
          <a:xfrm>
            <a:off x="981430" y="4184697"/>
            <a:ext cx="61722" cy="109728"/>
          </a:xfrm>
          <a:prstGeom prst="rect">
            <a:avLst/>
          </a:prstGeom>
          <a:noFill/>
          <a:ln>
            <a:noFill/>
          </a:ln>
        </p:spPr>
      </p:pic>
      <p:pic>
        <p:nvPicPr>
          <p:cNvPr id="277" name="Google Shape;277;p29"/>
          <p:cNvPicPr preferRelativeResize="0"/>
          <p:nvPr/>
        </p:nvPicPr>
        <p:blipFill>
          <a:blip r:embed="rId6">
            <a:alphaModFix/>
          </a:blip>
          <a:stretch>
            <a:fillRect/>
          </a:stretch>
        </p:blipFill>
        <p:spPr>
          <a:xfrm>
            <a:off x="1494750" y="1422450"/>
            <a:ext cx="5505450" cy="23812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30"/>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83" name="Google Shape;283;p30"/>
          <p:cNvSpPr txBox="1"/>
          <p:nvPr/>
        </p:nvSpPr>
        <p:spPr>
          <a:xfrm>
            <a:off x="3581150" y="46325"/>
            <a:ext cx="2609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Linq </a:t>
            </a:r>
            <a:r>
              <a:rPr lang="en" sz="2000" b="1" i="0" u="none" strike="noStrike" cap="none">
                <a:solidFill>
                  <a:srgbClr val="FFFFFF"/>
                </a:solidFill>
                <a:latin typeface="Lato"/>
                <a:ea typeface="Lato"/>
                <a:cs typeface="Lato"/>
                <a:sym typeface="Lato"/>
              </a:rPr>
              <a:t>- </a:t>
            </a:r>
            <a:r>
              <a:rPr lang="en" sz="2000">
                <a:solidFill>
                  <a:schemeClr val="lt1"/>
                </a:solidFill>
                <a:latin typeface="Lato"/>
                <a:ea typeface="Lato"/>
                <a:cs typeface="Lato"/>
                <a:sym typeface="Lato"/>
              </a:rPr>
              <a:t>Resources</a:t>
            </a:r>
            <a:endParaRPr sz="2000">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1">
              <a:solidFill>
                <a:srgbClr val="FFFFFF"/>
              </a:solidFill>
              <a:latin typeface="Lato"/>
              <a:ea typeface="Lato"/>
              <a:cs typeface="Lato"/>
              <a:sym typeface="Lato"/>
            </a:endParaRPr>
          </a:p>
        </p:txBody>
      </p:sp>
      <p:pic>
        <p:nvPicPr>
          <p:cNvPr id="284" name="Google Shape;284;p3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85" name="Google Shape;285;p3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86" name="Google Shape;286;p30"/>
          <p:cNvSpPr txBox="1"/>
          <p:nvPr/>
        </p:nvSpPr>
        <p:spPr>
          <a:xfrm>
            <a:off x="1091200" y="1173361"/>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u="sng">
                <a:solidFill>
                  <a:schemeClr val="hlink"/>
                </a:solidFill>
                <a:latin typeface="Lato"/>
                <a:ea typeface="Lato"/>
                <a:cs typeface="Lato"/>
                <a:sym typeface="Lato"/>
                <a:hlinkClick r:id="rId5"/>
              </a:rPr>
              <a:t>https://learn.microsoft.com/en-us/dotnet/csharp/linq/</a:t>
            </a:r>
            <a:endParaRPr>
              <a:solidFill>
                <a:schemeClr val="dk1"/>
              </a:solidFill>
              <a:latin typeface="Lato"/>
              <a:ea typeface="Lato"/>
              <a:cs typeface="Lato"/>
              <a:sym typeface="Lato"/>
            </a:endParaRPr>
          </a:p>
        </p:txBody>
      </p:sp>
      <p:pic>
        <p:nvPicPr>
          <p:cNvPr id="287" name="Google Shape;287;p30"/>
          <p:cNvPicPr preferRelativeResize="0"/>
          <p:nvPr/>
        </p:nvPicPr>
        <p:blipFill rotWithShape="1">
          <a:blip r:embed="rId6">
            <a:alphaModFix/>
          </a:blip>
          <a:srcRect/>
          <a:stretch/>
        </p:blipFill>
        <p:spPr>
          <a:xfrm>
            <a:off x="981417" y="1297350"/>
            <a:ext cx="61722" cy="109728"/>
          </a:xfrm>
          <a:prstGeom prst="rect">
            <a:avLst/>
          </a:prstGeom>
          <a:noFill/>
          <a:ln>
            <a:noFill/>
          </a:ln>
        </p:spPr>
      </p:pic>
      <p:sp>
        <p:nvSpPr>
          <p:cNvPr id="288" name="Google Shape;288;p30"/>
          <p:cNvSpPr txBox="1"/>
          <p:nvPr/>
        </p:nvSpPr>
        <p:spPr>
          <a:xfrm>
            <a:off x="1091225" y="1546104"/>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300"/>
              </a:spcBef>
              <a:spcAft>
                <a:spcPts val="0"/>
              </a:spcAft>
              <a:buNone/>
            </a:pPr>
            <a:r>
              <a:rPr lang="en" u="sng">
                <a:solidFill>
                  <a:schemeClr val="hlink"/>
                </a:solidFill>
                <a:latin typeface="Lato"/>
                <a:ea typeface="Lato"/>
                <a:cs typeface="Lato"/>
                <a:sym typeface="Lato"/>
                <a:hlinkClick r:id="rId7"/>
              </a:rPr>
              <a:t>https://dotnettutorials.net/lesson/introduction-to-linq/</a:t>
            </a:r>
            <a:endParaRPr b="1">
              <a:solidFill>
                <a:schemeClr val="dk1"/>
              </a:solidFill>
              <a:latin typeface="Lato"/>
              <a:ea typeface="Lato"/>
              <a:cs typeface="Lato"/>
              <a:sym typeface="Lato"/>
            </a:endParaRPr>
          </a:p>
        </p:txBody>
      </p:sp>
      <p:pic>
        <p:nvPicPr>
          <p:cNvPr id="289" name="Google Shape;289;p30"/>
          <p:cNvPicPr preferRelativeResize="0"/>
          <p:nvPr/>
        </p:nvPicPr>
        <p:blipFill rotWithShape="1">
          <a:blip r:embed="rId6">
            <a:alphaModFix/>
          </a:blip>
          <a:srcRect/>
          <a:stretch/>
        </p:blipFill>
        <p:spPr>
          <a:xfrm>
            <a:off x="981430" y="1670097"/>
            <a:ext cx="61722" cy="109728"/>
          </a:xfrm>
          <a:prstGeom prst="rect">
            <a:avLst/>
          </a:prstGeom>
          <a:noFill/>
          <a:ln>
            <a:noFill/>
          </a:ln>
        </p:spPr>
      </p:pic>
      <p:sp>
        <p:nvSpPr>
          <p:cNvPr id="290" name="Google Shape;290;p30"/>
          <p:cNvSpPr txBox="1"/>
          <p:nvPr/>
        </p:nvSpPr>
        <p:spPr>
          <a:xfrm>
            <a:off x="1091213" y="1927108"/>
            <a:ext cx="69501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n" u="sng">
                <a:solidFill>
                  <a:schemeClr val="hlink"/>
                </a:solidFill>
                <a:latin typeface="Lato"/>
                <a:ea typeface="Lato"/>
                <a:cs typeface="Lato"/>
                <a:sym typeface="Lato"/>
                <a:hlinkClick r:id="rId8"/>
              </a:rPr>
              <a:t>https://www.javatpoint.com/linq</a:t>
            </a:r>
            <a:endParaRPr b="1">
              <a:solidFill>
                <a:schemeClr val="dk1"/>
              </a:solidFill>
              <a:latin typeface="Lato"/>
              <a:ea typeface="Lato"/>
              <a:cs typeface="Lato"/>
              <a:sym typeface="Lato"/>
            </a:endParaRPr>
          </a:p>
        </p:txBody>
      </p:sp>
      <p:pic>
        <p:nvPicPr>
          <p:cNvPr id="291" name="Google Shape;291;p30"/>
          <p:cNvPicPr preferRelativeResize="0"/>
          <p:nvPr/>
        </p:nvPicPr>
        <p:blipFill rotWithShape="1">
          <a:blip r:embed="rId6">
            <a:alphaModFix/>
          </a:blip>
          <a:srcRect/>
          <a:stretch/>
        </p:blipFill>
        <p:spPr>
          <a:xfrm>
            <a:off x="981430" y="2051097"/>
            <a:ext cx="61722" cy="109728"/>
          </a:xfrm>
          <a:prstGeom prst="rect">
            <a:avLst/>
          </a:prstGeom>
          <a:noFill/>
          <a:ln>
            <a:noFill/>
          </a:ln>
        </p:spPr>
      </p:pic>
      <p:sp>
        <p:nvSpPr>
          <p:cNvPr id="292" name="Google Shape;292;p30"/>
          <p:cNvSpPr txBox="1"/>
          <p:nvPr/>
        </p:nvSpPr>
        <p:spPr>
          <a:xfrm>
            <a:off x="915550" y="734057"/>
            <a:ext cx="6819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a:solidFill>
                  <a:srgbClr val="222222"/>
                </a:solidFill>
                <a:latin typeface="Lato"/>
                <a:ea typeface="Lato"/>
                <a:cs typeface="Lato"/>
                <a:sym typeface="Lato"/>
              </a:rPr>
              <a:t>Resource Link:</a:t>
            </a:r>
            <a:endParaRPr sz="1600" b="1" i="0" u="none" strike="noStrike" cap="none">
              <a:solidFill>
                <a:srgbClr val="222222"/>
              </a:solidFill>
              <a:latin typeface="Lato"/>
              <a:ea typeface="Lato"/>
              <a:cs typeface="Lato"/>
              <a:sym typeface="Lato"/>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99" name="Google Shape;99;p1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00" name="Google Shape;100;p1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01" name="Google Shape;101;p19"/>
          <p:cNvSpPr txBox="1"/>
          <p:nvPr/>
        </p:nvSpPr>
        <p:spPr>
          <a:xfrm>
            <a:off x="3082313" y="0"/>
            <a:ext cx="29760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.Net core - Introduction</a:t>
            </a:r>
            <a:endParaRPr sz="2000" b="1" i="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Lato"/>
              <a:ea typeface="Lato"/>
              <a:cs typeface="Lato"/>
              <a:sym typeface="Lato"/>
            </a:endParaRPr>
          </a:p>
        </p:txBody>
      </p:sp>
      <p:sp>
        <p:nvSpPr>
          <p:cNvPr id="102" name="Google Shape;102;p19"/>
          <p:cNvSpPr txBox="1"/>
          <p:nvPr/>
        </p:nvSpPr>
        <p:spPr>
          <a:xfrm>
            <a:off x="606152" y="1022975"/>
            <a:ext cx="80208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i="0" u="none" strike="noStrike" cap="none">
                <a:solidFill>
                  <a:schemeClr val="dk1"/>
                </a:solidFill>
                <a:latin typeface="Lato"/>
                <a:ea typeface="Lato"/>
                <a:cs typeface="Lato"/>
                <a:sym typeface="Lato"/>
              </a:rPr>
              <a:t>What is the ASP.NET Core?</a:t>
            </a:r>
            <a:endParaRPr sz="1200" b="1" i="0" u="none" strike="noStrike" cap="none">
              <a:solidFill>
                <a:schemeClr val="dk1"/>
              </a:solidFill>
              <a:highlight>
                <a:srgbClr val="FFFFFF"/>
              </a:highlight>
              <a:latin typeface="Lato"/>
              <a:ea typeface="Lato"/>
              <a:cs typeface="Lato"/>
              <a:sym typeface="Lato"/>
            </a:endParaRPr>
          </a:p>
        </p:txBody>
      </p:sp>
      <p:pic>
        <p:nvPicPr>
          <p:cNvPr id="103" name="Google Shape;103;p19"/>
          <p:cNvPicPr preferRelativeResize="0"/>
          <p:nvPr/>
        </p:nvPicPr>
        <p:blipFill rotWithShape="1">
          <a:blip r:embed="rId5">
            <a:alphaModFix/>
          </a:blip>
          <a:srcRect/>
          <a:stretch/>
        </p:blipFill>
        <p:spPr>
          <a:xfrm>
            <a:off x="496355" y="1146975"/>
            <a:ext cx="61722" cy="109728"/>
          </a:xfrm>
          <a:prstGeom prst="rect">
            <a:avLst/>
          </a:prstGeom>
          <a:noFill/>
          <a:ln>
            <a:noFill/>
          </a:ln>
        </p:spPr>
      </p:pic>
      <p:sp>
        <p:nvSpPr>
          <p:cNvPr id="104" name="Google Shape;104;p19"/>
          <p:cNvSpPr txBox="1"/>
          <p:nvPr/>
        </p:nvSpPr>
        <p:spPr>
          <a:xfrm>
            <a:off x="606150" y="1632575"/>
            <a:ext cx="80208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chemeClr val="dk1"/>
              </a:buClr>
              <a:buSzPts val="1100"/>
              <a:buFont typeface="Arial"/>
              <a:buNone/>
            </a:pPr>
            <a:r>
              <a:rPr lang="en" sz="1200" b="0" i="0" u="none" strike="noStrike" cap="none">
                <a:solidFill>
                  <a:schemeClr val="dk1"/>
                </a:solidFill>
                <a:latin typeface="Lato"/>
                <a:ea typeface="Lato"/>
                <a:cs typeface="Lato"/>
                <a:sym typeface="Lato"/>
              </a:rPr>
              <a:t>ASP.NET Core is completely rewriting that work with the .net Core framework. It is much faster, configurable, modular, scalable, extensible, and has cross-platform support.</a:t>
            </a:r>
            <a:endParaRPr sz="1200" b="0" i="0" u="none" strike="noStrike" cap="none">
              <a:solidFill>
                <a:schemeClr val="dk1"/>
              </a:solidFill>
              <a:latin typeface="Lato"/>
              <a:ea typeface="Lato"/>
              <a:cs typeface="Lato"/>
              <a:sym typeface="Lato"/>
            </a:endParaRPr>
          </a:p>
        </p:txBody>
      </p:sp>
      <p:pic>
        <p:nvPicPr>
          <p:cNvPr id="105" name="Google Shape;105;p19"/>
          <p:cNvPicPr preferRelativeResize="0"/>
          <p:nvPr/>
        </p:nvPicPr>
        <p:blipFill rotWithShape="1">
          <a:blip r:embed="rId5">
            <a:alphaModFix/>
          </a:blip>
          <a:srcRect/>
          <a:stretch/>
        </p:blipFill>
        <p:spPr>
          <a:xfrm>
            <a:off x="496355" y="1756575"/>
            <a:ext cx="61722" cy="109728"/>
          </a:xfrm>
          <a:prstGeom prst="rect">
            <a:avLst/>
          </a:prstGeom>
          <a:noFill/>
          <a:ln>
            <a:noFill/>
          </a:ln>
        </p:spPr>
      </p:pic>
      <p:sp>
        <p:nvSpPr>
          <p:cNvPr id="106" name="Google Shape;106;p19"/>
          <p:cNvSpPr txBox="1"/>
          <p:nvPr/>
        </p:nvSpPr>
        <p:spPr>
          <a:xfrm>
            <a:off x="606150" y="2699375"/>
            <a:ext cx="8020800" cy="8004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chemeClr val="dk1"/>
              </a:buClr>
              <a:buSzPts val="1100"/>
              <a:buFont typeface="Arial"/>
              <a:buNone/>
            </a:pPr>
            <a:r>
              <a:rPr lang="en" sz="1200" b="0" i="0" u="none" strike="noStrike" cap="none">
                <a:solidFill>
                  <a:schemeClr val="dk1"/>
                </a:solidFill>
                <a:latin typeface="Lato"/>
                <a:ea typeface="Lato"/>
                <a:cs typeface="Lato"/>
                <a:sym typeface="Lato"/>
              </a:rPr>
              <a:t>ASP.NET Core was primarily designed to make the most important part of the ASP.NET components under the concept learn and the compose framework where the previous ASP.NET  components were released under a variety of different licenses periodically, The ASP.NET Core framework is a completely open-source framework.</a:t>
            </a:r>
            <a:endParaRPr sz="1200" b="0" i="0" u="none" strike="noStrike" cap="none">
              <a:solidFill>
                <a:schemeClr val="dk1"/>
              </a:solidFill>
              <a:latin typeface="Lato"/>
              <a:ea typeface="Lato"/>
              <a:cs typeface="Lato"/>
              <a:sym typeface="Lato"/>
            </a:endParaRPr>
          </a:p>
        </p:txBody>
      </p:sp>
      <p:pic>
        <p:nvPicPr>
          <p:cNvPr id="107" name="Google Shape;107;p19"/>
          <p:cNvPicPr preferRelativeResize="0"/>
          <p:nvPr/>
        </p:nvPicPr>
        <p:blipFill rotWithShape="1">
          <a:blip r:embed="rId5">
            <a:alphaModFix/>
          </a:blip>
          <a:srcRect/>
          <a:stretch/>
        </p:blipFill>
        <p:spPr>
          <a:xfrm>
            <a:off x="496355" y="2823375"/>
            <a:ext cx="61722" cy="109728"/>
          </a:xfrm>
          <a:prstGeom prst="rect">
            <a:avLst/>
          </a:prstGeom>
          <a:noFill/>
          <a:ln>
            <a:noFill/>
          </a:ln>
        </p:spPr>
      </p:pic>
      <p:sp>
        <p:nvSpPr>
          <p:cNvPr id="108" name="Google Shape;108;p19"/>
          <p:cNvSpPr txBox="1"/>
          <p:nvPr/>
        </p:nvSpPr>
        <p:spPr>
          <a:xfrm>
            <a:off x="606150" y="3461375"/>
            <a:ext cx="8020800" cy="8004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chemeClr val="dk1"/>
              </a:buClr>
              <a:buSzPts val="1100"/>
              <a:buFont typeface="Arial"/>
              <a:buNone/>
            </a:pPr>
            <a:r>
              <a:rPr lang="en" sz="1200" b="0" i="0" u="none" strike="noStrike" cap="none">
                <a:solidFill>
                  <a:schemeClr val="dk1"/>
                </a:solidFill>
                <a:latin typeface="Lato"/>
                <a:ea typeface="Lato"/>
                <a:cs typeface="Lato"/>
                <a:sym typeface="Lato"/>
              </a:rPr>
              <a:t>Apart from the other parts of the framework of the .NET framework libraries, the ASP.NET Core is primarily designed from scratch to be the platform-agnostic that performs seamlessly. It will allow the ASP.NET Core apps to be deployed on the various platforms or the o/s such as the macOS or Linux-based servers or certain devices.</a:t>
            </a:r>
            <a:endParaRPr sz="1200" b="0" i="0" u="none" strike="noStrike" cap="none">
              <a:solidFill>
                <a:schemeClr val="dk1"/>
              </a:solidFill>
              <a:latin typeface="Lato"/>
              <a:ea typeface="Lato"/>
              <a:cs typeface="Lato"/>
              <a:sym typeface="Lato"/>
            </a:endParaRPr>
          </a:p>
        </p:txBody>
      </p:sp>
      <p:pic>
        <p:nvPicPr>
          <p:cNvPr id="109" name="Google Shape;109;p19"/>
          <p:cNvPicPr preferRelativeResize="0"/>
          <p:nvPr/>
        </p:nvPicPr>
        <p:blipFill rotWithShape="1">
          <a:blip r:embed="rId5">
            <a:alphaModFix/>
          </a:blip>
          <a:srcRect/>
          <a:stretch/>
        </p:blipFill>
        <p:spPr>
          <a:xfrm>
            <a:off x="496355" y="3585375"/>
            <a:ext cx="61722" cy="109728"/>
          </a:xfrm>
          <a:prstGeom prst="rect">
            <a:avLst/>
          </a:prstGeom>
          <a:noFill/>
          <a:ln>
            <a:noFill/>
          </a:ln>
        </p:spPr>
      </p:pic>
      <p:sp>
        <p:nvSpPr>
          <p:cNvPr id="110" name="Google Shape;110;p19"/>
          <p:cNvSpPr txBox="1"/>
          <p:nvPr/>
        </p:nvSpPr>
        <p:spPr>
          <a:xfrm>
            <a:off x="606150" y="1327775"/>
            <a:ext cx="8020800" cy="369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chemeClr val="dk1"/>
              </a:buClr>
              <a:buSzPts val="1100"/>
              <a:buFont typeface="Arial"/>
              <a:buNone/>
            </a:pPr>
            <a:r>
              <a:rPr lang="en" sz="1200" b="0" i="0" u="none" strike="noStrike" cap="none">
                <a:solidFill>
                  <a:schemeClr val="dk1"/>
                </a:solidFill>
                <a:latin typeface="Lato"/>
                <a:ea typeface="Lato"/>
                <a:cs typeface="Lato"/>
                <a:sym typeface="Lato"/>
              </a:rPr>
              <a:t>ASP.NET Core is not an upgraded version of ASP.NET.</a:t>
            </a:r>
            <a:endParaRPr sz="1200" b="0" i="0" u="none" strike="noStrike" cap="none">
              <a:solidFill>
                <a:schemeClr val="dk1"/>
              </a:solidFill>
              <a:latin typeface="Lato"/>
              <a:ea typeface="Lato"/>
              <a:cs typeface="Lato"/>
              <a:sym typeface="Lato"/>
            </a:endParaRPr>
          </a:p>
        </p:txBody>
      </p:sp>
      <p:pic>
        <p:nvPicPr>
          <p:cNvPr id="111" name="Google Shape;111;p19"/>
          <p:cNvPicPr preferRelativeResize="0"/>
          <p:nvPr/>
        </p:nvPicPr>
        <p:blipFill rotWithShape="1">
          <a:blip r:embed="rId5">
            <a:alphaModFix/>
          </a:blip>
          <a:srcRect/>
          <a:stretch/>
        </p:blipFill>
        <p:spPr>
          <a:xfrm>
            <a:off x="496355" y="1451775"/>
            <a:ext cx="61722" cy="109728"/>
          </a:xfrm>
          <a:prstGeom prst="rect">
            <a:avLst/>
          </a:prstGeom>
          <a:noFill/>
          <a:ln>
            <a:noFill/>
          </a:ln>
        </p:spPr>
      </p:pic>
      <p:sp>
        <p:nvSpPr>
          <p:cNvPr id="112" name="Google Shape;112;p19"/>
          <p:cNvSpPr txBox="1"/>
          <p:nvPr/>
        </p:nvSpPr>
        <p:spPr>
          <a:xfrm>
            <a:off x="606150" y="2165975"/>
            <a:ext cx="8020800" cy="6162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200"/>
              </a:spcBef>
              <a:spcAft>
                <a:spcPts val="1200"/>
              </a:spcAft>
              <a:buClr>
                <a:schemeClr val="dk1"/>
              </a:buClr>
              <a:buSzPts val="1100"/>
              <a:buFont typeface="Arial"/>
              <a:buNone/>
            </a:pPr>
            <a:r>
              <a:rPr lang="en" sz="1200" b="0" i="0" u="none" strike="noStrike" cap="none">
                <a:solidFill>
                  <a:schemeClr val="dk1"/>
                </a:solidFill>
                <a:latin typeface="Lato"/>
                <a:ea typeface="Lato"/>
                <a:cs typeface="Lato"/>
                <a:sym typeface="Lato"/>
              </a:rPr>
              <a:t>It can work with both .NET Core and .net framework via the .NET standard framework. It is best suitable for developing cloud-based such as web applications, mobile applications, and IoT applications.</a:t>
            </a:r>
            <a:endParaRPr sz="1200" b="0" i="0" u="none" strike="noStrike" cap="none">
              <a:solidFill>
                <a:schemeClr val="dk1"/>
              </a:solidFill>
              <a:latin typeface="Lato"/>
              <a:ea typeface="Lato"/>
              <a:cs typeface="Lato"/>
              <a:sym typeface="Lato"/>
            </a:endParaRPr>
          </a:p>
        </p:txBody>
      </p:sp>
      <p:pic>
        <p:nvPicPr>
          <p:cNvPr id="113" name="Google Shape;113;p19"/>
          <p:cNvPicPr preferRelativeResize="0"/>
          <p:nvPr/>
        </p:nvPicPr>
        <p:blipFill rotWithShape="1">
          <a:blip r:embed="rId5">
            <a:alphaModFix/>
          </a:blip>
          <a:srcRect/>
          <a:stretch/>
        </p:blipFill>
        <p:spPr>
          <a:xfrm>
            <a:off x="496355" y="2289975"/>
            <a:ext cx="61722" cy="109728"/>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2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19" name="Google Shape;119;p2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0" name="Google Shape;120;p2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21" name="Google Shape;121;p20"/>
          <p:cNvSpPr txBox="1"/>
          <p:nvPr/>
        </p:nvSpPr>
        <p:spPr>
          <a:xfrm>
            <a:off x="3082313" y="0"/>
            <a:ext cx="29760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.Net core - Introduction</a:t>
            </a:r>
            <a:endParaRPr sz="2000" b="1" i="0" u="none" strike="noStrike" cap="none">
              <a:solidFill>
                <a:schemeClr val="l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Lato"/>
              <a:ea typeface="Lato"/>
              <a:cs typeface="Lato"/>
              <a:sym typeface="Lato"/>
            </a:endParaRPr>
          </a:p>
        </p:txBody>
      </p:sp>
      <p:sp>
        <p:nvSpPr>
          <p:cNvPr id="122" name="Google Shape;122;p20"/>
          <p:cNvSpPr txBox="1"/>
          <p:nvPr/>
        </p:nvSpPr>
        <p:spPr>
          <a:xfrm>
            <a:off x="606152" y="794375"/>
            <a:ext cx="80208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1200"/>
              </a:spcAft>
              <a:buClr>
                <a:schemeClr val="dk1"/>
              </a:buClr>
              <a:buSzPts val="1100"/>
              <a:buFont typeface="Arial"/>
              <a:buNone/>
            </a:pPr>
            <a:r>
              <a:rPr lang="en" sz="1200" b="1" i="0" u="none" strike="noStrike" cap="none">
                <a:solidFill>
                  <a:schemeClr val="dk1"/>
                </a:solidFill>
                <a:latin typeface="Lato"/>
                <a:ea typeface="Lato"/>
                <a:cs typeface="Lato"/>
                <a:sym typeface="Lato"/>
              </a:rPr>
              <a:t>What are the differences between .NET Core and .NET Framework?</a:t>
            </a:r>
            <a:endParaRPr sz="1200" b="1" i="0" u="none" strike="noStrike" cap="none">
              <a:solidFill>
                <a:schemeClr val="dk1"/>
              </a:solidFill>
              <a:latin typeface="Lato"/>
              <a:ea typeface="Lato"/>
              <a:cs typeface="Lato"/>
              <a:sym typeface="Lato"/>
            </a:endParaRPr>
          </a:p>
        </p:txBody>
      </p:sp>
      <p:pic>
        <p:nvPicPr>
          <p:cNvPr id="123" name="Google Shape;123;p20"/>
          <p:cNvPicPr preferRelativeResize="0"/>
          <p:nvPr/>
        </p:nvPicPr>
        <p:blipFill rotWithShape="1">
          <a:blip r:embed="rId5">
            <a:alphaModFix/>
          </a:blip>
          <a:srcRect/>
          <a:stretch/>
        </p:blipFill>
        <p:spPr>
          <a:xfrm>
            <a:off x="496355" y="918374"/>
            <a:ext cx="61722" cy="109728"/>
          </a:xfrm>
          <a:prstGeom prst="rect">
            <a:avLst/>
          </a:prstGeom>
          <a:noFill/>
          <a:ln>
            <a:noFill/>
          </a:ln>
        </p:spPr>
      </p:pic>
      <p:graphicFrame>
        <p:nvGraphicFramePr>
          <p:cNvPr id="124" name="Google Shape;124;p20"/>
          <p:cNvGraphicFramePr/>
          <p:nvPr/>
        </p:nvGraphicFramePr>
        <p:xfrm>
          <a:off x="667375" y="1302338"/>
          <a:ext cx="3000000" cy="3000000"/>
        </p:xfrm>
        <a:graphic>
          <a:graphicData uri="http://schemas.openxmlformats.org/drawingml/2006/table">
            <a:tbl>
              <a:tblPr>
                <a:noFill/>
                <a:tableStyleId>{A690A844-13B3-4B96-9A58-D22885A81526}</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Lato"/>
                          <a:ea typeface="Lato"/>
                          <a:cs typeface="Lato"/>
                          <a:sym typeface="Lato"/>
                        </a:rPr>
                        <a:t>.NET Core</a:t>
                      </a:r>
                      <a:endParaRPr sz="1200" u="none" strike="noStrike" cap="none">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Lato"/>
                          <a:ea typeface="Lato"/>
                          <a:cs typeface="Lato"/>
                          <a:sym typeface="Lato"/>
                        </a:rPr>
                        <a:t>.NET Framework</a:t>
                      </a:r>
                      <a:endParaRPr sz="1200" u="none" strike="noStrike" cap="none">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Completely open-source. </a:t>
                      </a:r>
                      <a:endParaRPr sz="1200" u="none" strike="noStrike" cap="none">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Few components are open-source. </a:t>
                      </a:r>
                      <a:endParaRPr sz="1200" u="none" strike="noStrike" cap="none">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Compatible with Linux, Windows, and Mac operating systems. </a:t>
                      </a:r>
                      <a:endParaRPr sz="1200" u="none" strike="noStrike" cap="none">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Compatible with only Windows. </a:t>
                      </a:r>
                      <a:endParaRPr sz="1200" u="none" strike="noStrike" cap="none">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Does not support desktop application development. </a:t>
                      </a:r>
                      <a:endParaRPr sz="1200" u="none" strike="noStrike" cap="none">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Supports web and desktop application development. </a:t>
                      </a:r>
                      <a:endParaRPr sz="1200" u="none" strike="noStrike" cap="none">
                        <a:latin typeface="Lato"/>
                        <a:ea typeface="Lato"/>
                        <a:cs typeface="Lato"/>
                        <a:sym typeface="Lato"/>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Supports microservices development. </a:t>
                      </a:r>
                      <a:endParaRPr sz="1200" u="none" strike="noStrike" cap="none">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Supports web and desktop application development. </a:t>
                      </a:r>
                      <a:endParaRPr sz="1200" u="none" strike="noStrike" cap="none">
                        <a:latin typeface="Lato"/>
                        <a:ea typeface="Lato"/>
                        <a:cs typeface="Lato"/>
                        <a:sym typeface="Lato"/>
                      </a:endParaRPr>
                    </a:p>
                  </a:txBody>
                  <a:tcPr marL="91425" marR="91425" marT="91425" marB="91425">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Lato"/>
                          <a:ea typeface="Lato"/>
                          <a:cs typeface="Lato"/>
                          <a:sym typeface="Lato"/>
                        </a:rPr>
                        <a:t>Lightweight for Command Line Interface (CLI). </a:t>
                      </a:r>
                      <a:endParaRPr sz="1200" u="none" strike="noStrike" cap="none">
                        <a:latin typeface="Lato"/>
                        <a:ea typeface="Lato"/>
                        <a:cs typeface="Lato"/>
                        <a:sym typeface="Lato"/>
                      </a:endParaRPr>
                    </a:p>
                  </a:txBody>
                  <a:tcPr marL="91425" marR="91425" marT="91425" marB="91425">
                    <a:lnR w="9525" cap="flat" cmpd="sng">
                      <a:solidFill>
                        <a:srgbClr val="000000"/>
                      </a:solidFill>
                      <a:prstDash val="solid"/>
                      <a:round/>
                      <a:headEnd type="none" w="sm" len="sm"/>
                      <a:tailEnd type="none" w="sm" len="sm"/>
                    </a:lnR>
                  </a:tcPr>
                </a:tc>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latin typeface="Lato"/>
                          <a:ea typeface="Lato"/>
                          <a:cs typeface="Lato"/>
                          <a:sym typeface="Lato"/>
                        </a:rPr>
                        <a:t>Heavy for Command Line Interface. </a:t>
                      </a:r>
                      <a:endParaRPr sz="1200" u="none" strike="noStrike" cap="none">
                        <a:latin typeface="Lato"/>
                        <a:ea typeface="Lato"/>
                        <a:cs typeface="Lato"/>
                        <a:sym typeface="Lato"/>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highlight>
                            <a:srgbClr val="FFFFFF"/>
                          </a:highlight>
                          <a:latin typeface="Lato"/>
                          <a:ea typeface="Lato"/>
                          <a:cs typeface="Lato"/>
                          <a:sym typeface="Lato"/>
                        </a:rPr>
                        <a:t>Is flexible in installation, i.e. you can install components on a needed basis.</a:t>
                      </a:r>
                      <a:endParaRPr sz="1200" u="none" strike="noStrike" cap="none">
                        <a:latin typeface="Lato"/>
                        <a:ea typeface="Lato"/>
                        <a:cs typeface="Lato"/>
                        <a:sym typeface="Lato"/>
                      </a:endParaRPr>
                    </a:p>
                  </a:txBody>
                  <a:tcPr marL="91425" marR="91425" marT="91425" marB="91425">
                    <a:lnR w="9525" cap="flat" cmpd="sng">
                      <a:solidFill>
                        <a:srgbClr val="000000"/>
                      </a:solidFill>
                      <a:prstDash val="solid"/>
                      <a:round/>
                      <a:headEnd type="none" w="sm" len="sm"/>
                      <a:tailEnd type="none" w="sm" len="sm"/>
                    </a:lnR>
                  </a:tcPr>
                </a:tc>
                <a:tc>
                  <a:txBody>
                    <a:bodyPr/>
                    <a:lstStyle/>
                    <a:p>
                      <a:pPr marL="0" marR="0" lvl="0" indent="0" algn="l" rtl="0">
                        <a:lnSpc>
                          <a:spcPct val="115000"/>
                        </a:lnSpc>
                        <a:spcBef>
                          <a:spcPts val="0"/>
                        </a:spcBef>
                        <a:spcAft>
                          <a:spcPts val="0"/>
                        </a:spcAft>
                        <a:buClr>
                          <a:srgbClr val="000000"/>
                        </a:buClr>
                        <a:buSzPts val="1200"/>
                        <a:buFont typeface="Arial"/>
                        <a:buNone/>
                      </a:pPr>
                      <a:r>
                        <a:rPr lang="en" sz="1200" u="none" strike="noStrike" cap="none">
                          <a:highlight>
                            <a:srgbClr val="FFFFFF"/>
                          </a:highlight>
                          <a:latin typeface="Lato"/>
                          <a:ea typeface="Lato"/>
                          <a:cs typeface="Lato"/>
                          <a:sym typeface="Lato"/>
                        </a:rPr>
                        <a:t>Must be installed as a whole package</a:t>
                      </a:r>
                      <a:endParaRPr sz="1200" u="none" strike="noStrike" cap="none">
                        <a:highlight>
                          <a:srgbClr val="FFFFFF"/>
                        </a:highlight>
                        <a:latin typeface="Lato"/>
                        <a:ea typeface="Lato"/>
                        <a:cs typeface="Lato"/>
                        <a:sym typeface="Lato"/>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1"/>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30" name="Google Shape;130;p21"/>
          <p:cNvSpPr txBox="1"/>
          <p:nvPr/>
        </p:nvSpPr>
        <p:spPr>
          <a:xfrm>
            <a:off x="2675860" y="16425"/>
            <a:ext cx="37971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Project Structure </a:t>
            </a:r>
            <a:endParaRPr sz="2000" b="1" i="0" u="none" strike="noStrike" cap="none">
              <a:solidFill>
                <a:srgbClr val="FFFFFF"/>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FF"/>
              </a:solidFill>
              <a:latin typeface="Lato"/>
              <a:ea typeface="Lato"/>
              <a:cs typeface="Lato"/>
              <a:sym typeface="Lato"/>
            </a:endParaRPr>
          </a:p>
        </p:txBody>
      </p:sp>
      <p:pic>
        <p:nvPicPr>
          <p:cNvPr id="131" name="Google Shape;131;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2" name="Google Shape;132;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pic>
        <p:nvPicPr>
          <p:cNvPr id="133" name="Google Shape;133;p21"/>
          <p:cNvPicPr preferRelativeResize="0"/>
          <p:nvPr/>
        </p:nvPicPr>
        <p:blipFill rotWithShape="1">
          <a:blip r:embed="rId5">
            <a:alphaModFix/>
          </a:blip>
          <a:srcRect/>
          <a:stretch/>
        </p:blipFill>
        <p:spPr>
          <a:xfrm>
            <a:off x="6800250" y="737616"/>
            <a:ext cx="2233154" cy="3884025"/>
          </a:xfrm>
          <a:prstGeom prst="rect">
            <a:avLst/>
          </a:prstGeom>
          <a:noFill/>
          <a:ln>
            <a:noFill/>
          </a:ln>
        </p:spPr>
      </p:pic>
      <p:sp>
        <p:nvSpPr>
          <p:cNvPr id="134" name="Google Shape;134;p21"/>
          <p:cNvSpPr txBox="1"/>
          <p:nvPr/>
        </p:nvSpPr>
        <p:spPr>
          <a:xfrm>
            <a:off x="228065" y="1154525"/>
            <a:ext cx="6406500" cy="7389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sz="1200" b="0" i="0" u="none" strike="noStrike" cap="none">
                <a:solidFill>
                  <a:srgbClr val="000000"/>
                </a:solidFill>
                <a:latin typeface="Lato"/>
                <a:ea typeface="Lato"/>
                <a:cs typeface="Lato"/>
                <a:sym typeface="Lato"/>
              </a:rPr>
              <a:t>Here, we will learn about the project structure and significance of each file created by ASP.NET Core 6.0 application template using Visual Studio 2022. The following is a default project structure when you create an empty ASP.NET Core application in Visual Studio.</a:t>
            </a:r>
            <a:endParaRPr sz="1200" b="0" i="0" u="none" strike="noStrike" cap="none">
              <a:solidFill>
                <a:srgbClr val="000000"/>
              </a:solidFill>
              <a:latin typeface="Lato"/>
              <a:ea typeface="Lato"/>
              <a:cs typeface="Lato"/>
              <a:sym typeface="Lato"/>
            </a:endParaRPr>
          </a:p>
        </p:txBody>
      </p:sp>
      <p:pic>
        <p:nvPicPr>
          <p:cNvPr id="135" name="Google Shape;135;p21"/>
          <p:cNvPicPr preferRelativeResize="0"/>
          <p:nvPr/>
        </p:nvPicPr>
        <p:blipFill rotWithShape="1">
          <a:blip r:embed="rId6">
            <a:alphaModFix/>
          </a:blip>
          <a:srcRect/>
          <a:stretch/>
        </p:blipFill>
        <p:spPr>
          <a:xfrm>
            <a:off x="107011" y="1278512"/>
            <a:ext cx="61722" cy="109728"/>
          </a:xfrm>
          <a:prstGeom prst="rect">
            <a:avLst/>
          </a:prstGeom>
          <a:noFill/>
          <a:ln>
            <a:noFill/>
          </a:ln>
        </p:spPr>
      </p:pic>
      <p:sp>
        <p:nvSpPr>
          <p:cNvPr id="136" name="Google Shape;136;p21"/>
          <p:cNvSpPr txBox="1"/>
          <p:nvPr/>
        </p:nvSpPr>
        <p:spPr>
          <a:xfrm>
            <a:off x="237750" y="1864600"/>
            <a:ext cx="6385800" cy="7389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Note: </a:t>
            </a:r>
            <a:r>
              <a:rPr lang="en" sz="1200" b="0" i="0" u="none" strike="noStrike" cap="none">
                <a:solidFill>
                  <a:srgbClr val="181717"/>
                </a:solidFill>
                <a:highlight>
                  <a:srgbClr val="FFFFFF"/>
                </a:highlight>
                <a:latin typeface="Lato"/>
                <a:ea typeface="Lato"/>
                <a:cs typeface="Lato"/>
                <a:sym typeface="Lato"/>
              </a:rPr>
              <a:t>ASP.NET Core project files and folders are synchronized with physical files and folders. If you add a new file or folder in project folder then it will directly reflect in the solution explorer. You don't need to add it in the project explicitly by right clicking on the project.</a:t>
            </a:r>
            <a:endParaRPr sz="1200" b="0" i="0" u="none" strike="noStrike" cap="none">
              <a:solidFill>
                <a:srgbClr val="181717"/>
              </a:solidFill>
              <a:highlight>
                <a:srgbClr val="FFFFFF"/>
              </a:highlight>
              <a:latin typeface="Lato"/>
              <a:ea typeface="Lato"/>
              <a:cs typeface="Lato"/>
              <a:sym typeface="Lato"/>
            </a:endParaRPr>
          </a:p>
        </p:txBody>
      </p:sp>
      <p:pic>
        <p:nvPicPr>
          <p:cNvPr id="137" name="Google Shape;137;p21"/>
          <p:cNvPicPr preferRelativeResize="0"/>
          <p:nvPr/>
        </p:nvPicPr>
        <p:blipFill rotWithShape="1">
          <a:blip r:embed="rId6">
            <a:alphaModFix/>
          </a:blip>
          <a:srcRect/>
          <a:stretch/>
        </p:blipFill>
        <p:spPr>
          <a:xfrm>
            <a:off x="105782" y="2040512"/>
            <a:ext cx="61722" cy="109728"/>
          </a:xfrm>
          <a:prstGeom prst="rect">
            <a:avLst/>
          </a:prstGeom>
          <a:noFill/>
          <a:ln>
            <a:noFill/>
          </a:ln>
        </p:spPr>
      </p:pic>
      <p:sp>
        <p:nvSpPr>
          <p:cNvPr id="138" name="Google Shape;138;p21"/>
          <p:cNvSpPr txBox="1"/>
          <p:nvPr/>
        </p:nvSpPr>
        <p:spPr>
          <a:xfrm>
            <a:off x="228065" y="3364325"/>
            <a:ext cx="6406500" cy="7389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sz="1200" b="0" i="0" u="none" strike="noStrike" cap="none">
                <a:solidFill>
                  <a:srgbClr val="000000"/>
                </a:solidFill>
                <a:latin typeface="Lato"/>
                <a:ea typeface="Lato"/>
                <a:cs typeface="Lato"/>
                <a:sym typeface="Lato"/>
              </a:rPr>
              <a:t>With the new version, you can edit the .csproj settings directly in Visual Studio or any text editor. To do so, right-click on the project in Visual Studio and select "Edit Project File" to modify the .csproj content.</a:t>
            </a:r>
            <a:endParaRPr sz="1200" b="0" i="0" u="none" strike="noStrike" cap="none">
              <a:solidFill>
                <a:srgbClr val="000000"/>
              </a:solidFill>
              <a:latin typeface="Lato"/>
              <a:ea typeface="Lato"/>
              <a:cs typeface="Lato"/>
              <a:sym typeface="Lato"/>
            </a:endParaRPr>
          </a:p>
        </p:txBody>
      </p:sp>
      <p:pic>
        <p:nvPicPr>
          <p:cNvPr id="139" name="Google Shape;139;p21"/>
          <p:cNvPicPr preferRelativeResize="0"/>
          <p:nvPr/>
        </p:nvPicPr>
        <p:blipFill rotWithShape="1">
          <a:blip r:embed="rId6">
            <a:alphaModFix/>
          </a:blip>
          <a:srcRect/>
          <a:stretch/>
        </p:blipFill>
        <p:spPr>
          <a:xfrm>
            <a:off x="107011" y="3488312"/>
            <a:ext cx="61722" cy="109728"/>
          </a:xfrm>
          <a:prstGeom prst="rect">
            <a:avLst/>
          </a:prstGeom>
          <a:noFill/>
          <a:ln>
            <a:noFill/>
          </a:ln>
        </p:spPr>
      </p:pic>
      <p:sp>
        <p:nvSpPr>
          <p:cNvPr id="140" name="Google Shape;140;p21"/>
          <p:cNvSpPr txBox="1"/>
          <p:nvPr/>
        </p:nvSpPr>
        <p:spPr>
          <a:xfrm>
            <a:off x="233730" y="2575800"/>
            <a:ext cx="6444000" cy="8271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.csproj</a:t>
            </a:r>
            <a:endParaRPr sz="1200" b="1" i="0" u="none" strike="noStrike" cap="none">
              <a:solidFill>
                <a:srgbClr val="181717"/>
              </a:solidFill>
              <a:highlight>
                <a:srgbClr val="FFFFFF"/>
              </a:highlight>
              <a:latin typeface="Lato"/>
              <a:ea typeface="Lato"/>
              <a:cs typeface="Lato"/>
              <a:sym typeface="Lato"/>
            </a:endParaRPr>
          </a:p>
          <a:p>
            <a:pPr marL="0" marR="0" lvl="0" indent="0" algn="just" rtl="0">
              <a:lnSpc>
                <a:spcPct val="100000"/>
              </a:lnSpc>
              <a:spcBef>
                <a:spcPts val="400"/>
              </a:spcBef>
              <a:spcAft>
                <a:spcPts val="0"/>
              </a:spcAft>
              <a:buClr>
                <a:srgbClr val="000000"/>
              </a:buClr>
              <a:buSzPts val="1600"/>
              <a:buFont typeface="Arial"/>
              <a:buNone/>
            </a:pPr>
            <a:r>
              <a:rPr lang="en" sz="1200" b="0" i="0" u="none" strike="noStrike" cap="none">
                <a:solidFill>
                  <a:srgbClr val="181717"/>
                </a:solidFill>
                <a:highlight>
                  <a:srgbClr val="FFFFFF"/>
                </a:highlight>
                <a:latin typeface="Lato"/>
                <a:ea typeface="Lato"/>
                <a:cs typeface="Lato"/>
                <a:sym typeface="Lato"/>
              </a:rPr>
              <a:t>ASP.NET Core 6.0 no longer uses .xproj and project.json files. Instead, it fully utilizes the .csproj file to manage the project.</a:t>
            </a:r>
            <a:endParaRPr sz="1200" b="0" i="0" u="none" strike="noStrike" cap="none">
              <a:solidFill>
                <a:srgbClr val="181717"/>
              </a:solidFill>
              <a:highlight>
                <a:srgbClr val="FFFFFF"/>
              </a:highlight>
              <a:latin typeface="Lato"/>
              <a:ea typeface="Lato"/>
              <a:cs typeface="Lato"/>
              <a:sym typeface="Lato"/>
            </a:endParaRPr>
          </a:p>
        </p:txBody>
      </p:sp>
      <p:pic>
        <p:nvPicPr>
          <p:cNvPr id="141" name="Google Shape;141;p21"/>
          <p:cNvPicPr preferRelativeResize="0"/>
          <p:nvPr/>
        </p:nvPicPr>
        <p:blipFill rotWithShape="1">
          <a:blip r:embed="rId6">
            <a:alphaModFix/>
          </a:blip>
          <a:srcRect/>
          <a:stretch/>
        </p:blipFill>
        <p:spPr>
          <a:xfrm>
            <a:off x="103063" y="2710871"/>
            <a:ext cx="61722" cy="109728"/>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47" name="Google Shape;147;p2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8" name="Google Shape;148;p2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49" name="Google Shape;149;p22"/>
          <p:cNvSpPr txBox="1"/>
          <p:nvPr/>
        </p:nvSpPr>
        <p:spPr>
          <a:xfrm>
            <a:off x="2872950" y="0"/>
            <a:ext cx="3398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Project Structure </a:t>
            </a:r>
            <a:endParaRPr sz="2000" b="1" i="0" u="none" strike="noStrike" cap="none">
              <a:solidFill>
                <a:srgbClr val="FFFFFF"/>
              </a:solidFill>
              <a:latin typeface="Lato"/>
              <a:ea typeface="Lato"/>
              <a:cs typeface="Lato"/>
              <a:sym typeface="Lato"/>
            </a:endParaRPr>
          </a:p>
        </p:txBody>
      </p:sp>
      <p:sp>
        <p:nvSpPr>
          <p:cNvPr id="150" name="Google Shape;150;p22"/>
          <p:cNvSpPr txBox="1"/>
          <p:nvPr/>
        </p:nvSpPr>
        <p:spPr>
          <a:xfrm>
            <a:off x="270626" y="3677050"/>
            <a:ext cx="86913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sz="1200" b="0" i="0" u="none" strike="noStrike" cap="none">
                <a:solidFill>
                  <a:srgbClr val="181717"/>
                </a:solidFill>
                <a:highlight>
                  <a:srgbClr val="FFFFFF"/>
                </a:highlight>
                <a:latin typeface="Lato"/>
                <a:ea typeface="Lato"/>
                <a:cs typeface="Lato"/>
                <a:sym typeface="Lato"/>
              </a:rPr>
              <a:t>The .csproj for the above project looks like below.</a:t>
            </a:r>
            <a:endParaRPr sz="1100" b="0" i="0" u="none" strike="noStrike" cap="none">
              <a:solidFill>
                <a:srgbClr val="181717"/>
              </a:solidFill>
              <a:highlight>
                <a:srgbClr val="FFFFFF"/>
              </a:highlight>
              <a:latin typeface="Lato"/>
              <a:ea typeface="Lato"/>
              <a:cs typeface="Lato"/>
              <a:sym typeface="Lato"/>
            </a:endParaRPr>
          </a:p>
        </p:txBody>
      </p:sp>
      <p:pic>
        <p:nvPicPr>
          <p:cNvPr id="151" name="Google Shape;151;p22"/>
          <p:cNvPicPr preferRelativeResize="0"/>
          <p:nvPr/>
        </p:nvPicPr>
        <p:blipFill rotWithShape="1">
          <a:blip r:embed="rId5">
            <a:alphaModFix/>
          </a:blip>
          <a:srcRect/>
          <a:stretch/>
        </p:blipFill>
        <p:spPr>
          <a:xfrm>
            <a:off x="160838" y="3801050"/>
            <a:ext cx="61722" cy="109728"/>
          </a:xfrm>
          <a:prstGeom prst="rect">
            <a:avLst/>
          </a:prstGeom>
          <a:noFill/>
          <a:ln>
            <a:noFill/>
          </a:ln>
        </p:spPr>
      </p:pic>
      <p:sp>
        <p:nvSpPr>
          <p:cNvPr id="152" name="Google Shape;152;p22"/>
          <p:cNvSpPr txBox="1"/>
          <p:nvPr/>
        </p:nvSpPr>
        <p:spPr>
          <a:xfrm>
            <a:off x="280449" y="3981850"/>
            <a:ext cx="86913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sz="1200" b="0" i="0" u="none" strike="noStrike" cap="none">
                <a:solidFill>
                  <a:srgbClr val="181717"/>
                </a:solidFill>
                <a:highlight>
                  <a:srgbClr val="FFFFFF"/>
                </a:highlight>
                <a:latin typeface="Lato"/>
                <a:ea typeface="Lato"/>
                <a:cs typeface="Lato"/>
                <a:sym typeface="Lato"/>
              </a:rPr>
              <a:t>The .csproj file includes settings related to targeted .NET Frameworks, project folders, NuGet package references etc.</a:t>
            </a:r>
            <a:endParaRPr sz="1000" b="0" i="0" u="none" strike="noStrike" cap="none">
              <a:solidFill>
                <a:srgbClr val="181717"/>
              </a:solidFill>
              <a:highlight>
                <a:srgbClr val="FFFFFF"/>
              </a:highlight>
              <a:latin typeface="Lato"/>
              <a:ea typeface="Lato"/>
              <a:cs typeface="Lato"/>
              <a:sym typeface="Lato"/>
            </a:endParaRPr>
          </a:p>
        </p:txBody>
      </p:sp>
      <p:pic>
        <p:nvPicPr>
          <p:cNvPr id="153" name="Google Shape;153;p22"/>
          <p:cNvPicPr preferRelativeResize="0"/>
          <p:nvPr/>
        </p:nvPicPr>
        <p:blipFill rotWithShape="1">
          <a:blip r:embed="rId5">
            <a:alphaModFix/>
          </a:blip>
          <a:srcRect/>
          <a:stretch/>
        </p:blipFill>
        <p:spPr>
          <a:xfrm>
            <a:off x="170671" y="4105850"/>
            <a:ext cx="61722" cy="109728"/>
          </a:xfrm>
          <a:prstGeom prst="rect">
            <a:avLst/>
          </a:prstGeom>
          <a:noFill/>
          <a:ln>
            <a:noFill/>
          </a:ln>
        </p:spPr>
      </p:pic>
      <p:sp>
        <p:nvSpPr>
          <p:cNvPr id="154" name="Google Shape;154;p22"/>
          <p:cNvSpPr txBox="1"/>
          <p:nvPr/>
        </p:nvSpPr>
        <p:spPr>
          <a:xfrm>
            <a:off x="271073" y="936975"/>
            <a:ext cx="8547000" cy="7389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 sz="1200" b="0" i="0" u="none" strike="noStrike" cap="none">
                <a:solidFill>
                  <a:srgbClr val="000000"/>
                </a:solidFill>
                <a:latin typeface="Lato"/>
                <a:ea typeface="Lato"/>
                <a:cs typeface="Lato"/>
                <a:sym typeface="Lato"/>
              </a:rPr>
              <a:t>This change was introduced in ASP.NET Core 2.0, and it carries forward into ASP.NET Core 6.0. The .csproj file now contains all the necessary project configuration and references, making it more streamlined and familiar for developers working with .NET projects.</a:t>
            </a:r>
            <a:endParaRPr sz="1200" b="0" i="0" u="none" strike="noStrike" cap="none">
              <a:solidFill>
                <a:srgbClr val="000000"/>
              </a:solidFill>
              <a:latin typeface="Lato"/>
              <a:ea typeface="Lato"/>
              <a:cs typeface="Lato"/>
              <a:sym typeface="Lato"/>
            </a:endParaRPr>
          </a:p>
        </p:txBody>
      </p:sp>
      <p:pic>
        <p:nvPicPr>
          <p:cNvPr id="155" name="Google Shape;155;p22"/>
          <p:cNvPicPr preferRelativeResize="0"/>
          <p:nvPr/>
        </p:nvPicPr>
        <p:blipFill rotWithShape="1">
          <a:blip r:embed="rId5">
            <a:alphaModFix/>
          </a:blip>
          <a:srcRect/>
          <a:stretch/>
        </p:blipFill>
        <p:spPr>
          <a:xfrm>
            <a:off x="161088" y="1060973"/>
            <a:ext cx="61722" cy="109728"/>
          </a:xfrm>
          <a:prstGeom prst="rect">
            <a:avLst/>
          </a:prstGeom>
          <a:noFill/>
          <a:ln>
            <a:noFill/>
          </a:ln>
        </p:spPr>
      </p:pic>
      <p:pic>
        <p:nvPicPr>
          <p:cNvPr id="156" name="Google Shape;156;p22"/>
          <p:cNvPicPr preferRelativeResize="0"/>
          <p:nvPr/>
        </p:nvPicPr>
        <p:blipFill rotWithShape="1">
          <a:blip r:embed="rId6">
            <a:alphaModFix/>
          </a:blip>
          <a:srcRect/>
          <a:stretch/>
        </p:blipFill>
        <p:spPr>
          <a:xfrm>
            <a:off x="381000" y="1675875"/>
            <a:ext cx="4684262" cy="192497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2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62" name="Google Shape;162;p2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63" name="Google Shape;163;p2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64" name="Google Shape;164;p23"/>
          <p:cNvSpPr txBox="1"/>
          <p:nvPr/>
        </p:nvSpPr>
        <p:spPr>
          <a:xfrm>
            <a:off x="2872950" y="0"/>
            <a:ext cx="3398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Nuget Package Manager</a:t>
            </a:r>
            <a:endParaRPr sz="2000" b="1" i="0" u="none" strike="noStrike" cap="none">
              <a:solidFill>
                <a:srgbClr val="FFFFFF"/>
              </a:solidFill>
              <a:latin typeface="Lato"/>
              <a:ea typeface="Lato"/>
              <a:cs typeface="Lato"/>
              <a:sym typeface="Lato"/>
            </a:endParaRPr>
          </a:p>
        </p:txBody>
      </p:sp>
      <p:sp>
        <p:nvSpPr>
          <p:cNvPr id="165" name="Google Shape;165;p23"/>
          <p:cNvSpPr txBox="1"/>
          <p:nvPr/>
        </p:nvSpPr>
        <p:spPr>
          <a:xfrm>
            <a:off x="771969" y="1248917"/>
            <a:ext cx="36150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Dependencies: </a:t>
            </a:r>
            <a:r>
              <a:rPr lang="en" sz="1200" b="0" i="0" u="none" strike="noStrike" cap="none">
                <a:solidFill>
                  <a:srgbClr val="181717"/>
                </a:solidFill>
                <a:highlight>
                  <a:srgbClr val="FFFFFF"/>
                </a:highlight>
                <a:latin typeface="Lato"/>
                <a:ea typeface="Lato"/>
                <a:cs typeface="Lato"/>
                <a:sym typeface="Lato"/>
              </a:rPr>
              <a:t>The Dependencies in the ASP.NET Core 6.0 project contain all the installed server-side NuGet packages, as shown below.</a:t>
            </a:r>
            <a:endParaRPr sz="1200" b="0" i="0" u="none" strike="noStrike" cap="none">
              <a:solidFill>
                <a:srgbClr val="181717"/>
              </a:solidFill>
              <a:highlight>
                <a:srgbClr val="FFFFFF"/>
              </a:highlight>
              <a:latin typeface="Lato"/>
              <a:ea typeface="Lato"/>
              <a:cs typeface="Lato"/>
              <a:sym typeface="Lato"/>
            </a:endParaRPr>
          </a:p>
        </p:txBody>
      </p:sp>
      <p:pic>
        <p:nvPicPr>
          <p:cNvPr id="166" name="Google Shape;166;p23"/>
          <p:cNvPicPr preferRelativeResize="0"/>
          <p:nvPr/>
        </p:nvPicPr>
        <p:blipFill rotWithShape="1">
          <a:blip r:embed="rId5">
            <a:alphaModFix/>
          </a:blip>
          <a:srcRect/>
          <a:stretch/>
        </p:blipFill>
        <p:spPr>
          <a:xfrm>
            <a:off x="662180" y="1373000"/>
            <a:ext cx="61722" cy="109728"/>
          </a:xfrm>
          <a:prstGeom prst="rect">
            <a:avLst/>
          </a:prstGeom>
          <a:noFill/>
          <a:ln>
            <a:noFill/>
          </a:ln>
        </p:spPr>
      </p:pic>
      <p:sp>
        <p:nvSpPr>
          <p:cNvPr id="167" name="Google Shape;167;p23"/>
          <p:cNvSpPr txBox="1"/>
          <p:nvPr/>
        </p:nvSpPr>
        <p:spPr>
          <a:xfrm>
            <a:off x="771969" y="2110917"/>
            <a:ext cx="36150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Right click on "Dependencies" and then click "Manage NuGet Packages.." to see the installed NuGet packages</a:t>
            </a:r>
            <a:endParaRPr sz="1200" b="0" i="0" u="none" strike="noStrike" cap="none">
              <a:solidFill>
                <a:srgbClr val="181717"/>
              </a:solidFill>
              <a:highlight>
                <a:srgbClr val="FFFFFF"/>
              </a:highlight>
              <a:latin typeface="Lato"/>
              <a:ea typeface="Lato"/>
              <a:cs typeface="Lato"/>
              <a:sym typeface="Lato"/>
            </a:endParaRPr>
          </a:p>
        </p:txBody>
      </p:sp>
      <p:pic>
        <p:nvPicPr>
          <p:cNvPr id="168" name="Google Shape;168;p23"/>
          <p:cNvPicPr preferRelativeResize="0"/>
          <p:nvPr/>
        </p:nvPicPr>
        <p:blipFill rotWithShape="1">
          <a:blip r:embed="rId5">
            <a:alphaModFix/>
          </a:blip>
          <a:srcRect/>
          <a:stretch/>
        </p:blipFill>
        <p:spPr>
          <a:xfrm>
            <a:off x="662180" y="2235000"/>
            <a:ext cx="61722" cy="109728"/>
          </a:xfrm>
          <a:prstGeom prst="rect">
            <a:avLst/>
          </a:prstGeom>
          <a:noFill/>
          <a:ln>
            <a:noFill/>
          </a:ln>
        </p:spPr>
      </p:pic>
      <p:sp>
        <p:nvSpPr>
          <p:cNvPr id="169" name="Google Shape;169;p23"/>
          <p:cNvSpPr txBox="1"/>
          <p:nvPr/>
        </p:nvSpPr>
        <p:spPr>
          <a:xfrm>
            <a:off x="771969" y="3096992"/>
            <a:ext cx="3615000" cy="10344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You can install all other required server side dependencies as NuGet packages from Manage NuGet Packages window or using Package Manager Console.</a:t>
            </a:r>
            <a:endParaRPr sz="1200" b="0" i="0" u="none" strike="noStrike" cap="none">
              <a:solidFill>
                <a:srgbClr val="181717"/>
              </a:solidFill>
              <a:highlight>
                <a:srgbClr val="FFFFFF"/>
              </a:highlight>
              <a:latin typeface="Lato"/>
              <a:ea typeface="Lato"/>
              <a:cs typeface="Lato"/>
              <a:sym typeface="Lato"/>
            </a:endParaRPr>
          </a:p>
        </p:txBody>
      </p:sp>
      <p:pic>
        <p:nvPicPr>
          <p:cNvPr id="170" name="Google Shape;170;p23"/>
          <p:cNvPicPr preferRelativeResize="0"/>
          <p:nvPr/>
        </p:nvPicPr>
        <p:blipFill rotWithShape="1">
          <a:blip r:embed="rId5">
            <a:alphaModFix/>
          </a:blip>
          <a:srcRect/>
          <a:stretch/>
        </p:blipFill>
        <p:spPr>
          <a:xfrm>
            <a:off x="662180" y="3221074"/>
            <a:ext cx="61722" cy="109728"/>
          </a:xfrm>
          <a:prstGeom prst="rect">
            <a:avLst/>
          </a:prstGeom>
          <a:noFill/>
          <a:ln>
            <a:noFill/>
          </a:ln>
        </p:spPr>
      </p:pic>
      <p:pic>
        <p:nvPicPr>
          <p:cNvPr id="171" name="Google Shape;171;p23"/>
          <p:cNvPicPr preferRelativeResize="0"/>
          <p:nvPr/>
        </p:nvPicPr>
        <p:blipFill rotWithShape="1">
          <a:blip r:embed="rId6">
            <a:alphaModFix/>
          </a:blip>
          <a:srcRect/>
          <a:stretch/>
        </p:blipFill>
        <p:spPr>
          <a:xfrm>
            <a:off x="4691769" y="813816"/>
            <a:ext cx="3514725" cy="378142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77" name="Google Shape;177;p2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78" name="Google Shape;178;p2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79" name="Google Shape;179;p24"/>
          <p:cNvSpPr txBox="1"/>
          <p:nvPr/>
        </p:nvSpPr>
        <p:spPr>
          <a:xfrm>
            <a:off x="2872950" y="0"/>
            <a:ext cx="3398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Project Structure </a:t>
            </a:r>
            <a:endParaRPr sz="2000" b="1" i="0" u="none" strike="noStrike" cap="none">
              <a:solidFill>
                <a:srgbClr val="FFFFFF"/>
              </a:solidFill>
              <a:latin typeface="Lato"/>
              <a:ea typeface="Lato"/>
              <a:cs typeface="Lato"/>
              <a:sym typeface="Lato"/>
            </a:endParaRPr>
          </a:p>
        </p:txBody>
      </p:sp>
      <p:sp>
        <p:nvSpPr>
          <p:cNvPr id="180" name="Google Shape;180;p24"/>
          <p:cNvSpPr txBox="1"/>
          <p:nvPr/>
        </p:nvSpPr>
        <p:spPr>
          <a:xfrm>
            <a:off x="682348" y="1175376"/>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ASP.NET Core - wwwroot Folder</a:t>
            </a:r>
            <a:endParaRPr sz="1200" b="1" i="0" u="none" strike="noStrike" cap="none">
              <a:solidFill>
                <a:srgbClr val="181717"/>
              </a:solidFill>
              <a:highlight>
                <a:srgbClr val="FFFFFF"/>
              </a:highlight>
              <a:latin typeface="Lato"/>
              <a:ea typeface="Lato"/>
              <a:cs typeface="Lato"/>
              <a:sym typeface="Lato"/>
            </a:endParaRPr>
          </a:p>
        </p:txBody>
      </p:sp>
      <p:pic>
        <p:nvPicPr>
          <p:cNvPr id="181" name="Google Shape;181;p24"/>
          <p:cNvPicPr preferRelativeResize="0"/>
          <p:nvPr/>
        </p:nvPicPr>
        <p:blipFill rotWithShape="1">
          <a:blip r:embed="rId5">
            <a:alphaModFix/>
          </a:blip>
          <a:srcRect/>
          <a:stretch/>
        </p:blipFill>
        <p:spPr>
          <a:xfrm>
            <a:off x="572555" y="1299375"/>
            <a:ext cx="61722" cy="109728"/>
          </a:xfrm>
          <a:prstGeom prst="rect">
            <a:avLst/>
          </a:prstGeom>
          <a:noFill/>
          <a:ln>
            <a:noFill/>
          </a:ln>
        </p:spPr>
      </p:pic>
      <p:sp>
        <p:nvSpPr>
          <p:cNvPr id="182" name="Google Shape;182;p24"/>
          <p:cNvSpPr txBox="1"/>
          <p:nvPr/>
        </p:nvSpPr>
        <p:spPr>
          <a:xfrm>
            <a:off x="682348" y="1480176"/>
            <a:ext cx="55941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By default, the wwwroot folder in the ASP.NET Core project is treated as a web root folder. Static files can be stored in any folder under the web root and accessed with a relative path to that root.</a:t>
            </a:r>
            <a:endParaRPr sz="1200" b="1" i="0" u="none" strike="noStrike" cap="none">
              <a:solidFill>
                <a:srgbClr val="181717"/>
              </a:solidFill>
              <a:highlight>
                <a:srgbClr val="FFFFFF"/>
              </a:highlight>
              <a:latin typeface="Lato"/>
              <a:ea typeface="Lato"/>
              <a:cs typeface="Lato"/>
              <a:sym typeface="Lato"/>
            </a:endParaRPr>
          </a:p>
        </p:txBody>
      </p:sp>
      <p:pic>
        <p:nvPicPr>
          <p:cNvPr id="183" name="Google Shape;183;p24"/>
          <p:cNvPicPr preferRelativeResize="0"/>
          <p:nvPr/>
        </p:nvPicPr>
        <p:blipFill rotWithShape="1">
          <a:blip r:embed="rId5">
            <a:alphaModFix/>
          </a:blip>
          <a:srcRect/>
          <a:stretch/>
        </p:blipFill>
        <p:spPr>
          <a:xfrm>
            <a:off x="572555" y="1604175"/>
            <a:ext cx="61722" cy="109728"/>
          </a:xfrm>
          <a:prstGeom prst="rect">
            <a:avLst/>
          </a:prstGeom>
          <a:noFill/>
          <a:ln>
            <a:noFill/>
          </a:ln>
        </p:spPr>
      </p:pic>
      <p:sp>
        <p:nvSpPr>
          <p:cNvPr id="184" name="Google Shape;184;p24"/>
          <p:cNvSpPr txBox="1"/>
          <p:nvPr/>
        </p:nvSpPr>
        <p:spPr>
          <a:xfrm>
            <a:off x="682348" y="2165976"/>
            <a:ext cx="5594100" cy="12561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In the standard ASP.NET application, static files can be served from the root folder of an application or any other folder under it. This has been changed in ASP.NET Core. Now, only those files that are in the web root - wwwroot folder can be served over an http request. All other files are blocked and cannot be served by default.</a:t>
            </a:r>
            <a:endParaRPr sz="1200" b="1" i="0" u="none" strike="noStrike" cap="none">
              <a:solidFill>
                <a:srgbClr val="181717"/>
              </a:solidFill>
              <a:highlight>
                <a:srgbClr val="FFFFFF"/>
              </a:highlight>
              <a:latin typeface="Lato"/>
              <a:ea typeface="Lato"/>
              <a:cs typeface="Lato"/>
              <a:sym typeface="Lato"/>
            </a:endParaRPr>
          </a:p>
        </p:txBody>
      </p:sp>
      <p:pic>
        <p:nvPicPr>
          <p:cNvPr id="185" name="Google Shape;185;p24"/>
          <p:cNvPicPr preferRelativeResize="0"/>
          <p:nvPr/>
        </p:nvPicPr>
        <p:blipFill rotWithShape="1">
          <a:blip r:embed="rId5">
            <a:alphaModFix/>
          </a:blip>
          <a:srcRect/>
          <a:stretch/>
        </p:blipFill>
        <p:spPr>
          <a:xfrm>
            <a:off x="572555" y="2289975"/>
            <a:ext cx="61722" cy="109728"/>
          </a:xfrm>
          <a:prstGeom prst="rect">
            <a:avLst/>
          </a:prstGeom>
          <a:noFill/>
          <a:ln>
            <a:noFill/>
          </a:ln>
        </p:spPr>
      </p:pic>
      <p:sp>
        <p:nvSpPr>
          <p:cNvPr id="186" name="Google Shape;186;p24"/>
          <p:cNvSpPr txBox="1"/>
          <p:nvPr/>
        </p:nvSpPr>
        <p:spPr>
          <a:xfrm>
            <a:off x="682348" y="3308976"/>
            <a:ext cx="55941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Generally, there should be separate folders for the different types of static files such as JavaScript, CSS, Images, library scripts etc. in the wwwroot folder as shown in the given screenshot.</a:t>
            </a:r>
            <a:endParaRPr sz="1200" b="1" i="0" u="none" strike="noStrike" cap="none">
              <a:solidFill>
                <a:srgbClr val="181717"/>
              </a:solidFill>
              <a:highlight>
                <a:srgbClr val="FFFFFF"/>
              </a:highlight>
              <a:latin typeface="Lato"/>
              <a:ea typeface="Lato"/>
              <a:cs typeface="Lato"/>
              <a:sym typeface="Lato"/>
            </a:endParaRPr>
          </a:p>
        </p:txBody>
      </p:sp>
      <p:pic>
        <p:nvPicPr>
          <p:cNvPr id="187" name="Google Shape;187;p24"/>
          <p:cNvPicPr preferRelativeResize="0"/>
          <p:nvPr/>
        </p:nvPicPr>
        <p:blipFill rotWithShape="1">
          <a:blip r:embed="rId5">
            <a:alphaModFix/>
          </a:blip>
          <a:srcRect/>
          <a:stretch/>
        </p:blipFill>
        <p:spPr>
          <a:xfrm>
            <a:off x="572555" y="3432975"/>
            <a:ext cx="61722" cy="109728"/>
          </a:xfrm>
          <a:prstGeom prst="rect">
            <a:avLst/>
          </a:prstGeom>
          <a:noFill/>
          <a:ln>
            <a:noFill/>
          </a:ln>
        </p:spPr>
      </p:pic>
      <p:pic>
        <p:nvPicPr>
          <p:cNvPr id="188" name="Google Shape;188;p24"/>
          <p:cNvPicPr preferRelativeResize="0"/>
          <p:nvPr/>
        </p:nvPicPr>
        <p:blipFill rotWithShape="1">
          <a:blip r:embed="rId6">
            <a:alphaModFix/>
          </a:blip>
          <a:srcRect/>
          <a:stretch/>
        </p:blipFill>
        <p:spPr>
          <a:xfrm>
            <a:off x="6352650" y="737625"/>
            <a:ext cx="2268528" cy="404082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94" name="Google Shape;194;p2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5" name="Google Shape;195;p2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96" name="Google Shape;196;p25"/>
          <p:cNvSpPr txBox="1"/>
          <p:nvPr/>
        </p:nvSpPr>
        <p:spPr>
          <a:xfrm>
            <a:off x="2872950" y="0"/>
            <a:ext cx="3398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Routing in ASP.NET Core</a:t>
            </a:r>
            <a:endParaRPr sz="2000" b="1" i="0" u="none" strike="noStrike" cap="none">
              <a:solidFill>
                <a:srgbClr val="FFFFFF"/>
              </a:solidFill>
              <a:latin typeface="Lato"/>
              <a:ea typeface="Lato"/>
              <a:cs typeface="Lato"/>
              <a:sym typeface="Lato"/>
            </a:endParaRPr>
          </a:p>
        </p:txBody>
      </p:sp>
      <p:sp>
        <p:nvSpPr>
          <p:cNvPr id="197" name="Google Shape;197;p25"/>
          <p:cNvSpPr txBox="1"/>
          <p:nvPr/>
        </p:nvSpPr>
        <p:spPr>
          <a:xfrm>
            <a:off x="682348" y="1175376"/>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What is Routing?</a:t>
            </a:r>
            <a:endParaRPr sz="1200" b="1" i="0" u="none" strike="noStrike" cap="none">
              <a:solidFill>
                <a:srgbClr val="181717"/>
              </a:solidFill>
              <a:highlight>
                <a:srgbClr val="FFFFFF"/>
              </a:highlight>
              <a:latin typeface="Lato"/>
              <a:ea typeface="Lato"/>
              <a:cs typeface="Lato"/>
              <a:sym typeface="Lato"/>
            </a:endParaRPr>
          </a:p>
        </p:txBody>
      </p:sp>
      <p:pic>
        <p:nvPicPr>
          <p:cNvPr id="198" name="Google Shape;198;p25"/>
          <p:cNvPicPr preferRelativeResize="0"/>
          <p:nvPr/>
        </p:nvPicPr>
        <p:blipFill rotWithShape="1">
          <a:blip r:embed="rId5">
            <a:alphaModFix/>
          </a:blip>
          <a:srcRect/>
          <a:stretch/>
        </p:blipFill>
        <p:spPr>
          <a:xfrm>
            <a:off x="572555" y="1299375"/>
            <a:ext cx="61722" cy="109728"/>
          </a:xfrm>
          <a:prstGeom prst="rect">
            <a:avLst/>
          </a:prstGeom>
          <a:noFill/>
          <a:ln>
            <a:noFill/>
          </a:ln>
        </p:spPr>
      </p:pic>
      <p:sp>
        <p:nvSpPr>
          <p:cNvPr id="199" name="Google Shape;199;p25"/>
          <p:cNvSpPr txBox="1"/>
          <p:nvPr/>
        </p:nvSpPr>
        <p:spPr>
          <a:xfrm>
            <a:off x="792151" y="1468675"/>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Mechanism to map incoming HTTP requests to the appropriate controller actions.</a:t>
            </a:r>
            <a:endParaRPr sz="1200" i="0" u="none" strike="noStrike" cap="none">
              <a:solidFill>
                <a:srgbClr val="181717"/>
              </a:solidFill>
              <a:highlight>
                <a:srgbClr val="FFFFFF"/>
              </a:highlight>
              <a:latin typeface="Lato"/>
              <a:ea typeface="Lato"/>
              <a:cs typeface="Lato"/>
              <a:sym typeface="Lato"/>
            </a:endParaRPr>
          </a:p>
        </p:txBody>
      </p:sp>
      <p:pic>
        <p:nvPicPr>
          <p:cNvPr id="200" name="Google Shape;200;p25"/>
          <p:cNvPicPr preferRelativeResize="0"/>
          <p:nvPr/>
        </p:nvPicPr>
        <p:blipFill rotWithShape="1">
          <a:blip r:embed="rId5">
            <a:alphaModFix/>
          </a:blip>
          <a:srcRect/>
          <a:stretch/>
        </p:blipFill>
        <p:spPr>
          <a:xfrm>
            <a:off x="682355" y="1592675"/>
            <a:ext cx="61722" cy="109728"/>
          </a:xfrm>
          <a:prstGeom prst="rect">
            <a:avLst/>
          </a:prstGeom>
          <a:noFill/>
          <a:ln>
            <a:noFill/>
          </a:ln>
        </p:spPr>
      </p:pic>
      <p:sp>
        <p:nvSpPr>
          <p:cNvPr id="201" name="Google Shape;201;p25"/>
          <p:cNvSpPr txBox="1"/>
          <p:nvPr/>
        </p:nvSpPr>
        <p:spPr>
          <a:xfrm>
            <a:off x="682348" y="1750401"/>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Types of Routing:</a:t>
            </a:r>
            <a:endParaRPr sz="1200" b="1" i="0" u="none" strike="noStrike" cap="none">
              <a:solidFill>
                <a:srgbClr val="181717"/>
              </a:solidFill>
              <a:highlight>
                <a:srgbClr val="FFFFFF"/>
              </a:highlight>
              <a:latin typeface="Lato"/>
              <a:ea typeface="Lato"/>
              <a:cs typeface="Lato"/>
              <a:sym typeface="Lato"/>
            </a:endParaRPr>
          </a:p>
        </p:txBody>
      </p:sp>
      <p:pic>
        <p:nvPicPr>
          <p:cNvPr id="202" name="Google Shape;202;p25"/>
          <p:cNvPicPr preferRelativeResize="0"/>
          <p:nvPr/>
        </p:nvPicPr>
        <p:blipFill rotWithShape="1">
          <a:blip r:embed="rId5">
            <a:alphaModFix/>
          </a:blip>
          <a:srcRect/>
          <a:stretch/>
        </p:blipFill>
        <p:spPr>
          <a:xfrm>
            <a:off x="572555" y="1874400"/>
            <a:ext cx="61722" cy="109728"/>
          </a:xfrm>
          <a:prstGeom prst="rect">
            <a:avLst/>
          </a:prstGeom>
          <a:noFill/>
          <a:ln>
            <a:noFill/>
          </a:ln>
        </p:spPr>
      </p:pic>
      <p:sp>
        <p:nvSpPr>
          <p:cNvPr id="203" name="Google Shape;203;p25"/>
          <p:cNvSpPr txBox="1"/>
          <p:nvPr/>
        </p:nvSpPr>
        <p:spPr>
          <a:xfrm>
            <a:off x="792151" y="2043700"/>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Conventional Routing</a:t>
            </a:r>
            <a:endParaRPr sz="1200" i="0" u="none" strike="noStrike" cap="none">
              <a:solidFill>
                <a:srgbClr val="181717"/>
              </a:solidFill>
              <a:highlight>
                <a:srgbClr val="FFFFFF"/>
              </a:highlight>
              <a:latin typeface="Lato"/>
              <a:ea typeface="Lato"/>
              <a:cs typeface="Lato"/>
              <a:sym typeface="Lato"/>
            </a:endParaRPr>
          </a:p>
        </p:txBody>
      </p:sp>
      <p:pic>
        <p:nvPicPr>
          <p:cNvPr id="204" name="Google Shape;204;p25"/>
          <p:cNvPicPr preferRelativeResize="0"/>
          <p:nvPr/>
        </p:nvPicPr>
        <p:blipFill rotWithShape="1">
          <a:blip r:embed="rId5">
            <a:alphaModFix/>
          </a:blip>
          <a:srcRect/>
          <a:stretch/>
        </p:blipFill>
        <p:spPr>
          <a:xfrm>
            <a:off x="682355" y="2167700"/>
            <a:ext cx="61722" cy="109728"/>
          </a:xfrm>
          <a:prstGeom prst="rect">
            <a:avLst/>
          </a:prstGeom>
          <a:noFill/>
          <a:ln>
            <a:noFill/>
          </a:ln>
        </p:spPr>
      </p:pic>
      <p:sp>
        <p:nvSpPr>
          <p:cNvPr id="205" name="Google Shape;205;p25"/>
          <p:cNvSpPr txBox="1"/>
          <p:nvPr/>
        </p:nvSpPr>
        <p:spPr>
          <a:xfrm>
            <a:off x="792151" y="2325425"/>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Attribute Routing</a:t>
            </a:r>
            <a:endParaRPr sz="1200" i="0" u="none" strike="noStrike" cap="none">
              <a:solidFill>
                <a:srgbClr val="181717"/>
              </a:solidFill>
              <a:highlight>
                <a:srgbClr val="FFFFFF"/>
              </a:highlight>
              <a:latin typeface="Lato"/>
              <a:ea typeface="Lato"/>
              <a:cs typeface="Lato"/>
              <a:sym typeface="Lato"/>
            </a:endParaRPr>
          </a:p>
        </p:txBody>
      </p:sp>
      <p:pic>
        <p:nvPicPr>
          <p:cNvPr id="206" name="Google Shape;206;p25"/>
          <p:cNvPicPr preferRelativeResize="0"/>
          <p:nvPr/>
        </p:nvPicPr>
        <p:blipFill rotWithShape="1">
          <a:blip r:embed="rId5">
            <a:alphaModFix/>
          </a:blip>
          <a:srcRect/>
          <a:stretch/>
        </p:blipFill>
        <p:spPr>
          <a:xfrm>
            <a:off x="682355" y="2449425"/>
            <a:ext cx="61722" cy="109728"/>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12" name="Google Shape;212;p2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3" name="Google Shape;213;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14" name="Google Shape;214;p26"/>
          <p:cNvSpPr txBox="1"/>
          <p:nvPr/>
        </p:nvSpPr>
        <p:spPr>
          <a:xfrm>
            <a:off x="2872950" y="0"/>
            <a:ext cx="3398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Routing in ASP.NET Core</a:t>
            </a:r>
            <a:endParaRPr sz="2000" b="1" i="0" u="none" strike="noStrike" cap="none">
              <a:solidFill>
                <a:srgbClr val="FFFFFF"/>
              </a:solidFill>
              <a:latin typeface="Lato"/>
              <a:ea typeface="Lato"/>
              <a:cs typeface="Lato"/>
              <a:sym typeface="Lato"/>
            </a:endParaRPr>
          </a:p>
        </p:txBody>
      </p:sp>
      <p:sp>
        <p:nvSpPr>
          <p:cNvPr id="215" name="Google Shape;215;p26"/>
          <p:cNvSpPr txBox="1"/>
          <p:nvPr/>
        </p:nvSpPr>
        <p:spPr>
          <a:xfrm>
            <a:off x="682348" y="1175376"/>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Conventional Routing:</a:t>
            </a:r>
            <a:endParaRPr sz="1200" b="1" i="0" u="none" strike="noStrike" cap="none">
              <a:solidFill>
                <a:srgbClr val="181717"/>
              </a:solidFill>
              <a:highlight>
                <a:srgbClr val="FFFFFF"/>
              </a:highlight>
              <a:latin typeface="Lato"/>
              <a:ea typeface="Lato"/>
              <a:cs typeface="Lato"/>
              <a:sym typeface="Lato"/>
            </a:endParaRPr>
          </a:p>
        </p:txBody>
      </p:sp>
      <p:pic>
        <p:nvPicPr>
          <p:cNvPr id="216" name="Google Shape;216;p26"/>
          <p:cNvPicPr preferRelativeResize="0"/>
          <p:nvPr/>
        </p:nvPicPr>
        <p:blipFill rotWithShape="1">
          <a:blip r:embed="rId5">
            <a:alphaModFix/>
          </a:blip>
          <a:srcRect/>
          <a:stretch/>
        </p:blipFill>
        <p:spPr>
          <a:xfrm>
            <a:off x="572555" y="1299375"/>
            <a:ext cx="61722" cy="109728"/>
          </a:xfrm>
          <a:prstGeom prst="rect">
            <a:avLst/>
          </a:prstGeom>
          <a:noFill/>
          <a:ln>
            <a:noFill/>
          </a:ln>
        </p:spPr>
      </p:pic>
      <p:sp>
        <p:nvSpPr>
          <p:cNvPr id="217" name="Google Shape;217;p26"/>
          <p:cNvSpPr txBox="1"/>
          <p:nvPr/>
        </p:nvSpPr>
        <p:spPr>
          <a:xfrm>
            <a:off x="792151" y="1468675"/>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Defined in Startup.cs using app.UseEndpoints.</a:t>
            </a:r>
            <a:endParaRPr sz="1200" i="0" u="none" strike="noStrike" cap="none">
              <a:solidFill>
                <a:srgbClr val="181717"/>
              </a:solidFill>
              <a:highlight>
                <a:srgbClr val="FFFFFF"/>
              </a:highlight>
              <a:latin typeface="Lato"/>
              <a:ea typeface="Lato"/>
              <a:cs typeface="Lato"/>
              <a:sym typeface="Lato"/>
            </a:endParaRPr>
          </a:p>
        </p:txBody>
      </p:sp>
      <p:pic>
        <p:nvPicPr>
          <p:cNvPr id="218" name="Google Shape;218;p26"/>
          <p:cNvPicPr preferRelativeResize="0"/>
          <p:nvPr/>
        </p:nvPicPr>
        <p:blipFill rotWithShape="1">
          <a:blip r:embed="rId5">
            <a:alphaModFix/>
          </a:blip>
          <a:srcRect/>
          <a:stretch/>
        </p:blipFill>
        <p:spPr>
          <a:xfrm>
            <a:off x="682355" y="1592675"/>
            <a:ext cx="61722" cy="109728"/>
          </a:xfrm>
          <a:prstGeom prst="rect">
            <a:avLst/>
          </a:prstGeom>
          <a:noFill/>
          <a:ln>
            <a:noFill/>
          </a:ln>
        </p:spPr>
      </p:pic>
      <p:sp>
        <p:nvSpPr>
          <p:cNvPr id="219" name="Google Shape;219;p26"/>
          <p:cNvSpPr txBox="1"/>
          <p:nvPr/>
        </p:nvSpPr>
        <p:spPr>
          <a:xfrm>
            <a:off x="682348" y="2099589"/>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Attribute Routing:</a:t>
            </a:r>
            <a:endParaRPr sz="1200" b="1" i="0" u="none" strike="noStrike" cap="none">
              <a:solidFill>
                <a:srgbClr val="181717"/>
              </a:solidFill>
              <a:highlight>
                <a:srgbClr val="FFFFFF"/>
              </a:highlight>
              <a:latin typeface="Lato"/>
              <a:ea typeface="Lato"/>
              <a:cs typeface="Lato"/>
              <a:sym typeface="Lato"/>
            </a:endParaRPr>
          </a:p>
        </p:txBody>
      </p:sp>
      <p:pic>
        <p:nvPicPr>
          <p:cNvPr id="220" name="Google Shape;220;p26"/>
          <p:cNvPicPr preferRelativeResize="0"/>
          <p:nvPr/>
        </p:nvPicPr>
        <p:blipFill rotWithShape="1">
          <a:blip r:embed="rId5">
            <a:alphaModFix/>
          </a:blip>
          <a:srcRect/>
          <a:stretch/>
        </p:blipFill>
        <p:spPr>
          <a:xfrm>
            <a:off x="572555" y="2223588"/>
            <a:ext cx="61722" cy="109728"/>
          </a:xfrm>
          <a:prstGeom prst="rect">
            <a:avLst/>
          </a:prstGeom>
          <a:noFill/>
          <a:ln>
            <a:noFill/>
          </a:ln>
        </p:spPr>
      </p:pic>
      <p:sp>
        <p:nvSpPr>
          <p:cNvPr id="221" name="Google Shape;221;p26"/>
          <p:cNvSpPr txBox="1"/>
          <p:nvPr/>
        </p:nvSpPr>
        <p:spPr>
          <a:xfrm>
            <a:off x="792151" y="2392888"/>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Defined directly above controllers or actions using [Route] attribute.</a:t>
            </a:r>
            <a:endParaRPr sz="1200" i="0" u="none" strike="noStrike" cap="none">
              <a:solidFill>
                <a:srgbClr val="181717"/>
              </a:solidFill>
              <a:highlight>
                <a:srgbClr val="FFFFFF"/>
              </a:highlight>
              <a:latin typeface="Lato"/>
              <a:ea typeface="Lato"/>
              <a:cs typeface="Lato"/>
              <a:sym typeface="Lato"/>
            </a:endParaRPr>
          </a:p>
        </p:txBody>
      </p:sp>
      <p:pic>
        <p:nvPicPr>
          <p:cNvPr id="222" name="Google Shape;222;p26"/>
          <p:cNvPicPr preferRelativeResize="0"/>
          <p:nvPr/>
        </p:nvPicPr>
        <p:blipFill rotWithShape="1">
          <a:blip r:embed="rId5">
            <a:alphaModFix/>
          </a:blip>
          <a:srcRect/>
          <a:stretch/>
        </p:blipFill>
        <p:spPr>
          <a:xfrm>
            <a:off x="682355" y="2516888"/>
            <a:ext cx="61722" cy="109728"/>
          </a:xfrm>
          <a:prstGeom prst="rect">
            <a:avLst/>
          </a:prstGeom>
          <a:noFill/>
          <a:ln>
            <a:noFill/>
          </a:ln>
        </p:spPr>
      </p:pic>
      <p:sp>
        <p:nvSpPr>
          <p:cNvPr id="223" name="Google Shape;223;p26"/>
          <p:cNvSpPr txBox="1"/>
          <p:nvPr/>
        </p:nvSpPr>
        <p:spPr>
          <a:xfrm>
            <a:off x="792151" y="2674613"/>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More flexible and explicit.</a:t>
            </a:r>
            <a:endParaRPr sz="1200" i="0" u="none" strike="noStrike" cap="none">
              <a:solidFill>
                <a:srgbClr val="181717"/>
              </a:solidFill>
              <a:highlight>
                <a:srgbClr val="FFFFFF"/>
              </a:highlight>
              <a:latin typeface="Lato"/>
              <a:ea typeface="Lato"/>
              <a:cs typeface="Lato"/>
              <a:sym typeface="Lato"/>
            </a:endParaRPr>
          </a:p>
        </p:txBody>
      </p:sp>
      <p:pic>
        <p:nvPicPr>
          <p:cNvPr id="224" name="Google Shape;224;p26"/>
          <p:cNvPicPr preferRelativeResize="0"/>
          <p:nvPr/>
        </p:nvPicPr>
        <p:blipFill rotWithShape="1">
          <a:blip r:embed="rId5">
            <a:alphaModFix/>
          </a:blip>
          <a:srcRect/>
          <a:stretch/>
        </p:blipFill>
        <p:spPr>
          <a:xfrm>
            <a:off x="682355" y="2798613"/>
            <a:ext cx="61722" cy="109728"/>
          </a:xfrm>
          <a:prstGeom prst="rect">
            <a:avLst/>
          </a:prstGeom>
          <a:noFill/>
          <a:ln>
            <a:noFill/>
          </a:ln>
        </p:spPr>
      </p:pic>
      <p:sp>
        <p:nvSpPr>
          <p:cNvPr id="225" name="Google Shape;225;p26"/>
          <p:cNvSpPr txBox="1"/>
          <p:nvPr/>
        </p:nvSpPr>
        <p:spPr>
          <a:xfrm>
            <a:off x="792151" y="1750400"/>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Follows a predefined pattern (e.g., {controller=Home}/{action=Index}/{id?}).</a:t>
            </a:r>
            <a:endParaRPr sz="1200" i="0" u="none" strike="noStrike" cap="none">
              <a:solidFill>
                <a:srgbClr val="181717"/>
              </a:solidFill>
              <a:highlight>
                <a:srgbClr val="FFFFFF"/>
              </a:highlight>
              <a:latin typeface="Lato"/>
              <a:ea typeface="Lato"/>
              <a:cs typeface="Lato"/>
              <a:sym typeface="Lato"/>
            </a:endParaRPr>
          </a:p>
        </p:txBody>
      </p:sp>
      <p:pic>
        <p:nvPicPr>
          <p:cNvPr id="226" name="Google Shape;226;p26"/>
          <p:cNvPicPr preferRelativeResize="0"/>
          <p:nvPr/>
        </p:nvPicPr>
        <p:blipFill rotWithShape="1">
          <a:blip r:embed="rId5">
            <a:alphaModFix/>
          </a:blip>
          <a:srcRect/>
          <a:stretch/>
        </p:blipFill>
        <p:spPr>
          <a:xfrm>
            <a:off x="682355" y="1874400"/>
            <a:ext cx="61722" cy="109728"/>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2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32" name="Google Shape;232;p2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3" name="Google Shape;233;p2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34" name="Google Shape;234;p27"/>
          <p:cNvSpPr txBox="1"/>
          <p:nvPr/>
        </p:nvSpPr>
        <p:spPr>
          <a:xfrm>
            <a:off x="2872950" y="0"/>
            <a:ext cx="3398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Routing in ASP.NET Core</a:t>
            </a:r>
            <a:endParaRPr sz="2000" b="1" i="0" u="none" strike="noStrike" cap="none">
              <a:solidFill>
                <a:srgbClr val="FFFFFF"/>
              </a:solidFill>
              <a:latin typeface="Lato"/>
              <a:ea typeface="Lato"/>
              <a:cs typeface="Lato"/>
              <a:sym typeface="Lato"/>
            </a:endParaRPr>
          </a:p>
        </p:txBody>
      </p:sp>
      <p:pic>
        <p:nvPicPr>
          <p:cNvPr id="235" name="Google Shape;235;p27"/>
          <p:cNvPicPr preferRelativeResize="0"/>
          <p:nvPr/>
        </p:nvPicPr>
        <p:blipFill>
          <a:blip r:embed="rId5">
            <a:alphaModFix/>
          </a:blip>
          <a:stretch>
            <a:fillRect/>
          </a:stretch>
        </p:blipFill>
        <p:spPr>
          <a:xfrm>
            <a:off x="1181100" y="1009643"/>
            <a:ext cx="6151125" cy="1416832"/>
          </a:xfrm>
          <a:prstGeom prst="rect">
            <a:avLst/>
          </a:prstGeom>
          <a:noFill/>
          <a:ln>
            <a:noFill/>
          </a:ln>
        </p:spPr>
      </p:pic>
      <p:sp>
        <p:nvSpPr>
          <p:cNvPr id="236" name="Google Shape;236;p27"/>
          <p:cNvSpPr txBox="1"/>
          <p:nvPr/>
        </p:nvSpPr>
        <p:spPr>
          <a:xfrm>
            <a:off x="600148" y="640351"/>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Conventional Routing:</a:t>
            </a:r>
            <a:endParaRPr sz="1200" b="1" i="0" u="none" strike="noStrike" cap="none">
              <a:solidFill>
                <a:srgbClr val="181717"/>
              </a:solidFill>
              <a:highlight>
                <a:srgbClr val="FFFFFF"/>
              </a:highlight>
              <a:latin typeface="Lato"/>
              <a:ea typeface="Lato"/>
              <a:cs typeface="Lato"/>
              <a:sym typeface="Lato"/>
            </a:endParaRPr>
          </a:p>
        </p:txBody>
      </p:sp>
      <p:pic>
        <p:nvPicPr>
          <p:cNvPr id="237" name="Google Shape;237;p27"/>
          <p:cNvPicPr preferRelativeResize="0"/>
          <p:nvPr/>
        </p:nvPicPr>
        <p:blipFill rotWithShape="1">
          <a:blip r:embed="rId6">
            <a:alphaModFix/>
          </a:blip>
          <a:srcRect/>
          <a:stretch/>
        </p:blipFill>
        <p:spPr>
          <a:xfrm>
            <a:off x="490355" y="764350"/>
            <a:ext cx="61722" cy="109728"/>
          </a:xfrm>
          <a:prstGeom prst="rect">
            <a:avLst/>
          </a:prstGeom>
          <a:noFill/>
          <a:ln>
            <a:noFill/>
          </a:ln>
        </p:spPr>
      </p:pic>
      <p:sp>
        <p:nvSpPr>
          <p:cNvPr id="238" name="Google Shape;238;p27"/>
          <p:cNvSpPr txBox="1"/>
          <p:nvPr/>
        </p:nvSpPr>
        <p:spPr>
          <a:xfrm>
            <a:off x="600148" y="2526676"/>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Attribute Routing:</a:t>
            </a:r>
            <a:endParaRPr sz="1200" b="1" i="0" u="none" strike="noStrike" cap="none">
              <a:solidFill>
                <a:srgbClr val="181717"/>
              </a:solidFill>
              <a:highlight>
                <a:srgbClr val="FFFFFF"/>
              </a:highlight>
              <a:latin typeface="Lato"/>
              <a:ea typeface="Lato"/>
              <a:cs typeface="Lato"/>
              <a:sym typeface="Lato"/>
            </a:endParaRPr>
          </a:p>
        </p:txBody>
      </p:sp>
      <p:pic>
        <p:nvPicPr>
          <p:cNvPr id="239" name="Google Shape;239;p27"/>
          <p:cNvPicPr preferRelativeResize="0"/>
          <p:nvPr/>
        </p:nvPicPr>
        <p:blipFill rotWithShape="1">
          <a:blip r:embed="rId6">
            <a:alphaModFix/>
          </a:blip>
          <a:srcRect/>
          <a:stretch/>
        </p:blipFill>
        <p:spPr>
          <a:xfrm>
            <a:off x="490355" y="2650675"/>
            <a:ext cx="61722" cy="109728"/>
          </a:xfrm>
          <a:prstGeom prst="rect">
            <a:avLst/>
          </a:prstGeom>
          <a:noFill/>
          <a:ln>
            <a:noFill/>
          </a:ln>
        </p:spPr>
      </p:pic>
      <p:pic>
        <p:nvPicPr>
          <p:cNvPr id="240" name="Google Shape;240;p27"/>
          <p:cNvPicPr preferRelativeResize="0"/>
          <p:nvPr/>
        </p:nvPicPr>
        <p:blipFill>
          <a:blip r:embed="rId7">
            <a:alphaModFix/>
          </a:blip>
          <a:stretch>
            <a:fillRect/>
          </a:stretch>
        </p:blipFill>
        <p:spPr>
          <a:xfrm>
            <a:off x="1181100" y="2943525"/>
            <a:ext cx="6151126" cy="157327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2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46" name="Google Shape;246;p2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47" name="Google Shape;247;p2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48" name="Google Shape;248;p28"/>
          <p:cNvSpPr txBox="1"/>
          <p:nvPr/>
        </p:nvSpPr>
        <p:spPr>
          <a:xfrm>
            <a:off x="2233550" y="0"/>
            <a:ext cx="4791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Common Status Code And HTTP Verbs</a:t>
            </a:r>
            <a:endParaRPr sz="2000" b="1" i="0" u="none" strike="noStrike" cap="none">
              <a:solidFill>
                <a:srgbClr val="FFFFFF"/>
              </a:solidFill>
              <a:latin typeface="Lato"/>
              <a:ea typeface="Lato"/>
              <a:cs typeface="Lato"/>
              <a:sym typeface="Lato"/>
            </a:endParaRPr>
          </a:p>
        </p:txBody>
      </p:sp>
      <p:sp>
        <p:nvSpPr>
          <p:cNvPr id="249" name="Google Shape;249;p28"/>
          <p:cNvSpPr txBox="1"/>
          <p:nvPr/>
        </p:nvSpPr>
        <p:spPr>
          <a:xfrm>
            <a:off x="682348" y="1175376"/>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Common Status Codes:</a:t>
            </a:r>
            <a:endParaRPr sz="1200" b="1" i="0" u="none" strike="noStrike" cap="none">
              <a:solidFill>
                <a:srgbClr val="181717"/>
              </a:solidFill>
              <a:highlight>
                <a:srgbClr val="FFFFFF"/>
              </a:highlight>
              <a:latin typeface="Lato"/>
              <a:ea typeface="Lato"/>
              <a:cs typeface="Lato"/>
              <a:sym typeface="Lato"/>
            </a:endParaRPr>
          </a:p>
        </p:txBody>
      </p:sp>
      <p:pic>
        <p:nvPicPr>
          <p:cNvPr id="250" name="Google Shape;250;p28"/>
          <p:cNvPicPr preferRelativeResize="0"/>
          <p:nvPr/>
        </p:nvPicPr>
        <p:blipFill rotWithShape="1">
          <a:blip r:embed="rId5">
            <a:alphaModFix/>
          </a:blip>
          <a:srcRect/>
          <a:stretch/>
        </p:blipFill>
        <p:spPr>
          <a:xfrm>
            <a:off x="572555" y="1299375"/>
            <a:ext cx="61722" cy="109728"/>
          </a:xfrm>
          <a:prstGeom prst="rect">
            <a:avLst/>
          </a:prstGeom>
          <a:noFill/>
          <a:ln>
            <a:noFill/>
          </a:ln>
        </p:spPr>
      </p:pic>
      <p:sp>
        <p:nvSpPr>
          <p:cNvPr id="251" name="Google Shape;251;p28"/>
          <p:cNvSpPr txBox="1"/>
          <p:nvPr/>
        </p:nvSpPr>
        <p:spPr>
          <a:xfrm>
            <a:off x="792151" y="1468675"/>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200 OK – Success</a:t>
            </a:r>
            <a:endParaRPr sz="1200" i="0" u="none" strike="noStrike" cap="none">
              <a:solidFill>
                <a:srgbClr val="181717"/>
              </a:solidFill>
              <a:highlight>
                <a:srgbClr val="FFFFFF"/>
              </a:highlight>
              <a:latin typeface="Lato"/>
              <a:ea typeface="Lato"/>
              <a:cs typeface="Lato"/>
              <a:sym typeface="Lato"/>
            </a:endParaRPr>
          </a:p>
        </p:txBody>
      </p:sp>
      <p:pic>
        <p:nvPicPr>
          <p:cNvPr id="252" name="Google Shape;252;p28"/>
          <p:cNvPicPr preferRelativeResize="0"/>
          <p:nvPr/>
        </p:nvPicPr>
        <p:blipFill rotWithShape="1">
          <a:blip r:embed="rId5">
            <a:alphaModFix/>
          </a:blip>
          <a:srcRect/>
          <a:stretch/>
        </p:blipFill>
        <p:spPr>
          <a:xfrm>
            <a:off x="682355" y="1592675"/>
            <a:ext cx="61722" cy="109728"/>
          </a:xfrm>
          <a:prstGeom prst="rect">
            <a:avLst/>
          </a:prstGeom>
          <a:noFill/>
          <a:ln>
            <a:noFill/>
          </a:ln>
        </p:spPr>
      </p:pic>
      <p:sp>
        <p:nvSpPr>
          <p:cNvPr id="253" name="Google Shape;253;p28"/>
          <p:cNvSpPr txBox="1"/>
          <p:nvPr/>
        </p:nvSpPr>
        <p:spPr>
          <a:xfrm>
            <a:off x="792151" y="1750400"/>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400 Bad Request – Invalid input</a:t>
            </a:r>
            <a:endParaRPr sz="1200" i="0" u="none" strike="noStrike" cap="none">
              <a:solidFill>
                <a:srgbClr val="181717"/>
              </a:solidFill>
              <a:highlight>
                <a:srgbClr val="FFFFFF"/>
              </a:highlight>
              <a:latin typeface="Lato"/>
              <a:ea typeface="Lato"/>
              <a:cs typeface="Lato"/>
              <a:sym typeface="Lato"/>
            </a:endParaRPr>
          </a:p>
        </p:txBody>
      </p:sp>
      <p:pic>
        <p:nvPicPr>
          <p:cNvPr id="254" name="Google Shape;254;p28"/>
          <p:cNvPicPr preferRelativeResize="0"/>
          <p:nvPr/>
        </p:nvPicPr>
        <p:blipFill rotWithShape="1">
          <a:blip r:embed="rId5">
            <a:alphaModFix/>
          </a:blip>
          <a:srcRect/>
          <a:stretch/>
        </p:blipFill>
        <p:spPr>
          <a:xfrm>
            <a:off x="682355" y="1874400"/>
            <a:ext cx="61722" cy="109728"/>
          </a:xfrm>
          <a:prstGeom prst="rect">
            <a:avLst/>
          </a:prstGeom>
          <a:noFill/>
          <a:ln>
            <a:noFill/>
          </a:ln>
        </p:spPr>
      </p:pic>
      <p:sp>
        <p:nvSpPr>
          <p:cNvPr id="255" name="Google Shape;255;p28"/>
          <p:cNvSpPr txBox="1"/>
          <p:nvPr/>
        </p:nvSpPr>
        <p:spPr>
          <a:xfrm>
            <a:off x="792151" y="2053450"/>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404 Not Found – Resource not found</a:t>
            </a:r>
            <a:endParaRPr sz="1200" i="0" u="none" strike="noStrike" cap="none">
              <a:solidFill>
                <a:srgbClr val="181717"/>
              </a:solidFill>
              <a:highlight>
                <a:srgbClr val="FFFFFF"/>
              </a:highlight>
              <a:latin typeface="Lato"/>
              <a:ea typeface="Lato"/>
              <a:cs typeface="Lato"/>
              <a:sym typeface="Lato"/>
            </a:endParaRPr>
          </a:p>
        </p:txBody>
      </p:sp>
      <p:pic>
        <p:nvPicPr>
          <p:cNvPr id="256" name="Google Shape;256;p28"/>
          <p:cNvPicPr preferRelativeResize="0"/>
          <p:nvPr/>
        </p:nvPicPr>
        <p:blipFill rotWithShape="1">
          <a:blip r:embed="rId5">
            <a:alphaModFix/>
          </a:blip>
          <a:srcRect/>
          <a:stretch/>
        </p:blipFill>
        <p:spPr>
          <a:xfrm>
            <a:off x="682355" y="2177450"/>
            <a:ext cx="61722" cy="109728"/>
          </a:xfrm>
          <a:prstGeom prst="rect">
            <a:avLst/>
          </a:prstGeom>
          <a:noFill/>
          <a:ln>
            <a:noFill/>
          </a:ln>
        </p:spPr>
      </p:pic>
      <p:sp>
        <p:nvSpPr>
          <p:cNvPr id="257" name="Google Shape;257;p28"/>
          <p:cNvSpPr txBox="1"/>
          <p:nvPr/>
        </p:nvSpPr>
        <p:spPr>
          <a:xfrm>
            <a:off x="792151" y="2335175"/>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500 Internal Server Error – Server error</a:t>
            </a:r>
            <a:endParaRPr sz="1200" i="0" u="none" strike="noStrike" cap="none">
              <a:solidFill>
                <a:srgbClr val="181717"/>
              </a:solidFill>
              <a:highlight>
                <a:srgbClr val="FFFFFF"/>
              </a:highlight>
              <a:latin typeface="Lato"/>
              <a:ea typeface="Lato"/>
              <a:cs typeface="Lato"/>
              <a:sym typeface="Lato"/>
            </a:endParaRPr>
          </a:p>
        </p:txBody>
      </p:sp>
      <p:pic>
        <p:nvPicPr>
          <p:cNvPr id="258" name="Google Shape;258;p28"/>
          <p:cNvPicPr preferRelativeResize="0"/>
          <p:nvPr/>
        </p:nvPicPr>
        <p:blipFill rotWithShape="1">
          <a:blip r:embed="rId5">
            <a:alphaModFix/>
          </a:blip>
          <a:srcRect/>
          <a:stretch/>
        </p:blipFill>
        <p:spPr>
          <a:xfrm>
            <a:off x="682355" y="2459175"/>
            <a:ext cx="61722" cy="109728"/>
          </a:xfrm>
          <a:prstGeom prst="rect">
            <a:avLst/>
          </a:prstGeom>
          <a:noFill/>
          <a:ln>
            <a:noFill/>
          </a:ln>
        </p:spPr>
      </p:pic>
      <p:sp>
        <p:nvSpPr>
          <p:cNvPr id="259" name="Google Shape;259;p28"/>
          <p:cNvSpPr txBox="1"/>
          <p:nvPr/>
        </p:nvSpPr>
        <p:spPr>
          <a:xfrm>
            <a:off x="682348" y="2768264"/>
            <a:ext cx="55941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a:solidFill>
                  <a:srgbClr val="181717"/>
                </a:solidFill>
                <a:highlight>
                  <a:srgbClr val="FFFFFF"/>
                </a:highlight>
                <a:latin typeface="Lato"/>
                <a:ea typeface="Lato"/>
                <a:cs typeface="Lato"/>
                <a:sym typeface="Lato"/>
              </a:rPr>
              <a:t>Common HTTP Verbs:</a:t>
            </a:r>
            <a:endParaRPr sz="1200" b="1" i="0" u="none" strike="noStrike" cap="none">
              <a:solidFill>
                <a:srgbClr val="181717"/>
              </a:solidFill>
              <a:highlight>
                <a:srgbClr val="FFFFFF"/>
              </a:highlight>
              <a:latin typeface="Lato"/>
              <a:ea typeface="Lato"/>
              <a:cs typeface="Lato"/>
              <a:sym typeface="Lato"/>
            </a:endParaRPr>
          </a:p>
        </p:txBody>
      </p:sp>
      <p:pic>
        <p:nvPicPr>
          <p:cNvPr id="260" name="Google Shape;260;p28"/>
          <p:cNvPicPr preferRelativeResize="0"/>
          <p:nvPr/>
        </p:nvPicPr>
        <p:blipFill rotWithShape="1">
          <a:blip r:embed="rId5">
            <a:alphaModFix/>
          </a:blip>
          <a:srcRect/>
          <a:stretch/>
        </p:blipFill>
        <p:spPr>
          <a:xfrm>
            <a:off x="572555" y="2892263"/>
            <a:ext cx="61722" cy="109728"/>
          </a:xfrm>
          <a:prstGeom prst="rect">
            <a:avLst/>
          </a:prstGeom>
          <a:noFill/>
          <a:ln>
            <a:noFill/>
          </a:ln>
        </p:spPr>
      </p:pic>
      <p:sp>
        <p:nvSpPr>
          <p:cNvPr id="261" name="Google Shape;261;p28"/>
          <p:cNvSpPr txBox="1"/>
          <p:nvPr/>
        </p:nvSpPr>
        <p:spPr>
          <a:xfrm>
            <a:off x="792151" y="3061563"/>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GET – Retrieve data</a:t>
            </a:r>
            <a:endParaRPr sz="1200" i="0" u="none" strike="noStrike" cap="none">
              <a:solidFill>
                <a:srgbClr val="181717"/>
              </a:solidFill>
              <a:highlight>
                <a:srgbClr val="FFFFFF"/>
              </a:highlight>
              <a:latin typeface="Lato"/>
              <a:ea typeface="Lato"/>
              <a:cs typeface="Lato"/>
              <a:sym typeface="Lato"/>
            </a:endParaRPr>
          </a:p>
        </p:txBody>
      </p:sp>
      <p:pic>
        <p:nvPicPr>
          <p:cNvPr id="262" name="Google Shape;262;p28"/>
          <p:cNvPicPr preferRelativeResize="0"/>
          <p:nvPr/>
        </p:nvPicPr>
        <p:blipFill rotWithShape="1">
          <a:blip r:embed="rId5">
            <a:alphaModFix/>
          </a:blip>
          <a:srcRect/>
          <a:stretch/>
        </p:blipFill>
        <p:spPr>
          <a:xfrm>
            <a:off x="682355" y="3185563"/>
            <a:ext cx="61722" cy="109728"/>
          </a:xfrm>
          <a:prstGeom prst="rect">
            <a:avLst/>
          </a:prstGeom>
          <a:noFill/>
          <a:ln>
            <a:noFill/>
          </a:ln>
        </p:spPr>
      </p:pic>
      <p:sp>
        <p:nvSpPr>
          <p:cNvPr id="263" name="Google Shape;263;p28"/>
          <p:cNvSpPr txBox="1"/>
          <p:nvPr/>
        </p:nvSpPr>
        <p:spPr>
          <a:xfrm>
            <a:off x="792151" y="3343288"/>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POST – Create data</a:t>
            </a:r>
            <a:endParaRPr sz="1200" i="0" u="none" strike="noStrike" cap="none">
              <a:solidFill>
                <a:srgbClr val="181717"/>
              </a:solidFill>
              <a:highlight>
                <a:srgbClr val="FFFFFF"/>
              </a:highlight>
              <a:latin typeface="Lato"/>
              <a:ea typeface="Lato"/>
              <a:cs typeface="Lato"/>
              <a:sym typeface="Lato"/>
            </a:endParaRPr>
          </a:p>
        </p:txBody>
      </p:sp>
      <p:pic>
        <p:nvPicPr>
          <p:cNvPr id="264" name="Google Shape;264;p28"/>
          <p:cNvPicPr preferRelativeResize="0"/>
          <p:nvPr/>
        </p:nvPicPr>
        <p:blipFill rotWithShape="1">
          <a:blip r:embed="rId5">
            <a:alphaModFix/>
          </a:blip>
          <a:srcRect/>
          <a:stretch/>
        </p:blipFill>
        <p:spPr>
          <a:xfrm>
            <a:off x="682355" y="3467288"/>
            <a:ext cx="61722" cy="109728"/>
          </a:xfrm>
          <a:prstGeom prst="rect">
            <a:avLst/>
          </a:prstGeom>
          <a:noFill/>
          <a:ln>
            <a:noFill/>
          </a:ln>
        </p:spPr>
      </p:pic>
      <p:sp>
        <p:nvSpPr>
          <p:cNvPr id="265" name="Google Shape;265;p28"/>
          <p:cNvSpPr txBox="1"/>
          <p:nvPr/>
        </p:nvSpPr>
        <p:spPr>
          <a:xfrm>
            <a:off x="792151" y="3646338"/>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PUT – Update data</a:t>
            </a:r>
            <a:endParaRPr sz="1200" i="0" u="none" strike="noStrike" cap="none">
              <a:solidFill>
                <a:srgbClr val="181717"/>
              </a:solidFill>
              <a:highlight>
                <a:srgbClr val="FFFFFF"/>
              </a:highlight>
              <a:latin typeface="Lato"/>
              <a:ea typeface="Lato"/>
              <a:cs typeface="Lato"/>
              <a:sym typeface="Lato"/>
            </a:endParaRPr>
          </a:p>
        </p:txBody>
      </p:sp>
      <p:pic>
        <p:nvPicPr>
          <p:cNvPr id="266" name="Google Shape;266;p28"/>
          <p:cNvPicPr preferRelativeResize="0"/>
          <p:nvPr/>
        </p:nvPicPr>
        <p:blipFill rotWithShape="1">
          <a:blip r:embed="rId5">
            <a:alphaModFix/>
          </a:blip>
          <a:srcRect/>
          <a:stretch/>
        </p:blipFill>
        <p:spPr>
          <a:xfrm>
            <a:off x="682355" y="3770338"/>
            <a:ext cx="61722" cy="109728"/>
          </a:xfrm>
          <a:prstGeom prst="rect">
            <a:avLst/>
          </a:prstGeom>
          <a:noFill/>
          <a:ln>
            <a:noFill/>
          </a:ln>
        </p:spPr>
      </p:pic>
      <p:sp>
        <p:nvSpPr>
          <p:cNvPr id="267" name="Google Shape;267;p28"/>
          <p:cNvSpPr txBox="1"/>
          <p:nvPr/>
        </p:nvSpPr>
        <p:spPr>
          <a:xfrm>
            <a:off x="792151" y="3928063"/>
            <a:ext cx="70077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a:solidFill>
                  <a:srgbClr val="181717"/>
                </a:solidFill>
                <a:highlight>
                  <a:srgbClr val="FFFFFF"/>
                </a:highlight>
                <a:latin typeface="Lato"/>
                <a:ea typeface="Lato"/>
                <a:cs typeface="Lato"/>
                <a:sym typeface="Lato"/>
              </a:rPr>
              <a:t>DELETE – Delete data</a:t>
            </a:r>
            <a:endParaRPr sz="1200" i="0" u="none" strike="noStrike" cap="none">
              <a:solidFill>
                <a:srgbClr val="181717"/>
              </a:solidFill>
              <a:highlight>
                <a:srgbClr val="FFFFFF"/>
              </a:highlight>
              <a:latin typeface="Lato"/>
              <a:ea typeface="Lato"/>
              <a:cs typeface="Lato"/>
              <a:sym typeface="Lato"/>
            </a:endParaRPr>
          </a:p>
        </p:txBody>
      </p:sp>
      <p:pic>
        <p:nvPicPr>
          <p:cNvPr id="268" name="Google Shape;268;p28"/>
          <p:cNvPicPr preferRelativeResize="0"/>
          <p:nvPr/>
        </p:nvPicPr>
        <p:blipFill rotWithShape="1">
          <a:blip r:embed="rId5">
            <a:alphaModFix/>
          </a:blip>
          <a:srcRect/>
          <a:stretch/>
        </p:blipFill>
        <p:spPr>
          <a:xfrm>
            <a:off x="682355" y="4052063"/>
            <a:ext cx="61722" cy="109728"/>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29"/>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74" name="Google Shape;274;p29"/>
          <p:cNvSpPr txBox="1"/>
          <p:nvPr/>
        </p:nvSpPr>
        <p:spPr>
          <a:xfrm>
            <a:off x="3107250" y="46313"/>
            <a:ext cx="2904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Middleware</a:t>
            </a:r>
            <a:endParaRPr sz="2000" b="1" i="0" u="none" strike="noStrike" cap="none">
              <a:solidFill>
                <a:srgbClr val="FFFFFF"/>
              </a:solidFill>
              <a:latin typeface="Lato"/>
              <a:ea typeface="Lato"/>
              <a:cs typeface="Lato"/>
              <a:sym typeface="Lato"/>
            </a:endParaRPr>
          </a:p>
        </p:txBody>
      </p:sp>
      <p:pic>
        <p:nvPicPr>
          <p:cNvPr id="275" name="Google Shape;275;p2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76" name="Google Shape;276;p2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77" name="Google Shape;277;p29"/>
          <p:cNvSpPr txBox="1"/>
          <p:nvPr/>
        </p:nvSpPr>
        <p:spPr>
          <a:xfrm>
            <a:off x="606152" y="718175"/>
            <a:ext cx="8020800" cy="10344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2400"/>
              </a:spcBef>
              <a:spcAft>
                <a:spcPts val="6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ASP.NET Core - Middleware: </a:t>
            </a:r>
            <a:r>
              <a:rPr lang="en" sz="1200" b="0" i="0" u="none" strike="noStrike" cap="none">
                <a:solidFill>
                  <a:srgbClr val="181717"/>
                </a:solidFill>
                <a:highlight>
                  <a:schemeClr val="lt1"/>
                </a:highlight>
                <a:latin typeface="Lato"/>
                <a:ea typeface="Lato"/>
                <a:cs typeface="Lato"/>
                <a:sym typeface="Lato"/>
              </a:rPr>
              <a:t>ASP.NET Core introduced a new concept called Middleware. A middleware is nothing but a component (class) which is executed on every request in ASP.NET Core application. In the classic ASP.NET, HttpHandlers and HttpModules were part of request pipeline. Middleware is similar to HttpHandlers and HttpModules where both needs to be configured and executed in each request.</a:t>
            </a:r>
            <a:endParaRPr sz="1200" b="1" i="0" u="none" strike="noStrike" cap="none">
              <a:solidFill>
                <a:srgbClr val="181717"/>
              </a:solidFill>
              <a:highlight>
                <a:srgbClr val="FFFFFF"/>
              </a:highlight>
              <a:latin typeface="Lato"/>
              <a:ea typeface="Lato"/>
              <a:cs typeface="Lato"/>
              <a:sym typeface="Lato"/>
            </a:endParaRPr>
          </a:p>
        </p:txBody>
      </p:sp>
      <p:pic>
        <p:nvPicPr>
          <p:cNvPr id="278" name="Google Shape;278;p29"/>
          <p:cNvPicPr preferRelativeResize="0"/>
          <p:nvPr/>
        </p:nvPicPr>
        <p:blipFill rotWithShape="1">
          <a:blip r:embed="rId5">
            <a:alphaModFix/>
          </a:blip>
          <a:srcRect/>
          <a:stretch/>
        </p:blipFill>
        <p:spPr>
          <a:xfrm>
            <a:off x="496355" y="842174"/>
            <a:ext cx="61722" cy="109728"/>
          </a:xfrm>
          <a:prstGeom prst="rect">
            <a:avLst/>
          </a:prstGeom>
          <a:noFill/>
          <a:ln>
            <a:noFill/>
          </a:ln>
        </p:spPr>
      </p:pic>
      <p:sp>
        <p:nvSpPr>
          <p:cNvPr id="279" name="Google Shape;279;p29"/>
          <p:cNvSpPr txBox="1"/>
          <p:nvPr/>
        </p:nvSpPr>
        <p:spPr>
          <a:xfrm>
            <a:off x="606152" y="3385175"/>
            <a:ext cx="8020800" cy="10344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Typically, there will be multiple middleware in ASP.NET Core web application. It can be either framework provided middleware, added via NuGet or your own custom middleware. We can set the order of middleware execution in the request pipeline. Each middleware adds or modifies http request and optionally passes control to the next middleware component. The following figure illustrates the execution of middleware components.</a:t>
            </a:r>
            <a:endParaRPr sz="1200" b="1" i="0" u="none" strike="noStrike" cap="none">
              <a:solidFill>
                <a:srgbClr val="181717"/>
              </a:solidFill>
              <a:highlight>
                <a:srgbClr val="FFFFFF"/>
              </a:highlight>
              <a:latin typeface="Lato"/>
              <a:ea typeface="Lato"/>
              <a:cs typeface="Lato"/>
              <a:sym typeface="Lato"/>
            </a:endParaRPr>
          </a:p>
        </p:txBody>
      </p:sp>
      <p:pic>
        <p:nvPicPr>
          <p:cNvPr id="280" name="Google Shape;280;p29"/>
          <p:cNvPicPr preferRelativeResize="0"/>
          <p:nvPr/>
        </p:nvPicPr>
        <p:blipFill rotWithShape="1">
          <a:blip r:embed="rId5">
            <a:alphaModFix/>
          </a:blip>
          <a:srcRect/>
          <a:stretch/>
        </p:blipFill>
        <p:spPr>
          <a:xfrm>
            <a:off x="496355" y="3509175"/>
            <a:ext cx="61722" cy="109728"/>
          </a:xfrm>
          <a:prstGeom prst="rect">
            <a:avLst/>
          </a:prstGeom>
          <a:noFill/>
          <a:ln>
            <a:noFill/>
          </a:ln>
        </p:spPr>
      </p:pic>
      <p:pic>
        <p:nvPicPr>
          <p:cNvPr id="281" name="Google Shape;281;p29"/>
          <p:cNvPicPr preferRelativeResize="0"/>
          <p:nvPr/>
        </p:nvPicPr>
        <p:blipFill rotWithShape="1">
          <a:blip r:embed="rId6">
            <a:alphaModFix/>
          </a:blip>
          <a:srcRect/>
          <a:stretch/>
        </p:blipFill>
        <p:spPr>
          <a:xfrm>
            <a:off x="2225813" y="1702725"/>
            <a:ext cx="4781475" cy="1699725"/>
          </a:xfrm>
          <a:prstGeom prst="rect">
            <a:avLst/>
          </a:prstGeom>
          <a:noFill/>
          <a:ln>
            <a:noFill/>
          </a:ln>
        </p:spPr>
      </p:pic>
      <p:sp>
        <p:nvSpPr>
          <p:cNvPr id="282" name="Google Shape;282;p29"/>
          <p:cNvSpPr txBox="1"/>
          <p:nvPr/>
        </p:nvSpPr>
        <p:spPr>
          <a:xfrm>
            <a:off x="606152" y="4375775"/>
            <a:ext cx="8020800" cy="3693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Middlewares build the request pipeline. The following figure illustrates the ASP.NET Core request processing.</a:t>
            </a:r>
            <a:endParaRPr sz="1200" b="1" i="0" u="none" strike="noStrike" cap="none">
              <a:solidFill>
                <a:srgbClr val="181717"/>
              </a:solidFill>
              <a:highlight>
                <a:srgbClr val="FFFFFF"/>
              </a:highlight>
              <a:latin typeface="Lato"/>
              <a:ea typeface="Lato"/>
              <a:cs typeface="Lato"/>
              <a:sym typeface="Lato"/>
            </a:endParaRPr>
          </a:p>
        </p:txBody>
      </p:sp>
      <p:pic>
        <p:nvPicPr>
          <p:cNvPr id="283" name="Google Shape;283;p29"/>
          <p:cNvPicPr preferRelativeResize="0"/>
          <p:nvPr/>
        </p:nvPicPr>
        <p:blipFill rotWithShape="1">
          <a:blip r:embed="rId5">
            <a:alphaModFix/>
          </a:blip>
          <a:srcRect/>
          <a:stretch/>
        </p:blipFill>
        <p:spPr>
          <a:xfrm>
            <a:off x="496355" y="4499775"/>
            <a:ext cx="61722" cy="109728"/>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p3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89" name="Google Shape;289;p3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90" name="Google Shape;290;p3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91" name="Google Shape;291;p30"/>
          <p:cNvSpPr txBox="1"/>
          <p:nvPr/>
        </p:nvSpPr>
        <p:spPr>
          <a:xfrm>
            <a:off x="3107250" y="46313"/>
            <a:ext cx="2904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Middleware</a:t>
            </a:r>
            <a:endParaRPr sz="2000" b="1" i="0" u="none" strike="noStrike" cap="none">
              <a:solidFill>
                <a:srgbClr val="FFFFFF"/>
              </a:solidFill>
              <a:latin typeface="Lato"/>
              <a:ea typeface="Lato"/>
              <a:cs typeface="Lato"/>
              <a:sym typeface="Lato"/>
            </a:endParaRPr>
          </a:p>
        </p:txBody>
      </p:sp>
      <p:pic>
        <p:nvPicPr>
          <p:cNvPr id="292" name="Google Shape;292;p30"/>
          <p:cNvPicPr preferRelativeResize="0"/>
          <p:nvPr/>
        </p:nvPicPr>
        <p:blipFill rotWithShape="1">
          <a:blip r:embed="rId5">
            <a:alphaModFix/>
          </a:blip>
          <a:srcRect/>
          <a:stretch/>
        </p:blipFill>
        <p:spPr>
          <a:xfrm>
            <a:off x="152400" y="782675"/>
            <a:ext cx="8839201" cy="1162126"/>
          </a:xfrm>
          <a:prstGeom prst="rect">
            <a:avLst/>
          </a:prstGeom>
          <a:noFill/>
          <a:ln>
            <a:noFill/>
          </a:ln>
        </p:spPr>
      </p:pic>
      <p:sp>
        <p:nvSpPr>
          <p:cNvPr id="293" name="Google Shape;293;p30"/>
          <p:cNvSpPr txBox="1"/>
          <p:nvPr/>
        </p:nvSpPr>
        <p:spPr>
          <a:xfrm>
            <a:off x="453750" y="1937375"/>
            <a:ext cx="8231700" cy="8127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Configure Middleware: </a:t>
            </a:r>
            <a:r>
              <a:rPr lang="en" sz="1200" b="0" i="0" u="none" strike="noStrike" cap="none">
                <a:solidFill>
                  <a:srgbClr val="181717"/>
                </a:solidFill>
                <a:highlight>
                  <a:schemeClr val="lt1"/>
                </a:highlight>
                <a:latin typeface="Lato"/>
                <a:ea typeface="Lato"/>
                <a:cs typeface="Lato"/>
                <a:sym typeface="Lato"/>
              </a:rPr>
              <a:t>We can configure middleware in the </a:t>
            </a:r>
            <a:r>
              <a:rPr lang="en" sz="1200" b="0" i="0" u="none" strike="noStrike" cap="none">
                <a:solidFill>
                  <a:schemeClr val="dk1"/>
                </a:solidFill>
                <a:highlight>
                  <a:srgbClr val="D9E5F3"/>
                </a:highlight>
                <a:latin typeface="Lato"/>
                <a:ea typeface="Lato"/>
                <a:cs typeface="Lato"/>
                <a:sym typeface="Lato"/>
              </a:rPr>
              <a:t>Program.cs </a:t>
            </a:r>
            <a:r>
              <a:rPr lang="en" sz="1200" b="0" i="0" u="none" strike="noStrike" cap="none">
                <a:solidFill>
                  <a:srgbClr val="181717"/>
                </a:solidFill>
                <a:highlight>
                  <a:schemeClr val="lt1"/>
                </a:highlight>
                <a:latin typeface="Lato"/>
                <a:ea typeface="Lato"/>
                <a:cs typeface="Lato"/>
                <a:sym typeface="Lato"/>
              </a:rPr>
              <a:t> file  using </a:t>
            </a:r>
            <a:r>
              <a:rPr lang="en" sz="1200" b="0" i="0" u="none" strike="noStrike" cap="none">
                <a:solidFill>
                  <a:schemeClr val="dk1"/>
                </a:solidFill>
                <a:highlight>
                  <a:srgbClr val="D9E5F3"/>
                </a:highlight>
                <a:latin typeface="Lato"/>
                <a:ea typeface="Lato"/>
                <a:cs typeface="Lato"/>
                <a:sym typeface="Lato"/>
              </a:rPr>
              <a:t>WebApplication </a:t>
            </a:r>
            <a:r>
              <a:rPr lang="en" sz="1200" b="0" i="0" u="none" strike="noStrike" cap="none">
                <a:solidFill>
                  <a:srgbClr val="181717"/>
                </a:solidFill>
                <a:highlight>
                  <a:schemeClr val="lt1"/>
                </a:highlight>
                <a:latin typeface="Lato"/>
                <a:ea typeface="Lato"/>
                <a:cs typeface="Lato"/>
                <a:sym typeface="Lato"/>
              </a:rPr>
              <a:t>instance. The following example adds a single middleware using Run method which returns a string "Hello world from 1rst middleware" on each request.</a:t>
            </a:r>
            <a:endParaRPr sz="1200" b="1" i="0" u="none" strike="noStrike" cap="none">
              <a:solidFill>
                <a:srgbClr val="181717"/>
              </a:solidFill>
              <a:highlight>
                <a:srgbClr val="FFFFFF"/>
              </a:highlight>
              <a:latin typeface="Lato"/>
              <a:ea typeface="Lato"/>
              <a:cs typeface="Lato"/>
              <a:sym typeface="Lato"/>
            </a:endParaRPr>
          </a:p>
        </p:txBody>
      </p:sp>
      <p:pic>
        <p:nvPicPr>
          <p:cNvPr id="294" name="Google Shape;294;p30"/>
          <p:cNvPicPr preferRelativeResize="0"/>
          <p:nvPr/>
        </p:nvPicPr>
        <p:blipFill rotWithShape="1">
          <a:blip r:embed="rId6">
            <a:alphaModFix/>
          </a:blip>
          <a:srcRect/>
          <a:stretch/>
        </p:blipFill>
        <p:spPr>
          <a:xfrm>
            <a:off x="343955" y="2061375"/>
            <a:ext cx="61722" cy="109728"/>
          </a:xfrm>
          <a:prstGeom prst="rect">
            <a:avLst/>
          </a:prstGeom>
          <a:noFill/>
          <a:ln>
            <a:noFill/>
          </a:ln>
        </p:spPr>
      </p:pic>
      <p:sp>
        <p:nvSpPr>
          <p:cNvPr id="295" name="Google Shape;295;p30"/>
          <p:cNvSpPr txBox="1"/>
          <p:nvPr/>
        </p:nvSpPr>
        <p:spPr>
          <a:xfrm>
            <a:off x="453525" y="2687050"/>
            <a:ext cx="82317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In the given example, </a:t>
            </a:r>
            <a:r>
              <a:rPr lang="en" sz="1200" b="0" i="0" u="none" strike="noStrike" cap="none">
                <a:solidFill>
                  <a:schemeClr val="dk1"/>
                </a:solidFill>
                <a:highlight>
                  <a:srgbClr val="D9E5F3"/>
                </a:highlight>
                <a:latin typeface="Lato"/>
                <a:ea typeface="Lato"/>
                <a:cs typeface="Lato"/>
                <a:sym typeface="Lato"/>
              </a:rPr>
              <a:t>Run()</a:t>
            </a:r>
            <a:r>
              <a:rPr lang="en" sz="1200" b="0" i="0" u="none" strike="noStrike" cap="none">
                <a:solidFill>
                  <a:srgbClr val="181717"/>
                </a:solidFill>
                <a:highlight>
                  <a:srgbClr val="FFFFFF"/>
                </a:highlight>
                <a:latin typeface="Lato"/>
                <a:ea typeface="Lato"/>
                <a:cs typeface="Lato"/>
                <a:sym typeface="Lato"/>
              </a:rPr>
              <a:t> is an extension method on </a:t>
            </a:r>
            <a:r>
              <a:rPr lang="en" sz="1200" b="0" i="0" u="none" strike="noStrike" cap="none">
                <a:solidFill>
                  <a:schemeClr val="dk1"/>
                </a:solidFill>
                <a:highlight>
                  <a:srgbClr val="D9E5F3"/>
                </a:highlight>
                <a:latin typeface="Lato"/>
                <a:ea typeface="Lato"/>
                <a:cs typeface="Lato"/>
                <a:sym typeface="Lato"/>
              </a:rPr>
              <a:t>WebApplication </a:t>
            </a:r>
            <a:r>
              <a:rPr lang="en" sz="1200" b="0" i="0" u="none" strike="noStrike" cap="none">
                <a:solidFill>
                  <a:srgbClr val="181717"/>
                </a:solidFill>
                <a:highlight>
                  <a:srgbClr val="FFFFFF"/>
                </a:highlight>
                <a:latin typeface="Lato"/>
                <a:ea typeface="Lato"/>
                <a:cs typeface="Lato"/>
                <a:sym typeface="Lato"/>
              </a:rPr>
              <a:t>instance which adds a terminal middleware to the application's request pipeline. The above configured middleware returns a response with a string "</a:t>
            </a:r>
            <a:r>
              <a:rPr lang="en" sz="1200" b="0" i="0" u="none" strike="noStrike" cap="none">
                <a:solidFill>
                  <a:srgbClr val="181717"/>
                </a:solidFill>
                <a:highlight>
                  <a:schemeClr val="lt1"/>
                </a:highlight>
                <a:latin typeface="Lato"/>
                <a:ea typeface="Lato"/>
                <a:cs typeface="Lato"/>
                <a:sym typeface="Lato"/>
              </a:rPr>
              <a:t>Hello world from 1rst middleware</a:t>
            </a:r>
            <a:r>
              <a:rPr lang="en" sz="1200" b="0" i="0" u="none" strike="noStrike" cap="none">
                <a:solidFill>
                  <a:srgbClr val="181717"/>
                </a:solidFill>
                <a:highlight>
                  <a:srgbClr val="FFFFFF"/>
                </a:highlight>
                <a:latin typeface="Lato"/>
                <a:ea typeface="Lato"/>
                <a:cs typeface="Lato"/>
                <a:sym typeface="Lato"/>
              </a:rPr>
              <a:t>" for each request.</a:t>
            </a:r>
            <a:endParaRPr sz="1200" b="1" i="0" u="none" strike="noStrike" cap="none">
              <a:solidFill>
                <a:srgbClr val="181717"/>
              </a:solidFill>
              <a:highlight>
                <a:srgbClr val="FFFFFF"/>
              </a:highlight>
              <a:latin typeface="Lato"/>
              <a:ea typeface="Lato"/>
              <a:cs typeface="Lato"/>
              <a:sym typeface="Lato"/>
            </a:endParaRPr>
          </a:p>
        </p:txBody>
      </p:sp>
      <p:pic>
        <p:nvPicPr>
          <p:cNvPr id="296" name="Google Shape;296;p30"/>
          <p:cNvPicPr preferRelativeResize="0"/>
          <p:nvPr/>
        </p:nvPicPr>
        <p:blipFill rotWithShape="1">
          <a:blip r:embed="rId6">
            <a:alphaModFix/>
          </a:blip>
          <a:srcRect/>
          <a:stretch/>
        </p:blipFill>
        <p:spPr>
          <a:xfrm>
            <a:off x="343766" y="2811061"/>
            <a:ext cx="61722" cy="109728"/>
          </a:xfrm>
          <a:prstGeom prst="rect">
            <a:avLst/>
          </a:prstGeom>
          <a:noFill/>
          <a:ln>
            <a:noFill/>
          </a:ln>
        </p:spPr>
      </p:pic>
      <p:pic>
        <p:nvPicPr>
          <p:cNvPr id="297" name="Google Shape;297;p30"/>
          <p:cNvPicPr preferRelativeResize="0"/>
          <p:nvPr/>
        </p:nvPicPr>
        <p:blipFill rotWithShape="1">
          <a:blip r:embed="rId7">
            <a:alphaModFix/>
          </a:blip>
          <a:srcRect b="52141"/>
          <a:stretch/>
        </p:blipFill>
        <p:spPr>
          <a:xfrm>
            <a:off x="533400" y="3615100"/>
            <a:ext cx="7924800" cy="948775"/>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3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03" name="Google Shape;303;p3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04" name="Google Shape;304;p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05" name="Google Shape;305;p31"/>
          <p:cNvSpPr txBox="1"/>
          <p:nvPr/>
        </p:nvSpPr>
        <p:spPr>
          <a:xfrm>
            <a:off x="3107250" y="46313"/>
            <a:ext cx="2904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Middleware</a:t>
            </a:r>
            <a:endParaRPr sz="2000" b="1" i="0" u="none" strike="noStrike" cap="none">
              <a:solidFill>
                <a:srgbClr val="FFFFFF"/>
              </a:solidFill>
              <a:latin typeface="Lato"/>
              <a:ea typeface="Lato"/>
              <a:cs typeface="Lato"/>
              <a:sym typeface="Lato"/>
            </a:endParaRPr>
          </a:p>
        </p:txBody>
      </p:sp>
      <p:sp>
        <p:nvSpPr>
          <p:cNvPr id="306" name="Google Shape;306;p31"/>
          <p:cNvSpPr txBox="1"/>
          <p:nvPr/>
        </p:nvSpPr>
        <p:spPr>
          <a:xfrm>
            <a:off x="606152" y="718175"/>
            <a:ext cx="8020800" cy="8127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Mostly there will be multiple middleware components in ASP.NET Core application which will be executed sequentially. The Run method adds a terminal middleware so it cannot call next middleware as it would be the last middleware in a sequence. The following will always execute the first Run method and will never reach the second Run method.</a:t>
            </a:r>
            <a:endParaRPr sz="1200" b="1" i="0" u="none" strike="noStrike" cap="none">
              <a:solidFill>
                <a:srgbClr val="181717"/>
              </a:solidFill>
              <a:highlight>
                <a:srgbClr val="FFFFFF"/>
              </a:highlight>
              <a:latin typeface="Lato"/>
              <a:ea typeface="Lato"/>
              <a:cs typeface="Lato"/>
              <a:sym typeface="Lato"/>
            </a:endParaRPr>
          </a:p>
        </p:txBody>
      </p:sp>
      <p:pic>
        <p:nvPicPr>
          <p:cNvPr id="307" name="Google Shape;307;p31"/>
          <p:cNvPicPr preferRelativeResize="0"/>
          <p:nvPr/>
        </p:nvPicPr>
        <p:blipFill rotWithShape="1">
          <a:blip r:embed="rId5">
            <a:alphaModFix/>
          </a:blip>
          <a:srcRect/>
          <a:stretch/>
        </p:blipFill>
        <p:spPr>
          <a:xfrm>
            <a:off x="496355" y="842174"/>
            <a:ext cx="61722" cy="109728"/>
          </a:xfrm>
          <a:prstGeom prst="rect">
            <a:avLst/>
          </a:prstGeom>
          <a:noFill/>
          <a:ln>
            <a:noFill/>
          </a:ln>
        </p:spPr>
      </p:pic>
      <p:sp>
        <p:nvSpPr>
          <p:cNvPr id="308" name="Google Shape;308;p31"/>
          <p:cNvSpPr txBox="1"/>
          <p:nvPr/>
        </p:nvSpPr>
        <p:spPr>
          <a:xfrm>
            <a:off x="606152" y="1480175"/>
            <a:ext cx="8020800" cy="5910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To configure multiple middleware, use </a:t>
            </a:r>
            <a:r>
              <a:rPr lang="en" sz="1200" b="0" i="0" u="none" strike="noStrike" cap="none">
                <a:solidFill>
                  <a:schemeClr val="dk1"/>
                </a:solidFill>
                <a:highlight>
                  <a:srgbClr val="D9E5F3"/>
                </a:highlight>
                <a:latin typeface="Lato"/>
                <a:ea typeface="Lato"/>
                <a:cs typeface="Lato"/>
                <a:sym typeface="Lato"/>
              </a:rPr>
              <a:t>Use()</a:t>
            </a:r>
            <a:r>
              <a:rPr lang="en" sz="1200" b="0" i="0" u="none" strike="noStrike" cap="none">
                <a:solidFill>
                  <a:srgbClr val="181717"/>
                </a:solidFill>
                <a:highlight>
                  <a:srgbClr val="FFFFFF"/>
                </a:highlight>
                <a:latin typeface="Lato"/>
                <a:ea typeface="Lato"/>
                <a:cs typeface="Lato"/>
                <a:sym typeface="Lato"/>
              </a:rPr>
              <a:t> extension method. It is similar to </a:t>
            </a:r>
            <a:r>
              <a:rPr lang="en" sz="1200" b="0" i="0" u="none" strike="noStrike" cap="none">
                <a:solidFill>
                  <a:schemeClr val="dk1"/>
                </a:solidFill>
                <a:highlight>
                  <a:srgbClr val="D9E5F3"/>
                </a:highlight>
                <a:latin typeface="Lato"/>
                <a:ea typeface="Lato"/>
                <a:cs typeface="Lato"/>
                <a:sym typeface="Lato"/>
              </a:rPr>
              <a:t>Run()</a:t>
            </a:r>
            <a:r>
              <a:rPr lang="en" sz="1200" b="0" i="0" u="none" strike="noStrike" cap="none">
                <a:solidFill>
                  <a:srgbClr val="181717"/>
                </a:solidFill>
                <a:highlight>
                  <a:srgbClr val="FFFFFF"/>
                </a:highlight>
                <a:latin typeface="Lato"/>
                <a:ea typeface="Lato"/>
                <a:cs typeface="Lato"/>
                <a:sym typeface="Lato"/>
              </a:rPr>
              <a:t> method except that it includes next parameter to invoke next middleware in the sequence.</a:t>
            </a:r>
            <a:endParaRPr sz="1200" b="1" i="0" u="none" strike="noStrike" cap="none">
              <a:solidFill>
                <a:srgbClr val="181717"/>
              </a:solidFill>
              <a:highlight>
                <a:srgbClr val="FFFFFF"/>
              </a:highlight>
              <a:latin typeface="Lato"/>
              <a:ea typeface="Lato"/>
              <a:cs typeface="Lato"/>
              <a:sym typeface="Lato"/>
            </a:endParaRPr>
          </a:p>
        </p:txBody>
      </p:sp>
      <p:pic>
        <p:nvPicPr>
          <p:cNvPr id="309" name="Google Shape;309;p31"/>
          <p:cNvPicPr preferRelativeResize="0"/>
          <p:nvPr/>
        </p:nvPicPr>
        <p:blipFill rotWithShape="1">
          <a:blip r:embed="rId5">
            <a:alphaModFix/>
          </a:blip>
          <a:srcRect/>
          <a:stretch/>
        </p:blipFill>
        <p:spPr>
          <a:xfrm>
            <a:off x="496355" y="1604175"/>
            <a:ext cx="61722" cy="109728"/>
          </a:xfrm>
          <a:prstGeom prst="rect">
            <a:avLst/>
          </a:prstGeom>
          <a:noFill/>
          <a:ln>
            <a:noFill/>
          </a:ln>
        </p:spPr>
      </p:pic>
      <p:pic>
        <p:nvPicPr>
          <p:cNvPr id="310" name="Google Shape;310;p31"/>
          <p:cNvPicPr preferRelativeResize="0"/>
          <p:nvPr/>
        </p:nvPicPr>
        <p:blipFill rotWithShape="1">
          <a:blip r:embed="rId6">
            <a:alphaModFix/>
          </a:blip>
          <a:srcRect/>
          <a:stretch/>
        </p:blipFill>
        <p:spPr>
          <a:xfrm>
            <a:off x="756775" y="2166200"/>
            <a:ext cx="7549974" cy="1657938"/>
          </a:xfrm>
          <a:prstGeom prst="rect">
            <a:avLst/>
          </a:prstGeom>
          <a:noFill/>
          <a:ln>
            <a:noFill/>
          </a:ln>
        </p:spPr>
      </p:pic>
      <p:sp>
        <p:nvSpPr>
          <p:cNvPr id="311" name="Google Shape;311;p31"/>
          <p:cNvSpPr txBox="1"/>
          <p:nvPr/>
        </p:nvSpPr>
        <p:spPr>
          <a:xfrm>
            <a:off x="606152" y="3918575"/>
            <a:ext cx="8020800" cy="8127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Add Built-in Middleware Via NuGet: </a:t>
            </a:r>
            <a:r>
              <a:rPr lang="en" sz="1200" b="0" i="0" u="none" strike="noStrike" cap="none">
                <a:solidFill>
                  <a:srgbClr val="181717"/>
                </a:solidFill>
                <a:highlight>
                  <a:schemeClr val="lt1"/>
                </a:highlight>
                <a:latin typeface="Lato"/>
                <a:ea typeface="Lato"/>
                <a:cs typeface="Lato"/>
                <a:sym typeface="Lato"/>
              </a:rPr>
              <a:t>ASP.NET Core is a modular framework. We can add server side features we need in our application by installing different plug-ins via NuGet. There are many middleware plug-ins available which can be used in our application.</a:t>
            </a:r>
            <a:endParaRPr sz="1200" b="1" i="0" u="none" strike="noStrike" cap="none">
              <a:solidFill>
                <a:srgbClr val="181717"/>
              </a:solidFill>
              <a:highlight>
                <a:srgbClr val="FFFFFF"/>
              </a:highlight>
              <a:latin typeface="Lato"/>
              <a:ea typeface="Lato"/>
              <a:cs typeface="Lato"/>
              <a:sym typeface="Lato"/>
            </a:endParaRPr>
          </a:p>
        </p:txBody>
      </p:sp>
      <p:pic>
        <p:nvPicPr>
          <p:cNvPr id="312" name="Google Shape;312;p31"/>
          <p:cNvPicPr preferRelativeResize="0"/>
          <p:nvPr/>
        </p:nvPicPr>
        <p:blipFill rotWithShape="1">
          <a:blip r:embed="rId5">
            <a:alphaModFix/>
          </a:blip>
          <a:srcRect/>
          <a:stretch/>
        </p:blipFill>
        <p:spPr>
          <a:xfrm>
            <a:off x="496355" y="4042575"/>
            <a:ext cx="61722" cy="109728"/>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18" name="Google Shape;318;p3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19" name="Google Shape;319;p3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20" name="Google Shape;320;p32"/>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321" name="Google Shape;321;p32"/>
          <p:cNvSpPr txBox="1"/>
          <p:nvPr/>
        </p:nvSpPr>
        <p:spPr>
          <a:xfrm>
            <a:off x="606152" y="641975"/>
            <a:ext cx="8020800" cy="5910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ASP.NET Core - Dependency Injection: </a:t>
            </a:r>
            <a:r>
              <a:rPr lang="en" sz="1200" b="0" i="0" u="none" strike="noStrike" cap="none">
                <a:solidFill>
                  <a:schemeClr val="dk1"/>
                </a:solidFill>
                <a:highlight>
                  <a:schemeClr val="lt1"/>
                </a:highlight>
                <a:latin typeface="Lato"/>
                <a:ea typeface="Lato"/>
                <a:cs typeface="Lato"/>
                <a:sym typeface="Lato"/>
              </a:rPr>
              <a:t>ASP.NET Core is designed from scratch to support </a:t>
            </a:r>
            <a:r>
              <a:rPr lang="en" sz="1200" b="0" i="0" u="none" strike="noStrike" cap="none">
                <a:solidFill>
                  <a:schemeClr val="dk1"/>
                </a:solidFill>
                <a:highlight>
                  <a:schemeClr val="lt1"/>
                </a:highlight>
                <a:uFill>
                  <a:noFill/>
                </a:uFill>
                <a:latin typeface="Lato"/>
                <a:ea typeface="Lato"/>
                <a:cs typeface="Lato"/>
                <a:sym typeface="Lato"/>
                <a:hlinkClick r:id="rId5">
                  <a:extLst>
                    <a:ext uri="{A12FA001-AC4F-418D-AE19-62706E023703}">
                      <ahyp:hlinkClr xmlns:ahyp="http://schemas.microsoft.com/office/drawing/2018/hyperlinkcolor" val="tx"/>
                    </a:ext>
                  </a:extLst>
                </a:hlinkClick>
              </a:rPr>
              <a:t>Dependency Injection</a:t>
            </a:r>
            <a:r>
              <a:rPr lang="en" sz="1200" b="0" i="0" u="none" strike="noStrike" cap="none">
                <a:solidFill>
                  <a:schemeClr val="dk1"/>
                </a:solidFill>
                <a:highlight>
                  <a:schemeClr val="lt1"/>
                </a:highlight>
                <a:latin typeface="Lato"/>
                <a:ea typeface="Lato"/>
                <a:cs typeface="Lato"/>
                <a:sym typeface="Lato"/>
              </a:rPr>
              <a:t>. ASP.NET Core injects objects of dependency classes through constructor or method by using built-in </a:t>
            </a:r>
            <a:r>
              <a:rPr lang="en" sz="1200" b="0" i="0" u="none" strike="noStrike" cap="none">
                <a:solidFill>
                  <a:schemeClr val="dk1"/>
                </a:solidFill>
                <a:highlight>
                  <a:schemeClr val="lt1"/>
                </a:highlight>
                <a:uFill>
                  <a:noFill/>
                </a:uFill>
                <a:latin typeface="Lato"/>
                <a:ea typeface="Lato"/>
                <a:cs typeface="Lato"/>
                <a:sym typeface="Lato"/>
                <a:hlinkClick r:id="rId6">
                  <a:extLst>
                    <a:ext uri="{A12FA001-AC4F-418D-AE19-62706E023703}">
                      <ahyp:hlinkClr xmlns:ahyp="http://schemas.microsoft.com/office/drawing/2018/hyperlinkcolor" val="tx"/>
                    </a:ext>
                  </a:extLst>
                </a:hlinkClick>
              </a:rPr>
              <a:t>IoC contain</a:t>
            </a:r>
            <a:r>
              <a:rPr lang="en" sz="1200" b="0" i="0" u="none" strike="noStrike" cap="none">
                <a:solidFill>
                  <a:schemeClr val="dk1"/>
                </a:solidFill>
                <a:highlight>
                  <a:schemeClr val="lt1"/>
                </a:highlight>
                <a:latin typeface="Lato"/>
                <a:ea typeface="Lato"/>
                <a:cs typeface="Lato"/>
                <a:sym typeface="Lato"/>
              </a:rPr>
              <a:t>er.</a:t>
            </a:r>
            <a:endParaRPr sz="1200" b="0" i="0" u="none" strike="noStrike" cap="none">
              <a:solidFill>
                <a:srgbClr val="181717"/>
              </a:solidFill>
              <a:highlight>
                <a:srgbClr val="FFFFFF"/>
              </a:highlight>
              <a:latin typeface="Lato"/>
              <a:ea typeface="Lato"/>
              <a:cs typeface="Lato"/>
              <a:sym typeface="Lato"/>
            </a:endParaRPr>
          </a:p>
        </p:txBody>
      </p:sp>
      <p:pic>
        <p:nvPicPr>
          <p:cNvPr id="322" name="Google Shape;322;p32"/>
          <p:cNvPicPr preferRelativeResize="0"/>
          <p:nvPr/>
        </p:nvPicPr>
        <p:blipFill rotWithShape="1">
          <a:blip r:embed="rId7">
            <a:alphaModFix/>
          </a:blip>
          <a:srcRect/>
          <a:stretch/>
        </p:blipFill>
        <p:spPr>
          <a:xfrm>
            <a:off x="496355" y="765975"/>
            <a:ext cx="61722" cy="109728"/>
          </a:xfrm>
          <a:prstGeom prst="rect">
            <a:avLst/>
          </a:prstGeom>
          <a:noFill/>
          <a:ln>
            <a:noFill/>
          </a:ln>
        </p:spPr>
      </p:pic>
      <p:sp>
        <p:nvSpPr>
          <p:cNvPr id="323" name="Google Shape;323;p32"/>
          <p:cNvSpPr txBox="1"/>
          <p:nvPr/>
        </p:nvSpPr>
        <p:spPr>
          <a:xfrm>
            <a:off x="606152" y="1175375"/>
            <a:ext cx="80208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Built-in IoC Container</a:t>
            </a:r>
            <a:endParaRPr sz="1200" b="1" i="0" u="none" strike="noStrike" cap="none">
              <a:solidFill>
                <a:srgbClr val="181717"/>
              </a:solidFill>
              <a:highlight>
                <a:srgbClr val="FFFFFF"/>
              </a:highlight>
              <a:latin typeface="Lato"/>
              <a:ea typeface="Lato"/>
              <a:cs typeface="Lato"/>
              <a:sym typeface="Lato"/>
            </a:endParaRPr>
          </a:p>
        </p:txBody>
      </p:sp>
      <p:pic>
        <p:nvPicPr>
          <p:cNvPr id="324" name="Google Shape;324;p32"/>
          <p:cNvPicPr preferRelativeResize="0"/>
          <p:nvPr/>
        </p:nvPicPr>
        <p:blipFill rotWithShape="1">
          <a:blip r:embed="rId7">
            <a:alphaModFix/>
          </a:blip>
          <a:srcRect/>
          <a:stretch/>
        </p:blipFill>
        <p:spPr>
          <a:xfrm>
            <a:off x="496355" y="1299375"/>
            <a:ext cx="61722" cy="109728"/>
          </a:xfrm>
          <a:prstGeom prst="rect">
            <a:avLst/>
          </a:prstGeom>
          <a:noFill/>
          <a:ln>
            <a:noFill/>
          </a:ln>
        </p:spPr>
      </p:pic>
      <p:sp>
        <p:nvSpPr>
          <p:cNvPr id="325" name="Google Shape;325;p32"/>
          <p:cNvSpPr txBox="1"/>
          <p:nvPr/>
        </p:nvSpPr>
        <p:spPr>
          <a:xfrm>
            <a:off x="606152" y="1480175"/>
            <a:ext cx="80208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ASP.NET Core framework contains simple out-of-the-box IoC container which does not have as many features as other third party IoC containers. If you want more features such as auto-registration, scanning, interceptors, or decorators then you may replace built-in IoC container with a third party container.</a:t>
            </a:r>
            <a:endParaRPr sz="1200" b="1" i="0" u="none" strike="noStrike" cap="none">
              <a:solidFill>
                <a:schemeClr val="dk1"/>
              </a:solidFill>
              <a:highlight>
                <a:srgbClr val="FFFFFF"/>
              </a:highlight>
              <a:latin typeface="Lato"/>
              <a:ea typeface="Lato"/>
              <a:cs typeface="Lato"/>
              <a:sym typeface="Lato"/>
            </a:endParaRPr>
          </a:p>
        </p:txBody>
      </p:sp>
      <p:pic>
        <p:nvPicPr>
          <p:cNvPr id="326" name="Google Shape;326;p32"/>
          <p:cNvPicPr preferRelativeResize="0"/>
          <p:nvPr/>
        </p:nvPicPr>
        <p:blipFill rotWithShape="1">
          <a:blip r:embed="rId7">
            <a:alphaModFix/>
          </a:blip>
          <a:srcRect/>
          <a:stretch/>
        </p:blipFill>
        <p:spPr>
          <a:xfrm>
            <a:off x="496355" y="1604175"/>
            <a:ext cx="61722" cy="109728"/>
          </a:xfrm>
          <a:prstGeom prst="rect">
            <a:avLst/>
          </a:prstGeom>
          <a:noFill/>
          <a:ln>
            <a:noFill/>
          </a:ln>
        </p:spPr>
      </p:pic>
      <p:sp>
        <p:nvSpPr>
          <p:cNvPr id="327" name="Google Shape;327;p32"/>
          <p:cNvSpPr txBox="1"/>
          <p:nvPr/>
        </p:nvSpPr>
        <p:spPr>
          <a:xfrm>
            <a:off x="606152" y="2242175"/>
            <a:ext cx="8020800" cy="5910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The built-in container is represented by </a:t>
            </a:r>
            <a:r>
              <a:rPr lang="en" sz="1200" b="0" i="0" u="none" strike="noStrike" cap="none">
                <a:solidFill>
                  <a:schemeClr val="dk1"/>
                </a:solidFill>
                <a:highlight>
                  <a:srgbClr val="D9E5F3"/>
                </a:highlight>
                <a:latin typeface="Lato"/>
                <a:ea typeface="Lato"/>
                <a:cs typeface="Lato"/>
                <a:sym typeface="Lato"/>
              </a:rPr>
              <a:t>IServiceProvider</a:t>
            </a:r>
            <a:r>
              <a:rPr lang="en" sz="1200" b="0" i="0" u="none" strike="noStrike" cap="none">
                <a:solidFill>
                  <a:srgbClr val="181717"/>
                </a:solidFill>
                <a:highlight>
                  <a:srgbClr val="FFFFFF"/>
                </a:highlight>
                <a:latin typeface="Lato"/>
                <a:ea typeface="Lato"/>
                <a:cs typeface="Lato"/>
                <a:sym typeface="Lato"/>
              </a:rPr>
              <a:t> implementation that supports constructor injection by default. The types (classes) managed by built-in IoC container are called services.</a:t>
            </a:r>
            <a:endParaRPr sz="1200" b="1" i="0" u="none" strike="noStrike" cap="none">
              <a:solidFill>
                <a:schemeClr val="dk1"/>
              </a:solidFill>
              <a:highlight>
                <a:srgbClr val="FFFFFF"/>
              </a:highlight>
              <a:latin typeface="Lato"/>
              <a:ea typeface="Lato"/>
              <a:cs typeface="Lato"/>
              <a:sym typeface="Lato"/>
            </a:endParaRPr>
          </a:p>
        </p:txBody>
      </p:sp>
      <p:pic>
        <p:nvPicPr>
          <p:cNvPr id="328" name="Google Shape;328;p32"/>
          <p:cNvPicPr preferRelativeResize="0"/>
          <p:nvPr/>
        </p:nvPicPr>
        <p:blipFill rotWithShape="1">
          <a:blip r:embed="rId7">
            <a:alphaModFix/>
          </a:blip>
          <a:srcRect/>
          <a:stretch/>
        </p:blipFill>
        <p:spPr>
          <a:xfrm>
            <a:off x="496355" y="2366175"/>
            <a:ext cx="61722" cy="109728"/>
          </a:xfrm>
          <a:prstGeom prst="rect">
            <a:avLst/>
          </a:prstGeom>
          <a:noFill/>
          <a:ln>
            <a:noFill/>
          </a:ln>
        </p:spPr>
      </p:pic>
      <p:sp>
        <p:nvSpPr>
          <p:cNvPr id="329" name="Google Shape;329;p32"/>
          <p:cNvSpPr txBox="1"/>
          <p:nvPr/>
        </p:nvSpPr>
        <p:spPr>
          <a:xfrm>
            <a:off x="606152" y="2775575"/>
            <a:ext cx="8020800" cy="1305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There are basically two types of services in ASP.NET Core:</a:t>
            </a:r>
            <a:endParaRPr sz="1200" b="1" i="0" u="none" strike="noStrike" cap="none">
              <a:solidFill>
                <a:srgbClr val="181717"/>
              </a:solidFill>
              <a:highlight>
                <a:srgbClr val="FFFFFF"/>
              </a:highlight>
              <a:latin typeface="Lato"/>
              <a:ea typeface="Lato"/>
              <a:cs typeface="Lato"/>
              <a:sym typeface="Lato"/>
            </a:endParaRPr>
          </a:p>
          <a:p>
            <a:pPr marL="457200" marR="0" lvl="0" indent="-304800" algn="just" rtl="0">
              <a:lnSpc>
                <a:spcPct val="115000"/>
              </a:lnSpc>
              <a:spcBef>
                <a:spcPts val="600"/>
              </a:spcBef>
              <a:spcAft>
                <a:spcPts val="0"/>
              </a:spcAft>
              <a:buClr>
                <a:srgbClr val="181717"/>
              </a:buClr>
              <a:buSzPts val="1200"/>
              <a:buFont typeface="Lato"/>
              <a:buAutoNum type="arabicPeriod"/>
            </a:pPr>
            <a:r>
              <a:rPr lang="en" sz="1200" b="0" i="0" u="none" strike="noStrike" cap="none">
                <a:solidFill>
                  <a:srgbClr val="181717"/>
                </a:solidFill>
                <a:highlight>
                  <a:schemeClr val="lt1"/>
                </a:highlight>
                <a:latin typeface="Lato"/>
                <a:ea typeface="Lato"/>
                <a:cs typeface="Lato"/>
                <a:sym typeface="Lato"/>
              </a:rPr>
              <a:t>Framework Services: Services which are a part of ASP.NET Core framework such as IApplicationBuilder, IHostingEnvironment, ILoggerFactory etc.</a:t>
            </a:r>
            <a:endParaRPr sz="1200" b="0" i="0" u="none" strike="noStrike" cap="none">
              <a:solidFill>
                <a:srgbClr val="181717"/>
              </a:solidFill>
              <a:highlight>
                <a:schemeClr val="lt1"/>
              </a:highlight>
              <a:latin typeface="Lato"/>
              <a:ea typeface="Lato"/>
              <a:cs typeface="Lato"/>
              <a:sym typeface="Lato"/>
            </a:endParaRPr>
          </a:p>
          <a:p>
            <a:pPr marL="457200" marR="0" lvl="0" indent="-304800" algn="just" rtl="0">
              <a:lnSpc>
                <a:spcPct val="115000"/>
              </a:lnSpc>
              <a:spcBef>
                <a:spcPts val="0"/>
              </a:spcBef>
              <a:spcAft>
                <a:spcPts val="0"/>
              </a:spcAft>
              <a:buClr>
                <a:srgbClr val="181717"/>
              </a:buClr>
              <a:buSzPts val="1200"/>
              <a:buFont typeface="Lato"/>
              <a:buAutoNum type="arabicPeriod"/>
            </a:pPr>
            <a:r>
              <a:rPr lang="en" sz="1200" b="0" i="0" u="none" strike="noStrike" cap="none">
                <a:solidFill>
                  <a:srgbClr val="181717"/>
                </a:solidFill>
                <a:highlight>
                  <a:schemeClr val="lt1"/>
                </a:highlight>
                <a:latin typeface="Lato"/>
                <a:ea typeface="Lato"/>
                <a:cs typeface="Lato"/>
                <a:sym typeface="Lato"/>
              </a:rPr>
              <a:t>Application Services: The services (custom types or classes) which you as a programmer create for your application.</a:t>
            </a:r>
            <a:endParaRPr sz="1200" b="0" i="0" u="none" strike="noStrike" cap="none">
              <a:solidFill>
                <a:srgbClr val="181717"/>
              </a:solidFill>
              <a:highlight>
                <a:srgbClr val="FFFFFF"/>
              </a:highlight>
              <a:latin typeface="Lato"/>
              <a:ea typeface="Lato"/>
              <a:cs typeface="Lato"/>
              <a:sym typeface="Lato"/>
            </a:endParaRPr>
          </a:p>
        </p:txBody>
      </p:sp>
      <p:pic>
        <p:nvPicPr>
          <p:cNvPr id="330" name="Google Shape;330;p32"/>
          <p:cNvPicPr preferRelativeResize="0"/>
          <p:nvPr/>
        </p:nvPicPr>
        <p:blipFill rotWithShape="1">
          <a:blip r:embed="rId7">
            <a:alphaModFix/>
          </a:blip>
          <a:srcRect/>
          <a:stretch/>
        </p:blipFill>
        <p:spPr>
          <a:xfrm>
            <a:off x="496355" y="2899575"/>
            <a:ext cx="61722" cy="109728"/>
          </a:xfrm>
          <a:prstGeom prst="rect">
            <a:avLst/>
          </a:prstGeom>
          <a:noFill/>
          <a:ln>
            <a:noFill/>
          </a:ln>
        </p:spPr>
      </p:pic>
      <p:sp>
        <p:nvSpPr>
          <p:cNvPr id="331" name="Google Shape;331;p32"/>
          <p:cNvSpPr txBox="1"/>
          <p:nvPr/>
        </p:nvSpPr>
        <p:spPr>
          <a:xfrm>
            <a:off x="606152" y="4070975"/>
            <a:ext cx="8020800" cy="5910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2400"/>
              </a:spcBef>
              <a:spcAft>
                <a:spcPts val="6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In order to let the IoC container automatically inject our application services, we first need to register them with IoC container.</a:t>
            </a:r>
            <a:endParaRPr sz="1200" b="0" i="0" u="none" strike="noStrike" cap="none">
              <a:solidFill>
                <a:srgbClr val="181717"/>
              </a:solidFill>
              <a:highlight>
                <a:srgbClr val="FFFFFF"/>
              </a:highlight>
              <a:latin typeface="Lato"/>
              <a:ea typeface="Lato"/>
              <a:cs typeface="Lato"/>
              <a:sym typeface="Lato"/>
            </a:endParaRPr>
          </a:p>
        </p:txBody>
      </p:sp>
      <p:pic>
        <p:nvPicPr>
          <p:cNvPr id="332" name="Google Shape;332;p32"/>
          <p:cNvPicPr preferRelativeResize="0"/>
          <p:nvPr/>
        </p:nvPicPr>
        <p:blipFill rotWithShape="1">
          <a:blip r:embed="rId7">
            <a:alphaModFix/>
          </a:blip>
          <a:srcRect/>
          <a:stretch/>
        </p:blipFill>
        <p:spPr>
          <a:xfrm>
            <a:off x="496355" y="4194975"/>
            <a:ext cx="61722" cy="109728"/>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3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38" name="Google Shape;338;p3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39" name="Google Shape;339;p3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40" name="Google Shape;340;p33"/>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341" name="Google Shape;341;p33"/>
          <p:cNvSpPr txBox="1"/>
          <p:nvPr/>
        </p:nvSpPr>
        <p:spPr>
          <a:xfrm>
            <a:off x="606152" y="641975"/>
            <a:ext cx="8020800" cy="5910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Registering Application Service: </a:t>
            </a:r>
            <a:r>
              <a:rPr lang="en" sz="1200" b="0" i="0" u="none" strike="noStrike" cap="none">
                <a:solidFill>
                  <a:srgbClr val="181717"/>
                </a:solidFill>
                <a:highlight>
                  <a:schemeClr val="lt1"/>
                </a:highlight>
                <a:latin typeface="Lato"/>
                <a:ea typeface="Lato"/>
                <a:cs typeface="Lato"/>
                <a:sym typeface="Lato"/>
              </a:rPr>
              <a:t>Consider the following example of simple </a:t>
            </a:r>
            <a:r>
              <a:rPr lang="en" sz="1200" b="0" i="0" u="none" strike="noStrike" cap="none">
                <a:solidFill>
                  <a:schemeClr val="dk1"/>
                </a:solidFill>
                <a:highlight>
                  <a:srgbClr val="D9E5F3"/>
                </a:highlight>
                <a:latin typeface="Lato"/>
                <a:ea typeface="Lato"/>
                <a:cs typeface="Lato"/>
                <a:sym typeface="Lato"/>
              </a:rPr>
              <a:t>ILog</a:t>
            </a:r>
            <a:r>
              <a:rPr lang="en" sz="1200" b="0" i="0" u="none" strike="noStrike" cap="none">
                <a:solidFill>
                  <a:srgbClr val="181717"/>
                </a:solidFill>
                <a:highlight>
                  <a:schemeClr val="lt1"/>
                </a:highlight>
                <a:latin typeface="Lato"/>
                <a:ea typeface="Lato"/>
                <a:cs typeface="Lato"/>
                <a:sym typeface="Lato"/>
              </a:rPr>
              <a:t> interface and its implementation class. We will see how to register it with built-in IoC container and use it in our application.</a:t>
            </a:r>
            <a:endParaRPr sz="1200" b="0" i="0" u="none" strike="noStrike" cap="none">
              <a:solidFill>
                <a:srgbClr val="181717"/>
              </a:solidFill>
              <a:highlight>
                <a:srgbClr val="FFFFFF"/>
              </a:highlight>
              <a:latin typeface="Lato"/>
              <a:ea typeface="Lato"/>
              <a:cs typeface="Lato"/>
              <a:sym typeface="Lato"/>
            </a:endParaRPr>
          </a:p>
        </p:txBody>
      </p:sp>
      <p:pic>
        <p:nvPicPr>
          <p:cNvPr id="342" name="Google Shape;342;p33"/>
          <p:cNvPicPr preferRelativeResize="0"/>
          <p:nvPr/>
        </p:nvPicPr>
        <p:blipFill rotWithShape="1">
          <a:blip r:embed="rId5">
            <a:alphaModFix/>
          </a:blip>
          <a:srcRect/>
          <a:stretch/>
        </p:blipFill>
        <p:spPr>
          <a:xfrm>
            <a:off x="496355" y="765975"/>
            <a:ext cx="61722" cy="109728"/>
          </a:xfrm>
          <a:prstGeom prst="rect">
            <a:avLst/>
          </a:prstGeom>
          <a:noFill/>
          <a:ln>
            <a:noFill/>
          </a:ln>
        </p:spPr>
      </p:pic>
      <p:pic>
        <p:nvPicPr>
          <p:cNvPr id="343" name="Google Shape;343;p33"/>
          <p:cNvPicPr preferRelativeResize="0"/>
          <p:nvPr/>
        </p:nvPicPr>
        <p:blipFill rotWithShape="1">
          <a:blip r:embed="rId6">
            <a:alphaModFix/>
          </a:blip>
          <a:srcRect/>
          <a:stretch/>
        </p:blipFill>
        <p:spPr>
          <a:xfrm>
            <a:off x="1361200" y="1314875"/>
            <a:ext cx="6205899" cy="2429125"/>
          </a:xfrm>
          <a:prstGeom prst="rect">
            <a:avLst/>
          </a:prstGeom>
          <a:noFill/>
          <a:ln>
            <a:noFill/>
          </a:ln>
        </p:spPr>
      </p:pic>
      <p:sp>
        <p:nvSpPr>
          <p:cNvPr id="344" name="Google Shape;344;p33"/>
          <p:cNvSpPr txBox="1"/>
          <p:nvPr/>
        </p:nvSpPr>
        <p:spPr>
          <a:xfrm>
            <a:off x="606152" y="3766175"/>
            <a:ext cx="8020800" cy="8127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ASP.NET Core allows us to register our application services with IoC container, in the </a:t>
            </a:r>
            <a:r>
              <a:rPr lang="en" sz="1200" b="0" i="0" u="none" strike="noStrike" cap="none">
                <a:solidFill>
                  <a:schemeClr val="dk1"/>
                </a:solidFill>
                <a:highlight>
                  <a:srgbClr val="D9E5F3"/>
                </a:highlight>
                <a:latin typeface="Lato"/>
                <a:ea typeface="Lato"/>
                <a:cs typeface="Lato"/>
                <a:sym typeface="Lato"/>
              </a:rPr>
              <a:t>Program.cs </a:t>
            </a:r>
            <a:r>
              <a:rPr lang="en" sz="1200" b="0" i="0" u="none" strike="noStrike" cap="none">
                <a:solidFill>
                  <a:srgbClr val="181717"/>
                </a:solidFill>
                <a:highlight>
                  <a:srgbClr val="FFFFFF"/>
                </a:highlight>
                <a:latin typeface="Lato"/>
                <a:ea typeface="Lato"/>
                <a:cs typeface="Lato"/>
                <a:sym typeface="Lato"/>
              </a:rPr>
              <a:t>  there is a instance of WebApplicationBuilder and inside that there is Service property of type IServiceCollection, which is used to register application services.</a:t>
            </a:r>
            <a:endParaRPr sz="1200" b="1" i="0" u="none" strike="noStrike" cap="none">
              <a:solidFill>
                <a:srgbClr val="181717"/>
              </a:solidFill>
              <a:highlight>
                <a:srgbClr val="FFFFFF"/>
              </a:highlight>
              <a:latin typeface="Lato"/>
              <a:ea typeface="Lato"/>
              <a:cs typeface="Lato"/>
              <a:sym typeface="Lato"/>
            </a:endParaRPr>
          </a:p>
        </p:txBody>
      </p:sp>
      <p:pic>
        <p:nvPicPr>
          <p:cNvPr id="345" name="Google Shape;345;p33"/>
          <p:cNvPicPr preferRelativeResize="0"/>
          <p:nvPr/>
        </p:nvPicPr>
        <p:blipFill rotWithShape="1">
          <a:blip r:embed="rId5">
            <a:alphaModFix/>
          </a:blip>
          <a:srcRect/>
          <a:stretch/>
        </p:blipFill>
        <p:spPr>
          <a:xfrm>
            <a:off x="496355" y="3890175"/>
            <a:ext cx="61722" cy="109728"/>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3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51" name="Google Shape;351;p3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52" name="Google Shape;352;p3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53" name="Google Shape;353;p34"/>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354" name="Google Shape;354;p34"/>
          <p:cNvSpPr txBox="1"/>
          <p:nvPr/>
        </p:nvSpPr>
        <p:spPr>
          <a:xfrm>
            <a:off x="606152" y="718175"/>
            <a:ext cx="80208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Let's register </a:t>
            </a:r>
            <a:r>
              <a:rPr lang="en" sz="1200" b="0" i="0" u="none" strike="noStrike" cap="none">
                <a:solidFill>
                  <a:schemeClr val="dk1"/>
                </a:solidFill>
                <a:highlight>
                  <a:srgbClr val="D9E5F3"/>
                </a:highlight>
                <a:latin typeface="Lato"/>
                <a:ea typeface="Lato"/>
                <a:cs typeface="Lato"/>
                <a:sym typeface="Lato"/>
              </a:rPr>
              <a:t>ILog</a:t>
            </a:r>
            <a:r>
              <a:rPr lang="en" sz="1200" b="0" i="0" u="none" strike="noStrike" cap="none">
                <a:solidFill>
                  <a:srgbClr val="181717"/>
                </a:solidFill>
                <a:highlight>
                  <a:srgbClr val="FFFFFF"/>
                </a:highlight>
                <a:latin typeface="Lato"/>
                <a:ea typeface="Lato"/>
                <a:cs typeface="Lato"/>
                <a:sym typeface="Lato"/>
              </a:rPr>
              <a:t> with IoC container in Program.cs as shown below.</a:t>
            </a:r>
            <a:endParaRPr sz="1200" b="1" i="0" u="none" strike="noStrike" cap="none">
              <a:solidFill>
                <a:srgbClr val="181717"/>
              </a:solidFill>
              <a:highlight>
                <a:srgbClr val="FFFFFF"/>
              </a:highlight>
              <a:latin typeface="Lato"/>
              <a:ea typeface="Lato"/>
              <a:cs typeface="Lato"/>
              <a:sym typeface="Lato"/>
            </a:endParaRPr>
          </a:p>
        </p:txBody>
      </p:sp>
      <p:pic>
        <p:nvPicPr>
          <p:cNvPr id="355" name="Google Shape;355;p34"/>
          <p:cNvPicPr preferRelativeResize="0"/>
          <p:nvPr/>
        </p:nvPicPr>
        <p:blipFill rotWithShape="1">
          <a:blip r:embed="rId5">
            <a:alphaModFix/>
          </a:blip>
          <a:srcRect/>
          <a:stretch/>
        </p:blipFill>
        <p:spPr>
          <a:xfrm>
            <a:off x="496355" y="842174"/>
            <a:ext cx="61722" cy="109728"/>
          </a:xfrm>
          <a:prstGeom prst="rect">
            <a:avLst/>
          </a:prstGeom>
          <a:noFill/>
          <a:ln>
            <a:noFill/>
          </a:ln>
        </p:spPr>
      </p:pic>
      <p:pic>
        <p:nvPicPr>
          <p:cNvPr id="356" name="Google Shape;356;p34"/>
          <p:cNvPicPr preferRelativeResize="0"/>
          <p:nvPr/>
        </p:nvPicPr>
        <p:blipFill rotWithShape="1">
          <a:blip r:embed="rId5">
            <a:alphaModFix/>
          </a:blip>
          <a:srcRect/>
          <a:stretch/>
        </p:blipFill>
        <p:spPr>
          <a:xfrm>
            <a:off x="496355" y="3356775"/>
            <a:ext cx="61722" cy="109728"/>
          </a:xfrm>
          <a:prstGeom prst="rect">
            <a:avLst/>
          </a:prstGeom>
          <a:noFill/>
          <a:ln>
            <a:noFill/>
          </a:ln>
        </p:spPr>
      </p:pic>
      <p:pic>
        <p:nvPicPr>
          <p:cNvPr id="357" name="Google Shape;357;p34"/>
          <p:cNvPicPr preferRelativeResize="0"/>
          <p:nvPr/>
        </p:nvPicPr>
        <p:blipFill rotWithShape="1">
          <a:blip r:embed="rId6">
            <a:alphaModFix/>
          </a:blip>
          <a:srcRect/>
          <a:stretch/>
        </p:blipFill>
        <p:spPr>
          <a:xfrm>
            <a:off x="710476" y="1087475"/>
            <a:ext cx="7370912" cy="338176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pic>
        <p:nvPicPr>
          <p:cNvPr id="362" name="Google Shape;362;p3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63" name="Google Shape;363;p3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64" name="Google Shape;364;p3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65" name="Google Shape;365;p35"/>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366" name="Google Shape;366;p35"/>
          <p:cNvSpPr txBox="1"/>
          <p:nvPr/>
        </p:nvSpPr>
        <p:spPr>
          <a:xfrm>
            <a:off x="606152" y="946775"/>
            <a:ext cx="8020800" cy="5910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Understanding Service Lifetime: </a:t>
            </a:r>
            <a:r>
              <a:rPr lang="en" sz="1200" b="0" i="0" u="none" strike="noStrike" cap="none">
                <a:solidFill>
                  <a:srgbClr val="181717"/>
                </a:solidFill>
                <a:highlight>
                  <a:schemeClr val="lt1"/>
                </a:highlight>
                <a:latin typeface="Lato"/>
                <a:ea typeface="Lato"/>
                <a:cs typeface="Lato"/>
                <a:sym typeface="Lato"/>
              </a:rPr>
              <a:t>Built-in IoC container manages the lifetime of a registered service type. It automatically disposes a service instance based on the specified lifetime.</a:t>
            </a:r>
            <a:endParaRPr sz="1200" b="0" i="0" u="none" strike="noStrike" cap="none">
              <a:solidFill>
                <a:srgbClr val="181717"/>
              </a:solidFill>
              <a:highlight>
                <a:srgbClr val="FFFFFF"/>
              </a:highlight>
              <a:latin typeface="Lato"/>
              <a:ea typeface="Lato"/>
              <a:cs typeface="Lato"/>
              <a:sym typeface="Lato"/>
            </a:endParaRPr>
          </a:p>
        </p:txBody>
      </p:sp>
      <p:pic>
        <p:nvPicPr>
          <p:cNvPr id="367" name="Google Shape;367;p35"/>
          <p:cNvPicPr preferRelativeResize="0"/>
          <p:nvPr/>
        </p:nvPicPr>
        <p:blipFill rotWithShape="1">
          <a:blip r:embed="rId5">
            <a:alphaModFix/>
          </a:blip>
          <a:srcRect/>
          <a:stretch/>
        </p:blipFill>
        <p:spPr>
          <a:xfrm>
            <a:off x="496355" y="1070775"/>
            <a:ext cx="61722" cy="109728"/>
          </a:xfrm>
          <a:prstGeom prst="rect">
            <a:avLst/>
          </a:prstGeom>
          <a:noFill/>
          <a:ln>
            <a:noFill/>
          </a:ln>
        </p:spPr>
      </p:pic>
      <p:sp>
        <p:nvSpPr>
          <p:cNvPr id="368" name="Google Shape;368;p35"/>
          <p:cNvSpPr txBox="1"/>
          <p:nvPr/>
        </p:nvSpPr>
        <p:spPr>
          <a:xfrm>
            <a:off x="606152" y="1480175"/>
            <a:ext cx="8020800" cy="12795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The built-in IoC container supports three kinds of lifetimes:</a:t>
            </a:r>
            <a:endParaRPr sz="1200" b="0" i="0" u="none" strike="noStrike" cap="none">
              <a:solidFill>
                <a:srgbClr val="181717"/>
              </a:solidFill>
              <a:highlight>
                <a:srgbClr val="FFFFFF"/>
              </a:highlight>
              <a:latin typeface="Lato"/>
              <a:ea typeface="Lato"/>
              <a:cs typeface="Lato"/>
              <a:sym typeface="Lato"/>
            </a:endParaRPr>
          </a:p>
          <a:p>
            <a:pPr marL="457200" marR="0" lvl="0" indent="-304800" algn="just" rtl="0">
              <a:lnSpc>
                <a:spcPct val="115000"/>
              </a:lnSpc>
              <a:spcBef>
                <a:spcPts val="400"/>
              </a:spcBef>
              <a:spcAft>
                <a:spcPts val="0"/>
              </a:spcAft>
              <a:buClr>
                <a:srgbClr val="181717"/>
              </a:buClr>
              <a:buSzPts val="1200"/>
              <a:buFont typeface="Lato"/>
              <a:buAutoNum type="arabicPeriod"/>
            </a:pPr>
            <a:r>
              <a:rPr lang="en" sz="1200" b="1" i="0" u="none" strike="noStrike" cap="none">
                <a:solidFill>
                  <a:srgbClr val="181717"/>
                </a:solidFill>
                <a:highlight>
                  <a:schemeClr val="lt1"/>
                </a:highlight>
                <a:latin typeface="Lato"/>
                <a:ea typeface="Lato"/>
                <a:cs typeface="Lato"/>
                <a:sym typeface="Lato"/>
              </a:rPr>
              <a:t>Singleton:</a:t>
            </a:r>
            <a:r>
              <a:rPr lang="en" sz="1200" b="0" i="0" u="none" strike="noStrike" cap="none">
                <a:solidFill>
                  <a:srgbClr val="181717"/>
                </a:solidFill>
                <a:highlight>
                  <a:schemeClr val="lt1"/>
                </a:highlight>
                <a:latin typeface="Lato"/>
                <a:ea typeface="Lato"/>
                <a:cs typeface="Lato"/>
                <a:sym typeface="Lato"/>
              </a:rPr>
              <a:t> IoC container will create and share a single instance of a service throughout the application's lifetime.</a:t>
            </a:r>
            <a:endParaRPr sz="1200" b="0" i="0" u="none" strike="noStrike" cap="none">
              <a:solidFill>
                <a:srgbClr val="181717"/>
              </a:solidFill>
              <a:highlight>
                <a:schemeClr val="lt1"/>
              </a:highlight>
              <a:latin typeface="Lato"/>
              <a:ea typeface="Lato"/>
              <a:cs typeface="Lato"/>
              <a:sym typeface="Lato"/>
            </a:endParaRPr>
          </a:p>
          <a:p>
            <a:pPr marL="457200" marR="0" lvl="0" indent="-304800" algn="just" rtl="0">
              <a:lnSpc>
                <a:spcPct val="115000"/>
              </a:lnSpc>
              <a:spcBef>
                <a:spcPts val="0"/>
              </a:spcBef>
              <a:spcAft>
                <a:spcPts val="0"/>
              </a:spcAft>
              <a:buClr>
                <a:srgbClr val="181717"/>
              </a:buClr>
              <a:buSzPts val="1200"/>
              <a:buFont typeface="Lato"/>
              <a:buAutoNum type="arabicPeriod"/>
            </a:pPr>
            <a:r>
              <a:rPr lang="en" sz="1200" b="1" i="0" u="none" strike="noStrike" cap="none">
                <a:solidFill>
                  <a:srgbClr val="181717"/>
                </a:solidFill>
                <a:highlight>
                  <a:schemeClr val="lt1"/>
                </a:highlight>
                <a:latin typeface="Lato"/>
                <a:ea typeface="Lato"/>
                <a:cs typeface="Lato"/>
                <a:sym typeface="Lato"/>
              </a:rPr>
              <a:t>Transient:</a:t>
            </a:r>
            <a:r>
              <a:rPr lang="en" sz="1200" b="0" i="0" u="none" strike="noStrike" cap="none">
                <a:solidFill>
                  <a:srgbClr val="181717"/>
                </a:solidFill>
                <a:highlight>
                  <a:schemeClr val="lt1"/>
                </a:highlight>
                <a:latin typeface="Lato"/>
                <a:ea typeface="Lato"/>
                <a:cs typeface="Lato"/>
                <a:sym typeface="Lato"/>
              </a:rPr>
              <a:t> The IoC container will create a new instance of the specified service type every time you ask for it.</a:t>
            </a:r>
            <a:endParaRPr sz="1200" b="0" i="0" u="none" strike="noStrike" cap="none">
              <a:solidFill>
                <a:srgbClr val="181717"/>
              </a:solidFill>
              <a:highlight>
                <a:schemeClr val="lt1"/>
              </a:highlight>
              <a:latin typeface="Lato"/>
              <a:ea typeface="Lato"/>
              <a:cs typeface="Lato"/>
              <a:sym typeface="Lato"/>
            </a:endParaRPr>
          </a:p>
          <a:p>
            <a:pPr marL="457200" marR="0" lvl="0" indent="-304800" algn="just" rtl="0">
              <a:lnSpc>
                <a:spcPct val="115000"/>
              </a:lnSpc>
              <a:spcBef>
                <a:spcPts val="0"/>
              </a:spcBef>
              <a:spcAft>
                <a:spcPts val="0"/>
              </a:spcAft>
              <a:buClr>
                <a:srgbClr val="181717"/>
              </a:buClr>
              <a:buSzPts val="1200"/>
              <a:buFont typeface="Lato"/>
              <a:buAutoNum type="arabicPeriod"/>
            </a:pPr>
            <a:r>
              <a:rPr lang="en" sz="1200" b="1" i="0" u="none" strike="noStrike" cap="none">
                <a:solidFill>
                  <a:srgbClr val="181717"/>
                </a:solidFill>
                <a:highlight>
                  <a:schemeClr val="lt1"/>
                </a:highlight>
                <a:latin typeface="Lato"/>
                <a:ea typeface="Lato"/>
                <a:cs typeface="Lato"/>
                <a:sym typeface="Lato"/>
              </a:rPr>
              <a:t>Scoped:</a:t>
            </a:r>
            <a:r>
              <a:rPr lang="en" sz="1200" b="0" i="0" u="none" strike="noStrike" cap="none">
                <a:solidFill>
                  <a:srgbClr val="181717"/>
                </a:solidFill>
                <a:highlight>
                  <a:schemeClr val="lt1"/>
                </a:highlight>
                <a:latin typeface="Lato"/>
                <a:ea typeface="Lato"/>
                <a:cs typeface="Lato"/>
                <a:sym typeface="Lato"/>
              </a:rPr>
              <a:t> IoC container will create an instance of the specified service type once per request and will be shared in a single request.</a:t>
            </a:r>
            <a:endParaRPr sz="1200" b="0" i="0" u="none" strike="noStrike" cap="none">
              <a:solidFill>
                <a:srgbClr val="181717"/>
              </a:solidFill>
              <a:highlight>
                <a:srgbClr val="FFFFFF"/>
              </a:highlight>
              <a:latin typeface="Lato"/>
              <a:ea typeface="Lato"/>
              <a:cs typeface="Lato"/>
              <a:sym typeface="Lato"/>
            </a:endParaRPr>
          </a:p>
        </p:txBody>
      </p:sp>
      <p:pic>
        <p:nvPicPr>
          <p:cNvPr id="369" name="Google Shape;369;p35"/>
          <p:cNvPicPr preferRelativeResize="0"/>
          <p:nvPr/>
        </p:nvPicPr>
        <p:blipFill rotWithShape="1">
          <a:blip r:embed="rId5">
            <a:alphaModFix/>
          </a:blip>
          <a:srcRect/>
          <a:stretch/>
        </p:blipFill>
        <p:spPr>
          <a:xfrm>
            <a:off x="496355" y="1604175"/>
            <a:ext cx="61722" cy="109728"/>
          </a:xfrm>
          <a:prstGeom prst="rect">
            <a:avLst/>
          </a:prstGeom>
          <a:noFill/>
          <a:ln>
            <a:noFill/>
          </a:ln>
        </p:spPr>
      </p:pic>
      <p:sp>
        <p:nvSpPr>
          <p:cNvPr id="370" name="Google Shape;370;p35"/>
          <p:cNvSpPr txBox="1"/>
          <p:nvPr/>
        </p:nvSpPr>
        <p:spPr>
          <a:xfrm>
            <a:off x="606152" y="2699375"/>
            <a:ext cx="8020800" cy="5910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Constructor Injection: </a:t>
            </a:r>
            <a:r>
              <a:rPr lang="en" sz="1200" b="0" i="0" u="none" strike="noStrike" cap="none">
                <a:solidFill>
                  <a:srgbClr val="181717"/>
                </a:solidFill>
                <a:highlight>
                  <a:schemeClr val="lt1"/>
                </a:highlight>
                <a:latin typeface="Lato"/>
                <a:ea typeface="Lato"/>
                <a:cs typeface="Lato"/>
                <a:sym typeface="Lato"/>
              </a:rPr>
              <a:t>Once we register a service, the IoC container automatically performs constructor injection if a service type is included as a parameter in a constructor.</a:t>
            </a:r>
            <a:endParaRPr sz="1200" b="1" i="0" u="none" strike="noStrike" cap="none">
              <a:solidFill>
                <a:srgbClr val="181717"/>
              </a:solidFill>
              <a:highlight>
                <a:srgbClr val="FFFFFF"/>
              </a:highlight>
              <a:latin typeface="Lato"/>
              <a:ea typeface="Lato"/>
              <a:cs typeface="Lato"/>
              <a:sym typeface="Lato"/>
            </a:endParaRPr>
          </a:p>
        </p:txBody>
      </p:sp>
      <p:pic>
        <p:nvPicPr>
          <p:cNvPr id="371" name="Google Shape;371;p35"/>
          <p:cNvPicPr preferRelativeResize="0"/>
          <p:nvPr/>
        </p:nvPicPr>
        <p:blipFill rotWithShape="1">
          <a:blip r:embed="rId5">
            <a:alphaModFix/>
          </a:blip>
          <a:srcRect/>
          <a:stretch/>
        </p:blipFill>
        <p:spPr>
          <a:xfrm>
            <a:off x="496355" y="2823375"/>
            <a:ext cx="61722" cy="109728"/>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pic>
        <p:nvPicPr>
          <p:cNvPr id="376" name="Google Shape;376;p3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77" name="Google Shape;377;p3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78" name="Google Shape;378;p3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79" name="Google Shape;379;p36"/>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380" name="Google Shape;380;p36"/>
          <p:cNvSpPr txBox="1"/>
          <p:nvPr/>
        </p:nvSpPr>
        <p:spPr>
          <a:xfrm>
            <a:off x="529952" y="718175"/>
            <a:ext cx="80208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For example, we can use </a:t>
            </a:r>
            <a:r>
              <a:rPr lang="en" sz="1200" b="0" i="0" u="none" strike="noStrike" cap="none">
                <a:solidFill>
                  <a:schemeClr val="dk1"/>
                </a:solidFill>
                <a:highlight>
                  <a:srgbClr val="D9E5F3"/>
                </a:highlight>
                <a:latin typeface="Lato"/>
                <a:ea typeface="Lato"/>
                <a:cs typeface="Lato"/>
                <a:sym typeface="Lato"/>
              </a:rPr>
              <a:t>ILog</a:t>
            </a:r>
            <a:r>
              <a:rPr lang="en" sz="1200" b="0" i="0" u="none" strike="noStrike" cap="none">
                <a:solidFill>
                  <a:srgbClr val="181717"/>
                </a:solidFill>
                <a:highlight>
                  <a:srgbClr val="FFFFFF"/>
                </a:highlight>
                <a:latin typeface="Lato"/>
                <a:ea typeface="Lato"/>
                <a:cs typeface="Lato"/>
                <a:sym typeface="Lato"/>
              </a:rPr>
              <a:t> service type in any MVC controller. Consider the following example.</a:t>
            </a:r>
            <a:endParaRPr sz="1200" b="1" i="0" u="none" strike="noStrike" cap="none">
              <a:solidFill>
                <a:srgbClr val="181717"/>
              </a:solidFill>
              <a:highlight>
                <a:srgbClr val="FFFFFF"/>
              </a:highlight>
              <a:latin typeface="Lato"/>
              <a:ea typeface="Lato"/>
              <a:cs typeface="Lato"/>
              <a:sym typeface="Lato"/>
            </a:endParaRPr>
          </a:p>
        </p:txBody>
      </p:sp>
      <p:pic>
        <p:nvPicPr>
          <p:cNvPr id="381" name="Google Shape;381;p36"/>
          <p:cNvPicPr preferRelativeResize="0"/>
          <p:nvPr/>
        </p:nvPicPr>
        <p:blipFill rotWithShape="1">
          <a:blip r:embed="rId5">
            <a:alphaModFix/>
          </a:blip>
          <a:srcRect/>
          <a:stretch/>
        </p:blipFill>
        <p:spPr>
          <a:xfrm>
            <a:off x="420155" y="842174"/>
            <a:ext cx="61722" cy="109728"/>
          </a:xfrm>
          <a:prstGeom prst="rect">
            <a:avLst/>
          </a:prstGeom>
          <a:noFill/>
          <a:ln>
            <a:noFill/>
          </a:ln>
        </p:spPr>
      </p:pic>
      <p:pic>
        <p:nvPicPr>
          <p:cNvPr id="382" name="Google Shape;382;p36"/>
          <p:cNvPicPr preferRelativeResize="0"/>
          <p:nvPr/>
        </p:nvPicPr>
        <p:blipFill rotWithShape="1">
          <a:blip r:embed="rId6">
            <a:alphaModFix/>
          </a:blip>
          <a:srcRect/>
          <a:stretch/>
        </p:blipFill>
        <p:spPr>
          <a:xfrm>
            <a:off x="606100" y="1087475"/>
            <a:ext cx="3889700" cy="2046887"/>
          </a:xfrm>
          <a:prstGeom prst="rect">
            <a:avLst/>
          </a:prstGeom>
          <a:noFill/>
          <a:ln>
            <a:noFill/>
          </a:ln>
        </p:spPr>
      </p:pic>
      <p:sp>
        <p:nvSpPr>
          <p:cNvPr id="383" name="Google Shape;383;p36"/>
          <p:cNvSpPr txBox="1"/>
          <p:nvPr/>
        </p:nvSpPr>
        <p:spPr>
          <a:xfrm>
            <a:off x="3708907" y="1087475"/>
            <a:ext cx="4841700" cy="14775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0" i="0" u="none" strike="noStrike" cap="none">
                <a:solidFill>
                  <a:srgbClr val="181717"/>
                </a:solidFill>
                <a:highlight>
                  <a:srgbClr val="FFFFFF"/>
                </a:highlight>
                <a:latin typeface="Lato"/>
                <a:ea typeface="Lato"/>
                <a:cs typeface="Lato"/>
                <a:sym typeface="Lato"/>
              </a:rPr>
              <a:t>In the provided example on the left, when working with an IoC container, the constructor of HomeController will be automatically provided with an instance of MyConsoleLogger. No additional manual intervention is required. Furthermore, the IoC container will handle the creation and disposal of an instance of ILog as per its registered lifetime.</a:t>
            </a:r>
            <a:endParaRPr sz="1200" b="1" i="0" u="none" strike="noStrike" cap="none">
              <a:solidFill>
                <a:srgbClr val="181717"/>
              </a:solidFill>
              <a:highlight>
                <a:srgbClr val="FFFFFF"/>
              </a:highlight>
              <a:latin typeface="Lato"/>
              <a:ea typeface="Lato"/>
              <a:cs typeface="Lato"/>
              <a:sym typeface="Lato"/>
            </a:endParaRPr>
          </a:p>
        </p:txBody>
      </p:sp>
      <p:pic>
        <p:nvPicPr>
          <p:cNvPr id="384" name="Google Shape;384;p36"/>
          <p:cNvPicPr preferRelativeResize="0"/>
          <p:nvPr/>
        </p:nvPicPr>
        <p:blipFill rotWithShape="1">
          <a:blip r:embed="rId5">
            <a:alphaModFix/>
          </a:blip>
          <a:srcRect/>
          <a:stretch/>
        </p:blipFill>
        <p:spPr>
          <a:xfrm>
            <a:off x="3581400" y="1211475"/>
            <a:ext cx="71679" cy="109728"/>
          </a:xfrm>
          <a:prstGeom prst="rect">
            <a:avLst/>
          </a:prstGeom>
          <a:noFill/>
          <a:ln>
            <a:noFill/>
          </a:ln>
        </p:spPr>
      </p:pic>
      <p:pic>
        <p:nvPicPr>
          <p:cNvPr id="385" name="Google Shape;385;p36"/>
          <p:cNvPicPr preferRelativeResize="0"/>
          <p:nvPr/>
        </p:nvPicPr>
        <p:blipFill rotWithShape="1">
          <a:blip r:embed="rId7">
            <a:alphaModFix/>
          </a:blip>
          <a:srcRect/>
          <a:stretch/>
        </p:blipFill>
        <p:spPr>
          <a:xfrm>
            <a:off x="5538224" y="2412575"/>
            <a:ext cx="3582375" cy="2135150"/>
          </a:xfrm>
          <a:prstGeom prst="rect">
            <a:avLst/>
          </a:prstGeom>
          <a:noFill/>
          <a:ln>
            <a:noFill/>
          </a:ln>
        </p:spPr>
      </p:pic>
      <p:sp>
        <p:nvSpPr>
          <p:cNvPr id="386" name="Google Shape;386;p36"/>
          <p:cNvSpPr txBox="1"/>
          <p:nvPr/>
        </p:nvSpPr>
        <p:spPr>
          <a:xfrm>
            <a:off x="520126" y="3156575"/>
            <a:ext cx="4930500" cy="14775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Action Method Injection: </a:t>
            </a:r>
            <a:r>
              <a:rPr lang="en" sz="1200" b="0" i="0" u="none" strike="noStrike" cap="none">
                <a:solidFill>
                  <a:srgbClr val="181717"/>
                </a:solidFill>
                <a:highlight>
                  <a:schemeClr val="lt1"/>
                </a:highlight>
                <a:latin typeface="Lato"/>
                <a:ea typeface="Lato"/>
                <a:cs typeface="Lato"/>
                <a:sym typeface="Lato"/>
              </a:rPr>
              <a:t>In the example given on the right side, there might be situations where we only require the dependency service type within a specific action method. To achieve this, we can utilize the [FromServices] attribute along with the service type parameter in the method signature. This allows us to access the required service directly within that particular action method.</a:t>
            </a:r>
            <a:endParaRPr sz="1200" b="1" i="0" u="none" strike="noStrike" cap="none">
              <a:solidFill>
                <a:srgbClr val="181717"/>
              </a:solidFill>
              <a:highlight>
                <a:srgbClr val="FFFFFF"/>
              </a:highlight>
              <a:latin typeface="Lato"/>
              <a:ea typeface="Lato"/>
              <a:cs typeface="Lato"/>
              <a:sym typeface="Lato"/>
            </a:endParaRPr>
          </a:p>
        </p:txBody>
      </p:sp>
      <p:pic>
        <p:nvPicPr>
          <p:cNvPr id="387" name="Google Shape;387;p36"/>
          <p:cNvPicPr preferRelativeResize="0"/>
          <p:nvPr/>
        </p:nvPicPr>
        <p:blipFill rotWithShape="1">
          <a:blip r:embed="rId5">
            <a:alphaModFix/>
          </a:blip>
          <a:srcRect/>
          <a:stretch/>
        </p:blipFill>
        <p:spPr>
          <a:xfrm>
            <a:off x="410322" y="3280575"/>
            <a:ext cx="61722" cy="109728"/>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3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93" name="Google Shape;393;p3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94" name="Google Shape;394;p3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95" name="Google Shape;395;p37"/>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396" name="Google Shape;396;p37"/>
          <p:cNvSpPr txBox="1"/>
          <p:nvPr/>
        </p:nvSpPr>
        <p:spPr>
          <a:xfrm>
            <a:off x="606152" y="794375"/>
            <a:ext cx="8020800" cy="5910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Property Injection: </a:t>
            </a:r>
            <a:r>
              <a:rPr lang="en" sz="1200" b="0" i="0" u="none" strike="noStrike" cap="none">
                <a:solidFill>
                  <a:srgbClr val="181717"/>
                </a:solidFill>
                <a:highlight>
                  <a:schemeClr val="lt1"/>
                </a:highlight>
                <a:latin typeface="Lato"/>
                <a:ea typeface="Lato"/>
                <a:cs typeface="Lato"/>
                <a:sym typeface="Lato"/>
              </a:rPr>
              <a:t>Built-in IoC container does not support property injection. You will have to use third party IoC container.</a:t>
            </a:r>
            <a:endParaRPr sz="1200" b="1" i="0" u="none" strike="noStrike" cap="none">
              <a:solidFill>
                <a:srgbClr val="181717"/>
              </a:solidFill>
              <a:highlight>
                <a:srgbClr val="FFFFFF"/>
              </a:highlight>
              <a:latin typeface="Lato"/>
              <a:ea typeface="Lato"/>
              <a:cs typeface="Lato"/>
              <a:sym typeface="Lato"/>
            </a:endParaRPr>
          </a:p>
        </p:txBody>
      </p:sp>
      <p:pic>
        <p:nvPicPr>
          <p:cNvPr id="397" name="Google Shape;397;p37"/>
          <p:cNvPicPr preferRelativeResize="0"/>
          <p:nvPr/>
        </p:nvPicPr>
        <p:blipFill rotWithShape="1">
          <a:blip r:embed="rId5">
            <a:alphaModFix/>
          </a:blip>
          <a:srcRect/>
          <a:stretch/>
        </p:blipFill>
        <p:spPr>
          <a:xfrm>
            <a:off x="496355" y="918374"/>
            <a:ext cx="61722" cy="109728"/>
          </a:xfrm>
          <a:prstGeom prst="rect">
            <a:avLst/>
          </a:prstGeom>
          <a:noFill/>
          <a:ln>
            <a:noFill/>
          </a:ln>
        </p:spPr>
      </p:pic>
      <p:sp>
        <p:nvSpPr>
          <p:cNvPr id="398" name="Google Shape;398;p37"/>
          <p:cNvSpPr txBox="1"/>
          <p:nvPr/>
        </p:nvSpPr>
        <p:spPr>
          <a:xfrm>
            <a:off x="606152" y="1403975"/>
            <a:ext cx="8020800" cy="8127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Get Services Manually: </a:t>
            </a:r>
            <a:r>
              <a:rPr lang="en" sz="1200" b="0" i="0" u="none" strike="noStrike" cap="none">
                <a:solidFill>
                  <a:srgbClr val="181717"/>
                </a:solidFill>
                <a:highlight>
                  <a:schemeClr val="lt1"/>
                </a:highlight>
                <a:latin typeface="Lato"/>
                <a:ea typeface="Lato"/>
                <a:cs typeface="Lato"/>
                <a:sym typeface="Lato"/>
              </a:rPr>
              <a:t>It is not required to include dependency services in the constructor. We can access dependent services configured with built-in IoC container manually using </a:t>
            </a:r>
            <a:r>
              <a:rPr lang="en" sz="1200" b="0" i="0" u="none" strike="noStrike" cap="none">
                <a:solidFill>
                  <a:schemeClr val="dk1"/>
                </a:solidFill>
                <a:highlight>
                  <a:srgbClr val="D9E5F3"/>
                </a:highlight>
                <a:latin typeface="Lato"/>
                <a:ea typeface="Lato"/>
                <a:cs typeface="Lato"/>
                <a:sym typeface="Lato"/>
              </a:rPr>
              <a:t>RequestServices</a:t>
            </a:r>
            <a:r>
              <a:rPr lang="en" sz="1200" b="0" i="0" u="none" strike="noStrike" cap="none">
                <a:solidFill>
                  <a:srgbClr val="181717"/>
                </a:solidFill>
                <a:highlight>
                  <a:schemeClr val="lt1"/>
                </a:highlight>
                <a:latin typeface="Lato"/>
                <a:ea typeface="Lato"/>
                <a:cs typeface="Lato"/>
                <a:sym typeface="Lato"/>
              </a:rPr>
              <a:t> property of </a:t>
            </a:r>
            <a:r>
              <a:rPr lang="en" sz="1200" b="0" i="0" u="none" strike="noStrike" cap="none">
                <a:solidFill>
                  <a:schemeClr val="dk1"/>
                </a:solidFill>
                <a:highlight>
                  <a:srgbClr val="D9E5F3"/>
                </a:highlight>
                <a:latin typeface="Lato"/>
                <a:ea typeface="Lato"/>
                <a:cs typeface="Lato"/>
                <a:sym typeface="Lato"/>
              </a:rPr>
              <a:t>HttpContext</a:t>
            </a:r>
            <a:r>
              <a:rPr lang="en" sz="1200" b="0" i="0" u="none" strike="noStrike" cap="none">
                <a:solidFill>
                  <a:srgbClr val="181717"/>
                </a:solidFill>
                <a:highlight>
                  <a:schemeClr val="lt1"/>
                </a:highlight>
                <a:latin typeface="Lato"/>
                <a:ea typeface="Lato"/>
                <a:cs typeface="Lato"/>
                <a:sym typeface="Lato"/>
              </a:rPr>
              <a:t> as shown below.</a:t>
            </a:r>
            <a:endParaRPr sz="1200" b="1" i="0" u="none" strike="noStrike" cap="none">
              <a:solidFill>
                <a:srgbClr val="181717"/>
              </a:solidFill>
              <a:highlight>
                <a:srgbClr val="FFFFFF"/>
              </a:highlight>
              <a:latin typeface="Lato"/>
              <a:ea typeface="Lato"/>
              <a:cs typeface="Lato"/>
              <a:sym typeface="Lato"/>
            </a:endParaRPr>
          </a:p>
        </p:txBody>
      </p:sp>
      <p:pic>
        <p:nvPicPr>
          <p:cNvPr id="399" name="Google Shape;399;p37"/>
          <p:cNvPicPr preferRelativeResize="0"/>
          <p:nvPr/>
        </p:nvPicPr>
        <p:blipFill rotWithShape="1">
          <a:blip r:embed="rId5">
            <a:alphaModFix/>
          </a:blip>
          <a:srcRect/>
          <a:stretch/>
        </p:blipFill>
        <p:spPr>
          <a:xfrm>
            <a:off x="496355" y="1527975"/>
            <a:ext cx="61722" cy="109728"/>
          </a:xfrm>
          <a:prstGeom prst="rect">
            <a:avLst/>
          </a:prstGeom>
          <a:noFill/>
          <a:ln>
            <a:noFill/>
          </a:ln>
        </p:spPr>
      </p:pic>
      <p:pic>
        <p:nvPicPr>
          <p:cNvPr id="400" name="Google Shape;400;p37"/>
          <p:cNvPicPr preferRelativeResize="0"/>
          <p:nvPr/>
        </p:nvPicPr>
        <p:blipFill rotWithShape="1">
          <a:blip r:embed="rId6">
            <a:alphaModFix/>
          </a:blip>
          <a:srcRect/>
          <a:stretch/>
        </p:blipFill>
        <p:spPr>
          <a:xfrm>
            <a:off x="1320075" y="1941250"/>
            <a:ext cx="3712491" cy="2169466"/>
          </a:xfrm>
          <a:prstGeom prst="rect">
            <a:avLst/>
          </a:prstGeom>
          <a:noFill/>
          <a:ln>
            <a:noFill/>
          </a:ln>
        </p:spPr>
      </p:pic>
      <p:sp>
        <p:nvSpPr>
          <p:cNvPr id="401" name="Google Shape;401;p37"/>
          <p:cNvSpPr txBox="1"/>
          <p:nvPr/>
        </p:nvSpPr>
        <p:spPr>
          <a:xfrm>
            <a:off x="606152" y="4147175"/>
            <a:ext cx="8020800" cy="3849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300" b="0" i="0" u="none" strike="noStrike" cap="none">
                <a:solidFill>
                  <a:srgbClr val="181717"/>
                </a:solidFill>
                <a:highlight>
                  <a:srgbClr val="FFFFFF"/>
                </a:highlight>
                <a:latin typeface="Lato"/>
                <a:ea typeface="Lato"/>
                <a:cs typeface="Lato"/>
                <a:sym typeface="Lato"/>
              </a:rPr>
              <a:t>It is recommended to use constructor injection instead of getting it using </a:t>
            </a:r>
            <a:r>
              <a:rPr lang="en" sz="1200" b="0" i="0" u="none" strike="noStrike" cap="none">
                <a:solidFill>
                  <a:schemeClr val="dk1"/>
                </a:solidFill>
                <a:highlight>
                  <a:srgbClr val="D9E5F3"/>
                </a:highlight>
                <a:latin typeface="Lato"/>
                <a:ea typeface="Lato"/>
                <a:cs typeface="Lato"/>
                <a:sym typeface="Lato"/>
              </a:rPr>
              <a:t>RequestServices</a:t>
            </a:r>
            <a:r>
              <a:rPr lang="en" sz="1300" b="0" i="0" u="none" strike="noStrike" cap="none">
                <a:solidFill>
                  <a:srgbClr val="181717"/>
                </a:solidFill>
                <a:highlight>
                  <a:srgbClr val="FFFFFF"/>
                </a:highlight>
                <a:latin typeface="Lato"/>
                <a:ea typeface="Lato"/>
                <a:cs typeface="Lato"/>
                <a:sym typeface="Lato"/>
              </a:rPr>
              <a:t>.</a:t>
            </a:r>
            <a:endParaRPr sz="1200" b="1" i="0" u="none" strike="noStrike" cap="none">
              <a:solidFill>
                <a:srgbClr val="181717"/>
              </a:solidFill>
              <a:highlight>
                <a:srgbClr val="FFFFFF"/>
              </a:highlight>
              <a:latin typeface="Lato"/>
              <a:ea typeface="Lato"/>
              <a:cs typeface="Lato"/>
              <a:sym typeface="Lato"/>
            </a:endParaRPr>
          </a:p>
        </p:txBody>
      </p:sp>
      <p:pic>
        <p:nvPicPr>
          <p:cNvPr id="402" name="Google Shape;402;p37"/>
          <p:cNvPicPr preferRelativeResize="0"/>
          <p:nvPr/>
        </p:nvPicPr>
        <p:blipFill rotWithShape="1">
          <a:blip r:embed="rId5">
            <a:alphaModFix/>
          </a:blip>
          <a:srcRect/>
          <a:stretch/>
        </p:blipFill>
        <p:spPr>
          <a:xfrm>
            <a:off x="496355" y="4271175"/>
            <a:ext cx="61722" cy="109728"/>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407" name="Google Shape;407;p3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408" name="Google Shape;408;p3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409" name="Google Shape;409;p3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410" name="Google Shape;410;p38"/>
          <p:cNvSpPr txBox="1"/>
          <p:nvPr/>
        </p:nvSpPr>
        <p:spPr>
          <a:xfrm>
            <a:off x="2498700" y="46313"/>
            <a:ext cx="393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.Net core - Dependency Injection</a:t>
            </a:r>
            <a:endParaRPr sz="2000" b="1" i="0" u="none" strike="noStrike" cap="none">
              <a:solidFill>
                <a:srgbClr val="FFFFFF"/>
              </a:solidFill>
              <a:latin typeface="Lato"/>
              <a:ea typeface="Lato"/>
              <a:cs typeface="Lato"/>
              <a:sym typeface="Lato"/>
            </a:endParaRPr>
          </a:p>
        </p:txBody>
      </p:sp>
      <p:sp>
        <p:nvSpPr>
          <p:cNvPr id="411" name="Google Shape;411;p38"/>
          <p:cNvSpPr txBox="1"/>
          <p:nvPr/>
        </p:nvSpPr>
        <p:spPr>
          <a:xfrm>
            <a:off x="606152" y="794375"/>
            <a:ext cx="8020800" cy="5910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Property Injection: </a:t>
            </a:r>
            <a:r>
              <a:rPr lang="en" sz="1200" b="0" i="0" u="none" strike="noStrike" cap="none">
                <a:solidFill>
                  <a:srgbClr val="181717"/>
                </a:solidFill>
                <a:highlight>
                  <a:schemeClr val="lt1"/>
                </a:highlight>
                <a:latin typeface="Lato"/>
                <a:ea typeface="Lato"/>
                <a:cs typeface="Lato"/>
                <a:sym typeface="Lato"/>
              </a:rPr>
              <a:t>Built-in IoC container does not support property injection. You will have to use third party IoC container.</a:t>
            </a:r>
            <a:endParaRPr sz="1200" b="1" i="0" u="none" strike="noStrike" cap="none">
              <a:solidFill>
                <a:srgbClr val="181717"/>
              </a:solidFill>
              <a:highlight>
                <a:srgbClr val="FFFFFF"/>
              </a:highlight>
              <a:latin typeface="Lato"/>
              <a:ea typeface="Lato"/>
              <a:cs typeface="Lato"/>
              <a:sym typeface="Lato"/>
            </a:endParaRPr>
          </a:p>
        </p:txBody>
      </p:sp>
      <p:pic>
        <p:nvPicPr>
          <p:cNvPr id="412" name="Google Shape;412;p38"/>
          <p:cNvPicPr preferRelativeResize="0"/>
          <p:nvPr/>
        </p:nvPicPr>
        <p:blipFill rotWithShape="1">
          <a:blip r:embed="rId5">
            <a:alphaModFix/>
          </a:blip>
          <a:srcRect/>
          <a:stretch/>
        </p:blipFill>
        <p:spPr>
          <a:xfrm>
            <a:off x="496355" y="918374"/>
            <a:ext cx="61722" cy="109728"/>
          </a:xfrm>
          <a:prstGeom prst="rect">
            <a:avLst/>
          </a:prstGeom>
          <a:noFill/>
          <a:ln>
            <a:noFill/>
          </a:ln>
        </p:spPr>
      </p:pic>
      <p:sp>
        <p:nvSpPr>
          <p:cNvPr id="413" name="Google Shape;413;p38"/>
          <p:cNvSpPr txBox="1"/>
          <p:nvPr/>
        </p:nvSpPr>
        <p:spPr>
          <a:xfrm>
            <a:off x="606152" y="1403975"/>
            <a:ext cx="8020800" cy="812700"/>
          </a:xfrm>
          <a:prstGeom prst="rect">
            <a:avLst/>
          </a:prstGeom>
          <a:noFill/>
          <a:ln>
            <a:noFill/>
          </a:ln>
        </p:spPr>
        <p:txBody>
          <a:bodyPr spcFirstLastPara="1" wrap="square" lIns="91425" tIns="91425" rIns="91425" bIns="91425" anchor="ctr" anchorCtr="0">
            <a:noAutofit/>
          </a:bodyPr>
          <a:lstStyle/>
          <a:p>
            <a:pPr marL="0" marR="0" lvl="0" indent="0" algn="just" rtl="0">
              <a:lnSpc>
                <a:spcPct val="120000"/>
              </a:lnSpc>
              <a:spcBef>
                <a:spcPts val="1800"/>
              </a:spcBef>
              <a:spcAft>
                <a:spcPts val="400"/>
              </a:spcAft>
              <a:buClr>
                <a:schemeClr val="dk1"/>
              </a:buClr>
              <a:buSzPts val="1100"/>
              <a:buFont typeface="Arial"/>
              <a:buNone/>
            </a:pPr>
            <a:r>
              <a:rPr lang="en" sz="1200" b="1" i="0" u="none" strike="noStrike" cap="none">
                <a:solidFill>
                  <a:srgbClr val="181717"/>
                </a:solidFill>
                <a:highlight>
                  <a:srgbClr val="FFFFFF"/>
                </a:highlight>
                <a:latin typeface="Lato"/>
                <a:ea typeface="Lato"/>
                <a:cs typeface="Lato"/>
                <a:sym typeface="Lato"/>
              </a:rPr>
              <a:t>Get Services Manually: </a:t>
            </a:r>
            <a:r>
              <a:rPr lang="en" sz="1200" b="0" i="0" u="none" strike="noStrike" cap="none">
                <a:solidFill>
                  <a:srgbClr val="181717"/>
                </a:solidFill>
                <a:highlight>
                  <a:schemeClr val="lt1"/>
                </a:highlight>
                <a:latin typeface="Lato"/>
                <a:ea typeface="Lato"/>
                <a:cs typeface="Lato"/>
                <a:sym typeface="Lato"/>
              </a:rPr>
              <a:t>It is not required to include dependency services in the constructor. We can access dependent services configured with built-in IoC container manually using </a:t>
            </a:r>
            <a:r>
              <a:rPr lang="en" sz="1200" b="0" i="0" u="none" strike="noStrike" cap="none">
                <a:solidFill>
                  <a:schemeClr val="dk1"/>
                </a:solidFill>
                <a:highlight>
                  <a:srgbClr val="D9E5F3"/>
                </a:highlight>
                <a:latin typeface="Lato"/>
                <a:ea typeface="Lato"/>
                <a:cs typeface="Lato"/>
                <a:sym typeface="Lato"/>
              </a:rPr>
              <a:t>RequestServices</a:t>
            </a:r>
            <a:r>
              <a:rPr lang="en" sz="1200" b="0" i="0" u="none" strike="noStrike" cap="none">
                <a:solidFill>
                  <a:srgbClr val="181717"/>
                </a:solidFill>
                <a:highlight>
                  <a:schemeClr val="lt1"/>
                </a:highlight>
                <a:latin typeface="Lato"/>
                <a:ea typeface="Lato"/>
                <a:cs typeface="Lato"/>
                <a:sym typeface="Lato"/>
              </a:rPr>
              <a:t> property of </a:t>
            </a:r>
            <a:r>
              <a:rPr lang="en" sz="1200" b="0" i="0" u="none" strike="noStrike" cap="none">
                <a:solidFill>
                  <a:schemeClr val="dk1"/>
                </a:solidFill>
                <a:highlight>
                  <a:srgbClr val="D9E5F3"/>
                </a:highlight>
                <a:latin typeface="Lato"/>
                <a:ea typeface="Lato"/>
                <a:cs typeface="Lato"/>
                <a:sym typeface="Lato"/>
              </a:rPr>
              <a:t>HttpContext</a:t>
            </a:r>
            <a:r>
              <a:rPr lang="en" sz="1200" b="0" i="0" u="none" strike="noStrike" cap="none">
                <a:solidFill>
                  <a:srgbClr val="181717"/>
                </a:solidFill>
                <a:highlight>
                  <a:schemeClr val="lt1"/>
                </a:highlight>
                <a:latin typeface="Lato"/>
                <a:ea typeface="Lato"/>
                <a:cs typeface="Lato"/>
                <a:sym typeface="Lato"/>
              </a:rPr>
              <a:t> as shown below.</a:t>
            </a:r>
            <a:endParaRPr sz="1200" b="1" i="0" u="none" strike="noStrike" cap="none">
              <a:solidFill>
                <a:srgbClr val="181717"/>
              </a:solidFill>
              <a:highlight>
                <a:srgbClr val="FFFFFF"/>
              </a:highlight>
              <a:latin typeface="Lato"/>
              <a:ea typeface="Lato"/>
              <a:cs typeface="Lato"/>
              <a:sym typeface="Lato"/>
            </a:endParaRPr>
          </a:p>
        </p:txBody>
      </p:sp>
      <p:pic>
        <p:nvPicPr>
          <p:cNvPr id="414" name="Google Shape;414;p38"/>
          <p:cNvPicPr preferRelativeResize="0"/>
          <p:nvPr/>
        </p:nvPicPr>
        <p:blipFill rotWithShape="1">
          <a:blip r:embed="rId5">
            <a:alphaModFix/>
          </a:blip>
          <a:srcRect/>
          <a:stretch/>
        </p:blipFill>
        <p:spPr>
          <a:xfrm>
            <a:off x="496355" y="1527975"/>
            <a:ext cx="61722" cy="109728"/>
          </a:xfrm>
          <a:prstGeom prst="rect">
            <a:avLst/>
          </a:prstGeom>
          <a:noFill/>
          <a:ln>
            <a:noFill/>
          </a:ln>
        </p:spPr>
      </p:pic>
      <p:pic>
        <p:nvPicPr>
          <p:cNvPr id="415" name="Google Shape;415;p38"/>
          <p:cNvPicPr preferRelativeResize="0"/>
          <p:nvPr/>
        </p:nvPicPr>
        <p:blipFill rotWithShape="1">
          <a:blip r:embed="rId6">
            <a:alphaModFix/>
          </a:blip>
          <a:srcRect/>
          <a:stretch/>
        </p:blipFill>
        <p:spPr>
          <a:xfrm>
            <a:off x="1320075" y="1941250"/>
            <a:ext cx="3712491" cy="2169466"/>
          </a:xfrm>
          <a:prstGeom prst="rect">
            <a:avLst/>
          </a:prstGeom>
          <a:noFill/>
          <a:ln>
            <a:noFill/>
          </a:ln>
        </p:spPr>
      </p:pic>
      <p:sp>
        <p:nvSpPr>
          <p:cNvPr id="416" name="Google Shape;416;p38"/>
          <p:cNvSpPr txBox="1"/>
          <p:nvPr/>
        </p:nvSpPr>
        <p:spPr>
          <a:xfrm>
            <a:off x="606152" y="4147175"/>
            <a:ext cx="8020800" cy="384900"/>
          </a:xfrm>
          <a:prstGeom prst="rect">
            <a:avLst/>
          </a:prstGeom>
          <a:noFill/>
          <a:ln>
            <a:noFill/>
          </a:ln>
        </p:spPr>
        <p:txBody>
          <a:bodyPr spcFirstLastPara="1" wrap="square" lIns="91425" tIns="91425" rIns="91425" bIns="91425" anchor="t" anchorCtr="0">
            <a:spAutoFit/>
          </a:bodyPr>
          <a:lstStyle/>
          <a:p>
            <a:pPr marL="0" marR="0" lvl="0" indent="0" algn="just" rtl="0">
              <a:lnSpc>
                <a:spcPct val="120000"/>
              </a:lnSpc>
              <a:spcBef>
                <a:spcPts val="1800"/>
              </a:spcBef>
              <a:spcAft>
                <a:spcPts val="400"/>
              </a:spcAft>
              <a:buClr>
                <a:schemeClr val="dk1"/>
              </a:buClr>
              <a:buSzPts val="1100"/>
              <a:buFont typeface="Arial"/>
              <a:buNone/>
            </a:pPr>
            <a:r>
              <a:rPr lang="en" sz="1300" b="0" i="0" u="none" strike="noStrike" cap="none">
                <a:solidFill>
                  <a:srgbClr val="181717"/>
                </a:solidFill>
                <a:highlight>
                  <a:srgbClr val="FFFFFF"/>
                </a:highlight>
                <a:latin typeface="Lato"/>
                <a:ea typeface="Lato"/>
                <a:cs typeface="Lato"/>
                <a:sym typeface="Lato"/>
              </a:rPr>
              <a:t>It is recommended to use constructor injection instead of getting it using </a:t>
            </a:r>
            <a:r>
              <a:rPr lang="en" sz="1200" b="0" i="0" u="none" strike="noStrike" cap="none">
                <a:solidFill>
                  <a:schemeClr val="dk1"/>
                </a:solidFill>
                <a:highlight>
                  <a:srgbClr val="D9E5F3"/>
                </a:highlight>
                <a:latin typeface="Lato"/>
                <a:ea typeface="Lato"/>
                <a:cs typeface="Lato"/>
                <a:sym typeface="Lato"/>
              </a:rPr>
              <a:t>RequestServices</a:t>
            </a:r>
            <a:r>
              <a:rPr lang="en" sz="1300" b="0" i="0" u="none" strike="noStrike" cap="none">
                <a:solidFill>
                  <a:srgbClr val="181717"/>
                </a:solidFill>
                <a:highlight>
                  <a:srgbClr val="FFFFFF"/>
                </a:highlight>
                <a:latin typeface="Lato"/>
                <a:ea typeface="Lato"/>
                <a:cs typeface="Lato"/>
                <a:sym typeface="Lato"/>
              </a:rPr>
              <a:t>.</a:t>
            </a:r>
            <a:endParaRPr sz="1200" b="1" i="0" u="none" strike="noStrike" cap="none">
              <a:solidFill>
                <a:srgbClr val="181717"/>
              </a:solidFill>
              <a:highlight>
                <a:srgbClr val="FFFFFF"/>
              </a:highlight>
              <a:latin typeface="Lato"/>
              <a:ea typeface="Lato"/>
              <a:cs typeface="Lato"/>
              <a:sym typeface="Lato"/>
            </a:endParaRPr>
          </a:p>
        </p:txBody>
      </p:sp>
      <p:pic>
        <p:nvPicPr>
          <p:cNvPr id="417" name="Google Shape;417;p38"/>
          <p:cNvPicPr preferRelativeResize="0"/>
          <p:nvPr/>
        </p:nvPicPr>
        <p:blipFill rotWithShape="1">
          <a:blip r:embed="rId5">
            <a:alphaModFix/>
          </a:blip>
          <a:srcRect/>
          <a:stretch/>
        </p:blipFill>
        <p:spPr>
          <a:xfrm>
            <a:off x="496355" y="4271175"/>
            <a:ext cx="61722" cy="109728"/>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0" name="Google Shape;70;p1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71" name="Google Shape;71;p1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2" name="Google Shape;72;p1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73" name="Google Shape;73;p16"/>
          <p:cNvSpPr txBox="1"/>
          <p:nvPr/>
        </p:nvSpPr>
        <p:spPr>
          <a:xfrm>
            <a:off x="2267074" y="47639"/>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In this session</a:t>
            </a:r>
            <a:endParaRPr sz="2000" b="1" i="0" u="none" strike="noStrike" cap="none">
              <a:solidFill>
                <a:srgbClr val="FFFFFF"/>
              </a:solidFill>
              <a:latin typeface="Lato"/>
              <a:ea typeface="Lato"/>
              <a:cs typeface="Lato"/>
              <a:sym typeface="Lato"/>
            </a:endParaRPr>
          </a:p>
        </p:txBody>
      </p:sp>
      <p:sp>
        <p:nvSpPr>
          <p:cNvPr id="74" name="Google Shape;74;p16"/>
          <p:cNvSpPr txBox="1"/>
          <p:nvPr/>
        </p:nvSpPr>
        <p:spPr>
          <a:xfrm>
            <a:off x="294875" y="909132"/>
            <a:ext cx="6819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222222"/>
                </a:solidFill>
                <a:latin typeface="Lato"/>
                <a:ea typeface="Lato"/>
                <a:cs typeface="Lato"/>
                <a:sym typeface="Lato"/>
              </a:rPr>
              <a:t>What we are learning in this session</a:t>
            </a:r>
            <a:endParaRPr sz="1600" b="1" i="0" u="none" strike="noStrike" cap="none">
              <a:solidFill>
                <a:srgbClr val="222222"/>
              </a:solidFill>
              <a:latin typeface="Lato"/>
              <a:ea typeface="Lato"/>
              <a:cs typeface="Lato"/>
              <a:sym typeface="Lato"/>
            </a:endParaRPr>
          </a:p>
        </p:txBody>
      </p:sp>
      <p:sp>
        <p:nvSpPr>
          <p:cNvPr id="75" name="Google Shape;75;p16"/>
          <p:cNvSpPr txBox="1"/>
          <p:nvPr/>
        </p:nvSpPr>
        <p:spPr>
          <a:xfrm>
            <a:off x="510275" y="1253250"/>
            <a:ext cx="360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600"/>
              <a:buFont typeface="Arial"/>
              <a:buNone/>
            </a:pPr>
            <a:r>
              <a:rPr lang="en">
                <a:solidFill>
                  <a:srgbClr val="222222"/>
                </a:solidFill>
                <a:latin typeface="Lato"/>
                <a:ea typeface="Lato"/>
                <a:cs typeface="Lato"/>
                <a:sym typeface="Lato"/>
              </a:rPr>
              <a:t>Introduction</a:t>
            </a:r>
            <a:endParaRPr>
              <a:solidFill>
                <a:srgbClr val="222222"/>
              </a:solidFill>
              <a:latin typeface="Lato"/>
              <a:ea typeface="Lato"/>
              <a:cs typeface="Lato"/>
              <a:sym typeface="Lato"/>
            </a:endParaRPr>
          </a:p>
        </p:txBody>
      </p:sp>
      <p:pic>
        <p:nvPicPr>
          <p:cNvPr id="76" name="Google Shape;76;p16"/>
          <p:cNvPicPr preferRelativeResize="0"/>
          <p:nvPr/>
        </p:nvPicPr>
        <p:blipFill rotWithShape="1">
          <a:blip r:embed="rId5">
            <a:alphaModFix/>
          </a:blip>
          <a:srcRect/>
          <a:stretch/>
        </p:blipFill>
        <p:spPr>
          <a:xfrm>
            <a:off x="400492" y="1377237"/>
            <a:ext cx="61722" cy="109728"/>
          </a:xfrm>
          <a:prstGeom prst="rect">
            <a:avLst/>
          </a:prstGeom>
          <a:noFill/>
          <a:ln>
            <a:noFill/>
          </a:ln>
        </p:spPr>
      </p:pic>
      <p:sp>
        <p:nvSpPr>
          <p:cNvPr id="77" name="Google Shape;77;p16"/>
          <p:cNvSpPr txBox="1"/>
          <p:nvPr/>
        </p:nvSpPr>
        <p:spPr>
          <a:xfrm>
            <a:off x="510275" y="1558050"/>
            <a:ext cx="3604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rgbClr val="000000"/>
              </a:buClr>
              <a:buSzPts val="1600"/>
              <a:buFont typeface="Arial"/>
              <a:buNone/>
            </a:pPr>
            <a:r>
              <a:rPr lang="en">
                <a:solidFill>
                  <a:srgbClr val="222222"/>
                </a:solidFill>
                <a:latin typeface="Lato"/>
                <a:ea typeface="Lato"/>
                <a:cs typeface="Lato"/>
                <a:sym typeface="Lato"/>
              </a:rPr>
              <a:t>Create ASP.NET Core Web API</a:t>
            </a:r>
            <a:endParaRPr>
              <a:solidFill>
                <a:srgbClr val="222222"/>
              </a:solidFill>
              <a:latin typeface="Lato"/>
              <a:ea typeface="Lato"/>
              <a:cs typeface="Lato"/>
              <a:sym typeface="Lato"/>
            </a:endParaRPr>
          </a:p>
        </p:txBody>
      </p:sp>
      <p:pic>
        <p:nvPicPr>
          <p:cNvPr id="78" name="Google Shape;78;p16"/>
          <p:cNvPicPr preferRelativeResize="0"/>
          <p:nvPr/>
        </p:nvPicPr>
        <p:blipFill rotWithShape="1">
          <a:blip r:embed="rId5">
            <a:alphaModFix/>
          </a:blip>
          <a:srcRect/>
          <a:stretch/>
        </p:blipFill>
        <p:spPr>
          <a:xfrm>
            <a:off x="400492" y="1682037"/>
            <a:ext cx="61722" cy="109728"/>
          </a:xfrm>
          <a:prstGeom prst="rect">
            <a:avLst/>
          </a:prstGeom>
          <a:noFill/>
          <a:ln>
            <a:noFill/>
          </a:ln>
        </p:spPr>
      </p:pic>
      <p:pic>
        <p:nvPicPr>
          <p:cNvPr id="79" name="Google Shape;79;p16"/>
          <p:cNvPicPr preferRelativeResize="0"/>
          <p:nvPr/>
        </p:nvPicPr>
        <p:blipFill>
          <a:blip r:embed="rId6">
            <a:alphaModFix/>
          </a:blip>
          <a:stretch>
            <a:fillRect/>
          </a:stretch>
        </p:blipFill>
        <p:spPr>
          <a:xfrm>
            <a:off x="2209787" y="1949832"/>
            <a:ext cx="4724426" cy="26574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85" name="Google Shape;85;p17"/>
          <p:cNvSpPr txBox="1"/>
          <p:nvPr/>
        </p:nvSpPr>
        <p:spPr>
          <a:xfrm>
            <a:off x="3746550" y="49106"/>
            <a:ext cx="16509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Introduction</a:t>
            </a:r>
            <a:endParaRPr sz="2000" b="1" i="0" u="none" strike="noStrike" cap="none">
              <a:solidFill>
                <a:srgbClr val="FFFFFF"/>
              </a:solidFill>
              <a:latin typeface="Lato"/>
              <a:ea typeface="Lato"/>
              <a:cs typeface="Lato"/>
              <a:sym typeface="Lato"/>
            </a:endParaRPr>
          </a:p>
        </p:txBody>
      </p:sp>
      <p:pic>
        <p:nvPicPr>
          <p:cNvPr id="86" name="Google Shape;8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87" name="Google Shape;8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88" name="Google Shape;88;p17"/>
          <p:cNvSpPr txBox="1"/>
          <p:nvPr/>
        </p:nvSpPr>
        <p:spPr>
          <a:xfrm>
            <a:off x="614625" y="800355"/>
            <a:ext cx="78309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Authentication is the process of validating user credentials, and authorization is the process of checking privileges for a user to access specific modules in an application. In this article, we will see how to protect an ASP.NET Core Web API application by implementing JWT authentication.</a:t>
            </a:r>
            <a:endParaRPr>
              <a:latin typeface="Lato"/>
              <a:ea typeface="Lato"/>
              <a:cs typeface="Lato"/>
              <a:sym typeface="Lato"/>
            </a:endParaRPr>
          </a:p>
        </p:txBody>
      </p:sp>
      <p:pic>
        <p:nvPicPr>
          <p:cNvPr id="89" name="Google Shape;89;p17"/>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90" name="Google Shape;90;p17"/>
          <p:cNvSpPr txBox="1"/>
          <p:nvPr/>
        </p:nvSpPr>
        <p:spPr>
          <a:xfrm>
            <a:off x="614625" y="1562355"/>
            <a:ext cx="78309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will also see how to use authorization in ASP.NET Core to supply access to various functionalities of the application. We will store user credentials in an SQL server database, and we will use Entity Framework and Identity framework for database operations.</a:t>
            </a:r>
            <a:endParaRPr>
              <a:latin typeface="Lato"/>
              <a:ea typeface="Lato"/>
              <a:cs typeface="Lato"/>
              <a:sym typeface="Lato"/>
            </a:endParaRPr>
          </a:p>
        </p:txBody>
      </p:sp>
      <p:pic>
        <p:nvPicPr>
          <p:cNvPr id="91" name="Google Shape;91;p17"/>
          <p:cNvPicPr preferRelativeResize="0"/>
          <p:nvPr/>
        </p:nvPicPr>
        <p:blipFill rotWithShape="1">
          <a:blip r:embed="rId5">
            <a:alphaModFix/>
          </a:blip>
          <a:srcRect/>
          <a:stretch/>
        </p:blipFill>
        <p:spPr>
          <a:xfrm>
            <a:off x="552892" y="1693442"/>
            <a:ext cx="61722" cy="109728"/>
          </a:xfrm>
          <a:prstGeom prst="rect">
            <a:avLst/>
          </a:prstGeom>
          <a:noFill/>
          <a:ln>
            <a:noFill/>
          </a:ln>
        </p:spPr>
      </p:pic>
      <p:sp>
        <p:nvSpPr>
          <p:cNvPr id="92" name="Google Shape;92;p17"/>
          <p:cNvSpPr txBox="1"/>
          <p:nvPr/>
        </p:nvSpPr>
        <p:spPr>
          <a:xfrm>
            <a:off x="614625" y="2324355"/>
            <a:ext cx="7830900" cy="1046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JSON Web Token (JWT) is an open standard (RFC 7519) that defines a compact and self-contained way for securely transmitting information between parties as a JSON object. This information can be verified and trusted because it is digitally signed. JWTs can be signed using a secret (with the </a:t>
            </a:r>
            <a:r>
              <a:rPr lang="en" b="1">
                <a:highlight>
                  <a:srgbClr val="FFFFFF"/>
                </a:highlight>
                <a:latin typeface="Lato"/>
                <a:ea typeface="Lato"/>
                <a:cs typeface="Lato"/>
                <a:sym typeface="Lato"/>
              </a:rPr>
              <a:t>HMAC</a:t>
            </a:r>
            <a:r>
              <a:rPr lang="en">
                <a:highlight>
                  <a:srgbClr val="FFFFFF"/>
                </a:highlight>
                <a:latin typeface="Lato"/>
                <a:ea typeface="Lato"/>
                <a:cs typeface="Lato"/>
                <a:sym typeface="Lato"/>
              </a:rPr>
              <a:t> algorithm) or a public/private key pair using </a:t>
            </a:r>
            <a:r>
              <a:rPr lang="en" b="1">
                <a:highlight>
                  <a:srgbClr val="FFFFFF"/>
                </a:highlight>
                <a:latin typeface="Lato"/>
                <a:ea typeface="Lato"/>
                <a:cs typeface="Lato"/>
                <a:sym typeface="Lato"/>
              </a:rPr>
              <a:t>RSA</a:t>
            </a:r>
            <a:r>
              <a:rPr lang="en">
                <a:highlight>
                  <a:srgbClr val="FFFFFF"/>
                </a:highlight>
                <a:latin typeface="Lato"/>
                <a:ea typeface="Lato"/>
                <a:cs typeface="Lato"/>
                <a:sym typeface="Lato"/>
              </a:rPr>
              <a:t> or </a:t>
            </a:r>
            <a:r>
              <a:rPr lang="en" b="1">
                <a:highlight>
                  <a:srgbClr val="FFFFFF"/>
                </a:highlight>
                <a:latin typeface="Lato"/>
                <a:ea typeface="Lato"/>
                <a:cs typeface="Lato"/>
                <a:sym typeface="Lato"/>
              </a:rPr>
              <a:t>ECDSA</a:t>
            </a:r>
            <a:r>
              <a:rPr lang="en">
                <a:highlight>
                  <a:srgbClr val="FFFFFF"/>
                </a:highlight>
                <a:latin typeface="Lato"/>
                <a:ea typeface="Lato"/>
                <a:cs typeface="Lato"/>
                <a:sym typeface="Lato"/>
              </a:rPr>
              <a:t>.</a:t>
            </a:r>
            <a:endParaRPr>
              <a:latin typeface="Lato"/>
              <a:ea typeface="Lato"/>
              <a:cs typeface="Lato"/>
              <a:sym typeface="Lato"/>
            </a:endParaRPr>
          </a:p>
        </p:txBody>
      </p:sp>
      <p:pic>
        <p:nvPicPr>
          <p:cNvPr id="93" name="Google Shape;93;p17"/>
          <p:cNvPicPr preferRelativeResize="0"/>
          <p:nvPr/>
        </p:nvPicPr>
        <p:blipFill rotWithShape="1">
          <a:blip r:embed="rId5">
            <a:alphaModFix/>
          </a:blip>
          <a:srcRect/>
          <a:stretch/>
        </p:blipFill>
        <p:spPr>
          <a:xfrm>
            <a:off x="552892" y="2455442"/>
            <a:ext cx="61722" cy="109728"/>
          </a:xfrm>
          <a:prstGeom prst="rect">
            <a:avLst/>
          </a:prstGeom>
          <a:noFill/>
          <a:ln>
            <a:noFill/>
          </a:ln>
        </p:spPr>
      </p:pic>
      <p:sp>
        <p:nvSpPr>
          <p:cNvPr id="94" name="Google Shape;94;p17"/>
          <p:cNvSpPr txBox="1"/>
          <p:nvPr/>
        </p:nvSpPr>
        <p:spPr>
          <a:xfrm>
            <a:off x="614625" y="3314955"/>
            <a:ext cx="7830900" cy="1046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chemeClr val="dk1"/>
              </a:buClr>
              <a:buSzPts val="1100"/>
              <a:buFont typeface="Arial"/>
              <a:buNone/>
            </a:pPr>
            <a:r>
              <a:rPr lang="en">
                <a:highlight>
                  <a:srgbClr val="FFFFFF"/>
                </a:highlight>
                <a:latin typeface="Lato"/>
                <a:ea typeface="Lato"/>
                <a:cs typeface="Lato"/>
                <a:sym typeface="Lato"/>
              </a:rPr>
              <a:t>In its compact form, JSON Web Tokens consist of three parts separated by dots (.), which are:</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Header </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Payload </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Signature </a:t>
            </a:r>
            <a:endParaRPr>
              <a:highlight>
                <a:srgbClr val="FFFFFF"/>
              </a:highlight>
              <a:latin typeface="Lato"/>
              <a:ea typeface="Lato"/>
              <a:cs typeface="Lato"/>
              <a:sym typeface="Lato"/>
            </a:endParaRPr>
          </a:p>
        </p:txBody>
      </p:sp>
      <p:pic>
        <p:nvPicPr>
          <p:cNvPr id="95" name="Google Shape;95;p17"/>
          <p:cNvPicPr preferRelativeResize="0"/>
          <p:nvPr/>
        </p:nvPicPr>
        <p:blipFill rotWithShape="1">
          <a:blip r:embed="rId5">
            <a:alphaModFix/>
          </a:blip>
          <a:srcRect/>
          <a:stretch/>
        </p:blipFill>
        <p:spPr>
          <a:xfrm>
            <a:off x="552892" y="3446042"/>
            <a:ext cx="61722" cy="109728"/>
          </a:xfrm>
          <a:prstGeom prst="rect">
            <a:avLst/>
          </a:prstGeom>
          <a:noFill/>
          <a:ln>
            <a:noFill/>
          </a:ln>
        </p:spPr>
      </p:pic>
      <p:sp>
        <p:nvSpPr>
          <p:cNvPr id="96" name="Google Shape;96;p17"/>
          <p:cNvSpPr txBox="1"/>
          <p:nvPr/>
        </p:nvSpPr>
        <p:spPr>
          <a:xfrm>
            <a:off x="614625" y="43055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Therefore, a JWT typically looks: </a:t>
            </a:r>
            <a:r>
              <a:rPr lang="en" b="1">
                <a:highlight>
                  <a:srgbClr val="FFFFFF"/>
                </a:highlight>
                <a:latin typeface="Lato"/>
                <a:ea typeface="Lato"/>
                <a:cs typeface="Lato"/>
                <a:sym typeface="Lato"/>
              </a:rPr>
              <a:t>xxxx.yyyy.zzzz</a:t>
            </a:r>
            <a:endParaRPr b="1">
              <a:latin typeface="Lato"/>
              <a:ea typeface="Lato"/>
              <a:cs typeface="Lato"/>
              <a:sym typeface="Lato"/>
            </a:endParaRPr>
          </a:p>
        </p:txBody>
      </p:sp>
      <p:pic>
        <p:nvPicPr>
          <p:cNvPr id="97" name="Google Shape;97;p17"/>
          <p:cNvPicPr preferRelativeResize="0"/>
          <p:nvPr/>
        </p:nvPicPr>
        <p:blipFill rotWithShape="1">
          <a:blip r:embed="rId5">
            <a:alphaModFix/>
          </a:blip>
          <a:srcRect/>
          <a:stretch/>
        </p:blipFill>
        <p:spPr>
          <a:xfrm>
            <a:off x="552892" y="4436642"/>
            <a:ext cx="61722" cy="109728"/>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03" name="Google Shape;103;p1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04" name="Google Shape;104;p1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05" name="Google Shape;105;p18"/>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06" name="Google Shape;106;p18"/>
          <p:cNvSpPr txBox="1"/>
          <p:nvPr/>
        </p:nvSpPr>
        <p:spPr>
          <a:xfrm>
            <a:off x="614625" y="8003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need Visual Studio 2022 to create .NET 6.0 applications. We can choose the ASP.NET Core Web API template from Visual Studio 2022.</a:t>
            </a:r>
            <a:endParaRPr>
              <a:latin typeface="Lato"/>
              <a:ea typeface="Lato"/>
              <a:cs typeface="Lato"/>
              <a:sym typeface="Lato"/>
            </a:endParaRPr>
          </a:p>
        </p:txBody>
      </p:sp>
      <p:pic>
        <p:nvPicPr>
          <p:cNvPr id="107" name="Google Shape;107;p18"/>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108" name="Google Shape;108;p18"/>
          <p:cNvPicPr preferRelativeResize="0"/>
          <p:nvPr/>
        </p:nvPicPr>
        <p:blipFill>
          <a:blip r:embed="rId6">
            <a:alphaModFix/>
          </a:blip>
          <a:stretch>
            <a:fillRect/>
          </a:stretch>
        </p:blipFill>
        <p:spPr>
          <a:xfrm>
            <a:off x="2387696" y="1415955"/>
            <a:ext cx="4368609" cy="305328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14" name="Google Shape;114;p1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15" name="Google Shape;115;p1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16" name="Google Shape;116;p19"/>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17" name="Google Shape;117;p19"/>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give a suitable name for our project and choose the .NET 6.0 framework.  </a:t>
            </a:r>
            <a:endParaRPr>
              <a:latin typeface="Lato"/>
              <a:ea typeface="Lato"/>
              <a:cs typeface="Lato"/>
              <a:sym typeface="Lato"/>
            </a:endParaRPr>
          </a:p>
        </p:txBody>
      </p:sp>
      <p:pic>
        <p:nvPicPr>
          <p:cNvPr id="118" name="Google Shape;118;p19"/>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119" name="Google Shape;119;p19"/>
          <p:cNvPicPr preferRelativeResize="0"/>
          <p:nvPr/>
        </p:nvPicPr>
        <p:blipFill>
          <a:blip r:embed="rId6">
            <a:alphaModFix/>
          </a:blip>
          <a:stretch>
            <a:fillRect/>
          </a:stretch>
        </p:blipFill>
        <p:spPr>
          <a:xfrm>
            <a:off x="2235101" y="1200555"/>
            <a:ext cx="4673797" cy="326868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25" name="Google Shape;125;p2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6" name="Google Shape;126;p2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27" name="Google Shape;127;p20"/>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28" name="Google Shape;128;p20"/>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Our new project will be created in a few moments.</a:t>
            </a:r>
            <a:endParaRPr>
              <a:latin typeface="Lato"/>
              <a:ea typeface="Lato"/>
              <a:cs typeface="Lato"/>
              <a:sym typeface="Lato"/>
            </a:endParaRPr>
          </a:p>
        </p:txBody>
      </p:sp>
      <p:pic>
        <p:nvPicPr>
          <p:cNvPr id="129" name="Google Shape;129;p20"/>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130" name="Google Shape;130;p20"/>
          <p:cNvSpPr txBox="1"/>
          <p:nvPr/>
        </p:nvSpPr>
        <p:spPr>
          <a:xfrm>
            <a:off x="614625" y="1105155"/>
            <a:ext cx="7830900" cy="1262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chemeClr val="dk1"/>
              </a:buClr>
              <a:buSzPts val="1100"/>
              <a:buFont typeface="Arial"/>
              <a:buNone/>
            </a:pPr>
            <a:r>
              <a:rPr lang="en">
                <a:highlight>
                  <a:srgbClr val="FFFFFF"/>
                </a:highlight>
                <a:latin typeface="Lato"/>
                <a:ea typeface="Lato"/>
                <a:cs typeface="Lato"/>
                <a:sym typeface="Lato"/>
              </a:rPr>
              <a:t>We must install the 4 libraries below into the new project. </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Microsoft.EntityFrameworkCore.SqlServer </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Microsoft.EntityFrameworkCore.Tools </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Microsoft.AspNetCore.Identity.EntityFrameworkCore</a:t>
            </a:r>
            <a:endParaRPr>
              <a:highlight>
                <a:srgbClr val="FFFFFF"/>
              </a:highlight>
              <a:latin typeface="Lato"/>
              <a:ea typeface="Lato"/>
              <a:cs typeface="Lato"/>
              <a:sym typeface="Lato"/>
            </a:endParaRPr>
          </a:p>
          <a:p>
            <a:pPr marL="457200" lvl="0" indent="-317500" algn="just" rtl="0">
              <a:spcBef>
                <a:spcPts val="0"/>
              </a:spcBef>
              <a:spcAft>
                <a:spcPts val="0"/>
              </a:spcAft>
              <a:buSzPts val="1400"/>
              <a:buFont typeface="Lato"/>
              <a:buChar char="●"/>
            </a:pPr>
            <a:r>
              <a:rPr lang="en">
                <a:highlight>
                  <a:srgbClr val="FFFFFF"/>
                </a:highlight>
                <a:latin typeface="Lato"/>
                <a:ea typeface="Lato"/>
                <a:cs typeface="Lato"/>
                <a:sym typeface="Lato"/>
              </a:rPr>
              <a:t>Microsoft.AspNetCore.Authentication.JwtBearer </a:t>
            </a:r>
            <a:endParaRPr>
              <a:highlight>
                <a:srgbClr val="FFFFFF"/>
              </a:highlight>
              <a:latin typeface="Lato"/>
              <a:ea typeface="Lato"/>
              <a:cs typeface="Lato"/>
              <a:sym typeface="Lato"/>
            </a:endParaRPr>
          </a:p>
        </p:txBody>
      </p:sp>
      <p:pic>
        <p:nvPicPr>
          <p:cNvPr id="131" name="Google Shape;131;p20"/>
          <p:cNvPicPr preferRelativeResize="0"/>
          <p:nvPr/>
        </p:nvPicPr>
        <p:blipFill rotWithShape="1">
          <a:blip r:embed="rId5">
            <a:alphaModFix/>
          </a:blip>
          <a:srcRect/>
          <a:stretch/>
        </p:blipFill>
        <p:spPr>
          <a:xfrm>
            <a:off x="552892" y="1236242"/>
            <a:ext cx="61722" cy="109728"/>
          </a:xfrm>
          <a:prstGeom prst="rect">
            <a:avLst/>
          </a:prstGeom>
          <a:noFill/>
          <a:ln>
            <a:noFill/>
          </a:ln>
        </p:spPr>
      </p:pic>
      <p:sp>
        <p:nvSpPr>
          <p:cNvPr id="132" name="Google Shape;132;p20"/>
          <p:cNvSpPr txBox="1"/>
          <p:nvPr/>
        </p:nvSpPr>
        <p:spPr>
          <a:xfrm>
            <a:off x="614625" y="2248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You can use the NuGet package manager to install the above packages. </a:t>
            </a:r>
            <a:endParaRPr>
              <a:latin typeface="Lato"/>
              <a:ea typeface="Lato"/>
              <a:cs typeface="Lato"/>
              <a:sym typeface="Lato"/>
            </a:endParaRPr>
          </a:p>
        </p:txBody>
      </p:sp>
      <p:pic>
        <p:nvPicPr>
          <p:cNvPr id="133" name="Google Shape;133;p20"/>
          <p:cNvPicPr preferRelativeResize="0"/>
          <p:nvPr/>
        </p:nvPicPr>
        <p:blipFill rotWithShape="1">
          <a:blip r:embed="rId5">
            <a:alphaModFix/>
          </a:blip>
          <a:srcRect/>
          <a:stretch/>
        </p:blipFill>
        <p:spPr>
          <a:xfrm>
            <a:off x="552892" y="2379242"/>
            <a:ext cx="61722" cy="109728"/>
          </a:xfrm>
          <a:prstGeom prst="rect">
            <a:avLst/>
          </a:prstGeom>
          <a:noFill/>
          <a:ln>
            <a:noFill/>
          </a:ln>
        </p:spPr>
      </p:pic>
      <p:sp>
        <p:nvSpPr>
          <p:cNvPr id="134" name="Google Shape;134;p20"/>
          <p:cNvSpPr txBox="1"/>
          <p:nvPr/>
        </p:nvSpPr>
        <p:spPr>
          <a:xfrm>
            <a:off x="614625" y="25529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change the appsettings.json with values below. It has database connection details and other details for JWT authentication. </a:t>
            </a:r>
            <a:endParaRPr>
              <a:latin typeface="Lato"/>
              <a:ea typeface="Lato"/>
              <a:cs typeface="Lato"/>
              <a:sym typeface="Lato"/>
            </a:endParaRPr>
          </a:p>
        </p:txBody>
      </p:sp>
      <p:pic>
        <p:nvPicPr>
          <p:cNvPr id="135" name="Google Shape;135;p20"/>
          <p:cNvPicPr preferRelativeResize="0"/>
          <p:nvPr/>
        </p:nvPicPr>
        <p:blipFill rotWithShape="1">
          <a:blip r:embed="rId5">
            <a:alphaModFix/>
          </a:blip>
          <a:srcRect/>
          <a:stretch/>
        </p:blipFill>
        <p:spPr>
          <a:xfrm>
            <a:off x="552892" y="2684042"/>
            <a:ext cx="61722" cy="109728"/>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41" name="Google Shape;141;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2" name="Google Shape;142;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43" name="Google Shape;143;p21"/>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44" name="Google Shape;144;p21"/>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appsettings.json</a:t>
            </a:r>
            <a:endParaRPr b="1">
              <a:latin typeface="Lato"/>
              <a:ea typeface="Lato"/>
              <a:cs typeface="Lato"/>
              <a:sym typeface="Lato"/>
            </a:endParaRPr>
          </a:p>
        </p:txBody>
      </p:sp>
      <p:pic>
        <p:nvPicPr>
          <p:cNvPr id="145" name="Google Shape;145;p21"/>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146" name="Google Shape;146;p21"/>
          <p:cNvPicPr preferRelativeResize="0"/>
          <p:nvPr/>
        </p:nvPicPr>
        <p:blipFill>
          <a:blip r:embed="rId6">
            <a:alphaModFix/>
          </a:blip>
          <a:stretch>
            <a:fillRect/>
          </a:stretch>
        </p:blipFill>
        <p:spPr>
          <a:xfrm>
            <a:off x="414231" y="1200555"/>
            <a:ext cx="8315538" cy="326868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2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52" name="Google Shape;152;p2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53" name="Google Shape;153;p2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54" name="Google Shape;154;p22"/>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55" name="Google Shape;155;p22"/>
          <p:cNvSpPr txBox="1"/>
          <p:nvPr/>
        </p:nvSpPr>
        <p:spPr>
          <a:xfrm>
            <a:off x="614625" y="8003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create a new folder, “Auth” and create the “ApplicationDbContext” class under Auth folder and add below code. We will add all the classes related to authentication under the Auth folder.</a:t>
            </a:r>
            <a:endParaRPr>
              <a:latin typeface="Lato"/>
              <a:ea typeface="Lato"/>
              <a:cs typeface="Lato"/>
              <a:sym typeface="Lato"/>
            </a:endParaRPr>
          </a:p>
        </p:txBody>
      </p:sp>
      <p:pic>
        <p:nvPicPr>
          <p:cNvPr id="156" name="Google Shape;156;p22"/>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157" name="Google Shape;157;p22"/>
          <p:cNvSpPr txBox="1"/>
          <p:nvPr/>
        </p:nvSpPr>
        <p:spPr>
          <a:xfrm>
            <a:off x="614625" y="13337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ApplicationDbContext.cs</a:t>
            </a:r>
            <a:endParaRPr b="1">
              <a:latin typeface="Lato"/>
              <a:ea typeface="Lato"/>
              <a:cs typeface="Lato"/>
              <a:sym typeface="Lato"/>
            </a:endParaRPr>
          </a:p>
        </p:txBody>
      </p:sp>
      <p:pic>
        <p:nvPicPr>
          <p:cNvPr id="158" name="Google Shape;158;p22"/>
          <p:cNvPicPr preferRelativeResize="0"/>
          <p:nvPr/>
        </p:nvPicPr>
        <p:blipFill rotWithShape="1">
          <a:blip r:embed="rId5">
            <a:alphaModFix/>
          </a:blip>
          <a:srcRect/>
          <a:stretch/>
        </p:blipFill>
        <p:spPr>
          <a:xfrm>
            <a:off x="552892" y="1464842"/>
            <a:ext cx="61722" cy="109728"/>
          </a:xfrm>
          <a:prstGeom prst="rect">
            <a:avLst/>
          </a:prstGeom>
          <a:noFill/>
          <a:ln>
            <a:noFill/>
          </a:ln>
        </p:spPr>
      </p:pic>
      <p:pic>
        <p:nvPicPr>
          <p:cNvPr id="159" name="Google Shape;159;p22"/>
          <p:cNvPicPr preferRelativeResize="0"/>
          <p:nvPr/>
        </p:nvPicPr>
        <p:blipFill>
          <a:blip r:embed="rId6">
            <a:alphaModFix/>
          </a:blip>
          <a:stretch>
            <a:fillRect/>
          </a:stretch>
        </p:blipFill>
        <p:spPr>
          <a:xfrm>
            <a:off x="927140" y="1733950"/>
            <a:ext cx="7289720" cy="28877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65" name="Google Shape;165;p2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66" name="Google Shape;166;p2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67" name="Google Shape;167;p23"/>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68" name="Google Shape;168;p23"/>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Create a static class “UserRoles” and add below values. </a:t>
            </a:r>
            <a:endParaRPr>
              <a:latin typeface="Lato"/>
              <a:ea typeface="Lato"/>
              <a:cs typeface="Lato"/>
              <a:sym typeface="Lato"/>
            </a:endParaRPr>
          </a:p>
        </p:txBody>
      </p:sp>
      <p:pic>
        <p:nvPicPr>
          <p:cNvPr id="169" name="Google Shape;169;p23"/>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170" name="Google Shape;170;p23"/>
          <p:cNvSpPr txBox="1"/>
          <p:nvPr/>
        </p:nvSpPr>
        <p:spPr>
          <a:xfrm>
            <a:off x="614625" y="1105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UserRoles.cs</a:t>
            </a:r>
            <a:endParaRPr b="1">
              <a:latin typeface="Lato"/>
              <a:ea typeface="Lato"/>
              <a:cs typeface="Lato"/>
              <a:sym typeface="Lato"/>
            </a:endParaRPr>
          </a:p>
        </p:txBody>
      </p:sp>
      <p:pic>
        <p:nvPicPr>
          <p:cNvPr id="171" name="Google Shape;171;p23"/>
          <p:cNvPicPr preferRelativeResize="0"/>
          <p:nvPr/>
        </p:nvPicPr>
        <p:blipFill rotWithShape="1">
          <a:blip r:embed="rId5">
            <a:alphaModFix/>
          </a:blip>
          <a:srcRect/>
          <a:stretch/>
        </p:blipFill>
        <p:spPr>
          <a:xfrm>
            <a:off x="552892" y="1236242"/>
            <a:ext cx="61722" cy="109728"/>
          </a:xfrm>
          <a:prstGeom prst="rect">
            <a:avLst/>
          </a:prstGeom>
          <a:noFill/>
          <a:ln>
            <a:noFill/>
          </a:ln>
        </p:spPr>
      </p:pic>
      <p:pic>
        <p:nvPicPr>
          <p:cNvPr id="172" name="Google Shape;172;p23"/>
          <p:cNvPicPr preferRelativeResize="0"/>
          <p:nvPr/>
        </p:nvPicPr>
        <p:blipFill>
          <a:blip r:embed="rId6">
            <a:alphaModFix/>
          </a:blip>
          <a:stretch>
            <a:fillRect/>
          </a:stretch>
        </p:blipFill>
        <p:spPr>
          <a:xfrm>
            <a:off x="2360687" y="1657750"/>
            <a:ext cx="4422626" cy="1590375"/>
          </a:xfrm>
          <a:prstGeom prst="rect">
            <a:avLst/>
          </a:prstGeom>
          <a:noFill/>
          <a:ln w="9525" cap="flat" cmpd="sng">
            <a:solidFill>
              <a:schemeClr val="dk2"/>
            </a:solidFill>
            <a:prstDash val="solid"/>
            <a:round/>
            <a:headEnd type="none" w="sm" len="sm"/>
            <a:tailEnd type="none" w="sm" len="sm"/>
          </a:ln>
        </p:spPr>
      </p:pic>
      <p:sp>
        <p:nvSpPr>
          <p:cNvPr id="173" name="Google Shape;173;p23"/>
          <p:cNvSpPr txBox="1"/>
          <p:nvPr/>
        </p:nvSpPr>
        <p:spPr>
          <a:xfrm>
            <a:off x="614625" y="33911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have added two constant values “Admin” and “User” as roles. You can add as many roles as you wish.</a:t>
            </a:r>
            <a:endParaRPr>
              <a:latin typeface="Lato"/>
              <a:ea typeface="Lato"/>
              <a:cs typeface="Lato"/>
              <a:sym typeface="Lato"/>
            </a:endParaRPr>
          </a:p>
        </p:txBody>
      </p:sp>
      <p:pic>
        <p:nvPicPr>
          <p:cNvPr id="174" name="Google Shape;174;p23"/>
          <p:cNvPicPr preferRelativeResize="0"/>
          <p:nvPr/>
        </p:nvPicPr>
        <p:blipFill rotWithShape="1">
          <a:blip r:embed="rId5">
            <a:alphaModFix/>
          </a:blip>
          <a:srcRect/>
          <a:stretch/>
        </p:blipFill>
        <p:spPr>
          <a:xfrm>
            <a:off x="552892" y="3522242"/>
            <a:ext cx="61722" cy="109728"/>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2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80" name="Google Shape;180;p2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81" name="Google Shape;181;p2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82" name="Google Shape;182;p24"/>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83" name="Google Shape;183;p24"/>
          <p:cNvSpPr txBox="1"/>
          <p:nvPr/>
        </p:nvSpPr>
        <p:spPr>
          <a:xfrm>
            <a:off x="614625" y="1105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RegisterModel.cs</a:t>
            </a:r>
            <a:endParaRPr b="1">
              <a:latin typeface="Lato"/>
              <a:ea typeface="Lato"/>
              <a:cs typeface="Lato"/>
              <a:sym typeface="Lato"/>
            </a:endParaRPr>
          </a:p>
        </p:txBody>
      </p:sp>
      <p:pic>
        <p:nvPicPr>
          <p:cNvPr id="184" name="Google Shape;184;p24"/>
          <p:cNvPicPr preferRelativeResize="0"/>
          <p:nvPr/>
        </p:nvPicPr>
        <p:blipFill rotWithShape="1">
          <a:blip r:embed="rId5">
            <a:alphaModFix/>
          </a:blip>
          <a:srcRect/>
          <a:stretch/>
        </p:blipFill>
        <p:spPr>
          <a:xfrm>
            <a:off x="552892" y="1236242"/>
            <a:ext cx="61722" cy="109728"/>
          </a:xfrm>
          <a:prstGeom prst="rect">
            <a:avLst/>
          </a:prstGeom>
          <a:noFill/>
          <a:ln>
            <a:noFill/>
          </a:ln>
        </p:spPr>
      </p:pic>
      <p:sp>
        <p:nvSpPr>
          <p:cNvPr id="185" name="Google Shape;185;p24"/>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Create class “RegisterModel” for new user registration.</a:t>
            </a:r>
            <a:endParaRPr>
              <a:latin typeface="Lato"/>
              <a:ea typeface="Lato"/>
              <a:cs typeface="Lato"/>
              <a:sym typeface="Lato"/>
            </a:endParaRPr>
          </a:p>
        </p:txBody>
      </p:sp>
      <p:pic>
        <p:nvPicPr>
          <p:cNvPr id="186" name="Google Shape;186;p24"/>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187" name="Google Shape;187;p24"/>
          <p:cNvPicPr preferRelativeResize="0"/>
          <p:nvPr/>
        </p:nvPicPr>
        <p:blipFill>
          <a:blip r:embed="rId6">
            <a:alphaModFix/>
          </a:blip>
          <a:stretch>
            <a:fillRect/>
          </a:stretch>
        </p:blipFill>
        <p:spPr>
          <a:xfrm>
            <a:off x="2172174" y="1581555"/>
            <a:ext cx="4799651" cy="296388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93" name="Google Shape;193;p2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4" name="Google Shape;194;p2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pic>
        <p:nvPicPr>
          <p:cNvPr id="195" name="Google Shape;195;p25"/>
          <p:cNvPicPr preferRelativeResize="0"/>
          <p:nvPr/>
        </p:nvPicPr>
        <p:blipFill rotWithShape="1">
          <a:blip r:embed="rId5">
            <a:alphaModFix/>
          </a:blip>
          <a:srcRect/>
          <a:stretch/>
        </p:blipFill>
        <p:spPr>
          <a:xfrm>
            <a:off x="1029755" y="4271175"/>
            <a:ext cx="61722" cy="109728"/>
          </a:xfrm>
          <a:prstGeom prst="rect">
            <a:avLst/>
          </a:prstGeom>
          <a:noFill/>
          <a:ln>
            <a:noFill/>
          </a:ln>
        </p:spPr>
      </p:pic>
      <p:sp>
        <p:nvSpPr>
          <p:cNvPr id="196" name="Google Shape;196;p25"/>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197" name="Google Shape;197;p25"/>
          <p:cNvSpPr txBox="1"/>
          <p:nvPr/>
        </p:nvSpPr>
        <p:spPr>
          <a:xfrm>
            <a:off x="614625" y="1105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LoginModel.cs</a:t>
            </a:r>
            <a:endParaRPr b="1">
              <a:latin typeface="Lato"/>
              <a:ea typeface="Lato"/>
              <a:cs typeface="Lato"/>
              <a:sym typeface="Lato"/>
            </a:endParaRPr>
          </a:p>
        </p:txBody>
      </p:sp>
      <p:pic>
        <p:nvPicPr>
          <p:cNvPr id="198" name="Google Shape;198;p25"/>
          <p:cNvPicPr preferRelativeResize="0"/>
          <p:nvPr/>
        </p:nvPicPr>
        <p:blipFill rotWithShape="1">
          <a:blip r:embed="rId5">
            <a:alphaModFix/>
          </a:blip>
          <a:srcRect/>
          <a:stretch/>
        </p:blipFill>
        <p:spPr>
          <a:xfrm>
            <a:off x="552892" y="1236242"/>
            <a:ext cx="61722" cy="109728"/>
          </a:xfrm>
          <a:prstGeom prst="rect">
            <a:avLst/>
          </a:prstGeom>
          <a:noFill/>
          <a:ln>
            <a:noFill/>
          </a:ln>
        </p:spPr>
      </p:pic>
      <p:sp>
        <p:nvSpPr>
          <p:cNvPr id="199" name="Google Shape;199;p25"/>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Create class “LoginModel” for user login. </a:t>
            </a:r>
            <a:endParaRPr>
              <a:latin typeface="Lato"/>
              <a:ea typeface="Lato"/>
              <a:cs typeface="Lato"/>
              <a:sym typeface="Lato"/>
            </a:endParaRPr>
          </a:p>
        </p:txBody>
      </p:sp>
      <p:pic>
        <p:nvPicPr>
          <p:cNvPr id="200" name="Google Shape;200;p25"/>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201" name="Google Shape;201;p25"/>
          <p:cNvPicPr preferRelativeResize="0"/>
          <p:nvPr/>
        </p:nvPicPr>
        <p:blipFill>
          <a:blip r:embed="rId6">
            <a:alphaModFix/>
          </a:blip>
          <a:stretch>
            <a:fillRect/>
          </a:stretch>
        </p:blipFill>
        <p:spPr>
          <a:xfrm>
            <a:off x="1701993" y="1505355"/>
            <a:ext cx="5740015" cy="296388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2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07" name="Google Shape;207;p2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08" name="Google Shape;208;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09" name="Google Shape;209;p26"/>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210" name="Google Shape;210;p26"/>
          <p:cNvSpPr txBox="1"/>
          <p:nvPr/>
        </p:nvSpPr>
        <p:spPr>
          <a:xfrm>
            <a:off x="614625" y="13337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Response.cs</a:t>
            </a:r>
            <a:endParaRPr b="1">
              <a:latin typeface="Lato"/>
              <a:ea typeface="Lato"/>
              <a:cs typeface="Lato"/>
              <a:sym typeface="Lato"/>
            </a:endParaRPr>
          </a:p>
        </p:txBody>
      </p:sp>
      <p:pic>
        <p:nvPicPr>
          <p:cNvPr id="211" name="Google Shape;211;p26"/>
          <p:cNvPicPr preferRelativeResize="0"/>
          <p:nvPr/>
        </p:nvPicPr>
        <p:blipFill rotWithShape="1">
          <a:blip r:embed="rId5">
            <a:alphaModFix/>
          </a:blip>
          <a:srcRect/>
          <a:stretch/>
        </p:blipFill>
        <p:spPr>
          <a:xfrm>
            <a:off x="552892" y="1464842"/>
            <a:ext cx="61722" cy="109728"/>
          </a:xfrm>
          <a:prstGeom prst="rect">
            <a:avLst/>
          </a:prstGeom>
          <a:noFill/>
          <a:ln>
            <a:noFill/>
          </a:ln>
        </p:spPr>
      </p:pic>
      <p:sp>
        <p:nvSpPr>
          <p:cNvPr id="212" name="Google Shape;212;p26"/>
          <p:cNvSpPr txBox="1"/>
          <p:nvPr/>
        </p:nvSpPr>
        <p:spPr>
          <a:xfrm>
            <a:off x="614625" y="8003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create a class “Response” for returning the response value after user registration and user login. It will also return error messages if the request fails. </a:t>
            </a:r>
            <a:endParaRPr>
              <a:latin typeface="Lato"/>
              <a:ea typeface="Lato"/>
              <a:cs typeface="Lato"/>
              <a:sym typeface="Lato"/>
            </a:endParaRPr>
          </a:p>
        </p:txBody>
      </p:sp>
      <p:pic>
        <p:nvPicPr>
          <p:cNvPr id="213" name="Google Shape;213;p26"/>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214" name="Google Shape;214;p26"/>
          <p:cNvPicPr preferRelativeResize="0"/>
          <p:nvPr/>
        </p:nvPicPr>
        <p:blipFill>
          <a:blip r:embed="rId6">
            <a:alphaModFix/>
          </a:blip>
          <a:stretch>
            <a:fillRect/>
          </a:stretch>
        </p:blipFill>
        <p:spPr>
          <a:xfrm>
            <a:off x="2117488" y="1733950"/>
            <a:ext cx="4909025" cy="2043150"/>
          </a:xfrm>
          <a:prstGeom prst="rect">
            <a:avLst/>
          </a:prstGeom>
          <a:noFill/>
          <a:ln w="9525" cap="flat" cmpd="sng">
            <a:solidFill>
              <a:schemeClr val="dk2"/>
            </a:solidFill>
            <a:prstDash val="solid"/>
            <a:round/>
            <a:headEnd type="none" w="sm" len="sm"/>
            <a:tailEnd type="none" w="sm" len="sm"/>
          </a:ln>
        </p:spPr>
      </p:pic>
      <p:sp>
        <p:nvSpPr>
          <p:cNvPr id="215" name="Google Shape;215;p26"/>
          <p:cNvSpPr txBox="1"/>
          <p:nvPr/>
        </p:nvSpPr>
        <p:spPr>
          <a:xfrm>
            <a:off x="614625" y="38483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create an API controller “AuthenticateController” inside the “Controllers” folder. Kindly check mentioned controller in Source Code.</a:t>
            </a:r>
            <a:endParaRPr>
              <a:latin typeface="Lato"/>
              <a:ea typeface="Lato"/>
              <a:cs typeface="Lato"/>
              <a:sym typeface="Lato"/>
            </a:endParaRPr>
          </a:p>
        </p:txBody>
      </p:sp>
      <p:pic>
        <p:nvPicPr>
          <p:cNvPr id="216" name="Google Shape;216;p26"/>
          <p:cNvPicPr preferRelativeResize="0"/>
          <p:nvPr/>
        </p:nvPicPr>
        <p:blipFill rotWithShape="1">
          <a:blip r:embed="rId5">
            <a:alphaModFix/>
          </a:blip>
          <a:srcRect/>
          <a:stretch/>
        </p:blipFill>
        <p:spPr>
          <a:xfrm>
            <a:off x="552892" y="3979442"/>
            <a:ext cx="61722" cy="109728"/>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2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22" name="Google Shape;222;p2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23" name="Google Shape;223;p2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24" name="Google Shape;224;p27"/>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225" name="Google Shape;225;p27"/>
          <p:cNvSpPr txBox="1"/>
          <p:nvPr/>
        </p:nvSpPr>
        <p:spPr>
          <a:xfrm>
            <a:off x="614625" y="800355"/>
            <a:ext cx="78309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have added three methods “login”, “register”, and “register-admin” inside the controller class. Register and register-admin are almost same, but the register-admin method will be used to create a user with admin role. In login method, we have returned a JWT token after successful login.</a:t>
            </a:r>
            <a:endParaRPr>
              <a:latin typeface="Lato"/>
              <a:ea typeface="Lato"/>
              <a:cs typeface="Lato"/>
              <a:sym typeface="Lato"/>
            </a:endParaRPr>
          </a:p>
        </p:txBody>
      </p:sp>
      <p:pic>
        <p:nvPicPr>
          <p:cNvPr id="226" name="Google Shape;226;p27"/>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227" name="Google Shape;227;p27"/>
          <p:cNvSpPr txBox="1"/>
          <p:nvPr/>
        </p:nvSpPr>
        <p:spPr>
          <a:xfrm>
            <a:off x="614625" y="1562355"/>
            <a:ext cx="78309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In .NET 6.0, Microsoft removed the Startup class and only kept Program class. We must define all our dependency injection and other configurations inside the Program class. Kindly check mentioned file in Source Code.</a:t>
            </a:r>
            <a:endParaRPr>
              <a:latin typeface="Lato"/>
              <a:ea typeface="Lato"/>
              <a:cs typeface="Lato"/>
              <a:sym typeface="Lato"/>
            </a:endParaRPr>
          </a:p>
        </p:txBody>
      </p:sp>
      <p:pic>
        <p:nvPicPr>
          <p:cNvPr id="228" name="Google Shape;228;p27"/>
          <p:cNvPicPr preferRelativeResize="0"/>
          <p:nvPr/>
        </p:nvPicPr>
        <p:blipFill rotWithShape="1">
          <a:blip r:embed="rId5">
            <a:alphaModFix/>
          </a:blip>
          <a:srcRect/>
          <a:stretch/>
        </p:blipFill>
        <p:spPr>
          <a:xfrm>
            <a:off x="552892" y="1693442"/>
            <a:ext cx="61722" cy="109728"/>
          </a:xfrm>
          <a:prstGeom prst="rect">
            <a:avLst/>
          </a:prstGeom>
          <a:noFill/>
          <a:ln>
            <a:noFill/>
          </a:ln>
        </p:spPr>
      </p:pic>
      <p:sp>
        <p:nvSpPr>
          <p:cNvPr id="229" name="Google Shape;229;p27"/>
          <p:cNvSpPr txBox="1"/>
          <p:nvPr/>
        </p:nvSpPr>
        <p:spPr>
          <a:xfrm>
            <a:off x="614625" y="2324355"/>
            <a:ext cx="78309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must create a database and tables needed before running the application. As we are using entity framework, we can use below database migration command with package manger console to create a migration script.</a:t>
            </a:r>
            <a:endParaRPr>
              <a:latin typeface="Lato"/>
              <a:ea typeface="Lato"/>
              <a:cs typeface="Lato"/>
              <a:sym typeface="Lato"/>
            </a:endParaRPr>
          </a:p>
        </p:txBody>
      </p:sp>
      <p:pic>
        <p:nvPicPr>
          <p:cNvPr id="230" name="Google Shape;230;p27"/>
          <p:cNvPicPr preferRelativeResize="0"/>
          <p:nvPr/>
        </p:nvPicPr>
        <p:blipFill rotWithShape="1">
          <a:blip r:embed="rId5">
            <a:alphaModFix/>
          </a:blip>
          <a:srcRect/>
          <a:stretch/>
        </p:blipFill>
        <p:spPr>
          <a:xfrm>
            <a:off x="552892" y="2455442"/>
            <a:ext cx="61722" cy="109728"/>
          </a:xfrm>
          <a:prstGeom prst="rect">
            <a:avLst/>
          </a:prstGeom>
          <a:noFill/>
          <a:ln>
            <a:noFill/>
          </a:ln>
        </p:spPr>
      </p:pic>
      <p:sp>
        <p:nvSpPr>
          <p:cNvPr id="231" name="Google Shape;231;p27"/>
          <p:cNvSpPr txBox="1"/>
          <p:nvPr/>
        </p:nvSpPr>
        <p:spPr>
          <a:xfrm>
            <a:off x="614625" y="3086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add-migration Initial</a:t>
            </a:r>
            <a:endParaRPr b="1">
              <a:latin typeface="Lato"/>
              <a:ea typeface="Lato"/>
              <a:cs typeface="Lato"/>
              <a:sym typeface="Lato"/>
            </a:endParaRPr>
          </a:p>
        </p:txBody>
      </p:sp>
      <p:pic>
        <p:nvPicPr>
          <p:cNvPr id="232" name="Google Shape;232;p27"/>
          <p:cNvPicPr preferRelativeResize="0"/>
          <p:nvPr/>
        </p:nvPicPr>
        <p:blipFill rotWithShape="1">
          <a:blip r:embed="rId5">
            <a:alphaModFix/>
          </a:blip>
          <a:srcRect/>
          <a:stretch/>
        </p:blipFill>
        <p:spPr>
          <a:xfrm>
            <a:off x="552892" y="3217442"/>
            <a:ext cx="61722" cy="109728"/>
          </a:xfrm>
          <a:prstGeom prst="rect">
            <a:avLst/>
          </a:prstGeom>
          <a:noFill/>
          <a:ln>
            <a:noFill/>
          </a:ln>
        </p:spPr>
      </p:pic>
      <p:pic>
        <p:nvPicPr>
          <p:cNvPr id="233" name="Google Shape;233;p27"/>
          <p:cNvPicPr preferRelativeResize="0"/>
          <p:nvPr/>
        </p:nvPicPr>
        <p:blipFill>
          <a:blip r:embed="rId6">
            <a:alphaModFix/>
          </a:blip>
          <a:stretch>
            <a:fillRect/>
          </a:stretch>
        </p:blipFill>
        <p:spPr>
          <a:xfrm>
            <a:off x="2448375" y="3238750"/>
            <a:ext cx="6151125" cy="142409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p2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39" name="Google Shape;239;p2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40" name="Google Shape;240;p2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41" name="Google Shape;241;p28"/>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242" name="Google Shape;242;p28"/>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Use the command below to create database and tables.</a:t>
            </a:r>
            <a:endParaRPr>
              <a:latin typeface="Lato"/>
              <a:ea typeface="Lato"/>
              <a:cs typeface="Lato"/>
              <a:sym typeface="Lato"/>
            </a:endParaRPr>
          </a:p>
        </p:txBody>
      </p:sp>
      <p:pic>
        <p:nvPicPr>
          <p:cNvPr id="243" name="Google Shape;243;p28"/>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244" name="Google Shape;244;p28"/>
          <p:cNvSpPr txBox="1"/>
          <p:nvPr/>
        </p:nvSpPr>
        <p:spPr>
          <a:xfrm>
            <a:off x="614625" y="1105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b="1">
                <a:highlight>
                  <a:srgbClr val="FFFFFF"/>
                </a:highlight>
                <a:latin typeface="Lato"/>
                <a:ea typeface="Lato"/>
                <a:cs typeface="Lato"/>
                <a:sym typeface="Lato"/>
              </a:rPr>
              <a:t>update-database</a:t>
            </a:r>
            <a:endParaRPr b="1">
              <a:latin typeface="Lato"/>
              <a:ea typeface="Lato"/>
              <a:cs typeface="Lato"/>
              <a:sym typeface="Lato"/>
            </a:endParaRPr>
          </a:p>
        </p:txBody>
      </p:sp>
      <p:pic>
        <p:nvPicPr>
          <p:cNvPr id="245" name="Google Shape;245;p28"/>
          <p:cNvPicPr preferRelativeResize="0"/>
          <p:nvPr/>
        </p:nvPicPr>
        <p:blipFill rotWithShape="1">
          <a:blip r:embed="rId5">
            <a:alphaModFix/>
          </a:blip>
          <a:srcRect/>
          <a:stretch/>
        </p:blipFill>
        <p:spPr>
          <a:xfrm>
            <a:off x="552892" y="1236242"/>
            <a:ext cx="61722" cy="109728"/>
          </a:xfrm>
          <a:prstGeom prst="rect">
            <a:avLst/>
          </a:prstGeom>
          <a:noFill/>
          <a:ln>
            <a:noFill/>
          </a:ln>
        </p:spPr>
      </p:pic>
      <p:sp>
        <p:nvSpPr>
          <p:cNvPr id="246" name="Google Shape;246;p28"/>
          <p:cNvSpPr txBox="1"/>
          <p:nvPr/>
        </p:nvSpPr>
        <p:spPr>
          <a:xfrm>
            <a:off x="614625" y="14099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If you check the database using SQL server object explorer, you can see that the tables below are created inside the database.</a:t>
            </a:r>
            <a:endParaRPr>
              <a:latin typeface="Lato"/>
              <a:ea typeface="Lato"/>
              <a:cs typeface="Lato"/>
              <a:sym typeface="Lato"/>
            </a:endParaRPr>
          </a:p>
        </p:txBody>
      </p:sp>
      <p:pic>
        <p:nvPicPr>
          <p:cNvPr id="247" name="Google Shape;247;p28"/>
          <p:cNvPicPr preferRelativeResize="0"/>
          <p:nvPr/>
        </p:nvPicPr>
        <p:blipFill rotWithShape="1">
          <a:blip r:embed="rId5">
            <a:alphaModFix/>
          </a:blip>
          <a:srcRect/>
          <a:stretch/>
        </p:blipFill>
        <p:spPr>
          <a:xfrm>
            <a:off x="552892" y="1541042"/>
            <a:ext cx="61722" cy="109728"/>
          </a:xfrm>
          <a:prstGeom prst="rect">
            <a:avLst/>
          </a:prstGeom>
          <a:noFill/>
          <a:ln>
            <a:noFill/>
          </a:ln>
        </p:spPr>
      </p:pic>
      <p:pic>
        <p:nvPicPr>
          <p:cNvPr id="248" name="Google Shape;248;p28"/>
          <p:cNvPicPr preferRelativeResize="0"/>
          <p:nvPr/>
        </p:nvPicPr>
        <p:blipFill>
          <a:blip r:embed="rId6">
            <a:alphaModFix/>
          </a:blip>
          <a:stretch>
            <a:fillRect/>
          </a:stretch>
        </p:blipFill>
        <p:spPr>
          <a:xfrm>
            <a:off x="5854725" y="1824405"/>
            <a:ext cx="2524071" cy="2443687"/>
          </a:xfrm>
          <a:prstGeom prst="rect">
            <a:avLst/>
          </a:prstGeom>
          <a:noFill/>
          <a:ln w="9525" cap="flat" cmpd="sng">
            <a:solidFill>
              <a:schemeClr val="dk2"/>
            </a:solidFill>
            <a:prstDash val="solid"/>
            <a:round/>
            <a:headEnd type="none" w="sm" len="sm"/>
            <a:tailEnd type="none" w="sm" len="sm"/>
          </a:ln>
        </p:spPr>
      </p:pic>
      <p:sp>
        <p:nvSpPr>
          <p:cNvPr id="249" name="Google Shape;249;p28"/>
          <p:cNvSpPr txBox="1"/>
          <p:nvPr/>
        </p:nvSpPr>
        <p:spPr>
          <a:xfrm>
            <a:off x="614625" y="1943350"/>
            <a:ext cx="49875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There are 7 tables created for User, Role and Claims during the database migration process. This is due to the Microsoft Identity framework.</a:t>
            </a:r>
            <a:endParaRPr>
              <a:latin typeface="Lato"/>
              <a:ea typeface="Lato"/>
              <a:cs typeface="Lato"/>
              <a:sym typeface="Lato"/>
            </a:endParaRPr>
          </a:p>
        </p:txBody>
      </p:sp>
      <p:pic>
        <p:nvPicPr>
          <p:cNvPr id="250" name="Google Shape;250;p28"/>
          <p:cNvPicPr preferRelativeResize="0"/>
          <p:nvPr/>
        </p:nvPicPr>
        <p:blipFill rotWithShape="1">
          <a:blip r:embed="rId5">
            <a:alphaModFix/>
          </a:blip>
          <a:srcRect/>
          <a:stretch/>
        </p:blipFill>
        <p:spPr>
          <a:xfrm>
            <a:off x="552892" y="2074442"/>
            <a:ext cx="61722" cy="109728"/>
          </a:xfrm>
          <a:prstGeom prst="rect">
            <a:avLst/>
          </a:prstGeom>
          <a:noFill/>
          <a:ln>
            <a:noFill/>
          </a:ln>
        </p:spPr>
      </p:pic>
      <p:sp>
        <p:nvSpPr>
          <p:cNvPr id="251" name="Google Shape;251;p28"/>
          <p:cNvSpPr txBox="1"/>
          <p:nvPr/>
        </p:nvSpPr>
        <p:spPr>
          <a:xfrm>
            <a:off x="614625" y="2705350"/>
            <a:ext cx="4987500" cy="1262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ASP.NET Core Identity is a membership system which allows you to add login functionality to your application. Users can create an account and login with a username and password, or they can use an external login provider such as Facebook, Google, Microsoft Account, Twitter and more.</a:t>
            </a:r>
            <a:endParaRPr>
              <a:latin typeface="Lato"/>
              <a:ea typeface="Lato"/>
              <a:cs typeface="Lato"/>
              <a:sym typeface="Lato"/>
            </a:endParaRPr>
          </a:p>
        </p:txBody>
      </p:sp>
      <p:pic>
        <p:nvPicPr>
          <p:cNvPr id="252" name="Google Shape;252;p28"/>
          <p:cNvPicPr preferRelativeResize="0"/>
          <p:nvPr/>
        </p:nvPicPr>
        <p:blipFill rotWithShape="1">
          <a:blip r:embed="rId5">
            <a:alphaModFix/>
          </a:blip>
          <a:srcRect/>
          <a:stretch/>
        </p:blipFill>
        <p:spPr>
          <a:xfrm>
            <a:off x="552892" y="2836442"/>
            <a:ext cx="61722" cy="109728"/>
          </a:xfrm>
          <a:prstGeom prst="rect">
            <a:avLst/>
          </a:prstGeom>
          <a:noFill/>
          <a:ln>
            <a:noFill/>
          </a:ln>
        </p:spPr>
      </p:pic>
      <p:sp>
        <p:nvSpPr>
          <p:cNvPr id="253" name="Google Shape;253;p28"/>
          <p:cNvSpPr txBox="1"/>
          <p:nvPr/>
        </p:nvSpPr>
        <p:spPr>
          <a:xfrm>
            <a:off x="614625" y="3848350"/>
            <a:ext cx="49875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You can configure ASP.NET Core Identity to use a SQL Server database to store usernames, passwords, and profile data.</a:t>
            </a:r>
            <a:endParaRPr>
              <a:latin typeface="Lato"/>
              <a:ea typeface="Lato"/>
              <a:cs typeface="Lato"/>
              <a:sym typeface="Lato"/>
            </a:endParaRPr>
          </a:p>
        </p:txBody>
      </p:sp>
      <p:pic>
        <p:nvPicPr>
          <p:cNvPr id="254" name="Google Shape;254;p28"/>
          <p:cNvPicPr preferRelativeResize="0"/>
          <p:nvPr/>
        </p:nvPicPr>
        <p:blipFill rotWithShape="1">
          <a:blip r:embed="rId5">
            <a:alphaModFix/>
          </a:blip>
          <a:srcRect/>
          <a:stretch/>
        </p:blipFill>
        <p:spPr>
          <a:xfrm>
            <a:off x="552892" y="3979442"/>
            <a:ext cx="61722" cy="109728"/>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2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60" name="Google Shape;260;p2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61" name="Google Shape;261;p2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62" name="Google Shape;262;p29"/>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263" name="Google Shape;263;p29"/>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add “Authorize” attribute inside the “WeatherForecast” controller.</a:t>
            </a:r>
            <a:endParaRPr>
              <a:latin typeface="Lato"/>
              <a:ea typeface="Lato"/>
              <a:cs typeface="Lato"/>
              <a:sym typeface="Lato"/>
            </a:endParaRPr>
          </a:p>
        </p:txBody>
      </p:sp>
      <p:pic>
        <p:nvPicPr>
          <p:cNvPr id="264" name="Google Shape;264;p29"/>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265" name="Google Shape;265;p29"/>
          <p:cNvPicPr preferRelativeResize="0"/>
          <p:nvPr/>
        </p:nvPicPr>
        <p:blipFill>
          <a:blip r:embed="rId6">
            <a:alphaModFix/>
          </a:blip>
          <a:stretch>
            <a:fillRect/>
          </a:stretch>
        </p:blipFill>
        <p:spPr>
          <a:xfrm>
            <a:off x="777620" y="1200550"/>
            <a:ext cx="7588759" cy="1707475"/>
          </a:xfrm>
          <a:prstGeom prst="rect">
            <a:avLst/>
          </a:prstGeom>
          <a:noFill/>
          <a:ln w="9525" cap="flat" cmpd="sng">
            <a:solidFill>
              <a:schemeClr val="dk2"/>
            </a:solidFill>
            <a:prstDash val="solid"/>
            <a:round/>
            <a:headEnd type="none" w="sm" len="sm"/>
            <a:tailEnd type="none" w="sm" len="sm"/>
          </a:ln>
        </p:spPr>
      </p:pic>
      <p:sp>
        <p:nvSpPr>
          <p:cNvPr id="266" name="Google Shape;266;p29"/>
          <p:cNvSpPr txBox="1"/>
          <p:nvPr/>
        </p:nvSpPr>
        <p:spPr>
          <a:xfrm>
            <a:off x="614625" y="28577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add “Authorize” attribute inside the “WeatherForecast” controller.</a:t>
            </a:r>
            <a:endParaRPr>
              <a:latin typeface="Lato"/>
              <a:ea typeface="Lato"/>
              <a:cs typeface="Lato"/>
              <a:sym typeface="Lato"/>
            </a:endParaRPr>
          </a:p>
        </p:txBody>
      </p:sp>
      <p:pic>
        <p:nvPicPr>
          <p:cNvPr id="267" name="Google Shape;267;p29"/>
          <p:cNvPicPr preferRelativeResize="0"/>
          <p:nvPr/>
        </p:nvPicPr>
        <p:blipFill rotWithShape="1">
          <a:blip r:embed="rId5">
            <a:alphaModFix/>
          </a:blip>
          <a:srcRect/>
          <a:stretch/>
        </p:blipFill>
        <p:spPr>
          <a:xfrm>
            <a:off x="552892" y="2988842"/>
            <a:ext cx="61722" cy="109728"/>
          </a:xfrm>
          <a:prstGeom prst="rect">
            <a:avLst/>
          </a:prstGeom>
          <a:noFill/>
          <a:ln>
            <a:noFill/>
          </a:ln>
        </p:spPr>
      </p:pic>
      <p:pic>
        <p:nvPicPr>
          <p:cNvPr id="268" name="Google Shape;268;p29"/>
          <p:cNvPicPr preferRelativeResize="0"/>
          <p:nvPr/>
        </p:nvPicPr>
        <p:blipFill>
          <a:blip r:embed="rId7">
            <a:alphaModFix/>
          </a:blip>
          <a:stretch>
            <a:fillRect/>
          </a:stretch>
        </p:blipFill>
        <p:spPr>
          <a:xfrm>
            <a:off x="777625" y="3250974"/>
            <a:ext cx="7588751" cy="1462436"/>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3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74" name="Google Shape;274;p3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75" name="Google Shape;275;p3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76" name="Google Shape;276;p30"/>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277" name="Google Shape;277;p30"/>
          <p:cNvSpPr txBox="1"/>
          <p:nvPr/>
        </p:nvSpPr>
        <p:spPr>
          <a:xfrm>
            <a:off x="614625" y="724155"/>
            <a:ext cx="7830900" cy="8313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have received a 401 unauthorized error. Because, we have added Authorize attribute to entire controller. We must supply a valid token via request header to access this controller and methods inside the controller. </a:t>
            </a:r>
            <a:endParaRPr>
              <a:latin typeface="Lato"/>
              <a:ea typeface="Lato"/>
              <a:cs typeface="Lato"/>
              <a:sym typeface="Lato"/>
            </a:endParaRPr>
          </a:p>
        </p:txBody>
      </p:sp>
      <p:pic>
        <p:nvPicPr>
          <p:cNvPr id="278" name="Google Shape;278;p30"/>
          <p:cNvPicPr preferRelativeResize="0"/>
          <p:nvPr/>
        </p:nvPicPr>
        <p:blipFill rotWithShape="1">
          <a:blip r:embed="rId5">
            <a:alphaModFix/>
          </a:blip>
          <a:srcRect/>
          <a:stretch/>
        </p:blipFill>
        <p:spPr>
          <a:xfrm>
            <a:off x="552892" y="855242"/>
            <a:ext cx="61722" cy="109728"/>
          </a:xfrm>
          <a:prstGeom prst="rect">
            <a:avLst/>
          </a:prstGeom>
          <a:noFill/>
          <a:ln>
            <a:noFill/>
          </a:ln>
        </p:spPr>
      </p:pic>
      <p:pic>
        <p:nvPicPr>
          <p:cNvPr id="279" name="Google Shape;279;p30"/>
          <p:cNvPicPr preferRelativeResize="0"/>
          <p:nvPr/>
        </p:nvPicPr>
        <p:blipFill>
          <a:blip r:embed="rId6">
            <a:alphaModFix/>
          </a:blip>
          <a:stretch>
            <a:fillRect/>
          </a:stretch>
        </p:blipFill>
        <p:spPr>
          <a:xfrm>
            <a:off x="598413" y="1505350"/>
            <a:ext cx="7947174" cy="1270875"/>
          </a:xfrm>
          <a:prstGeom prst="rect">
            <a:avLst/>
          </a:prstGeom>
          <a:noFill/>
          <a:ln w="9525" cap="flat" cmpd="sng">
            <a:solidFill>
              <a:schemeClr val="dk2"/>
            </a:solidFill>
            <a:prstDash val="solid"/>
            <a:round/>
            <a:headEnd type="none" w="sm" len="sm"/>
            <a:tailEnd type="none" w="sm" len="sm"/>
          </a:ln>
        </p:spPr>
      </p:pic>
      <p:sp>
        <p:nvSpPr>
          <p:cNvPr id="280" name="Google Shape;280;p30"/>
          <p:cNvSpPr txBox="1"/>
          <p:nvPr/>
        </p:nvSpPr>
        <p:spPr>
          <a:xfrm>
            <a:off x="614625" y="27815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create a new user using a register method in authenticate controller.</a:t>
            </a:r>
            <a:endParaRPr>
              <a:latin typeface="Lato"/>
              <a:ea typeface="Lato"/>
              <a:cs typeface="Lato"/>
              <a:sym typeface="Lato"/>
            </a:endParaRPr>
          </a:p>
        </p:txBody>
      </p:sp>
      <p:pic>
        <p:nvPicPr>
          <p:cNvPr id="281" name="Google Shape;281;p30"/>
          <p:cNvPicPr preferRelativeResize="0"/>
          <p:nvPr/>
        </p:nvPicPr>
        <p:blipFill rotWithShape="1">
          <a:blip r:embed="rId5">
            <a:alphaModFix/>
          </a:blip>
          <a:srcRect/>
          <a:stretch/>
        </p:blipFill>
        <p:spPr>
          <a:xfrm>
            <a:off x="552892" y="2912642"/>
            <a:ext cx="61722" cy="109728"/>
          </a:xfrm>
          <a:prstGeom prst="rect">
            <a:avLst/>
          </a:prstGeom>
          <a:noFill/>
          <a:ln>
            <a:noFill/>
          </a:ln>
        </p:spPr>
      </p:pic>
      <p:pic>
        <p:nvPicPr>
          <p:cNvPr id="282" name="Google Shape;282;p30"/>
          <p:cNvPicPr preferRelativeResize="0"/>
          <p:nvPr/>
        </p:nvPicPr>
        <p:blipFill>
          <a:blip r:embed="rId7">
            <a:alphaModFix/>
          </a:blip>
          <a:stretch>
            <a:fillRect/>
          </a:stretch>
        </p:blipFill>
        <p:spPr>
          <a:xfrm>
            <a:off x="1271044" y="3158800"/>
            <a:ext cx="6601912" cy="1522288"/>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pic>
        <p:nvPicPr>
          <p:cNvPr id="287" name="Google Shape;287;p3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88" name="Google Shape;288;p3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89" name="Google Shape;289;p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pic>
        <p:nvPicPr>
          <p:cNvPr id="290" name="Google Shape;290;p31"/>
          <p:cNvPicPr preferRelativeResize="0"/>
          <p:nvPr/>
        </p:nvPicPr>
        <p:blipFill>
          <a:blip r:embed="rId5">
            <a:alphaModFix/>
          </a:blip>
          <a:stretch>
            <a:fillRect/>
          </a:stretch>
        </p:blipFill>
        <p:spPr>
          <a:xfrm>
            <a:off x="152399" y="737625"/>
            <a:ext cx="8839202" cy="1225351"/>
          </a:xfrm>
          <a:prstGeom prst="rect">
            <a:avLst/>
          </a:prstGeom>
          <a:noFill/>
          <a:ln w="9525" cap="flat" cmpd="sng">
            <a:solidFill>
              <a:schemeClr val="dk2"/>
            </a:solidFill>
            <a:prstDash val="solid"/>
            <a:round/>
            <a:headEnd type="none" w="sm" len="sm"/>
            <a:tailEnd type="none" w="sm" len="sm"/>
          </a:ln>
        </p:spPr>
      </p:pic>
      <p:sp>
        <p:nvSpPr>
          <p:cNvPr id="291" name="Google Shape;291;p31"/>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292" name="Google Shape;292;p31"/>
          <p:cNvSpPr txBox="1"/>
          <p:nvPr/>
        </p:nvSpPr>
        <p:spPr>
          <a:xfrm>
            <a:off x="614625" y="20195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have supplied the input data as raw JSON format.</a:t>
            </a:r>
            <a:endParaRPr>
              <a:latin typeface="Lato"/>
              <a:ea typeface="Lato"/>
              <a:cs typeface="Lato"/>
              <a:sym typeface="Lato"/>
            </a:endParaRPr>
          </a:p>
        </p:txBody>
      </p:sp>
      <p:pic>
        <p:nvPicPr>
          <p:cNvPr id="293" name="Google Shape;293;p31"/>
          <p:cNvPicPr preferRelativeResize="0"/>
          <p:nvPr/>
        </p:nvPicPr>
        <p:blipFill rotWithShape="1">
          <a:blip r:embed="rId6">
            <a:alphaModFix/>
          </a:blip>
          <a:srcRect/>
          <a:stretch/>
        </p:blipFill>
        <p:spPr>
          <a:xfrm>
            <a:off x="552892" y="2150642"/>
            <a:ext cx="61722" cy="109728"/>
          </a:xfrm>
          <a:prstGeom prst="rect">
            <a:avLst/>
          </a:prstGeom>
          <a:noFill/>
          <a:ln>
            <a:noFill/>
          </a:ln>
        </p:spPr>
      </p:pic>
      <p:sp>
        <p:nvSpPr>
          <p:cNvPr id="294" name="Google Shape;294;p31"/>
          <p:cNvSpPr txBox="1"/>
          <p:nvPr/>
        </p:nvSpPr>
        <p:spPr>
          <a:xfrm>
            <a:off x="614625" y="2324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use the above user credentials to login and get a valid JWT token.</a:t>
            </a:r>
            <a:endParaRPr>
              <a:latin typeface="Lato"/>
              <a:ea typeface="Lato"/>
              <a:cs typeface="Lato"/>
              <a:sym typeface="Lato"/>
            </a:endParaRPr>
          </a:p>
        </p:txBody>
      </p:sp>
      <p:pic>
        <p:nvPicPr>
          <p:cNvPr id="295" name="Google Shape;295;p31"/>
          <p:cNvPicPr preferRelativeResize="0"/>
          <p:nvPr/>
        </p:nvPicPr>
        <p:blipFill rotWithShape="1">
          <a:blip r:embed="rId6">
            <a:alphaModFix/>
          </a:blip>
          <a:srcRect/>
          <a:stretch/>
        </p:blipFill>
        <p:spPr>
          <a:xfrm>
            <a:off x="552892" y="2455442"/>
            <a:ext cx="61722" cy="109728"/>
          </a:xfrm>
          <a:prstGeom prst="rect">
            <a:avLst/>
          </a:prstGeom>
          <a:noFill/>
          <a:ln>
            <a:noFill/>
          </a:ln>
        </p:spPr>
      </p:pic>
      <p:pic>
        <p:nvPicPr>
          <p:cNvPr id="296" name="Google Shape;296;p31"/>
          <p:cNvPicPr preferRelativeResize="0"/>
          <p:nvPr/>
        </p:nvPicPr>
        <p:blipFill>
          <a:blip r:embed="rId7">
            <a:alphaModFix/>
          </a:blip>
          <a:stretch>
            <a:fillRect/>
          </a:stretch>
        </p:blipFill>
        <p:spPr>
          <a:xfrm>
            <a:off x="152400" y="2724555"/>
            <a:ext cx="8839202" cy="186351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3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02" name="Google Shape;302;p3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03" name="Google Shape;303;p3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04" name="Google Shape;304;p32"/>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pic>
        <p:nvPicPr>
          <p:cNvPr id="305" name="Google Shape;305;p32"/>
          <p:cNvPicPr preferRelativeResize="0"/>
          <p:nvPr/>
        </p:nvPicPr>
        <p:blipFill>
          <a:blip r:embed="rId5">
            <a:alphaModFix/>
          </a:blip>
          <a:stretch>
            <a:fillRect/>
          </a:stretch>
        </p:blipFill>
        <p:spPr>
          <a:xfrm>
            <a:off x="152400" y="737616"/>
            <a:ext cx="8839199" cy="1629787"/>
          </a:xfrm>
          <a:prstGeom prst="rect">
            <a:avLst/>
          </a:prstGeom>
          <a:noFill/>
          <a:ln w="9525" cap="flat" cmpd="sng">
            <a:solidFill>
              <a:schemeClr val="dk2"/>
            </a:solidFill>
            <a:prstDash val="solid"/>
            <a:round/>
            <a:headEnd type="none" w="sm" len="sm"/>
            <a:tailEnd type="none" w="sm" len="sm"/>
          </a:ln>
        </p:spPr>
      </p:pic>
      <p:sp>
        <p:nvSpPr>
          <p:cNvPr id="306" name="Google Shape;306;p32"/>
          <p:cNvSpPr txBox="1"/>
          <p:nvPr/>
        </p:nvSpPr>
        <p:spPr>
          <a:xfrm>
            <a:off x="614625" y="24767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have received a token after successful login with the above credentials.</a:t>
            </a:r>
            <a:endParaRPr>
              <a:latin typeface="Lato"/>
              <a:ea typeface="Lato"/>
              <a:cs typeface="Lato"/>
              <a:sym typeface="Lato"/>
            </a:endParaRPr>
          </a:p>
        </p:txBody>
      </p:sp>
      <p:pic>
        <p:nvPicPr>
          <p:cNvPr id="307" name="Google Shape;307;p32"/>
          <p:cNvPicPr preferRelativeResize="0"/>
          <p:nvPr/>
        </p:nvPicPr>
        <p:blipFill rotWithShape="1">
          <a:blip r:embed="rId6">
            <a:alphaModFix/>
          </a:blip>
          <a:srcRect/>
          <a:stretch/>
        </p:blipFill>
        <p:spPr>
          <a:xfrm>
            <a:off x="552892" y="2607842"/>
            <a:ext cx="61722" cy="109728"/>
          </a:xfrm>
          <a:prstGeom prst="rect">
            <a:avLst/>
          </a:prstGeom>
          <a:noFill/>
          <a:ln>
            <a:noFill/>
          </a:ln>
        </p:spPr>
      </p:pic>
      <p:sp>
        <p:nvSpPr>
          <p:cNvPr id="308" name="Google Shape;308;p32"/>
          <p:cNvSpPr txBox="1"/>
          <p:nvPr/>
        </p:nvSpPr>
        <p:spPr>
          <a:xfrm>
            <a:off x="614625" y="27815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decode the token and see the claims and other information using https://jwt.io site.</a:t>
            </a:r>
            <a:endParaRPr>
              <a:latin typeface="Lato"/>
              <a:ea typeface="Lato"/>
              <a:cs typeface="Lato"/>
              <a:sym typeface="Lato"/>
            </a:endParaRPr>
          </a:p>
        </p:txBody>
      </p:sp>
      <p:pic>
        <p:nvPicPr>
          <p:cNvPr id="309" name="Google Shape;309;p32"/>
          <p:cNvPicPr preferRelativeResize="0"/>
          <p:nvPr/>
        </p:nvPicPr>
        <p:blipFill rotWithShape="1">
          <a:blip r:embed="rId6">
            <a:alphaModFix/>
          </a:blip>
          <a:srcRect/>
          <a:stretch/>
        </p:blipFill>
        <p:spPr>
          <a:xfrm>
            <a:off x="552892" y="2912642"/>
            <a:ext cx="61722" cy="109728"/>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3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15" name="Google Shape;315;p3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16" name="Google Shape;316;p3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17" name="Google Shape;317;p33"/>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pic>
        <p:nvPicPr>
          <p:cNvPr id="318" name="Google Shape;318;p33"/>
          <p:cNvPicPr preferRelativeResize="0"/>
          <p:nvPr/>
        </p:nvPicPr>
        <p:blipFill>
          <a:blip r:embed="rId5">
            <a:alphaModFix/>
          </a:blip>
          <a:stretch>
            <a:fillRect/>
          </a:stretch>
        </p:blipFill>
        <p:spPr>
          <a:xfrm>
            <a:off x="1679038" y="737616"/>
            <a:ext cx="5785923" cy="3884025"/>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3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24" name="Google Shape;324;p3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25" name="Google Shape;325;p3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26" name="Google Shape;326;p34"/>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327" name="Google Shape;327;p34"/>
          <p:cNvSpPr txBox="1"/>
          <p:nvPr/>
        </p:nvSpPr>
        <p:spPr>
          <a:xfrm>
            <a:off x="614625" y="8003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pass the above token value as a </a:t>
            </a:r>
            <a:r>
              <a:rPr lang="en" b="1">
                <a:highlight>
                  <a:srgbClr val="FFFFFF"/>
                </a:highlight>
                <a:latin typeface="Lato"/>
                <a:ea typeface="Lato"/>
                <a:cs typeface="Lato"/>
                <a:sym typeface="Lato"/>
              </a:rPr>
              <a:t>Bearer</a:t>
            </a:r>
            <a:r>
              <a:rPr lang="en">
                <a:highlight>
                  <a:srgbClr val="FFFFFF"/>
                </a:highlight>
                <a:latin typeface="Lato"/>
                <a:ea typeface="Lato"/>
                <a:cs typeface="Lato"/>
                <a:sym typeface="Lato"/>
              </a:rPr>
              <a:t> token inside the authorization tab and call get method of weatherforecast controller again. </a:t>
            </a:r>
            <a:endParaRPr>
              <a:latin typeface="Lato"/>
              <a:ea typeface="Lato"/>
              <a:cs typeface="Lato"/>
              <a:sym typeface="Lato"/>
            </a:endParaRPr>
          </a:p>
        </p:txBody>
      </p:sp>
      <p:pic>
        <p:nvPicPr>
          <p:cNvPr id="328" name="Google Shape;328;p34"/>
          <p:cNvPicPr preferRelativeResize="0"/>
          <p:nvPr/>
        </p:nvPicPr>
        <p:blipFill rotWithShape="1">
          <a:blip r:embed="rId5">
            <a:alphaModFix/>
          </a:blip>
          <a:srcRect/>
          <a:stretch/>
        </p:blipFill>
        <p:spPr>
          <a:xfrm>
            <a:off x="552892" y="931442"/>
            <a:ext cx="61722" cy="109728"/>
          </a:xfrm>
          <a:prstGeom prst="rect">
            <a:avLst/>
          </a:prstGeom>
          <a:noFill/>
          <a:ln>
            <a:noFill/>
          </a:ln>
        </p:spPr>
      </p:pic>
      <p:pic>
        <p:nvPicPr>
          <p:cNvPr id="329" name="Google Shape;329;p34"/>
          <p:cNvPicPr preferRelativeResize="0"/>
          <p:nvPr/>
        </p:nvPicPr>
        <p:blipFill>
          <a:blip r:embed="rId6">
            <a:alphaModFix/>
          </a:blip>
          <a:stretch>
            <a:fillRect/>
          </a:stretch>
        </p:blipFill>
        <p:spPr>
          <a:xfrm>
            <a:off x="1074897" y="1415950"/>
            <a:ext cx="6994207" cy="320570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35" name="Google Shape;335;p3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36" name="Google Shape;336;p3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37" name="Google Shape;337;p35"/>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338" name="Google Shape;338;p35"/>
          <p:cNvSpPr txBox="1"/>
          <p:nvPr/>
        </p:nvSpPr>
        <p:spPr>
          <a:xfrm>
            <a:off x="614625" y="800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This time, we have successfully received the values from the controller.</a:t>
            </a:r>
            <a:endParaRPr>
              <a:latin typeface="Lato"/>
              <a:ea typeface="Lato"/>
              <a:cs typeface="Lato"/>
              <a:sym typeface="Lato"/>
            </a:endParaRPr>
          </a:p>
        </p:txBody>
      </p:sp>
      <p:pic>
        <p:nvPicPr>
          <p:cNvPr id="339" name="Google Shape;339;p35"/>
          <p:cNvPicPr preferRelativeResize="0"/>
          <p:nvPr/>
        </p:nvPicPr>
        <p:blipFill rotWithShape="1">
          <a:blip r:embed="rId5">
            <a:alphaModFix/>
          </a:blip>
          <a:srcRect/>
          <a:stretch/>
        </p:blipFill>
        <p:spPr>
          <a:xfrm>
            <a:off x="552892" y="931442"/>
            <a:ext cx="61722" cy="109728"/>
          </a:xfrm>
          <a:prstGeom prst="rect">
            <a:avLst/>
          </a:prstGeom>
          <a:noFill/>
          <a:ln>
            <a:noFill/>
          </a:ln>
        </p:spPr>
      </p:pic>
      <p:sp>
        <p:nvSpPr>
          <p:cNvPr id="340" name="Google Shape;340;p35"/>
          <p:cNvSpPr txBox="1"/>
          <p:nvPr/>
        </p:nvSpPr>
        <p:spPr>
          <a:xfrm>
            <a:off x="614625" y="1105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change the weatherforecast controller with role-based authorization.</a:t>
            </a:r>
            <a:endParaRPr>
              <a:latin typeface="Lato"/>
              <a:ea typeface="Lato"/>
              <a:cs typeface="Lato"/>
              <a:sym typeface="Lato"/>
            </a:endParaRPr>
          </a:p>
        </p:txBody>
      </p:sp>
      <p:pic>
        <p:nvPicPr>
          <p:cNvPr id="341" name="Google Shape;341;p35"/>
          <p:cNvPicPr preferRelativeResize="0"/>
          <p:nvPr/>
        </p:nvPicPr>
        <p:blipFill rotWithShape="1">
          <a:blip r:embed="rId5">
            <a:alphaModFix/>
          </a:blip>
          <a:srcRect/>
          <a:stretch/>
        </p:blipFill>
        <p:spPr>
          <a:xfrm>
            <a:off x="552892" y="1236242"/>
            <a:ext cx="61722" cy="109728"/>
          </a:xfrm>
          <a:prstGeom prst="rect">
            <a:avLst/>
          </a:prstGeom>
          <a:noFill/>
          <a:ln>
            <a:noFill/>
          </a:ln>
        </p:spPr>
      </p:pic>
      <p:pic>
        <p:nvPicPr>
          <p:cNvPr id="342" name="Google Shape;342;p35"/>
          <p:cNvPicPr preferRelativeResize="0"/>
          <p:nvPr/>
        </p:nvPicPr>
        <p:blipFill>
          <a:blip r:embed="rId6">
            <a:alphaModFix/>
          </a:blip>
          <a:stretch>
            <a:fillRect/>
          </a:stretch>
        </p:blipFill>
        <p:spPr>
          <a:xfrm>
            <a:off x="656551" y="1505350"/>
            <a:ext cx="7830898" cy="1771902"/>
          </a:xfrm>
          <a:prstGeom prst="rect">
            <a:avLst/>
          </a:prstGeom>
          <a:noFill/>
          <a:ln w="9525" cap="flat" cmpd="sng">
            <a:solidFill>
              <a:schemeClr val="dk2"/>
            </a:solidFill>
            <a:prstDash val="solid"/>
            <a:round/>
            <a:headEnd type="none" w="sm" len="sm"/>
            <a:tailEnd type="none" w="sm" len="sm"/>
          </a:ln>
        </p:spPr>
      </p:pic>
      <p:sp>
        <p:nvSpPr>
          <p:cNvPr id="343" name="Google Shape;343;p35"/>
          <p:cNvSpPr txBox="1"/>
          <p:nvPr/>
        </p:nvSpPr>
        <p:spPr>
          <a:xfrm>
            <a:off x="614625" y="33149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Now, only users with admin role can access this controller and methods.</a:t>
            </a:r>
            <a:endParaRPr>
              <a:latin typeface="Lato"/>
              <a:ea typeface="Lato"/>
              <a:cs typeface="Lato"/>
              <a:sym typeface="Lato"/>
            </a:endParaRPr>
          </a:p>
        </p:txBody>
      </p:sp>
      <p:pic>
        <p:nvPicPr>
          <p:cNvPr id="344" name="Google Shape;344;p35"/>
          <p:cNvPicPr preferRelativeResize="0"/>
          <p:nvPr/>
        </p:nvPicPr>
        <p:blipFill rotWithShape="1">
          <a:blip r:embed="rId5">
            <a:alphaModFix/>
          </a:blip>
          <a:srcRect/>
          <a:stretch/>
        </p:blipFill>
        <p:spPr>
          <a:xfrm>
            <a:off x="552892" y="3446042"/>
            <a:ext cx="61722" cy="109728"/>
          </a:xfrm>
          <a:prstGeom prst="rect">
            <a:avLst/>
          </a:prstGeom>
          <a:noFill/>
          <a:ln>
            <a:noFill/>
          </a:ln>
        </p:spPr>
      </p:pic>
      <p:sp>
        <p:nvSpPr>
          <p:cNvPr id="345" name="Google Shape;345;p35"/>
          <p:cNvSpPr txBox="1"/>
          <p:nvPr/>
        </p:nvSpPr>
        <p:spPr>
          <a:xfrm>
            <a:off x="614625" y="36197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try to access the weatherforecast controller with same token again in Postman tool.</a:t>
            </a:r>
            <a:endParaRPr>
              <a:latin typeface="Lato"/>
              <a:ea typeface="Lato"/>
              <a:cs typeface="Lato"/>
              <a:sym typeface="Lato"/>
            </a:endParaRPr>
          </a:p>
        </p:txBody>
      </p:sp>
      <p:pic>
        <p:nvPicPr>
          <p:cNvPr id="346" name="Google Shape;346;p35"/>
          <p:cNvPicPr preferRelativeResize="0"/>
          <p:nvPr/>
        </p:nvPicPr>
        <p:blipFill rotWithShape="1">
          <a:blip r:embed="rId5">
            <a:alphaModFix/>
          </a:blip>
          <a:srcRect/>
          <a:stretch/>
        </p:blipFill>
        <p:spPr>
          <a:xfrm>
            <a:off x="552892" y="3750842"/>
            <a:ext cx="61722" cy="109728"/>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p3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52" name="Google Shape;352;p3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53" name="Google Shape;353;p3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54" name="Google Shape;354;p36"/>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pic>
        <p:nvPicPr>
          <p:cNvPr id="355" name="Google Shape;355;p36"/>
          <p:cNvPicPr preferRelativeResize="0"/>
          <p:nvPr/>
        </p:nvPicPr>
        <p:blipFill>
          <a:blip r:embed="rId5">
            <a:alphaModFix/>
          </a:blip>
          <a:stretch>
            <a:fillRect/>
          </a:stretch>
        </p:blipFill>
        <p:spPr>
          <a:xfrm>
            <a:off x="1496438" y="737625"/>
            <a:ext cx="6151124" cy="2030663"/>
          </a:xfrm>
          <a:prstGeom prst="rect">
            <a:avLst/>
          </a:prstGeom>
          <a:noFill/>
          <a:ln w="9525" cap="flat" cmpd="sng">
            <a:solidFill>
              <a:schemeClr val="dk2"/>
            </a:solidFill>
            <a:prstDash val="solid"/>
            <a:round/>
            <a:headEnd type="none" w="sm" len="sm"/>
            <a:tailEnd type="none" w="sm" len="sm"/>
          </a:ln>
        </p:spPr>
      </p:pic>
      <p:sp>
        <p:nvSpPr>
          <p:cNvPr id="356" name="Google Shape;356;p36"/>
          <p:cNvSpPr txBox="1"/>
          <p:nvPr/>
        </p:nvSpPr>
        <p:spPr>
          <a:xfrm>
            <a:off x="614625" y="2781555"/>
            <a:ext cx="7830900" cy="1046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have received a 403 forbidden error instead of 401 now. Even though we are passing a valid token we don’t have sufficient privilege to access the controller. To access this controller, the user must have an admin role permission. Current user is a normal user and does not have any admin role permission.</a:t>
            </a:r>
            <a:endParaRPr>
              <a:latin typeface="Lato"/>
              <a:ea typeface="Lato"/>
              <a:cs typeface="Lato"/>
              <a:sym typeface="Lato"/>
            </a:endParaRPr>
          </a:p>
        </p:txBody>
      </p:sp>
      <p:pic>
        <p:nvPicPr>
          <p:cNvPr id="357" name="Google Shape;357;p36"/>
          <p:cNvPicPr preferRelativeResize="0"/>
          <p:nvPr/>
        </p:nvPicPr>
        <p:blipFill rotWithShape="1">
          <a:blip r:embed="rId6">
            <a:alphaModFix/>
          </a:blip>
          <a:srcRect/>
          <a:stretch/>
        </p:blipFill>
        <p:spPr>
          <a:xfrm>
            <a:off x="552892" y="2912642"/>
            <a:ext cx="61722" cy="109728"/>
          </a:xfrm>
          <a:prstGeom prst="rect">
            <a:avLst/>
          </a:prstGeom>
          <a:noFill/>
          <a:ln>
            <a:noFill/>
          </a:ln>
        </p:spPr>
      </p:pic>
      <p:sp>
        <p:nvSpPr>
          <p:cNvPr id="358" name="Google Shape;358;p36"/>
          <p:cNvSpPr txBox="1"/>
          <p:nvPr/>
        </p:nvSpPr>
        <p:spPr>
          <a:xfrm>
            <a:off x="614625" y="3695955"/>
            <a:ext cx="7830900" cy="615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create a new user with an admin role permission. We already have a method “register-admin” in authenticate controller for the same purpose.</a:t>
            </a:r>
            <a:endParaRPr>
              <a:latin typeface="Lato"/>
              <a:ea typeface="Lato"/>
              <a:cs typeface="Lato"/>
              <a:sym typeface="Lato"/>
            </a:endParaRPr>
          </a:p>
        </p:txBody>
      </p:sp>
      <p:pic>
        <p:nvPicPr>
          <p:cNvPr id="359" name="Google Shape;359;p36"/>
          <p:cNvPicPr preferRelativeResize="0"/>
          <p:nvPr/>
        </p:nvPicPr>
        <p:blipFill rotWithShape="1">
          <a:blip r:embed="rId6">
            <a:alphaModFix/>
          </a:blip>
          <a:srcRect/>
          <a:stretch/>
        </p:blipFill>
        <p:spPr>
          <a:xfrm>
            <a:off x="552892" y="3827042"/>
            <a:ext cx="61722" cy="109728"/>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pic>
        <p:nvPicPr>
          <p:cNvPr id="364" name="Google Shape;364;p3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65" name="Google Shape;365;p3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66" name="Google Shape;366;p3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67" name="Google Shape;367;p37"/>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pic>
        <p:nvPicPr>
          <p:cNvPr id="368" name="Google Shape;368;p37"/>
          <p:cNvPicPr preferRelativeResize="0"/>
          <p:nvPr/>
        </p:nvPicPr>
        <p:blipFill>
          <a:blip r:embed="rId5">
            <a:alphaModFix/>
          </a:blip>
          <a:stretch>
            <a:fillRect/>
          </a:stretch>
        </p:blipFill>
        <p:spPr>
          <a:xfrm>
            <a:off x="521309" y="893200"/>
            <a:ext cx="8101382" cy="3267850"/>
          </a:xfrm>
          <a:prstGeom prst="rect">
            <a:avLst/>
          </a:prstGeom>
          <a:noFill/>
          <a:ln w="9525" cap="flat" cmpd="sng">
            <a:solidFill>
              <a:schemeClr val="dk2"/>
            </a:solidFill>
            <a:prstDash val="solid"/>
            <a:round/>
            <a:headEnd type="none" w="sm" len="sm"/>
            <a:tailEnd type="none" w="sm" len="sm"/>
          </a:ln>
        </p:spPr>
      </p:pic>
      <p:sp>
        <p:nvSpPr>
          <p:cNvPr id="369" name="Google Shape;369;p37"/>
          <p:cNvSpPr txBox="1"/>
          <p:nvPr/>
        </p:nvSpPr>
        <p:spPr>
          <a:xfrm>
            <a:off x="614625" y="41531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We can use this token instead of the old token to access the weatherforecast controller. </a:t>
            </a:r>
            <a:endParaRPr>
              <a:highlight>
                <a:srgbClr val="FFFFFF"/>
              </a:highlight>
              <a:latin typeface="Lato"/>
              <a:ea typeface="Lato"/>
              <a:cs typeface="Lato"/>
              <a:sym typeface="Lato"/>
            </a:endParaRPr>
          </a:p>
        </p:txBody>
      </p:sp>
      <p:pic>
        <p:nvPicPr>
          <p:cNvPr id="370" name="Google Shape;370;p37"/>
          <p:cNvPicPr preferRelativeResize="0"/>
          <p:nvPr/>
        </p:nvPicPr>
        <p:blipFill rotWithShape="1">
          <a:blip r:embed="rId6">
            <a:alphaModFix/>
          </a:blip>
          <a:srcRect/>
          <a:stretch/>
        </p:blipFill>
        <p:spPr>
          <a:xfrm>
            <a:off x="552892" y="4284242"/>
            <a:ext cx="61722" cy="109728"/>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3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76" name="Google Shape;376;p3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77" name="Google Shape;377;p3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pic>
        <p:nvPicPr>
          <p:cNvPr id="378" name="Google Shape;378;p38"/>
          <p:cNvPicPr preferRelativeResize="0"/>
          <p:nvPr/>
        </p:nvPicPr>
        <p:blipFill>
          <a:blip r:embed="rId5">
            <a:alphaModFix/>
          </a:blip>
          <a:stretch>
            <a:fillRect/>
          </a:stretch>
        </p:blipFill>
        <p:spPr>
          <a:xfrm>
            <a:off x="1272299" y="734201"/>
            <a:ext cx="6599401" cy="3053575"/>
          </a:xfrm>
          <a:prstGeom prst="rect">
            <a:avLst/>
          </a:prstGeom>
          <a:noFill/>
          <a:ln w="9525" cap="flat" cmpd="sng">
            <a:solidFill>
              <a:schemeClr val="dk2"/>
            </a:solidFill>
            <a:prstDash val="solid"/>
            <a:round/>
            <a:headEnd type="none" w="sm" len="sm"/>
            <a:tailEnd type="none" w="sm" len="sm"/>
          </a:ln>
        </p:spPr>
      </p:pic>
      <p:sp>
        <p:nvSpPr>
          <p:cNvPr id="379" name="Google Shape;379;p38"/>
          <p:cNvSpPr txBox="1"/>
          <p:nvPr/>
        </p:nvSpPr>
        <p:spPr>
          <a:xfrm>
            <a:off x="2735963" y="46313"/>
            <a:ext cx="3668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Create ASP.NET Core Web API</a:t>
            </a:r>
            <a:endParaRPr sz="2000" b="1" i="0" u="none" strike="noStrike" cap="none">
              <a:solidFill>
                <a:srgbClr val="FFFFFF"/>
              </a:solidFill>
              <a:latin typeface="Lato"/>
              <a:ea typeface="Lato"/>
              <a:cs typeface="Lato"/>
              <a:sym typeface="Lato"/>
            </a:endParaRPr>
          </a:p>
        </p:txBody>
      </p:sp>
      <p:sp>
        <p:nvSpPr>
          <p:cNvPr id="380" name="Google Shape;380;p38"/>
          <p:cNvSpPr txBox="1"/>
          <p:nvPr/>
        </p:nvSpPr>
        <p:spPr>
          <a:xfrm>
            <a:off x="614625" y="3848355"/>
            <a:ext cx="78309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a:highlight>
                  <a:srgbClr val="FFFFFF"/>
                </a:highlight>
                <a:latin typeface="Lato"/>
                <a:ea typeface="Lato"/>
                <a:cs typeface="Lato"/>
                <a:sym typeface="Lato"/>
              </a:rPr>
              <a:t>Now we have successfully fetched the data from weatherforecast controller.</a:t>
            </a:r>
            <a:endParaRPr>
              <a:highlight>
                <a:srgbClr val="FFFFFF"/>
              </a:highlight>
              <a:latin typeface="Lato"/>
              <a:ea typeface="Lato"/>
              <a:cs typeface="Lato"/>
              <a:sym typeface="Lato"/>
            </a:endParaRPr>
          </a:p>
        </p:txBody>
      </p:sp>
      <p:pic>
        <p:nvPicPr>
          <p:cNvPr id="381" name="Google Shape;381;p38"/>
          <p:cNvPicPr preferRelativeResize="0"/>
          <p:nvPr/>
        </p:nvPicPr>
        <p:blipFill rotWithShape="1">
          <a:blip r:embed="rId6">
            <a:alphaModFix/>
          </a:blip>
          <a:srcRect/>
          <a:stretch/>
        </p:blipFill>
        <p:spPr>
          <a:xfrm>
            <a:off x="552892" y="3979442"/>
            <a:ext cx="61722" cy="109728"/>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96" name="Google Shape;96;p6"/>
          <p:cNvSpPr txBox="1"/>
          <p:nvPr/>
        </p:nvSpPr>
        <p:spPr>
          <a:xfrm>
            <a:off x="2986500" y="46313"/>
            <a:ext cx="317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Introduction</a:t>
            </a:r>
            <a:endParaRPr sz="2000" b="1" i="0" u="none" strike="noStrike" cap="none">
              <a:solidFill>
                <a:srgbClr val="FFFFFF"/>
              </a:solidFill>
              <a:latin typeface="Lato"/>
              <a:ea typeface="Lato"/>
              <a:cs typeface="Lato"/>
              <a:sym typeface="Lato"/>
            </a:endParaRPr>
          </a:p>
        </p:txBody>
      </p:sp>
      <p:pic>
        <p:nvPicPr>
          <p:cNvPr id="97" name="Google Shape;97;p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98" name="Google Shape;98;p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99" name="Google Shape;99;p6"/>
          <p:cNvSpPr txBox="1"/>
          <p:nvPr/>
        </p:nvSpPr>
        <p:spPr>
          <a:xfrm>
            <a:off x="1150150" y="836486"/>
            <a:ext cx="69501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000000"/>
                </a:solidFill>
                <a:highlight>
                  <a:srgbClr val="FFFFFF"/>
                </a:highlight>
                <a:latin typeface="Lato"/>
                <a:ea typeface="Lato"/>
                <a:cs typeface="Lato"/>
                <a:sym typeface="Lato"/>
              </a:rPr>
              <a:t>SQL Server is a relational database management system, or RDBMS, developed and marketed by Microsoft.</a:t>
            </a:r>
            <a:endParaRPr sz="1400" b="0" i="0" u="none" strike="noStrike" cap="none">
              <a:solidFill>
                <a:srgbClr val="000000"/>
              </a:solidFill>
              <a:latin typeface="Lato"/>
              <a:ea typeface="Lato"/>
              <a:cs typeface="Lato"/>
              <a:sym typeface="Lato"/>
            </a:endParaRPr>
          </a:p>
        </p:txBody>
      </p:sp>
      <p:pic>
        <p:nvPicPr>
          <p:cNvPr id="100" name="Google Shape;100;p6"/>
          <p:cNvPicPr preferRelativeResize="0"/>
          <p:nvPr/>
        </p:nvPicPr>
        <p:blipFill rotWithShape="1">
          <a:blip r:embed="rId5">
            <a:alphaModFix/>
          </a:blip>
          <a:srcRect/>
          <a:stretch/>
        </p:blipFill>
        <p:spPr>
          <a:xfrm>
            <a:off x="1040367" y="960475"/>
            <a:ext cx="61722" cy="109728"/>
          </a:xfrm>
          <a:prstGeom prst="rect">
            <a:avLst/>
          </a:prstGeom>
          <a:noFill/>
          <a:ln>
            <a:noFill/>
          </a:ln>
        </p:spPr>
      </p:pic>
      <p:sp>
        <p:nvSpPr>
          <p:cNvPr id="101" name="Google Shape;101;p6"/>
          <p:cNvSpPr txBox="1"/>
          <p:nvPr/>
        </p:nvSpPr>
        <p:spPr>
          <a:xfrm>
            <a:off x="1150150" y="1386920"/>
            <a:ext cx="69501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000000"/>
                </a:solidFill>
                <a:highlight>
                  <a:srgbClr val="FFFFFF"/>
                </a:highlight>
                <a:latin typeface="Lato"/>
                <a:ea typeface="Lato"/>
                <a:cs typeface="Lato"/>
                <a:sym typeface="Lato"/>
              </a:rPr>
              <a:t>Similar to other RDBMS software, SQL Server is built on top of </a:t>
            </a:r>
            <a:r>
              <a:rPr lang="en" sz="1400" b="0" i="0" u="none" strike="noStrike" cap="none">
                <a:solidFill>
                  <a:srgbClr val="000000"/>
                </a:solidFill>
                <a:highlight>
                  <a:srgbClr val="FFFFFF"/>
                </a:highlight>
                <a:uFill>
                  <a:noFill/>
                </a:uFill>
                <a:latin typeface="Lato"/>
                <a:ea typeface="Lato"/>
                <a:cs typeface="Lato"/>
                <a:sym typeface="Lato"/>
                <a:hlinkClick r:id="rId6">
                  <a:extLst>
                    <a:ext uri="{A12FA001-AC4F-418D-AE19-62706E023703}">
                      <ahyp:hlinkClr xmlns:ahyp="http://schemas.microsoft.com/office/drawing/2018/hyperlinkcolor" val="tx"/>
                    </a:ext>
                  </a:extLst>
                </a:hlinkClick>
              </a:rPr>
              <a:t>SQL</a:t>
            </a:r>
            <a:r>
              <a:rPr lang="en" sz="1400" b="0" i="0" u="none" strike="noStrike" cap="none">
                <a:solidFill>
                  <a:srgbClr val="000000"/>
                </a:solidFill>
                <a:highlight>
                  <a:srgbClr val="FFFFFF"/>
                </a:highlight>
                <a:latin typeface="Lato"/>
                <a:ea typeface="Lato"/>
                <a:cs typeface="Lato"/>
                <a:sym typeface="Lato"/>
              </a:rPr>
              <a:t>, a standard programming language for interacting with relational databases.</a:t>
            </a:r>
            <a:endParaRPr sz="1400" b="0" i="0" u="none" strike="noStrike" cap="none">
              <a:solidFill>
                <a:srgbClr val="000000"/>
              </a:solidFill>
              <a:latin typeface="Lato"/>
              <a:ea typeface="Lato"/>
              <a:cs typeface="Lato"/>
              <a:sym typeface="Lato"/>
            </a:endParaRPr>
          </a:p>
        </p:txBody>
      </p:sp>
      <p:pic>
        <p:nvPicPr>
          <p:cNvPr id="102" name="Google Shape;102;p6"/>
          <p:cNvPicPr preferRelativeResize="0"/>
          <p:nvPr/>
        </p:nvPicPr>
        <p:blipFill rotWithShape="1">
          <a:blip r:embed="rId5">
            <a:alphaModFix/>
          </a:blip>
          <a:srcRect/>
          <a:stretch/>
        </p:blipFill>
        <p:spPr>
          <a:xfrm>
            <a:off x="1040367" y="1510909"/>
            <a:ext cx="61722" cy="109728"/>
          </a:xfrm>
          <a:prstGeom prst="rect">
            <a:avLst/>
          </a:prstGeom>
          <a:noFill/>
          <a:ln>
            <a:noFill/>
          </a:ln>
        </p:spPr>
      </p:pic>
      <p:sp>
        <p:nvSpPr>
          <p:cNvPr id="103" name="Google Shape;103;p6"/>
          <p:cNvSpPr txBox="1"/>
          <p:nvPr/>
        </p:nvSpPr>
        <p:spPr>
          <a:xfrm>
            <a:off x="1151838" y="1961919"/>
            <a:ext cx="69501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000000"/>
                </a:solidFill>
                <a:highlight>
                  <a:srgbClr val="FFFFFF"/>
                </a:highlight>
                <a:latin typeface="Lato"/>
                <a:ea typeface="Lato"/>
                <a:cs typeface="Lato"/>
                <a:sym typeface="Lato"/>
              </a:rPr>
              <a:t>SQL Server is built for the basic function of storing retrieving data as required by other applications. It can be run either on the same computer or on another across a network.</a:t>
            </a:r>
            <a:endParaRPr sz="1400" b="0" i="0" u="none" strike="noStrike" cap="none">
              <a:solidFill>
                <a:srgbClr val="000000"/>
              </a:solidFill>
              <a:latin typeface="Lato"/>
              <a:ea typeface="Lato"/>
              <a:cs typeface="Lato"/>
              <a:sym typeface="Lato"/>
            </a:endParaRPr>
          </a:p>
        </p:txBody>
      </p:sp>
      <p:pic>
        <p:nvPicPr>
          <p:cNvPr id="104" name="Google Shape;104;p6"/>
          <p:cNvPicPr preferRelativeResize="0"/>
          <p:nvPr/>
        </p:nvPicPr>
        <p:blipFill rotWithShape="1">
          <a:blip r:embed="rId5">
            <a:alphaModFix/>
          </a:blip>
          <a:srcRect/>
          <a:stretch/>
        </p:blipFill>
        <p:spPr>
          <a:xfrm>
            <a:off x="1042055" y="2085908"/>
            <a:ext cx="61722" cy="109728"/>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10" name="Google Shape;110;p7"/>
          <p:cNvSpPr txBox="1"/>
          <p:nvPr/>
        </p:nvSpPr>
        <p:spPr>
          <a:xfrm>
            <a:off x="2988413" y="46313"/>
            <a:ext cx="3171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Data Type </a:t>
            </a:r>
            <a:endParaRPr sz="2000" b="1" i="0" u="none" strike="noStrike" cap="none">
              <a:solidFill>
                <a:srgbClr val="FFFFFF"/>
              </a:solidFill>
              <a:latin typeface="Lato"/>
              <a:ea typeface="Lato"/>
              <a:cs typeface="Lato"/>
              <a:sym typeface="Lato"/>
            </a:endParaRPr>
          </a:p>
        </p:txBody>
      </p:sp>
      <p:pic>
        <p:nvPicPr>
          <p:cNvPr id="111" name="Google Shape;111;p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12" name="Google Shape;112;p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13" name="Google Shape;113;p7"/>
          <p:cNvSpPr txBox="1"/>
          <p:nvPr/>
        </p:nvSpPr>
        <p:spPr>
          <a:xfrm>
            <a:off x="692950" y="6840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000000"/>
                </a:solidFill>
                <a:highlight>
                  <a:srgbClr val="FFFFFF"/>
                </a:highlight>
                <a:latin typeface="Lato"/>
                <a:ea typeface="Lato"/>
                <a:cs typeface="Lato"/>
                <a:sym typeface="Lato"/>
              </a:rPr>
              <a:t>In SQL Server, data type specifies the type of data that can be stored in a column of a table such as integer data, string data, date &amp; time, binary strings, etc.</a:t>
            </a:r>
            <a:endParaRPr sz="1400" b="0" i="0" u="none" strike="noStrike" cap="none">
              <a:solidFill>
                <a:srgbClr val="000000"/>
              </a:solidFill>
              <a:latin typeface="Lato"/>
              <a:ea typeface="Lato"/>
              <a:cs typeface="Lato"/>
              <a:sym typeface="Lato"/>
            </a:endParaRPr>
          </a:p>
        </p:txBody>
      </p:sp>
      <p:pic>
        <p:nvPicPr>
          <p:cNvPr id="114" name="Google Shape;114;p7"/>
          <p:cNvPicPr preferRelativeResize="0"/>
          <p:nvPr/>
        </p:nvPicPr>
        <p:blipFill rotWithShape="1">
          <a:blip r:embed="rId5">
            <a:alphaModFix/>
          </a:blip>
          <a:srcRect/>
          <a:stretch/>
        </p:blipFill>
        <p:spPr>
          <a:xfrm>
            <a:off x="583167" y="808075"/>
            <a:ext cx="61722" cy="109728"/>
          </a:xfrm>
          <a:prstGeom prst="rect">
            <a:avLst/>
          </a:prstGeom>
          <a:noFill/>
          <a:ln>
            <a:noFill/>
          </a:ln>
        </p:spPr>
      </p:pic>
      <p:sp>
        <p:nvSpPr>
          <p:cNvPr id="115" name="Google Shape;115;p7"/>
          <p:cNvSpPr txBox="1"/>
          <p:nvPr/>
        </p:nvSpPr>
        <p:spPr>
          <a:xfrm>
            <a:off x="692950" y="1327889"/>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highlight>
                  <a:srgbClr val="FFFFFF"/>
                </a:highlight>
                <a:latin typeface="Lato"/>
                <a:ea typeface="Lato"/>
                <a:cs typeface="Lato"/>
                <a:sym typeface="Lato"/>
              </a:rPr>
              <a:t>Assigning an appropriate data type to columns in a table is crucial while designing a database. It affects the performance and efficiency of the database and the application using the database.</a:t>
            </a:r>
            <a:endParaRPr sz="1400" b="0" i="0" u="none" strike="noStrike" cap="none">
              <a:solidFill>
                <a:srgbClr val="000000"/>
              </a:solidFill>
              <a:highlight>
                <a:srgbClr val="FFFFFF"/>
              </a:highlight>
              <a:latin typeface="Lato"/>
              <a:ea typeface="Lato"/>
              <a:cs typeface="Lato"/>
              <a:sym typeface="Lato"/>
            </a:endParaRPr>
          </a:p>
        </p:txBody>
      </p:sp>
      <p:pic>
        <p:nvPicPr>
          <p:cNvPr id="116" name="Google Shape;116;p7"/>
          <p:cNvPicPr preferRelativeResize="0"/>
          <p:nvPr/>
        </p:nvPicPr>
        <p:blipFill rotWithShape="1">
          <a:blip r:embed="rId5">
            <a:alphaModFix/>
          </a:blip>
          <a:srcRect/>
          <a:stretch/>
        </p:blipFill>
        <p:spPr>
          <a:xfrm>
            <a:off x="583167" y="1451888"/>
            <a:ext cx="61722" cy="109728"/>
          </a:xfrm>
          <a:prstGeom prst="rect">
            <a:avLst/>
          </a:prstGeom>
          <a:noFill/>
          <a:ln>
            <a:noFill/>
          </a:ln>
        </p:spPr>
      </p:pic>
      <p:sp>
        <p:nvSpPr>
          <p:cNvPr id="117" name="Google Shape;117;p7"/>
          <p:cNvSpPr txBox="1"/>
          <p:nvPr/>
        </p:nvSpPr>
        <p:spPr>
          <a:xfrm>
            <a:off x="692950" y="4265475"/>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highlight>
                  <a:srgbClr val="FFFFFF"/>
                </a:highlight>
                <a:latin typeface="Lato"/>
                <a:ea typeface="Lato"/>
                <a:cs typeface="Lato"/>
                <a:sym typeface="Lato"/>
              </a:rPr>
              <a:t>SQL Server provides built-in data types for all kinds of data that can be used within SQL Server.</a:t>
            </a:r>
            <a:endParaRPr sz="1400" b="0" i="0" u="none" strike="noStrike" cap="none">
              <a:solidFill>
                <a:srgbClr val="000000"/>
              </a:solidFill>
              <a:highlight>
                <a:srgbClr val="FFFFFF"/>
              </a:highlight>
              <a:latin typeface="Lato"/>
              <a:ea typeface="Lato"/>
              <a:cs typeface="Lato"/>
              <a:sym typeface="Lato"/>
            </a:endParaRPr>
          </a:p>
        </p:txBody>
      </p:sp>
      <p:pic>
        <p:nvPicPr>
          <p:cNvPr id="118" name="Google Shape;118;p7"/>
          <p:cNvPicPr preferRelativeResize="0"/>
          <p:nvPr/>
        </p:nvPicPr>
        <p:blipFill rotWithShape="1">
          <a:blip r:embed="rId5">
            <a:alphaModFix/>
          </a:blip>
          <a:srcRect/>
          <a:stretch/>
        </p:blipFill>
        <p:spPr>
          <a:xfrm>
            <a:off x="583167" y="4389475"/>
            <a:ext cx="61722" cy="109728"/>
          </a:xfrm>
          <a:prstGeom prst="rect">
            <a:avLst/>
          </a:prstGeom>
          <a:noFill/>
          <a:ln>
            <a:noFill/>
          </a:ln>
        </p:spPr>
      </p:pic>
      <p:pic>
        <p:nvPicPr>
          <p:cNvPr id="119" name="Google Shape;119;p7"/>
          <p:cNvPicPr preferRelativeResize="0"/>
          <p:nvPr/>
        </p:nvPicPr>
        <p:blipFill rotWithShape="1">
          <a:blip r:embed="rId6">
            <a:alphaModFix/>
          </a:blip>
          <a:srcRect/>
          <a:stretch/>
        </p:blipFill>
        <p:spPr>
          <a:xfrm>
            <a:off x="1767934" y="2076375"/>
            <a:ext cx="5608133" cy="2164265"/>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25" name="Google Shape;125;p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6" name="Google Shape;126;p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27" name="Google Shape;127;p8"/>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Naming Conventions</a:t>
            </a:r>
            <a:endParaRPr sz="2000" b="1" i="0" u="none" strike="noStrike" cap="none">
              <a:solidFill>
                <a:srgbClr val="FFFFFF"/>
              </a:solidFill>
              <a:latin typeface="Lato"/>
              <a:ea typeface="Lato"/>
              <a:cs typeface="Lato"/>
              <a:sym typeface="Lato"/>
            </a:endParaRPr>
          </a:p>
        </p:txBody>
      </p:sp>
      <p:sp>
        <p:nvSpPr>
          <p:cNvPr id="128" name="Google Shape;128;p8"/>
          <p:cNvSpPr txBox="1"/>
          <p:nvPr/>
        </p:nvSpPr>
        <p:spPr>
          <a:xfrm>
            <a:off x="692950" y="607875"/>
            <a:ext cx="7761900" cy="7389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000000"/>
                </a:solidFill>
                <a:highlight>
                  <a:srgbClr val="FFFFFF"/>
                </a:highlight>
                <a:latin typeface="Lato"/>
                <a:ea typeface="Lato"/>
                <a:cs typeface="Lato"/>
                <a:sym typeface="Lato"/>
              </a:rPr>
              <a:t>SQL Server defines a set of rules (dos and don'ts) for naming SQL Server Objects called naming convention, but also gives the user to follow their own preferred style. It is advisable to follow a single naming convention for all database objects consistently.</a:t>
            </a:r>
            <a:endParaRPr sz="1400" b="0" i="0" u="none" strike="noStrike" cap="none">
              <a:solidFill>
                <a:srgbClr val="000000"/>
              </a:solidFill>
              <a:latin typeface="Lato"/>
              <a:ea typeface="Lato"/>
              <a:cs typeface="Lato"/>
              <a:sym typeface="Lato"/>
            </a:endParaRPr>
          </a:p>
        </p:txBody>
      </p:sp>
      <p:pic>
        <p:nvPicPr>
          <p:cNvPr id="129" name="Google Shape;129;p8"/>
          <p:cNvPicPr preferRelativeResize="0"/>
          <p:nvPr/>
        </p:nvPicPr>
        <p:blipFill rotWithShape="1">
          <a:blip r:embed="rId5">
            <a:alphaModFix/>
          </a:blip>
          <a:srcRect/>
          <a:stretch/>
        </p:blipFill>
        <p:spPr>
          <a:xfrm>
            <a:off x="583167" y="731875"/>
            <a:ext cx="61722" cy="109728"/>
          </a:xfrm>
          <a:prstGeom prst="rect">
            <a:avLst/>
          </a:prstGeom>
          <a:noFill/>
          <a:ln>
            <a:noFill/>
          </a:ln>
        </p:spPr>
      </p:pic>
      <p:sp>
        <p:nvSpPr>
          <p:cNvPr id="130" name="Google Shape;130;p8"/>
          <p:cNvSpPr txBox="1"/>
          <p:nvPr/>
        </p:nvSpPr>
        <p:spPr>
          <a:xfrm>
            <a:off x="692950" y="1419125"/>
            <a:ext cx="7761900" cy="1569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000000"/>
                </a:solidFill>
                <a:highlight>
                  <a:srgbClr val="FFFFFF"/>
                </a:highlight>
                <a:latin typeface="Lato"/>
                <a:ea typeface="Lato"/>
                <a:cs typeface="Lato"/>
                <a:sym typeface="Lato"/>
              </a:rPr>
              <a:t>Why Use Naming Conventions?</a:t>
            </a:r>
            <a:endParaRPr sz="1400" b="1"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Naming convention for tables, columns, and all other related database objects like views, stored procedures, indexes, triggers, etc., are important for the success and maintenance of a project. A database can have many tables and users working on it. </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By following a naming convention, you can spend less time finding what you need and helps in efficient database management.</a:t>
            </a:r>
            <a:endParaRPr sz="1400" b="0" i="0" u="none" strike="noStrike" cap="none">
              <a:solidFill>
                <a:srgbClr val="000000"/>
              </a:solidFill>
              <a:highlight>
                <a:srgbClr val="FFFFFF"/>
              </a:highlight>
              <a:latin typeface="Lato"/>
              <a:ea typeface="Lato"/>
              <a:cs typeface="Lato"/>
              <a:sym typeface="Lato"/>
            </a:endParaRPr>
          </a:p>
        </p:txBody>
      </p:sp>
      <p:pic>
        <p:nvPicPr>
          <p:cNvPr id="131" name="Google Shape;131;p8"/>
          <p:cNvPicPr preferRelativeResize="0"/>
          <p:nvPr/>
        </p:nvPicPr>
        <p:blipFill rotWithShape="1">
          <a:blip r:embed="rId5">
            <a:alphaModFix/>
          </a:blip>
          <a:srcRect/>
          <a:stretch/>
        </p:blipFill>
        <p:spPr>
          <a:xfrm>
            <a:off x="583167" y="1543126"/>
            <a:ext cx="61722" cy="109728"/>
          </a:xfrm>
          <a:prstGeom prst="rect">
            <a:avLst/>
          </a:prstGeom>
          <a:noFill/>
          <a:ln>
            <a:noFill/>
          </a:ln>
        </p:spPr>
      </p:pic>
      <p:sp>
        <p:nvSpPr>
          <p:cNvPr id="132" name="Google Shape;132;p8"/>
          <p:cNvSpPr txBox="1"/>
          <p:nvPr/>
        </p:nvSpPr>
        <p:spPr>
          <a:xfrm>
            <a:off x="692950" y="2946975"/>
            <a:ext cx="7761900" cy="18777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000000"/>
                </a:solidFill>
                <a:highlight>
                  <a:srgbClr val="FFFFFF"/>
                </a:highlight>
                <a:latin typeface="Lato"/>
                <a:ea typeface="Lato"/>
                <a:cs typeface="Lato"/>
                <a:sym typeface="Lato"/>
              </a:rPr>
              <a:t>SQL Server Database Object Naming Rules:</a:t>
            </a:r>
            <a:endParaRPr sz="1400" b="1"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Names of database objects such as tables, columns, stored procedures, views, etc, can contain alphanumeric characters and must begin with an alphabet or an underscore.</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Case sensitivity is determined by the settings of the database in which the object is created. By default, SQL Server is not case sensitive.</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A name that starts with the 'at' (@) sign always denotes a local variable or parameter and cannot be used as a name for any other type of object.</a:t>
            </a:r>
            <a:endParaRPr sz="1400" b="0" i="0" u="none" strike="noStrike" cap="none">
              <a:solidFill>
                <a:srgbClr val="000000"/>
              </a:solidFill>
              <a:highlight>
                <a:srgbClr val="FFFFFF"/>
              </a:highlight>
              <a:latin typeface="Lato"/>
              <a:ea typeface="Lato"/>
              <a:cs typeface="Lato"/>
              <a:sym typeface="Lato"/>
            </a:endParaRPr>
          </a:p>
        </p:txBody>
      </p:sp>
      <p:pic>
        <p:nvPicPr>
          <p:cNvPr id="133" name="Google Shape;133;p8"/>
          <p:cNvPicPr preferRelativeResize="0"/>
          <p:nvPr/>
        </p:nvPicPr>
        <p:blipFill rotWithShape="1">
          <a:blip r:embed="rId5">
            <a:alphaModFix/>
          </a:blip>
          <a:srcRect/>
          <a:stretch/>
        </p:blipFill>
        <p:spPr>
          <a:xfrm>
            <a:off x="583167" y="3070966"/>
            <a:ext cx="61722" cy="109728"/>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9" name="Google Shape;139;p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0" name="Google Shape;140;p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41" name="Google Shape;141;p9"/>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Naming Conventions</a:t>
            </a:r>
            <a:endParaRPr sz="2000" b="1" i="0" u="none" strike="noStrike" cap="none">
              <a:solidFill>
                <a:srgbClr val="FFFFFF"/>
              </a:solidFill>
              <a:latin typeface="Lato"/>
              <a:ea typeface="Lato"/>
              <a:cs typeface="Lato"/>
              <a:sym typeface="Lato"/>
            </a:endParaRPr>
          </a:p>
        </p:txBody>
      </p:sp>
      <p:sp>
        <p:nvSpPr>
          <p:cNvPr id="142" name="Google Shape;142;p9"/>
          <p:cNvSpPr txBox="1"/>
          <p:nvPr/>
        </p:nvSpPr>
        <p:spPr>
          <a:xfrm>
            <a:off x="692950" y="760275"/>
            <a:ext cx="7761900" cy="4018800"/>
          </a:xfrm>
          <a:prstGeom prst="rect">
            <a:avLst/>
          </a:prstGeom>
          <a:noFill/>
          <a:ln>
            <a:noFill/>
          </a:ln>
        </p:spPr>
        <p:txBody>
          <a:bodyPr spcFirstLastPara="1" wrap="square" lIns="91425" tIns="91425" rIns="91425" bIns="91425" anchor="t" anchorCtr="0">
            <a:noAutofit/>
          </a:bodyPr>
          <a:lstStyle/>
          <a:p>
            <a:pPr marL="457200" marR="0" lvl="0" indent="-317500" algn="just" rtl="0">
              <a:lnSpc>
                <a:spcPct val="115000"/>
              </a:lnSpc>
              <a:spcBef>
                <a:spcPts val="0"/>
              </a:spcBef>
              <a:spcAft>
                <a:spcPts val="0"/>
              </a:spcAft>
              <a:buClr>
                <a:schemeClr val="dk1"/>
              </a:buClr>
              <a:buSzPts val="1400"/>
              <a:buFont typeface="Lato"/>
              <a:buChar char="❖"/>
            </a:pPr>
            <a:r>
              <a:rPr lang="en" sz="1400" b="0" i="0" u="none" strike="noStrike" cap="none">
                <a:solidFill>
                  <a:schemeClr val="dk1"/>
                </a:solidFill>
                <a:highlight>
                  <a:schemeClr val="lt1"/>
                </a:highlight>
                <a:latin typeface="Lato"/>
                <a:ea typeface="Lato"/>
                <a:cs typeface="Lato"/>
                <a:sym typeface="Lato"/>
              </a:rPr>
              <a:t>A name that begins with the number sign (#) denotes a temporary table or procedure.</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The Object name should not be a SQL reserved word. SQL Server reserves both lowercase and uppercase versions of reserved words.</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Some system procedures and functions are given prefixes like 'sp_', 'xp_', or 'dt_' to signify that they are system objects and should be searched for in the master database. So it is better to avoid using these prefixes while creating database objects.</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There are a few commonly accepted styles to name a table &amp; column in a database. It can be all ‘lower case’, 'UPPERCASE', 'Pascal Case' or 'camel Case'.</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Avoid using spaces between words for table names and columns as they will require square brackets and confuse scripts and procedures. Instead, use an underscore for joining multiple words. For example, EMPLOYEE_SKILL, employee_id instead of [EMPLOYEE ID].</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Avoid using prefixes like 'tbl_' for table names.</a:t>
            </a:r>
            <a:endParaRPr sz="1400" b="0" i="0" u="none" strike="noStrike" cap="none">
              <a:solidFill>
                <a:srgbClr val="000000"/>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While naming columns, use nouns that describe what is stored in the column.</a:t>
            </a:r>
            <a:endParaRPr sz="1400" b="0" i="0" u="none" strike="noStrike" cap="none">
              <a:solidFill>
                <a:srgbClr val="000000"/>
              </a:solidFill>
              <a:highlight>
                <a:srgbClr val="FFFFFF"/>
              </a:highlight>
              <a:latin typeface="Lato"/>
              <a:ea typeface="Lato"/>
              <a:cs typeface="Lato"/>
              <a:sym typeface="Lato"/>
            </a:endParaRPr>
          </a:p>
          <a:p>
            <a:pPr marL="914400" marR="0" lvl="1"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highlight>
                  <a:srgbClr val="FFFFFF"/>
                </a:highlight>
                <a:latin typeface="Lato"/>
                <a:ea typeface="Lato"/>
                <a:cs typeface="Lato"/>
                <a:sym typeface="Lato"/>
              </a:rPr>
              <a:t>Example: FIRST_NAME, ADDRESS, EMAIL, PHONE. Avoid using words that are just data types like text or date.</a:t>
            </a:r>
            <a:endParaRPr sz="1400" b="0" i="0" u="none" strike="noStrike" cap="none">
              <a:solidFill>
                <a:srgbClr val="000000"/>
              </a:solidFill>
              <a:highlight>
                <a:srgbClr val="FFFFFF"/>
              </a:highlight>
              <a:latin typeface="Lato"/>
              <a:ea typeface="Lato"/>
              <a:cs typeface="Lato"/>
              <a:sym typeface="Lato"/>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0"/>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48" name="Google Shape;148;p10"/>
          <p:cNvSpPr txBox="1"/>
          <p:nvPr/>
        </p:nvSpPr>
        <p:spPr>
          <a:xfrm>
            <a:off x="2750850" y="46313"/>
            <a:ext cx="3642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Tables Relations</a:t>
            </a:r>
            <a:endParaRPr sz="2000" b="1" i="0" u="none" strike="noStrike" cap="none">
              <a:solidFill>
                <a:srgbClr val="FFFFFF"/>
              </a:solidFill>
              <a:latin typeface="Lato"/>
              <a:ea typeface="Lato"/>
              <a:cs typeface="Lato"/>
              <a:sym typeface="Lato"/>
            </a:endParaRPr>
          </a:p>
        </p:txBody>
      </p:sp>
      <p:pic>
        <p:nvPicPr>
          <p:cNvPr id="149" name="Google Shape;149;p1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50" name="Google Shape;150;p1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51" name="Google Shape;151;p10"/>
          <p:cNvSpPr txBox="1"/>
          <p:nvPr/>
        </p:nvSpPr>
        <p:spPr>
          <a:xfrm>
            <a:off x="784042" y="607875"/>
            <a:ext cx="7761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180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It is important to understand and design relationships among tables in a relational database like SQL Server. In a relational database, each table is connected to another table using the Primary-Foreign Key constraints.</a:t>
            </a:r>
            <a:endParaRPr sz="1400" b="0" i="0" u="none" strike="noStrike" cap="none">
              <a:solidFill>
                <a:srgbClr val="007BFF"/>
              </a:solidFill>
              <a:highlight>
                <a:srgbClr val="FFFFFF"/>
              </a:highlight>
              <a:latin typeface="Lato"/>
              <a:ea typeface="Lato"/>
              <a:cs typeface="Lato"/>
              <a:sym typeface="Lato"/>
            </a:endParaRPr>
          </a:p>
          <a:p>
            <a:pPr marL="0" marR="0" lvl="0" indent="0" algn="just" rtl="0">
              <a:lnSpc>
                <a:spcPct val="115000"/>
              </a:lnSpc>
              <a:spcBef>
                <a:spcPts val="1800"/>
              </a:spcBef>
              <a:spcAft>
                <a:spcPts val="0"/>
              </a:spcAft>
              <a:buClr>
                <a:srgbClr val="000000"/>
              </a:buClr>
              <a:buSzPts val="1600"/>
              <a:buFont typeface="Arial"/>
              <a:buNone/>
            </a:pPr>
            <a:endParaRPr sz="1400" b="0" i="0" u="none" strike="noStrike" cap="none">
              <a:solidFill>
                <a:srgbClr val="000000"/>
              </a:solidFill>
              <a:highlight>
                <a:srgbClr val="FFFFFF"/>
              </a:highlight>
              <a:latin typeface="Lato"/>
              <a:ea typeface="Lato"/>
              <a:cs typeface="Lato"/>
              <a:sym typeface="Lato"/>
            </a:endParaRPr>
          </a:p>
        </p:txBody>
      </p:sp>
      <p:pic>
        <p:nvPicPr>
          <p:cNvPr id="152" name="Google Shape;152;p10"/>
          <p:cNvPicPr preferRelativeResize="0"/>
          <p:nvPr/>
        </p:nvPicPr>
        <p:blipFill rotWithShape="1">
          <a:blip r:embed="rId5">
            <a:alphaModFix/>
          </a:blip>
          <a:srcRect/>
          <a:stretch/>
        </p:blipFill>
        <p:spPr>
          <a:xfrm>
            <a:off x="674258" y="731875"/>
            <a:ext cx="61722" cy="109728"/>
          </a:xfrm>
          <a:prstGeom prst="rect">
            <a:avLst/>
          </a:prstGeom>
          <a:noFill/>
          <a:ln>
            <a:noFill/>
          </a:ln>
        </p:spPr>
      </p:pic>
      <p:sp>
        <p:nvSpPr>
          <p:cNvPr id="153" name="Google Shape;153;p10"/>
          <p:cNvSpPr txBox="1"/>
          <p:nvPr/>
        </p:nvSpPr>
        <p:spPr>
          <a:xfrm>
            <a:off x="784042" y="1403579"/>
            <a:ext cx="7761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Table relationships in SQL Server database are of three types: </a:t>
            </a:r>
            <a:r>
              <a:rPr lang="en" sz="1400" b="0" i="0" u="none" strike="noStrike" cap="none">
                <a:solidFill>
                  <a:srgbClr val="181717"/>
                </a:solidFill>
                <a:highlight>
                  <a:srgbClr val="FFFFFF"/>
                </a:highlight>
                <a:latin typeface="Lato"/>
                <a:ea typeface="Lato"/>
                <a:cs typeface="Lato"/>
                <a:sym typeface="Lato"/>
              </a:rPr>
              <a:t>One-to-One, One-to-Many, and Many-to-Many</a:t>
            </a:r>
            <a:endParaRPr sz="1400" b="0" i="0" u="none" strike="noStrike" cap="none">
              <a:solidFill>
                <a:srgbClr val="181717"/>
              </a:solidFill>
              <a:highlight>
                <a:srgbClr val="FFFFFF"/>
              </a:highlight>
              <a:latin typeface="Lato"/>
              <a:ea typeface="Lato"/>
              <a:cs typeface="Lato"/>
              <a:sym typeface="Lato"/>
            </a:endParaRPr>
          </a:p>
        </p:txBody>
      </p:sp>
      <p:pic>
        <p:nvPicPr>
          <p:cNvPr id="154" name="Google Shape;154;p10"/>
          <p:cNvPicPr preferRelativeResize="0"/>
          <p:nvPr/>
        </p:nvPicPr>
        <p:blipFill rotWithShape="1">
          <a:blip r:embed="rId5">
            <a:alphaModFix/>
          </a:blip>
          <a:srcRect/>
          <a:stretch/>
        </p:blipFill>
        <p:spPr>
          <a:xfrm>
            <a:off x="674258" y="1527582"/>
            <a:ext cx="61722" cy="109728"/>
          </a:xfrm>
          <a:prstGeom prst="rect">
            <a:avLst/>
          </a:prstGeom>
          <a:noFill/>
          <a:ln>
            <a:noFill/>
          </a:ln>
        </p:spPr>
      </p:pic>
      <p:sp>
        <p:nvSpPr>
          <p:cNvPr id="155" name="Google Shape;155;p10"/>
          <p:cNvSpPr txBox="1"/>
          <p:nvPr/>
        </p:nvSpPr>
        <p:spPr>
          <a:xfrm>
            <a:off x="784042" y="1956666"/>
            <a:ext cx="3369300" cy="14625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600"/>
              <a:buFont typeface="Arial"/>
              <a:buNone/>
            </a:pPr>
            <a:r>
              <a:rPr lang="en" sz="1400" b="1" i="0" u="none" strike="noStrike" cap="none">
                <a:solidFill>
                  <a:srgbClr val="181717"/>
                </a:solidFill>
                <a:highlight>
                  <a:srgbClr val="FFFFFF"/>
                </a:highlight>
                <a:latin typeface="Lato"/>
                <a:ea typeface="Lato"/>
                <a:cs typeface="Lato"/>
                <a:sym typeface="Lato"/>
              </a:rPr>
              <a:t>1). One-to-One: </a:t>
            </a:r>
            <a:r>
              <a:rPr lang="en" sz="1400" b="0" i="0" u="none" strike="noStrike" cap="none">
                <a:solidFill>
                  <a:srgbClr val="181717"/>
                </a:solidFill>
                <a:highlight>
                  <a:srgbClr val="FFFFFF"/>
                </a:highlight>
                <a:latin typeface="Lato"/>
                <a:ea typeface="Lato"/>
                <a:cs typeface="Lato"/>
                <a:sym typeface="Lato"/>
              </a:rPr>
              <a:t>In One-to-One relationship, one record of the first table will be linked to zero or one record of another table.</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600"/>
              <a:buFont typeface="Arial"/>
              <a:buNone/>
            </a:pPr>
            <a:r>
              <a:rPr lang="en" sz="1400" b="0" i="0" u="none" strike="noStrike" cap="none">
                <a:solidFill>
                  <a:srgbClr val="181717"/>
                </a:solidFill>
                <a:highlight>
                  <a:srgbClr val="FFFFFF"/>
                </a:highlight>
                <a:latin typeface="Lato"/>
                <a:ea typeface="Lato"/>
                <a:cs typeface="Lato"/>
                <a:sym typeface="Lato"/>
              </a:rPr>
              <a:t>For example, each employee in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will have a corresponding row in </a:t>
            </a:r>
            <a:r>
              <a:rPr lang="en" sz="1400" b="1" i="0" u="sng" strike="noStrike" cap="none">
                <a:solidFill>
                  <a:srgbClr val="181717"/>
                </a:solidFill>
                <a:highlight>
                  <a:srgbClr val="FFFFFF"/>
                </a:highlight>
                <a:latin typeface="Lato"/>
                <a:ea typeface="Lato"/>
                <a:cs typeface="Lato"/>
                <a:sym typeface="Lato"/>
              </a:rPr>
              <a:t>EmployeeDetails</a:t>
            </a:r>
            <a:r>
              <a:rPr lang="en" sz="1400" b="0" i="0" u="none" strike="noStrike" cap="none">
                <a:solidFill>
                  <a:srgbClr val="181717"/>
                </a:solidFill>
                <a:highlight>
                  <a:srgbClr val="FFFFFF"/>
                </a:highlight>
                <a:latin typeface="Lato"/>
                <a:ea typeface="Lato"/>
                <a:cs typeface="Lato"/>
                <a:sym typeface="Lato"/>
              </a:rPr>
              <a:t> table that stores the current passport details for that particular employee.</a:t>
            </a:r>
            <a:endParaRPr sz="1400" b="0" i="0" u="none" strike="noStrike" cap="none">
              <a:solidFill>
                <a:srgbClr val="000000"/>
              </a:solidFill>
              <a:highlight>
                <a:srgbClr val="FFFFFF"/>
              </a:highlight>
              <a:latin typeface="Lato"/>
              <a:ea typeface="Lato"/>
              <a:cs typeface="Lato"/>
              <a:sym typeface="Lato"/>
            </a:endParaRPr>
          </a:p>
        </p:txBody>
      </p:sp>
      <p:pic>
        <p:nvPicPr>
          <p:cNvPr id="156" name="Google Shape;156;p10"/>
          <p:cNvPicPr preferRelativeResize="0"/>
          <p:nvPr/>
        </p:nvPicPr>
        <p:blipFill rotWithShape="1">
          <a:blip r:embed="rId5">
            <a:alphaModFix/>
          </a:blip>
          <a:srcRect/>
          <a:stretch/>
        </p:blipFill>
        <p:spPr>
          <a:xfrm>
            <a:off x="674258" y="2080665"/>
            <a:ext cx="61722" cy="109728"/>
          </a:xfrm>
          <a:prstGeom prst="rect">
            <a:avLst/>
          </a:prstGeom>
          <a:noFill/>
          <a:ln>
            <a:noFill/>
          </a:ln>
        </p:spPr>
      </p:pic>
      <p:pic>
        <p:nvPicPr>
          <p:cNvPr id="157" name="Google Shape;157;p10"/>
          <p:cNvPicPr preferRelativeResize="0"/>
          <p:nvPr/>
        </p:nvPicPr>
        <p:blipFill rotWithShape="1">
          <a:blip r:embed="rId6">
            <a:alphaModFix/>
          </a:blip>
          <a:srcRect/>
          <a:stretch/>
        </p:blipFill>
        <p:spPr>
          <a:xfrm>
            <a:off x="4223343" y="1905813"/>
            <a:ext cx="4243947" cy="2206425"/>
          </a:xfrm>
          <a:prstGeom prst="rect">
            <a:avLst/>
          </a:prstGeom>
          <a:noFill/>
          <a:ln w="9525" cap="flat" cmpd="sng">
            <a:solidFill>
              <a:schemeClr val="dk1"/>
            </a:solidFill>
            <a:prstDash val="solid"/>
            <a:round/>
            <a:headEnd type="none" w="sm" len="sm"/>
            <a:tailEnd type="none" w="sm" len="sm"/>
          </a:ln>
        </p:spPr>
      </p:pic>
      <p:sp>
        <p:nvSpPr>
          <p:cNvPr id="158" name="Google Shape;158;p10"/>
          <p:cNvSpPr txBox="1"/>
          <p:nvPr/>
        </p:nvSpPr>
        <p:spPr>
          <a:xfrm>
            <a:off x="776269" y="4242659"/>
            <a:ext cx="7761900" cy="7389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600"/>
              <a:buFont typeface="Arial"/>
              <a:buNone/>
            </a:pPr>
            <a:r>
              <a:rPr lang="en" sz="1400" b="0" i="0" u="none" strike="noStrike" cap="none">
                <a:solidFill>
                  <a:srgbClr val="181717"/>
                </a:solidFill>
                <a:highlight>
                  <a:srgbClr val="FFFFFF"/>
                </a:highlight>
                <a:latin typeface="Lato"/>
                <a:ea typeface="Lato"/>
                <a:cs typeface="Lato"/>
                <a:sym typeface="Lato"/>
              </a:rPr>
              <a:t>Each employee will have zero or one record in the </a:t>
            </a:r>
            <a:r>
              <a:rPr lang="en" sz="1400" b="1" i="0" u="sng" strike="noStrike" cap="none">
                <a:solidFill>
                  <a:srgbClr val="181717"/>
                </a:solidFill>
                <a:highlight>
                  <a:srgbClr val="FFFFFF"/>
                </a:highlight>
                <a:latin typeface="Lato"/>
                <a:ea typeface="Lato"/>
                <a:cs typeface="Lato"/>
                <a:sym typeface="Lato"/>
              </a:rPr>
              <a:t>EmployeeDetails </a:t>
            </a:r>
            <a:r>
              <a:rPr lang="en" sz="1400" b="0" i="0" u="none" strike="noStrike" cap="none">
                <a:solidFill>
                  <a:srgbClr val="181717"/>
                </a:solidFill>
                <a:highlight>
                  <a:srgbClr val="FFFFFF"/>
                </a:highlight>
                <a:latin typeface="Lato"/>
                <a:ea typeface="Lato"/>
                <a:cs typeface="Lato"/>
                <a:sym typeface="Lato"/>
              </a:rPr>
              <a:t>table. This is called zero or one-to-one relationship.</a:t>
            </a:r>
            <a:endParaRPr sz="1400" b="0" i="0" u="none" strike="noStrike" cap="none">
              <a:solidFill>
                <a:srgbClr val="000000"/>
              </a:solidFill>
              <a:highlight>
                <a:srgbClr val="FFFFFF"/>
              </a:highlight>
              <a:latin typeface="Lato"/>
              <a:ea typeface="Lato"/>
              <a:cs typeface="Lato"/>
              <a:sym typeface="Lato"/>
            </a:endParaRPr>
          </a:p>
        </p:txBody>
      </p:sp>
      <p:pic>
        <p:nvPicPr>
          <p:cNvPr id="159" name="Google Shape;159;p10"/>
          <p:cNvPicPr preferRelativeResize="0"/>
          <p:nvPr/>
        </p:nvPicPr>
        <p:blipFill rotWithShape="1">
          <a:blip r:embed="rId5">
            <a:alphaModFix/>
          </a:blip>
          <a:srcRect/>
          <a:stretch/>
        </p:blipFill>
        <p:spPr>
          <a:xfrm>
            <a:off x="666486" y="4366665"/>
            <a:ext cx="61722" cy="109728"/>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1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65" name="Google Shape;165;p1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66" name="Google Shape;166;p1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67" name="Google Shape;167;p11"/>
          <p:cNvSpPr txBox="1"/>
          <p:nvPr/>
        </p:nvSpPr>
        <p:spPr>
          <a:xfrm>
            <a:off x="2750850" y="46313"/>
            <a:ext cx="3642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Tables Relations</a:t>
            </a:r>
            <a:endParaRPr sz="2000" b="1" i="0" u="none" strike="noStrike" cap="none">
              <a:solidFill>
                <a:srgbClr val="FFFFFF"/>
              </a:solidFill>
              <a:latin typeface="Lato"/>
              <a:ea typeface="Lato"/>
              <a:cs typeface="Lato"/>
              <a:sym typeface="Lato"/>
            </a:endParaRPr>
          </a:p>
        </p:txBody>
      </p:sp>
      <p:sp>
        <p:nvSpPr>
          <p:cNvPr id="168" name="Google Shape;168;p11"/>
          <p:cNvSpPr txBox="1"/>
          <p:nvPr/>
        </p:nvSpPr>
        <p:spPr>
          <a:xfrm>
            <a:off x="745942" y="7602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181717"/>
                </a:solidFill>
                <a:highlight>
                  <a:srgbClr val="FFFFFF"/>
                </a:highlight>
                <a:latin typeface="Lato"/>
                <a:ea typeface="Lato"/>
                <a:cs typeface="Lato"/>
                <a:sym typeface="Lato"/>
              </a:rPr>
              <a:t>Above,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column is the primary key as well as foreign key column in the </a:t>
            </a:r>
            <a:r>
              <a:rPr lang="en" sz="1400" b="1" i="0" u="sng" strike="noStrike" cap="none">
                <a:solidFill>
                  <a:srgbClr val="181717"/>
                </a:solidFill>
                <a:highlight>
                  <a:srgbClr val="FFFFFF"/>
                </a:highlight>
                <a:latin typeface="Lato"/>
                <a:ea typeface="Lato"/>
                <a:cs typeface="Lato"/>
                <a:sym typeface="Lato"/>
              </a:rPr>
              <a:t>EmployeeDetails</a:t>
            </a:r>
            <a:r>
              <a:rPr lang="en" sz="1400" b="0" i="0" u="none" strike="noStrike" cap="none">
                <a:solidFill>
                  <a:srgbClr val="181717"/>
                </a:solidFill>
                <a:highlight>
                  <a:srgbClr val="FFFFFF"/>
                </a:highlight>
                <a:latin typeface="Lato"/>
                <a:ea typeface="Lato"/>
                <a:cs typeface="Lato"/>
                <a:sym typeface="Lato"/>
              </a:rPr>
              <a:t> table that linked to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of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This forms zero or one-to-one relation.</a:t>
            </a:r>
            <a:endParaRPr sz="1400" b="0" i="0" u="none" strike="noStrike" cap="none">
              <a:solidFill>
                <a:srgbClr val="000000"/>
              </a:solidFill>
              <a:highlight>
                <a:srgbClr val="FFFFFF"/>
              </a:highlight>
              <a:latin typeface="Lato"/>
              <a:ea typeface="Lato"/>
              <a:cs typeface="Lato"/>
              <a:sym typeface="Lato"/>
            </a:endParaRPr>
          </a:p>
        </p:txBody>
      </p:sp>
      <p:pic>
        <p:nvPicPr>
          <p:cNvPr id="169" name="Google Shape;169;p11"/>
          <p:cNvPicPr preferRelativeResize="0"/>
          <p:nvPr/>
        </p:nvPicPr>
        <p:blipFill rotWithShape="1">
          <a:blip r:embed="rId5">
            <a:alphaModFix/>
          </a:blip>
          <a:srcRect/>
          <a:stretch/>
        </p:blipFill>
        <p:spPr>
          <a:xfrm>
            <a:off x="636158" y="884274"/>
            <a:ext cx="61722" cy="109728"/>
          </a:xfrm>
          <a:prstGeom prst="rect">
            <a:avLst/>
          </a:prstGeom>
          <a:noFill/>
          <a:ln>
            <a:noFill/>
          </a:ln>
        </p:spPr>
      </p:pic>
      <p:sp>
        <p:nvSpPr>
          <p:cNvPr id="170" name="Google Shape;170;p11"/>
          <p:cNvSpPr txBox="1"/>
          <p:nvPr/>
        </p:nvSpPr>
        <p:spPr>
          <a:xfrm>
            <a:off x="745942" y="1541450"/>
            <a:ext cx="7761900" cy="660600"/>
          </a:xfrm>
          <a:prstGeom prst="rect">
            <a:avLst/>
          </a:prstGeom>
          <a:noFill/>
          <a:ln>
            <a:noFill/>
          </a:ln>
        </p:spPr>
        <p:txBody>
          <a:bodyPr spcFirstLastPara="1" wrap="square" lIns="91425" tIns="91425" rIns="91425" bIns="91425" anchor="t" anchorCtr="0">
            <a:norm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2). One-to-Many Relation: </a:t>
            </a:r>
            <a:r>
              <a:rPr lang="en" sz="1400" b="0" i="0" u="none" strike="noStrike" cap="none">
                <a:solidFill>
                  <a:srgbClr val="181717"/>
                </a:solidFill>
                <a:highlight>
                  <a:srgbClr val="FFFFFF"/>
                </a:highlight>
                <a:latin typeface="Lato"/>
                <a:ea typeface="Lato"/>
                <a:cs typeface="Lato"/>
                <a:sym typeface="Lato"/>
              </a:rPr>
              <a:t>One-to-Many is the most commonly used relationship among tables. A single record from one table can be linked to zero or more rows in another table.</a:t>
            </a:r>
            <a:endParaRPr sz="1400" b="0" i="0" u="none" strike="noStrike" cap="none">
              <a:solidFill>
                <a:srgbClr val="181717"/>
              </a:solidFill>
              <a:highlight>
                <a:srgbClr val="FFFFFF"/>
              </a:highlight>
              <a:latin typeface="Lato"/>
              <a:ea typeface="Lato"/>
              <a:cs typeface="Lato"/>
              <a:sym typeface="Lato"/>
            </a:endParaRPr>
          </a:p>
        </p:txBody>
      </p:sp>
      <p:pic>
        <p:nvPicPr>
          <p:cNvPr id="171" name="Google Shape;171;p11"/>
          <p:cNvPicPr preferRelativeResize="0"/>
          <p:nvPr/>
        </p:nvPicPr>
        <p:blipFill rotWithShape="1">
          <a:blip r:embed="rId5">
            <a:alphaModFix/>
          </a:blip>
          <a:srcRect/>
          <a:stretch/>
        </p:blipFill>
        <p:spPr>
          <a:xfrm>
            <a:off x="636158" y="1722475"/>
            <a:ext cx="61722" cy="109728"/>
          </a:xfrm>
          <a:prstGeom prst="rect">
            <a:avLst/>
          </a:prstGeom>
          <a:noFill/>
          <a:ln>
            <a:noFill/>
          </a:ln>
        </p:spPr>
      </p:pic>
      <p:sp>
        <p:nvSpPr>
          <p:cNvPr id="172" name="Google Shape;172;p11"/>
          <p:cNvSpPr txBox="1"/>
          <p:nvPr/>
        </p:nvSpPr>
        <p:spPr>
          <a:xfrm>
            <a:off x="745942" y="2089889"/>
            <a:ext cx="7761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181717"/>
                </a:solidFill>
                <a:highlight>
                  <a:srgbClr val="FFFFFF"/>
                </a:highlight>
                <a:latin typeface="Lato"/>
                <a:ea typeface="Lato"/>
                <a:cs typeface="Lato"/>
                <a:sym typeface="Lato"/>
              </a:rPr>
              <a:t>Let's take an example of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and </a:t>
            </a:r>
            <a:r>
              <a:rPr lang="en" sz="1400" b="1" i="0" u="sng" strike="noStrike" cap="none">
                <a:solidFill>
                  <a:srgbClr val="181717"/>
                </a:solidFill>
                <a:highlight>
                  <a:srgbClr val="FFFFFF"/>
                </a:highlight>
                <a:latin typeface="Lato"/>
                <a:ea typeface="Lato"/>
                <a:cs typeface="Lato"/>
                <a:sym typeface="Lato"/>
              </a:rPr>
              <a:t>Address</a:t>
            </a:r>
            <a:r>
              <a:rPr lang="en" sz="1400" b="0" i="0" u="none" strike="noStrike" cap="none">
                <a:solidFill>
                  <a:srgbClr val="181717"/>
                </a:solidFill>
                <a:highlight>
                  <a:srgbClr val="FFFFFF"/>
                </a:highlight>
                <a:latin typeface="Lato"/>
                <a:ea typeface="Lato"/>
                <a:cs typeface="Lato"/>
                <a:sym typeface="Lato"/>
              </a:rPr>
              <a:t> table in the database.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stores employee records where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is the primary key. The Address table holds the addresses of employees where </a:t>
            </a:r>
            <a:r>
              <a:rPr lang="en" sz="1400" b="1" i="0" u="none" strike="noStrike" cap="none">
                <a:solidFill>
                  <a:srgbClr val="181717"/>
                </a:solidFill>
                <a:highlight>
                  <a:srgbClr val="FFFFFF"/>
                </a:highlight>
                <a:latin typeface="Lato"/>
                <a:ea typeface="Lato"/>
                <a:cs typeface="Lato"/>
                <a:sym typeface="Lato"/>
              </a:rPr>
              <a:t>AddressID</a:t>
            </a:r>
            <a:r>
              <a:rPr lang="en" sz="1400" b="0" i="0" u="none" strike="noStrike" cap="none">
                <a:solidFill>
                  <a:srgbClr val="181717"/>
                </a:solidFill>
                <a:highlight>
                  <a:srgbClr val="FFFFFF"/>
                </a:highlight>
                <a:latin typeface="Lato"/>
                <a:ea typeface="Lato"/>
                <a:cs typeface="Lato"/>
                <a:sym typeface="Lato"/>
              </a:rPr>
              <a:t> is a primary key and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is a foreign key. Each employee will have one record in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Each employee can have many addresses such as Home address, Office Address, Permanent address, etc.</a:t>
            </a:r>
            <a:endParaRPr sz="1400" b="0" i="0" u="none" strike="noStrike" cap="none">
              <a:solidFill>
                <a:srgbClr val="181717"/>
              </a:solidFill>
              <a:highlight>
                <a:srgbClr val="FFFFFF"/>
              </a:highlight>
              <a:latin typeface="Lato"/>
              <a:ea typeface="Lato"/>
              <a:cs typeface="Lato"/>
              <a:sym typeface="Lato"/>
            </a:endParaRPr>
          </a:p>
        </p:txBody>
      </p:sp>
      <p:pic>
        <p:nvPicPr>
          <p:cNvPr id="173" name="Google Shape;173;p11"/>
          <p:cNvPicPr preferRelativeResize="0"/>
          <p:nvPr/>
        </p:nvPicPr>
        <p:blipFill rotWithShape="1">
          <a:blip r:embed="rId5">
            <a:alphaModFix/>
          </a:blip>
          <a:srcRect/>
          <a:stretch/>
        </p:blipFill>
        <p:spPr>
          <a:xfrm>
            <a:off x="636158" y="2213888"/>
            <a:ext cx="61722" cy="109728"/>
          </a:xfrm>
          <a:prstGeom prst="rect">
            <a:avLst/>
          </a:prstGeom>
          <a:noFill/>
          <a:ln>
            <a:noFill/>
          </a:ln>
        </p:spPr>
      </p:pic>
      <p:sp>
        <p:nvSpPr>
          <p:cNvPr id="174" name="Google Shape;174;p11"/>
          <p:cNvSpPr txBox="1"/>
          <p:nvPr/>
        </p:nvSpPr>
        <p:spPr>
          <a:xfrm>
            <a:off x="745942" y="3386772"/>
            <a:ext cx="76917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600"/>
              <a:buFont typeface="Arial"/>
              <a:buNone/>
            </a:pPr>
            <a:r>
              <a:rPr lang="en" sz="1400" b="0" i="0" u="none" strike="noStrike" cap="none">
                <a:solidFill>
                  <a:srgbClr val="181717"/>
                </a:solidFill>
                <a:highlight>
                  <a:srgbClr val="FFFFFF"/>
                </a:highlight>
                <a:latin typeface="Lato"/>
                <a:ea typeface="Lato"/>
                <a:cs typeface="Lato"/>
                <a:sym typeface="Lato"/>
              </a:rPr>
              <a:t>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and </a:t>
            </a:r>
            <a:r>
              <a:rPr lang="en" sz="1400" b="1" i="0" u="sng" strike="noStrike" cap="none">
                <a:solidFill>
                  <a:srgbClr val="181717"/>
                </a:solidFill>
                <a:highlight>
                  <a:srgbClr val="FFFFFF"/>
                </a:highlight>
                <a:latin typeface="Lato"/>
                <a:ea typeface="Lato"/>
                <a:cs typeface="Lato"/>
                <a:sym typeface="Lato"/>
              </a:rPr>
              <a:t>Address</a:t>
            </a:r>
            <a:r>
              <a:rPr lang="en" sz="1400" b="0" i="0" u="none" strike="noStrike" cap="none">
                <a:solidFill>
                  <a:srgbClr val="181717"/>
                </a:solidFill>
                <a:highlight>
                  <a:srgbClr val="FFFFFF"/>
                </a:highlight>
                <a:latin typeface="Lato"/>
                <a:ea typeface="Lato"/>
                <a:cs typeface="Lato"/>
                <a:sym typeface="Lato"/>
              </a:rPr>
              <a:t> tables are linked by the key column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It is a foreign key in the Address table linking to the primary key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in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Thus, one record of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can point to multiple records in the Address table. This is a One-to-Many relationship.</a:t>
            </a:r>
            <a:endParaRPr sz="1400" b="0" i="0" u="none" strike="noStrike" cap="none">
              <a:solidFill>
                <a:srgbClr val="181717"/>
              </a:solidFill>
              <a:highlight>
                <a:srgbClr val="FFFFFF"/>
              </a:highlight>
              <a:latin typeface="Lato"/>
              <a:ea typeface="Lato"/>
              <a:cs typeface="Lato"/>
              <a:sym typeface="Lato"/>
            </a:endParaRPr>
          </a:p>
        </p:txBody>
      </p:sp>
      <p:pic>
        <p:nvPicPr>
          <p:cNvPr id="175" name="Google Shape;175;p11"/>
          <p:cNvPicPr preferRelativeResize="0"/>
          <p:nvPr/>
        </p:nvPicPr>
        <p:blipFill rotWithShape="1">
          <a:blip r:embed="rId5">
            <a:alphaModFix/>
          </a:blip>
          <a:srcRect/>
          <a:stretch/>
        </p:blipFill>
        <p:spPr>
          <a:xfrm>
            <a:off x="636158" y="3510772"/>
            <a:ext cx="61722" cy="109728"/>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1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81" name="Google Shape;181;p1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82" name="Google Shape;182;p1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83" name="Google Shape;183;p12"/>
          <p:cNvSpPr txBox="1"/>
          <p:nvPr/>
        </p:nvSpPr>
        <p:spPr>
          <a:xfrm>
            <a:off x="745942" y="2665275"/>
            <a:ext cx="7761900" cy="6876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3). Many-to-Many Relation: </a:t>
            </a:r>
            <a:r>
              <a:rPr lang="en" sz="1400" b="0" i="0" u="none" strike="noStrike" cap="none">
                <a:solidFill>
                  <a:srgbClr val="181717"/>
                </a:solidFill>
                <a:highlight>
                  <a:srgbClr val="FFFFFF"/>
                </a:highlight>
                <a:latin typeface="Lato"/>
                <a:ea typeface="Lato"/>
                <a:cs typeface="Lato"/>
                <a:sym typeface="Lato"/>
              </a:rPr>
              <a:t>Many-to-Many relationship lets you relate each row in one table to many rows in another table and vice versa. As an example, an employee in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can have many skills from the </a:t>
            </a:r>
            <a:r>
              <a:rPr lang="en" sz="1400" b="1" i="0" u="sng" strike="noStrike" cap="none">
                <a:solidFill>
                  <a:srgbClr val="181717"/>
                </a:solidFill>
                <a:highlight>
                  <a:srgbClr val="FFFFFF"/>
                </a:highlight>
                <a:latin typeface="Lato"/>
                <a:ea typeface="Lato"/>
                <a:cs typeface="Lato"/>
                <a:sym typeface="Lato"/>
              </a:rPr>
              <a:t>EmployeeSkill</a:t>
            </a:r>
            <a:r>
              <a:rPr lang="en" sz="1400" b="0" i="0" u="none" strike="noStrike" cap="none">
                <a:solidFill>
                  <a:srgbClr val="181717"/>
                </a:solidFill>
                <a:highlight>
                  <a:srgbClr val="FFFFFF"/>
                </a:highlight>
                <a:latin typeface="Lato"/>
                <a:ea typeface="Lato"/>
                <a:cs typeface="Lato"/>
                <a:sym typeface="Lato"/>
              </a:rPr>
              <a:t> table and also, one skill can be associated with one or more employees.</a:t>
            </a:r>
            <a:endParaRPr sz="1400" b="0" i="0" u="none" strike="noStrike" cap="none">
              <a:solidFill>
                <a:srgbClr val="181717"/>
              </a:solidFill>
              <a:highlight>
                <a:srgbClr val="FFFFFF"/>
              </a:highlight>
              <a:latin typeface="Lato"/>
              <a:ea typeface="Lato"/>
              <a:cs typeface="Lato"/>
              <a:sym typeface="Lato"/>
            </a:endParaRPr>
          </a:p>
        </p:txBody>
      </p:sp>
      <p:pic>
        <p:nvPicPr>
          <p:cNvPr id="184" name="Google Shape;184;p12"/>
          <p:cNvPicPr preferRelativeResize="0"/>
          <p:nvPr/>
        </p:nvPicPr>
        <p:blipFill rotWithShape="1">
          <a:blip r:embed="rId5">
            <a:alphaModFix/>
          </a:blip>
          <a:srcRect/>
          <a:stretch/>
        </p:blipFill>
        <p:spPr>
          <a:xfrm>
            <a:off x="636158" y="2789275"/>
            <a:ext cx="61722" cy="109728"/>
          </a:xfrm>
          <a:prstGeom prst="rect">
            <a:avLst/>
          </a:prstGeom>
          <a:noFill/>
          <a:ln>
            <a:noFill/>
          </a:ln>
        </p:spPr>
      </p:pic>
      <p:sp>
        <p:nvSpPr>
          <p:cNvPr id="185" name="Google Shape;185;p12"/>
          <p:cNvSpPr txBox="1"/>
          <p:nvPr/>
        </p:nvSpPr>
        <p:spPr>
          <a:xfrm>
            <a:off x="745942" y="3724303"/>
            <a:ext cx="7761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 following figure demonstrates many-to-many relation between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and </a:t>
            </a:r>
            <a:r>
              <a:rPr lang="en" sz="1400" b="1" i="0" u="sng" strike="noStrike" cap="none">
                <a:solidFill>
                  <a:srgbClr val="181717"/>
                </a:solidFill>
                <a:highlight>
                  <a:srgbClr val="FFFFFF"/>
                </a:highlight>
                <a:latin typeface="Lato"/>
                <a:ea typeface="Lato"/>
                <a:cs typeface="Lato"/>
                <a:sym typeface="Lato"/>
              </a:rPr>
              <a:t>SkillDescription</a:t>
            </a:r>
            <a:r>
              <a:rPr lang="en" sz="1400" b="0" i="0" u="none" strike="noStrike" cap="none">
                <a:solidFill>
                  <a:srgbClr val="181717"/>
                </a:solidFill>
                <a:highlight>
                  <a:srgbClr val="FFFFFF"/>
                </a:highlight>
                <a:latin typeface="Lato"/>
                <a:ea typeface="Lato"/>
                <a:cs typeface="Lato"/>
                <a:sym typeface="Lato"/>
              </a:rPr>
              <a:t> table using the junction table </a:t>
            </a:r>
            <a:r>
              <a:rPr lang="en" sz="1400" b="1" i="0" u="sng" strike="noStrike" cap="none">
                <a:solidFill>
                  <a:srgbClr val="181717"/>
                </a:solidFill>
                <a:highlight>
                  <a:srgbClr val="FFFFFF"/>
                </a:highlight>
                <a:latin typeface="Lato"/>
                <a:ea typeface="Lato"/>
                <a:cs typeface="Lato"/>
                <a:sym typeface="Lato"/>
              </a:rPr>
              <a:t>EmployeeSkill</a:t>
            </a:r>
            <a:r>
              <a:rPr lang="en" sz="1400" b="0" i="0" u="none" strike="noStrike" cap="none">
                <a:solidFill>
                  <a:srgbClr val="181717"/>
                </a:solidFill>
                <a:highlight>
                  <a:srgbClr val="FFFFFF"/>
                </a:highlight>
                <a:latin typeface="Lato"/>
                <a:ea typeface="Lato"/>
                <a:cs typeface="Lato"/>
                <a:sym typeface="Lato"/>
              </a:rPr>
              <a:t>.</a:t>
            </a:r>
            <a:endParaRPr sz="1400" b="0" i="0" u="none" strike="noStrike" cap="none">
              <a:solidFill>
                <a:srgbClr val="181717"/>
              </a:solidFill>
              <a:highlight>
                <a:srgbClr val="FFFFFF"/>
              </a:highlight>
              <a:latin typeface="Lato"/>
              <a:ea typeface="Lato"/>
              <a:cs typeface="Lato"/>
              <a:sym typeface="Lato"/>
            </a:endParaRPr>
          </a:p>
        </p:txBody>
      </p:sp>
      <p:pic>
        <p:nvPicPr>
          <p:cNvPr id="186" name="Google Shape;186;p12"/>
          <p:cNvPicPr preferRelativeResize="0"/>
          <p:nvPr/>
        </p:nvPicPr>
        <p:blipFill rotWithShape="1">
          <a:blip r:embed="rId5">
            <a:alphaModFix/>
          </a:blip>
          <a:srcRect/>
          <a:stretch/>
        </p:blipFill>
        <p:spPr>
          <a:xfrm>
            <a:off x="636158" y="3848302"/>
            <a:ext cx="61722" cy="109728"/>
          </a:xfrm>
          <a:prstGeom prst="rect">
            <a:avLst/>
          </a:prstGeom>
          <a:noFill/>
          <a:ln>
            <a:noFill/>
          </a:ln>
        </p:spPr>
      </p:pic>
      <p:sp>
        <p:nvSpPr>
          <p:cNvPr id="187" name="Google Shape;187;p12"/>
          <p:cNvSpPr txBox="1"/>
          <p:nvPr/>
        </p:nvSpPr>
        <p:spPr>
          <a:xfrm>
            <a:off x="2750850" y="46313"/>
            <a:ext cx="3642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Tables Relations</a:t>
            </a:r>
            <a:endParaRPr sz="2000" b="1" i="0" u="none" strike="noStrike" cap="none">
              <a:solidFill>
                <a:srgbClr val="FFFFFF"/>
              </a:solidFill>
              <a:latin typeface="Lato"/>
              <a:ea typeface="Lato"/>
              <a:cs typeface="Lato"/>
              <a:sym typeface="Lato"/>
            </a:endParaRPr>
          </a:p>
        </p:txBody>
      </p:sp>
      <p:pic>
        <p:nvPicPr>
          <p:cNvPr id="188" name="Google Shape;188;p12"/>
          <p:cNvPicPr preferRelativeResize="0"/>
          <p:nvPr/>
        </p:nvPicPr>
        <p:blipFill rotWithShape="1">
          <a:blip r:embed="rId6">
            <a:alphaModFix/>
          </a:blip>
          <a:srcRect/>
          <a:stretch/>
        </p:blipFill>
        <p:spPr>
          <a:xfrm>
            <a:off x="2726555" y="957325"/>
            <a:ext cx="3796873" cy="1628466"/>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1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94" name="Google Shape;194;p1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5" name="Google Shape;195;p1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96" name="Google Shape;196;p13"/>
          <p:cNvSpPr txBox="1"/>
          <p:nvPr/>
        </p:nvSpPr>
        <p:spPr>
          <a:xfrm>
            <a:off x="2750850" y="46313"/>
            <a:ext cx="3642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Tables Relations</a:t>
            </a:r>
            <a:endParaRPr sz="2000" b="1" i="0" u="none" strike="noStrike" cap="none">
              <a:solidFill>
                <a:srgbClr val="FFFFFF"/>
              </a:solidFill>
              <a:latin typeface="Lato"/>
              <a:ea typeface="Lato"/>
              <a:cs typeface="Lato"/>
              <a:sym typeface="Lato"/>
            </a:endParaRPr>
          </a:p>
        </p:txBody>
      </p:sp>
      <p:pic>
        <p:nvPicPr>
          <p:cNvPr id="197" name="Google Shape;197;p13"/>
          <p:cNvPicPr preferRelativeResize="0"/>
          <p:nvPr/>
        </p:nvPicPr>
        <p:blipFill rotWithShape="1">
          <a:blip r:embed="rId5">
            <a:alphaModFix/>
          </a:blip>
          <a:srcRect/>
          <a:stretch/>
        </p:blipFill>
        <p:spPr>
          <a:xfrm>
            <a:off x="2420303" y="1707725"/>
            <a:ext cx="4691978" cy="1940700"/>
          </a:xfrm>
          <a:prstGeom prst="rect">
            <a:avLst/>
          </a:prstGeom>
          <a:noFill/>
          <a:ln w="9525" cap="flat" cmpd="sng">
            <a:solidFill>
              <a:schemeClr val="dk2"/>
            </a:solidFill>
            <a:prstDash val="solid"/>
            <a:round/>
            <a:headEnd type="none" w="sm" len="sm"/>
            <a:tailEnd type="none" w="sm" len="sm"/>
          </a:ln>
        </p:spPr>
      </p:pic>
      <p:sp>
        <p:nvSpPr>
          <p:cNvPr id="198" name="Google Shape;198;p13"/>
          <p:cNvSpPr txBox="1"/>
          <p:nvPr/>
        </p:nvSpPr>
        <p:spPr>
          <a:xfrm>
            <a:off x="1039642" y="3732075"/>
            <a:ext cx="7174500" cy="8640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In the example above, the </a:t>
            </a:r>
            <a:r>
              <a:rPr lang="en" sz="1400" b="1" i="0" u="sng" strike="noStrike" cap="none">
                <a:solidFill>
                  <a:srgbClr val="181717"/>
                </a:solidFill>
                <a:highlight>
                  <a:srgbClr val="FFFFFF"/>
                </a:highlight>
                <a:latin typeface="Lato"/>
                <a:ea typeface="Lato"/>
                <a:cs typeface="Lato"/>
                <a:sym typeface="Lato"/>
              </a:rPr>
              <a:t>EmployeeSkill</a:t>
            </a:r>
            <a:r>
              <a:rPr lang="en" sz="1400" b="0" i="0" u="none" strike="noStrike" cap="none">
                <a:solidFill>
                  <a:srgbClr val="181717"/>
                </a:solidFill>
                <a:highlight>
                  <a:srgbClr val="FFFFFF"/>
                </a:highlight>
                <a:latin typeface="Lato"/>
                <a:ea typeface="Lato"/>
                <a:cs typeface="Lato"/>
                <a:sym typeface="Lato"/>
              </a:rPr>
              <a:t> is the junction table that contains </a:t>
            </a:r>
            <a:r>
              <a:rPr lang="en" sz="1400" b="1" i="0" u="none" strike="noStrike" cap="none">
                <a:solidFill>
                  <a:srgbClr val="181717"/>
                </a:solidFill>
                <a:highlight>
                  <a:srgbClr val="FFFFFF"/>
                </a:highlight>
                <a:latin typeface="Lato"/>
                <a:ea typeface="Lato"/>
                <a:cs typeface="Lato"/>
                <a:sym typeface="Lato"/>
              </a:rPr>
              <a:t>EmployeeID</a:t>
            </a:r>
            <a:r>
              <a:rPr lang="en" sz="1400" b="0" i="0" u="none" strike="noStrike" cap="none">
                <a:solidFill>
                  <a:srgbClr val="181717"/>
                </a:solidFill>
                <a:highlight>
                  <a:srgbClr val="FFFFFF"/>
                </a:highlight>
                <a:latin typeface="Lato"/>
                <a:ea typeface="Lato"/>
                <a:cs typeface="Lato"/>
                <a:sym typeface="Lato"/>
              </a:rPr>
              <a:t> and </a:t>
            </a:r>
            <a:r>
              <a:rPr lang="en" sz="1400" b="1" i="0" u="none" strike="noStrike" cap="none">
                <a:solidFill>
                  <a:srgbClr val="181717"/>
                </a:solidFill>
                <a:highlight>
                  <a:srgbClr val="FFFFFF"/>
                </a:highlight>
                <a:latin typeface="Lato"/>
                <a:ea typeface="Lato"/>
                <a:cs typeface="Lato"/>
                <a:sym typeface="Lato"/>
              </a:rPr>
              <a:t>SkillID</a:t>
            </a:r>
            <a:r>
              <a:rPr lang="en" sz="1400" b="0" i="0" u="none" strike="noStrike" cap="none">
                <a:solidFill>
                  <a:srgbClr val="181717"/>
                </a:solidFill>
                <a:highlight>
                  <a:srgbClr val="FFFFFF"/>
                </a:highlight>
                <a:latin typeface="Lato"/>
                <a:ea typeface="Lato"/>
                <a:cs typeface="Lato"/>
                <a:sym typeface="Lato"/>
              </a:rPr>
              <a:t> foreign key columns to form many-to-many relation between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and </a:t>
            </a:r>
            <a:r>
              <a:rPr lang="en" sz="1400" b="1" i="0" u="sng" strike="noStrike" cap="none">
                <a:solidFill>
                  <a:srgbClr val="181717"/>
                </a:solidFill>
                <a:highlight>
                  <a:srgbClr val="FFFFFF"/>
                </a:highlight>
                <a:latin typeface="Lato"/>
                <a:ea typeface="Lato"/>
                <a:cs typeface="Lato"/>
                <a:sym typeface="Lato"/>
              </a:rPr>
              <a:t>SkillDescription</a:t>
            </a:r>
            <a:r>
              <a:rPr lang="en" sz="1400" b="0" i="0" u="none" strike="noStrike" cap="none">
                <a:solidFill>
                  <a:srgbClr val="181717"/>
                </a:solidFill>
                <a:highlight>
                  <a:srgbClr val="FFFFFF"/>
                </a:highlight>
                <a:latin typeface="Lato"/>
                <a:ea typeface="Lato"/>
                <a:cs typeface="Lato"/>
                <a:sym typeface="Lato"/>
              </a:rPr>
              <a:t> table.</a:t>
            </a:r>
            <a:endParaRPr sz="1400" b="0" i="0" u="none" strike="noStrike" cap="none">
              <a:solidFill>
                <a:srgbClr val="181717"/>
              </a:solidFill>
              <a:highlight>
                <a:srgbClr val="FFFFFF"/>
              </a:highlight>
              <a:latin typeface="Lato"/>
              <a:ea typeface="Lato"/>
              <a:cs typeface="Lato"/>
              <a:sym typeface="Lato"/>
            </a:endParaRPr>
          </a:p>
        </p:txBody>
      </p:sp>
      <p:pic>
        <p:nvPicPr>
          <p:cNvPr id="199" name="Google Shape;199;p13"/>
          <p:cNvPicPr preferRelativeResize="0"/>
          <p:nvPr/>
        </p:nvPicPr>
        <p:blipFill rotWithShape="1">
          <a:blip r:embed="rId6">
            <a:alphaModFix/>
          </a:blip>
          <a:srcRect/>
          <a:stretch/>
        </p:blipFill>
        <p:spPr>
          <a:xfrm>
            <a:off x="929858" y="3856075"/>
            <a:ext cx="61722" cy="109728"/>
          </a:xfrm>
          <a:prstGeom prst="rect">
            <a:avLst/>
          </a:prstGeom>
          <a:noFill/>
          <a:ln>
            <a:noFill/>
          </a:ln>
        </p:spPr>
      </p:pic>
      <p:sp>
        <p:nvSpPr>
          <p:cNvPr id="200" name="Google Shape;200;p13"/>
          <p:cNvSpPr txBox="1"/>
          <p:nvPr/>
        </p:nvSpPr>
        <p:spPr>
          <a:xfrm>
            <a:off x="1039642" y="836475"/>
            <a:ext cx="7174500" cy="780000"/>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Every employee in the </a:t>
            </a:r>
            <a:r>
              <a:rPr lang="en" sz="1400" b="1" i="0" u="sng" strike="noStrike" cap="none">
                <a:solidFill>
                  <a:srgbClr val="181717"/>
                </a:solidFill>
                <a:highlight>
                  <a:srgbClr val="FFFFFF"/>
                </a:highlight>
                <a:latin typeface="Lato"/>
                <a:ea typeface="Lato"/>
                <a:cs typeface="Lato"/>
                <a:sym typeface="Lato"/>
              </a:rPr>
              <a:t>Employee</a:t>
            </a:r>
            <a:r>
              <a:rPr lang="en" sz="1400" b="0" i="0" u="none" strike="noStrike" cap="none">
                <a:solidFill>
                  <a:srgbClr val="181717"/>
                </a:solidFill>
                <a:highlight>
                  <a:srgbClr val="FFFFFF"/>
                </a:highlight>
                <a:latin typeface="Lato"/>
                <a:ea typeface="Lato"/>
                <a:cs typeface="Lato"/>
                <a:sym typeface="Lato"/>
              </a:rPr>
              <a:t> table can have one or many skills. Similarly, a skill in the </a:t>
            </a:r>
            <a:r>
              <a:rPr lang="en" sz="1400" b="1" i="0" u="sng" strike="noStrike" cap="none">
                <a:solidFill>
                  <a:srgbClr val="181717"/>
                </a:solidFill>
                <a:highlight>
                  <a:srgbClr val="FFFFFF"/>
                </a:highlight>
                <a:latin typeface="Lato"/>
                <a:ea typeface="Lato"/>
                <a:cs typeface="Lato"/>
                <a:sym typeface="Lato"/>
              </a:rPr>
              <a:t>SkillDescription</a:t>
            </a:r>
            <a:r>
              <a:rPr lang="en" sz="1400" b="0" i="0" u="none" strike="noStrike" cap="none">
                <a:solidFill>
                  <a:srgbClr val="181717"/>
                </a:solidFill>
                <a:highlight>
                  <a:srgbClr val="FFFFFF"/>
                </a:highlight>
                <a:latin typeface="Lato"/>
                <a:ea typeface="Lato"/>
                <a:cs typeface="Lato"/>
                <a:sym typeface="Lato"/>
              </a:rPr>
              <a:t> table can be linked to many employees. This makes a many-to-many relationship.</a:t>
            </a:r>
            <a:endParaRPr sz="1400" b="0" i="0" u="none" strike="noStrike" cap="none">
              <a:solidFill>
                <a:srgbClr val="181717"/>
              </a:solidFill>
              <a:highlight>
                <a:srgbClr val="FFFFFF"/>
              </a:highlight>
              <a:latin typeface="Lato"/>
              <a:ea typeface="Lato"/>
              <a:cs typeface="Lato"/>
              <a:sym typeface="Lato"/>
            </a:endParaRPr>
          </a:p>
        </p:txBody>
      </p:sp>
      <p:pic>
        <p:nvPicPr>
          <p:cNvPr id="201" name="Google Shape;201;p13"/>
          <p:cNvPicPr preferRelativeResize="0"/>
          <p:nvPr/>
        </p:nvPicPr>
        <p:blipFill rotWithShape="1">
          <a:blip r:embed="rId6">
            <a:alphaModFix/>
          </a:blip>
          <a:srcRect/>
          <a:stretch/>
        </p:blipFill>
        <p:spPr>
          <a:xfrm>
            <a:off x="929858" y="960475"/>
            <a:ext cx="61722" cy="109728"/>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1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07" name="Google Shape;207;p1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08" name="Google Shape;208;p1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09" name="Google Shape;209;p14"/>
          <p:cNvSpPr txBox="1"/>
          <p:nvPr/>
        </p:nvSpPr>
        <p:spPr>
          <a:xfrm>
            <a:off x="3470250" y="46313"/>
            <a:ext cx="2203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Keys</a:t>
            </a:r>
            <a:endParaRPr sz="2000" b="1" i="0" u="none" strike="noStrike" cap="none">
              <a:solidFill>
                <a:srgbClr val="FFFFFF"/>
              </a:solidFill>
              <a:latin typeface="Lato"/>
              <a:ea typeface="Lato"/>
              <a:cs typeface="Lato"/>
              <a:sym typeface="Lato"/>
            </a:endParaRPr>
          </a:p>
        </p:txBody>
      </p:sp>
      <p:sp>
        <p:nvSpPr>
          <p:cNvPr id="210" name="Google Shape;210;p14"/>
          <p:cNvSpPr txBox="1"/>
          <p:nvPr/>
        </p:nvSpPr>
        <p:spPr>
          <a:xfrm>
            <a:off x="745942" y="630684"/>
            <a:ext cx="7761900" cy="36219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1). Primary Keys: </a:t>
            </a:r>
            <a:r>
              <a:rPr lang="en" sz="1400" b="0" i="0" u="none" strike="noStrike" cap="none">
                <a:solidFill>
                  <a:srgbClr val="181717"/>
                </a:solidFill>
                <a:highlight>
                  <a:srgbClr val="FFFFFF"/>
                </a:highlight>
                <a:latin typeface="Lato"/>
                <a:ea typeface="Lato"/>
                <a:cs typeface="Lato"/>
                <a:sym typeface="Lato"/>
              </a:rPr>
              <a:t>In SQL Server, a Primary key is a constraint that uniquely identify each row in the table. It enforce data integrity in tables.</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A table can have only one primary key.</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A primary key can be defined on one column or the combination of multiple columns known as a composite primary key.</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The primary key uniquely identifies each row in a table. It is often defined on the identity column.</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The Primary key column do not allow NULL or duplicate values. It will raise an error if try to do so.</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All columns defined within the primary key constraint must be defined as a NOT NULL column.</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If clustered or nonclustered is not specified, then a unique clustered index for the primary key column will be created if there no clustered index on the table. This makes retrieving data faster whenever the primary key column is included in the query.</a:t>
            </a:r>
            <a:endParaRPr sz="1400" b="0" i="0" u="none" strike="noStrike" cap="none">
              <a:solidFill>
                <a:srgbClr val="181717"/>
              </a:solidFill>
              <a:highlight>
                <a:srgbClr val="FFFFFF"/>
              </a:highlight>
              <a:latin typeface="Lato"/>
              <a:ea typeface="Lato"/>
              <a:cs typeface="Lato"/>
              <a:sym typeface="Lato"/>
            </a:endParaRPr>
          </a:p>
        </p:txBody>
      </p:sp>
      <p:pic>
        <p:nvPicPr>
          <p:cNvPr id="211" name="Google Shape;211;p14"/>
          <p:cNvPicPr preferRelativeResize="0"/>
          <p:nvPr/>
        </p:nvPicPr>
        <p:blipFill rotWithShape="1">
          <a:blip r:embed="rId5">
            <a:alphaModFix/>
          </a:blip>
          <a:srcRect/>
          <a:stretch/>
        </p:blipFill>
        <p:spPr>
          <a:xfrm>
            <a:off x="636158" y="754684"/>
            <a:ext cx="61722" cy="109728"/>
          </a:xfrm>
          <a:prstGeom prst="rect">
            <a:avLst/>
          </a:prstGeom>
          <a:noFill/>
          <a:ln>
            <a:noFill/>
          </a:ln>
        </p:spPr>
      </p:pic>
      <p:sp>
        <p:nvSpPr>
          <p:cNvPr id="212" name="Google Shape;212;p14"/>
          <p:cNvSpPr txBox="1"/>
          <p:nvPr/>
        </p:nvSpPr>
        <p:spPr>
          <a:xfrm>
            <a:off x="745942" y="4135884"/>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Create a Primary Key: </a:t>
            </a:r>
            <a:r>
              <a:rPr lang="en" sz="1400" b="0" i="0" u="none" strike="noStrike" cap="none">
                <a:solidFill>
                  <a:srgbClr val="181717"/>
                </a:solidFill>
                <a:highlight>
                  <a:srgbClr val="FFFFFF"/>
                </a:highlight>
                <a:latin typeface="Lato"/>
                <a:ea typeface="Lato"/>
                <a:cs typeface="Lato"/>
                <a:sym typeface="Lato"/>
              </a:rPr>
              <a:t>A primary key can be configured in the create table SQL script. Append </a:t>
            </a:r>
            <a:r>
              <a:rPr lang="en" sz="1400" b="1" i="0" u="none" strike="noStrike" cap="none">
                <a:solidFill>
                  <a:srgbClr val="181717"/>
                </a:solidFill>
                <a:highlight>
                  <a:srgbClr val="FFFFFF"/>
                </a:highlight>
                <a:latin typeface="Lato"/>
                <a:ea typeface="Lato"/>
                <a:cs typeface="Lato"/>
                <a:sym typeface="Lato"/>
              </a:rPr>
              <a:t>CONSTRAINT</a:t>
            </a:r>
            <a:r>
              <a:rPr lang="en" sz="1400" b="0" i="0" u="none" strike="noStrike" cap="none">
                <a:solidFill>
                  <a:srgbClr val="181717"/>
                </a:solidFill>
                <a:highlight>
                  <a:srgbClr val="FFFFFF"/>
                </a:highlight>
                <a:latin typeface="Lato"/>
                <a:ea typeface="Lato"/>
                <a:cs typeface="Lato"/>
                <a:sym typeface="Lato"/>
              </a:rPr>
              <a:t> statement at the end of all column declaration.</a:t>
            </a:r>
            <a:endParaRPr sz="1400" b="1" i="0" u="none" strike="noStrike" cap="none">
              <a:solidFill>
                <a:srgbClr val="181717"/>
              </a:solidFill>
              <a:highlight>
                <a:srgbClr val="FFFFFF"/>
              </a:highlight>
              <a:latin typeface="Lato"/>
              <a:ea typeface="Lato"/>
              <a:cs typeface="Lato"/>
              <a:sym typeface="Lato"/>
            </a:endParaRPr>
          </a:p>
        </p:txBody>
      </p:sp>
      <p:pic>
        <p:nvPicPr>
          <p:cNvPr id="213" name="Google Shape;213;p14"/>
          <p:cNvPicPr preferRelativeResize="0"/>
          <p:nvPr/>
        </p:nvPicPr>
        <p:blipFill rotWithShape="1">
          <a:blip r:embed="rId5">
            <a:alphaModFix/>
          </a:blip>
          <a:srcRect/>
          <a:stretch/>
        </p:blipFill>
        <p:spPr>
          <a:xfrm>
            <a:off x="636166" y="4240245"/>
            <a:ext cx="61722" cy="92349"/>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1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19" name="Google Shape;219;p1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20" name="Google Shape;220;p1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21" name="Google Shape;221;p15"/>
          <p:cNvSpPr txBox="1"/>
          <p:nvPr/>
        </p:nvSpPr>
        <p:spPr>
          <a:xfrm>
            <a:off x="3470250" y="46313"/>
            <a:ext cx="2203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Keys</a:t>
            </a:r>
            <a:endParaRPr sz="2000" b="1" i="0" u="none" strike="noStrike" cap="none">
              <a:solidFill>
                <a:srgbClr val="FFFFFF"/>
              </a:solidFill>
              <a:latin typeface="Lato"/>
              <a:ea typeface="Lato"/>
              <a:cs typeface="Lato"/>
              <a:sym typeface="Lato"/>
            </a:endParaRPr>
          </a:p>
        </p:txBody>
      </p:sp>
      <p:sp>
        <p:nvSpPr>
          <p:cNvPr id="222" name="Google Shape;222;p15"/>
          <p:cNvSpPr txBox="1"/>
          <p:nvPr/>
        </p:nvSpPr>
        <p:spPr>
          <a:xfrm>
            <a:off x="745942" y="1480289"/>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Create a Primary Key in an Existing Table: </a:t>
            </a:r>
            <a:r>
              <a:rPr lang="en" sz="1400" b="0" i="0" u="none" strike="noStrike" cap="none">
                <a:solidFill>
                  <a:srgbClr val="181717"/>
                </a:solidFill>
                <a:highlight>
                  <a:srgbClr val="FFFFFF"/>
                </a:highlight>
                <a:latin typeface="Lato"/>
                <a:ea typeface="Lato"/>
                <a:cs typeface="Lato"/>
                <a:sym typeface="Lato"/>
              </a:rPr>
              <a:t>Use the </a:t>
            </a:r>
            <a:r>
              <a:rPr lang="en" sz="1400" b="1" i="0" u="none" strike="noStrike" cap="none">
                <a:solidFill>
                  <a:srgbClr val="181717"/>
                </a:solidFill>
                <a:highlight>
                  <a:srgbClr val="FFFFFF"/>
                </a:highlight>
                <a:latin typeface="Lato"/>
                <a:ea typeface="Lato"/>
                <a:cs typeface="Lato"/>
                <a:sym typeface="Lato"/>
              </a:rPr>
              <a:t>ALTER TABLE</a:t>
            </a:r>
            <a:r>
              <a:rPr lang="en" sz="1400" b="0" i="0" u="none" strike="noStrike" cap="none">
                <a:solidFill>
                  <a:srgbClr val="181717"/>
                </a:solidFill>
                <a:highlight>
                  <a:srgbClr val="FFFFFF"/>
                </a:highlight>
                <a:latin typeface="Lato"/>
                <a:ea typeface="Lato"/>
                <a:cs typeface="Lato"/>
                <a:sym typeface="Lato"/>
              </a:rPr>
              <a:t> statement to add a primary key in an existing table.</a:t>
            </a:r>
            <a:endParaRPr sz="1400" b="0" i="0" u="none" strike="noStrike" cap="none">
              <a:solidFill>
                <a:srgbClr val="181717"/>
              </a:solidFill>
              <a:highlight>
                <a:srgbClr val="FFFFFF"/>
              </a:highlight>
              <a:latin typeface="Lato"/>
              <a:ea typeface="Lato"/>
              <a:cs typeface="Lato"/>
              <a:sym typeface="Lato"/>
            </a:endParaRPr>
          </a:p>
        </p:txBody>
      </p:sp>
      <p:pic>
        <p:nvPicPr>
          <p:cNvPr id="223" name="Google Shape;223;p15"/>
          <p:cNvPicPr preferRelativeResize="0"/>
          <p:nvPr/>
        </p:nvPicPr>
        <p:blipFill rotWithShape="1">
          <a:blip r:embed="rId5">
            <a:alphaModFix/>
          </a:blip>
          <a:srcRect/>
          <a:stretch/>
        </p:blipFill>
        <p:spPr>
          <a:xfrm>
            <a:off x="636158" y="1604288"/>
            <a:ext cx="61722" cy="109728"/>
          </a:xfrm>
          <a:prstGeom prst="rect">
            <a:avLst/>
          </a:prstGeom>
          <a:noFill/>
          <a:ln>
            <a:noFill/>
          </a:ln>
        </p:spPr>
      </p:pic>
      <p:sp>
        <p:nvSpPr>
          <p:cNvPr id="224" name="Google Shape;224;p15"/>
          <p:cNvSpPr txBox="1"/>
          <p:nvPr/>
        </p:nvSpPr>
        <p:spPr>
          <a:xfrm>
            <a:off x="745942" y="2013689"/>
            <a:ext cx="7761900" cy="648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ALTER</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TABLE</a:t>
            </a:r>
            <a:r>
              <a:rPr lang="en" sz="1400" b="0" i="0" u="none" strike="noStrike" cap="none">
                <a:solidFill>
                  <a:schemeClr val="dk1"/>
                </a:solidFill>
                <a:highlight>
                  <a:srgbClr val="FFFFFF"/>
                </a:highlight>
                <a:latin typeface="Lato"/>
                <a:ea typeface="Lato"/>
                <a:cs typeface="Lato"/>
                <a:sym typeface="Lato"/>
              </a:rPr>
              <a:t> Employee</a:t>
            </a:r>
            <a:endParaRPr sz="1400" b="0" i="0" u="none" strike="noStrike" cap="none">
              <a:solidFill>
                <a:schemeClr val="dk1"/>
              </a:solidFill>
              <a:highlight>
                <a:srgbClr val="FFFFFF"/>
              </a:highlight>
              <a:latin typeface="Lato"/>
              <a:ea typeface="Lato"/>
              <a:cs typeface="Lato"/>
              <a:sym typeface="Lato"/>
            </a:endParaRPr>
          </a:p>
          <a:p>
            <a:pPr marL="457200" marR="101600" lvl="0" indent="457200" algn="l"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ADD</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CONSTRAINT</a:t>
            </a:r>
            <a:r>
              <a:rPr lang="en" sz="1400" b="0" i="0" u="none" strike="noStrike" cap="none">
                <a:solidFill>
                  <a:schemeClr val="dk1"/>
                </a:solidFill>
                <a:highlight>
                  <a:srgbClr val="FFFFFF"/>
                </a:highlight>
                <a:latin typeface="Lato"/>
                <a:ea typeface="Lato"/>
                <a:cs typeface="Lato"/>
                <a:sym typeface="Lato"/>
              </a:rPr>
              <a:t> PK_Employee_EmployeeID </a:t>
            </a:r>
            <a:r>
              <a:rPr lang="en" sz="1400" b="0" i="0" u="none" strike="noStrike" cap="none">
                <a:solidFill>
                  <a:srgbClr val="0077AA"/>
                </a:solidFill>
                <a:highlight>
                  <a:srgbClr val="FFFFFF"/>
                </a:highlight>
                <a:latin typeface="Lato"/>
                <a:ea typeface="Lato"/>
                <a:cs typeface="Lato"/>
                <a:sym typeface="Lato"/>
              </a:rPr>
              <a:t>PRIMARY</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KEY</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EmployeeID</a:t>
            </a: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225" name="Google Shape;225;p15"/>
          <p:cNvPicPr preferRelativeResize="0"/>
          <p:nvPr/>
        </p:nvPicPr>
        <p:blipFill rotWithShape="1">
          <a:blip r:embed="rId5">
            <a:alphaModFix/>
          </a:blip>
          <a:srcRect/>
          <a:stretch/>
        </p:blipFill>
        <p:spPr>
          <a:xfrm>
            <a:off x="636158" y="2137688"/>
            <a:ext cx="61722" cy="109728"/>
          </a:xfrm>
          <a:prstGeom prst="rect">
            <a:avLst/>
          </a:prstGeom>
          <a:noFill/>
          <a:ln>
            <a:noFill/>
          </a:ln>
        </p:spPr>
      </p:pic>
      <p:sp>
        <p:nvSpPr>
          <p:cNvPr id="226" name="Google Shape;226;p15"/>
          <p:cNvSpPr txBox="1"/>
          <p:nvPr/>
        </p:nvSpPr>
        <p:spPr>
          <a:xfrm>
            <a:off x="745942" y="2615517"/>
            <a:ext cx="7761900" cy="7521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2). Foreign Keys: </a:t>
            </a:r>
            <a:r>
              <a:rPr lang="en" sz="1400" b="0" i="0" u="none" strike="noStrike" cap="none">
                <a:solidFill>
                  <a:srgbClr val="181717"/>
                </a:solidFill>
                <a:highlight>
                  <a:srgbClr val="FFFFFF"/>
                </a:highlight>
                <a:latin typeface="Lato"/>
                <a:ea typeface="Lato"/>
                <a:cs typeface="Lato"/>
                <a:sym typeface="Lato"/>
              </a:rPr>
              <a:t>The foreign key establishes the relationship between the two tables and enforces referential integrity in the SQL Server. For example, the following Employee table has a foreign key column DepartmentID that links to a primary key column of the Department table.</a:t>
            </a:r>
            <a:endParaRPr sz="1400" b="0" i="0" u="none" strike="noStrike" cap="none">
              <a:solidFill>
                <a:srgbClr val="181717"/>
              </a:solidFill>
              <a:highlight>
                <a:srgbClr val="FFFFFF"/>
              </a:highlight>
              <a:latin typeface="Lato"/>
              <a:ea typeface="Lato"/>
              <a:cs typeface="Lato"/>
              <a:sym typeface="Lato"/>
            </a:endParaRPr>
          </a:p>
        </p:txBody>
      </p:sp>
      <p:pic>
        <p:nvPicPr>
          <p:cNvPr id="227" name="Google Shape;227;p15"/>
          <p:cNvPicPr preferRelativeResize="0"/>
          <p:nvPr/>
        </p:nvPicPr>
        <p:blipFill rotWithShape="1">
          <a:blip r:embed="rId5">
            <a:alphaModFix/>
          </a:blip>
          <a:srcRect/>
          <a:stretch/>
        </p:blipFill>
        <p:spPr>
          <a:xfrm>
            <a:off x="636158" y="2739516"/>
            <a:ext cx="61722" cy="109728"/>
          </a:xfrm>
          <a:prstGeom prst="rect">
            <a:avLst/>
          </a:prstGeom>
          <a:noFill/>
          <a:ln>
            <a:noFill/>
          </a:ln>
        </p:spPr>
      </p:pic>
      <p:sp>
        <p:nvSpPr>
          <p:cNvPr id="228" name="Google Shape;228;p15"/>
          <p:cNvSpPr txBox="1"/>
          <p:nvPr/>
        </p:nvSpPr>
        <p:spPr>
          <a:xfrm>
            <a:off x="745942" y="1175489"/>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 name of a primary key should be in PK_TableName_ColumnName format to recognize it easily.</a:t>
            </a:r>
            <a:endParaRPr sz="1400" b="0" i="0" u="none" strike="noStrike" cap="none">
              <a:solidFill>
                <a:srgbClr val="181717"/>
              </a:solidFill>
              <a:highlight>
                <a:srgbClr val="FFFFFF"/>
              </a:highlight>
              <a:latin typeface="Lato"/>
              <a:ea typeface="Lato"/>
              <a:cs typeface="Lato"/>
              <a:sym typeface="Lato"/>
            </a:endParaRPr>
          </a:p>
        </p:txBody>
      </p:sp>
      <p:pic>
        <p:nvPicPr>
          <p:cNvPr id="229" name="Google Shape;229;p15"/>
          <p:cNvPicPr preferRelativeResize="0"/>
          <p:nvPr/>
        </p:nvPicPr>
        <p:blipFill rotWithShape="1">
          <a:blip r:embed="rId5">
            <a:alphaModFix/>
          </a:blip>
          <a:srcRect/>
          <a:stretch/>
        </p:blipFill>
        <p:spPr>
          <a:xfrm>
            <a:off x="636158" y="1299488"/>
            <a:ext cx="61722" cy="109728"/>
          </a:xfrm>
          <a:prstGeom prst="rect">
            <a:avLst/>
          </a:prstGeom>
          <a:noFill/>
          <a:ln>
            <a:noFill/>
          </a:ln>
        </p:spPr>
      </p:pic>
      <p:sp>
        <p:nvSpPr>
          <p:cNvPr id="230" name="Google Shape;230;p15"/>
          <p:cNvSpPr txBox="1"/>
          <p:nvPr/>
        </p:nvSpPr>
        <p:spPr>
          <a:xfrm>
            <a:off x="745942" y="619280"/>
            <a:ext cx="7761900" cy="585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CONSTRAINT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primarykey_name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PRIMARY</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KEY</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CLUSTERED</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NONCLUSTERED</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column_names</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231" name="Google Shape;231;p15"/>
          <p:cNvPicPr preferRelativeResize="0"/>
          <p:nvPr/>
        </p:nvPicPr>
        <p:blipFill rotWithShape="1">
          <a:blip r:embed="rId5">
            <a:alphaModFix/>
          </a:blip>
          <a:srcRect/>
          <a:stretch/>
        </p:blipFill>
        <p:spPr>
          <a:xfrm>
            <a:off x="636158" y="743279"/>
            <a:ext cx="61722" cy="109728"/>
          </a:xfrm>
          <a:prstGeom prst="rect">
            <a:avLst/>
          </a:prstGeom>
          <a:noFill/>
          <a:ln>
            <a:noFill/>
          </a:ln>
        </p:spPr>
      </p:pic>
      <p:sp>
        <p:nvSpPr>
          <p:cNvPr id="232" name="Google Shape;232;p15"/>
          <p:cNvSpPr txBox="1"/>
          <p:nvPr/>
        </p:nvSpPr>
        <p:spPr>
          <a:xfrm>
            <a:off x="745950" y="3401844"/>
            <a:ext cx="7761900" cy="13914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chemeClr val="lt1"/>
                </a:highlight>
                <a:latin typeface="Lato"/>
                <a:ea typeface="Lato"/>
                <a:cs typeface="Lato"/>
                <a:sym typeface="Lato"/>
              </a:rPr>
              <a:t>A foreign key column can be linked to a primary key or a unique key column of the same or another table.</a:t>
            </a:r>
            <a:endParaRPr sz="1400" b="0" i="0" u="none" strike="noStrike" cap="none">
              <a:solidFill>
                <a:srgbClr val="181717"/>
              </a:solidFill>
              <a:highlight>
                <a:schemeClr val="lt1"/>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chemeClr val="lt1"/>
                </a:highlight>
                <a:latin typeface="Lato"/>
                <a:ea typeface="Lato"/>
                <a:cs typeface="Lato"/>
                <a:sym typeface="Lato"/>
              </a:rPr>
              <a:t>The table having the foreign key constraint is called the child table, and the table being referenced by the foreign key is called the parent table. E.g. Employee is a child table and Department is a parent table.</a:t>
            </a:r>
            <a:endParaRPr sz="1400" b="0" i="0" u="none" strike="noStrike" cap="none">
              <a:solidFill>
                <a:srgbClr val="181717"/>
              </a:solidFill>
              <a:highlight>
                <a:schemeClr val="lt1"/>
              </a:highlight>
              <a:latin typeface="Lato"/>
              <a:ea typeface="Lato"/>
              <a:cs typeface="Lato"/>
              <a:sym typeface="Lato"/>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p1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38" name="Google Shape;238;p1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9" name="Google Shape;239;p1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40" name="Google Shape;240;p16"/>
          <p:cNvSpPr txBox="1"/>
          <p:nvPr/>
        </p:nvSpPr>
        <p:spPr>
          <a:xfrm>
            <a:off x="691050" y="2474850"/>
            <a:ext cx="7761900" cy="23826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A value other than NULL is entered in the column of the foreign key constraint, that value must already exist in the referenced column of the parent table. Else you will get a foreign key violation error.</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A foreign key constraint defined at the table level (on a combination of columns) should have the same number of reference columns as the number of columns defined in the constraint list. The data type of each column in the constraint must be the same as the corresponding column in the column list.</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chemeClr val="lt1"/>
                </a:highlight>
                <a:latin typeface="Lato"/>
                <a:ea typeface="Lato"/>
                <a:cs typeface="Lato"/>
                <a:sym typeface="Lato"/>
              </a:rPr>
              <a:t>There is no limit on the number of foreign key constraints a table can contain that references other tables. However, it is limited by the hardware configuration and the database design.</a:t>
            </a:r>
            <a:endParaRPr sz="1400" b="0" i="0" u="none" strike="noStrike" cap="none">
              <a:solidFill>
                <a:srgbClr val="181717"/>
              </a:solidFill>
              <a:highlight>
                <a:srgbClr val="FFFFFF"/>
              </a:highlight>
              <a:latin typeface="Lato"/>
              <a:ea typeface="Lato"/>
              <a:cs typeface="Lato"/>
              <a:sym typeface="Lato"/>
            </a:endParaRPr>
          </a:p>
        </p:txBody>
      </p:sp>
      <p:sp>
        <p:nvSpPr>
          <p:cNvPr id="241" name="Google Shape;241;p16"/>
          <p:cNvSpPr txBox="1"/>
          <p:nvPr/>
        </p:nvSpPr>
        <p:spPr>
          <a:xfrm>
            <a:off x="3470250" y="46313"/>
            <a:ext cx="22035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Keys</a:t>
            </a:r>
            <a:endParaRPr sz="2000" b="1" i="0" u="none" strike="noStrike" cap="none">
              <a:solidFill>
                <a:srgbClr val="FFFFFF"/>
              </a:solidFill>
              <a:latin typeface="Lato"/>
              <a:ea typeface="Lato"/>
              <a:cs typeface="Lato"/>
              <a:sym typeface="Lato"/>
            </a:endParaRPr>
          </a:p>
        </p:txBody>
      </p:sp>
      <p:pic>
        <p:nvPicPr>
          <p:cNvPr id="242" name="Google Shape;242;p16"/>
          <p:cNvPicPr preferRelativeResize="0"/>
          <p:nvPr/>
        </p:nvPicPr>
        <p:blipFill rotWithShape="1">
          <a:blip r:embed="rId5">
            <a:alphaModFix/>
          </a:blip>
          <a:srcRect/>
          <a:stretch/>
        </p:blipFill>
        <p:spPr>
          <a:xfrm>
            <a:off x="2230500" y="652431"/>
            <a:ext cx="4683000" cy="18163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1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48" name="Google Shape;248;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49" name="Google Shape;249;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50" name="Google Shape;250;p17"/>
          <p:cNvSpPr txBox="1"/>
          <p:nvPr/>
        </p:nvSpPr>
        <p:spPr>
          <a:xfrm>
            <a:off x="3470249" y="46313"/>
            <a:ext cx="2717419"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dirty="0">
                <a:solidFill>
                  <a:srgbClr val="FFFFFF"/>
                </a:solidFill>
                <a:latin typeface="Lato"/>
                <a:ea typeface="Lato"/>
                <a:cs typeface="Lato"/>
                <a:sym typeface="Lato"/>
              </a:rPr>
              <a:t>SQL Server - Keys</a:t>
            </a:r>
            <a:endParaRPr sz="2000" b="1" i="0" u="none" strike="noStrike" cap="none" dirty="0">
              <a:solidFill>
                <a:srgbClr val="FFFFFF"/>
              </a:solidFill>
              <a:latin typeface="Lato"/>
              <a:ea typeface="Lato"/>
              <a:cs typeface="Lato"/>
              <a:sym typeface="Lato"/>
            </a:endParaRPr>
          </a:p>
        </p:txBody>
      </p:sp>
      <p:sp>
        <p:nvSpPr>
          <p:cNvPr id="251" name="Google Shape;251;p17"/>
          <p:cNvSpPr txBox="1"/>
          <p:nvPr/>
        </p:nvSpPr>
        <p:spPr>
          <a:xfrm>
            <a:off x="745945" y="2661642"/>
            <a:ext cx="7761900" cy="1693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Important Points:</a:t>
            </a:r>
            <a:endParaRPr sz="1400" b="1" i="0" u="none" strike="noStrike" cap="none">
              <a:solidFill>
                <a:srgbClr val="181717"/>
              </a:solidFill>
              <a:highlight>
                <a:srgbClr val="FFFFFF"/>
              </a:highlight>
              <a:latin typeface="Lato"/>
              <a:ea typeface="Lato"/>
              <a:cs typeface="Lato"/>
              <a:sym typeface="Lato"/>
            </a:endParaRPr>
          </a:p>
          <a:p>
            <a:pPr marL="457200" marR="0" lvl="0" indent="-317500" algn="just" rtl="0">
              <a:lnSpc>
                <a:spcPct val="100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Both Unique constraint and Primary key constraint enforce uniqueness. It is recommended to use Unique constraint instead of Primary key constraint whenever you want to enforce uniqueness in a column.</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00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Unlike Primary key constraint, Unique constraints allow only one NULL value.</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00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A unique index is automatically created when a unique key constraint is created.</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00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SQL Server raises an error whenever a duplicate value is inserted or updated.</a:t>
            </a:r>
            <a:endParaRPr sz="1400" b="0" i="0" u="none" strike="noStrike" cap="none">
              <a:solidFill>
                <a:srgbClr val="181717"/>
              </a:solidFill>
              <a:highlight>
                <a:srgbClr val="FFFFFF"/>
              </a:highlight>
              <a:latin typeface="Lato"/>
              <a:ea typeface="Lato"/>
              <a:cs typeface="Lato"/>
              <a:sym typeface="Lato"/>
            </a:endParaRPr>
          </a:p>
        </p:txBody>
      </p:sp>
      <p:pic>
        <p:nvPicPr>
          <p:cNvPr id="252" name="Google Shape;252;p17"/>
          <p:cNvPicPr preferRelativeResize="0"/>
          <p:nvPr/>
        </p:nvPicPr>
        <p:blipFill rotWithShape="1">
          <a:blip r:embed="rId5">
            <a:alphaModFix/>
          </a:blip>
          <a:srcRect/>
          <a:stretch/>
        </p:blipFill>
        <p:spPr>
          <a:xfrm>
            <a:off x="636163" y="2766003"/>
            <a:ext cx="61722" cy="92349"/>
          </a:xfrm>
          <a:prstGeom prst="rect">
            <a:avLst/>
          </a:prstGeom>
          <a:noFill/>
          <a:ln>
            <a:noFill/>
          </a:ln>
        </p:spPr>
      </p:pic>
      <p:sp>
        <p:nvSpPr>
          <p:cNvPr id="253" name="Google Shape;253;p17"/>
          <p:cNvSpPr txBox="1"/>
          <p:nvPr/>
        </p:nvSpPr>
        <p:spPr>
          <a:xfrm>
            <a:off x="745938" y="1240275"/>
            <a:ext cx="7761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3). Unique Keys: </a:t>
            </a:r>
            <a:r>
              <a:rPr lang="en" sz="1400" b="0" i="0" u="none" strike="noStrike" cap="none">
                <a:solidFill>
                  <a:srgbClr val="181717"/>
                </a:solidFill>
                <a:highlight>
                  <a:srgbClr val="FFFFFF"/>
                </a:highlight>
                <a:latin typeface="Lato"/>
                <a:ea typeface="Lato"/>
                <a:cs typeface="Lato"/>
                <a:sym typeface="Lato"/>
              </a:rPr>
              <a:t>The Unique Constraint ensures the uniqueness of all values and no duplicate values are entered in a column of a table.</a:t>
            </a:r>
            <a:endParaRPr sz="1400" b="0" i="0" u="none" strike="noStrike" cap="none">
              <a:solidFill>
                <a:srgbClr val="181717"/>
              </a:solidFill>
              <a:highlight>
                <a:srgbClr val="FFFFFF"/>
              </a:highlight>
              <a:latin typeface="Lato"/>
              <a:ea typeface="Lato"/>
              <a:cs typeface="Lato"/>
              <a:sym typeface="Lato"/>
            </a:endParaRPr>
          </a:p>
        </p:txBody>
      </p:sp>
      <p:pic>
        <p:nvPicPr>
          <p:cNvPr id="254" name="Google Shape;254;p17"/>
          <p:cNvPicPr preferRelativeResize="0"/>
          <p:nvPr/>
        </p:nvPicPr>
        <p:blipFill rotWithShape="1">
          <a:blip r:embed="rId5">
            <a:alphaModFix/>
          </a:blip>
          <a:srcRect/>
          <a:stretch/>
        </p:blipFill>
        <p:spPr>
          <a:xfrm>
            <a:off x="636155" y="1364284"/>
            <a:ext cx="61722" cy="109728"/>
          </a:xfrm>
          <a:prstGeom prst="rect">
            <a:avLst/>
          </a:prstGeom>
          <a:noFill/>
          <a:ln>
            <a:noFill/>
          </a:ln>
        </p:spPr>
      </p:pic>
      <p:sp>
        <p:nvSpPr>
          <p:cNvPr id="255" name="Google Shape;255;p17"/>
          <p:cNvSpPr txBox="1"/>
          <p:nvPr/>
        </p:nvSpPr>
        <p:spPr>
          <a:xfrm>
            <a:off x="745938" y="1785080"/>
            <a:ext cx="7761900" cy="5853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 unique constraints can be created using CREATE or ALTER TABLE SQL. Add unique constraints after columns definitions in the CREATE TABLE statement.</a:t>
            </a:r>
            <a:endParaRPr sz="1400" b="0" i="0" u="none" strike="noStrike" cap="none">
              <a:solidFill>
                <a:srgbClr val="181717"/>
              </a:solidFill>
              <a:highlight>
                <a:srgbClr val="FFFFFF"/>
              </a:highlight>
              <a:latin typeface="Lato"/>
              <a:ea typeface="Lato"/>
              <a:cs typeface="Lato"/>
              <a:sym typeface="Lato"/>
            </a:endParaRPr>
          </a:p>
        </p:txBody>
      </p:sp>
      <p:pic>
        <p:nvPicPr>
          <p:cNvPr id="256" name="Google Shape;256;p17"/>
          <p:cNvPicPr preferRelativeResize="0"/>
          <p:nvPr/>
        </p:nvPicPr>
        <p:blipFill rotWithShape="1">
          <a:blip r:embed="rId5">
            <a:alphaModFix/>
          </a:blip>
          <a:srcRect/>
          <a:stretch/>
        </p:blipFill>
        <p:spPr>
          <a:xfrm>
            <a:off x="636155" y="1909088"/>
            <a:ext cx="61722" cy="109728"/>
          </a:xfrm>
          <a:prstGeom prst="rect">
            <a:avLst/>
          </a:prstGeom>
          <a:noFill/>
          <a:ln>
            <a:noFill/>
          </a:ln>
        </p:spPr>
      </p:pic>
      <p:sp>
        <p:nvSpPr>
          <p:cNvPr id="257" name="Google Shape;257;p17"/>
          <p:cNvSpPr txBox="1"/>
          <p:nvPr/>
        </p:nvSpPr>
        <p:spPr>
          <a:xfrm>
            <a:off x="745938" y="2345438"/>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CONSTRAINT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constraint_name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chemeClr val="dk1"/>
                </a:solidFill>
                <a:highlight>
                  <a:srgbClr val="FFFFFF"/>
                </a:highlight>
                <a:latin typeface="Lato"/>
                <a:ea typeface="Lato"/>
                <a:cs typeface="Lato"/>
                <a:sym typeface="Lato"/>
              </a:rPr>
              <a:t> UNIQUE</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column_name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rgbClr val="0077AA"/>
              </a:solidFill>
              <a:highlight>
                <a:srgbClr val="FFFFFF"/>
              </a:highlight>
              <a:latin typeface="Lato"/>
              <a:ea typeface="Lato"/>
              <a:cs typeface="Lato"/>
              <a:sym typeface="Lato"/>
            </a:endParaRPr>
          </a:p>
        </p:txBody>
      </p:sp>
      <p:pic>
        <p:nvPicPr>
          <p:cNvPr id="258" name="Google Shape;258;p17"/>
          <p:cNvPicPr preferRelativeResize="0"/>
          <p:nvPr/>
        </p:nvPicPr>
        <p:blipFill rotWithShape="1">
          <a:blip r:embed="rId5">
            <a:alphaModFix/>
          </a:blip>
          <a:srcRect/>
          <a:stretch/>
        </p:blipFill>
        <p:spPr>
          <a:xfrm>
            <a:off x="636155" y="2469437"/>
            <a:ext cx="61722" cy="109728"/>
          </a:xfrm>
          <a:prstGeom prst="rect">
            <a:avLst/>
          </a:prstGeom>
          <a:noFill/>
          <a:ln>
            <a:noFill/>
          </a:ln>
        </p:spPr>
      </p:pic>
      <p:sp>
        <p:nvSpPr>
          <p:cNvPr id="259" name="Google Shape;259;p17"/>
          <p:cNvSpPr txBox="1"/>
          <p:nvPr/>
        </p:nvSpPr>
        <p:spPr>
          <a:xfrm>
            <a:off x="745938" y="914775"/>
            <a:ext cx="7761900" cy="4002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chemeClr val="lt1"/>
                </a:highlight>
                <a:latin typeface="Lato"/>
                <a:ea typeface="Lato"/>
                <a:cs typeface="Lato"/>
                <a:sym typeface="Lato"/>
              </a:rPr>
              <a:t>Foreign key constraints are not enforced on temporary tables.</a:t>
            </a:r>
            <a:endParaRPr sz="1400" b="0" i="0" u="none" strike="noStrike" cap="none">
              <a:solidFill>
                <a:srgbClr val="181717"/>
              </a:solidFill>
              <a:highlight>
                <a:schemeClr val="lt1"/>
              </a:highlight>
              <a:latin typeface="Lato"/>
              <a:ea typeface="Lato"/>
              <a:cs typeface="Lato"/>
              <a:sym typeface="Lato"/>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1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65" name="Google Shape;265;p1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66" name="Google Shape;266;p1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67" name="Google Shape;267;p18"/>
          <p:cNvSpPr txBox="1"/>
          <p:nvPr/>
        </p:nvSpPr>
        <p:spPr>
          <a:xfrm>
            <a:off x="3470250" y="46313"/>
            <a:ext cx="2848048"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dirty="0">
                <a:solidFill>
                  <a:srgbClr val="FFFFFF"/>
                </a:solidFill>
                <a:latin typeface="Lato"/>
                <a:ea typeface="Lato"/>
                <a:cs typeface="Lato"/>
                <a:sym typeface="Lato"/>
              </a:rPr>
              <a:t>SQL Server - Keys</a:t>
            </a:r>
            <a:endParaRPr sz="2000" b="1" i="0" u="none" strike="noStrike" cap="none" dirty="0">
              <a:solidFill>
                <a:srgbClr val="FFFFFF"/>
              </a:solidFill>
              <a:latin typeface="Lato"/>
              <a:ea typeface="Lato"/>
              <a:cs typeface="Lato"/>
              <a:sym typeface="Lato"/>
            </a:endParaRPr>
          </a:p>
        </p:txBody>
      </p:sp>
      <p:sp>
        <p:nvSpPr>
          <p:cNvPr id="268" name="Google Shape;268;p18"/>
          <p:cNvSpPr txBox="1"/>
          <p:nvPr/>
        </p:nvSpPr>
        <p:spPr>
          <a:xfrm>
            <a:off x="745941" y="760275"/>
            <a:ext cx="7761900" cy="1262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1" i="0" u="none" strike="noStrike" cap="none" dirty="0">
                <a:solidFill>
                  <a:srgbClr val="181717"/>
                </a:solidFill>
                <a:highlight>
                  <a:srgbClr val="FFFFFF"/>
                </a:highlight>
                <a:latin typeface="Lato"/>
                <a:ea typeface="Lato"/>
                <a:cs typeface="Lato"/>
                <a:sym typeface="Lato"/>
              </a:rPr>
              <a:t>Important Points:</a:t>
            </a:r>
            <a:endParaRPr sz="1400" b="1" i="0" u="none" strike="noStrike" cap="none" dirty="0">
              <a:solidFill>
                <a:srgbClr val="181717"/>
              </a:solidFill>
              <a:highlight>
                <a:srgbClr val="FFFFFF"/>
              </a:highlight>
              <a:latin typeface="Lato"/>
              <a:ea typeface="Lato"/>
              <a:cs typeface="Lato"/>
              <a:sym typeface="Lato"/>
            </a:endParaRPr>
          </a:p>
          <a:p>
            <a:pPr marL="457200" marR="0" lvl="0" indent="-317500" algn="just" rtl="0">
              <a:lnSpc>
                <a:spcPct val="100000"/>
              </a:lnSpc>
              <a:spcBef>
                <a:spcPts val="0"/>
              </a:spcBef>
              <a:spcAft>
                <a:spcPts val="0"/>
              </a:spcAft>
              <a:buClr>
                <a:srgbClr val="181717"/>
              </a:buClr>
              <a:buSzPts val="1400"/>
              <a:buFont typeface="Lato"/>
              <a:buChar char="●"/>
            </a:pPr>
            <a:r>
              <a:rPr lang="en" sz="1400" b="0" i="0" u="none" strike="noStrike" cap="none" dirty="0">
                <a:solidFill>
                  <a:srgbClr val="181717"/>
                </a:solidFill>
                <a:highlight>
                  <a:srgbClr val="FFFFFF"/>
                </a:highlight>
                <a:latin typeface="Lato"/>
                <a:ea typeface="Lato"/>
                <a:cs typeface="Lato"/>
                <a:sym typeface="Lato"/>
              </a:rPr>
              <a:t>When a Unique index is added to an existing column in a table, the database engine first checks for the uniqueness of the specified column data. If a duplicate entry is found, then the engine returns an error and does not add the constraint.</a:t>
            </a:r>
            <a:endParaRPr sz="1400" b="0" i="0" u="none" strike="noStrike" cap="none" dirty="0">
              <a:solidFill>
                <a:srgbClr val="181717"/>
              </a:solidFill>
              <a:highlight>
                <a:srgbClr val="FFFFFF"/>
              </a:highlight>
              <a:latin typeface="Lato"/>
              <a:ea typeface="Lato"/>
              <a:cs typeface="Lato"/>
              <a:sym typeface="Lato"/>
            </a:endParaRPr>
          </a:p>
          <a:p>
            <a:pPr marL="457200" marR="0" lvl="0" indent="-317500" algn="just" rtl="0">
              <a:lnSpc>
                <a:spcPct val="100000"/>
              </a:lnSpc>
              <a:spcBef>
                <a:spcPts val="0"/>
              </a:spcBef>
              <a:spcAft>
                <a:spcPts val="0"/>
              </a:spcAft>
              <a:buClr>
                <a:srgbClr val="181717"/>
              </a:buClr>
              <a:buSzPts val="1400"/>
              <a:buFont typeface="Lato"/>
              <a:buChar char="●"/>
            </a:pPr>
            <a:r>
              <a:rPr lang="en" sz="1400" b="0" i="0" u="none" strike="noStrike" cap="none" dirty="0">
                <a:solidFill>
                  <a:srgbClr val="181717"/>
                </a:solidFill>
                <a:highlight>
                  <a:srgbClr val="FFFFFF"/>
                </a:highlight>
                <a:latin typeface="Lato"/>
                <a:ea typeface="Lato"/>
                <a:cs typeface="Lato"/>
                <a:sym typeface="Lato"/>
              </a:rPr>
              <a:t>A Unique key in a table can be referenced by a Foreign Key from another table.</a:t>
            </a:r>
            <a:endParaRPr sz="1400" b="0" i="0" u="none" strike="noStrike" cap="none" dirty="0">
              <a:solidFill>
                <a:srgbClr val="181717"/>
              </a:solidFill>
              <a:highlight>
                <a:srgbClr val="FFFFFF"/>
              </a:highlight>
              <a:latin typeface="Lato"/>
              <a:ea typeface="Lato"/>
              <a:cs typeface="Lato"/>
              <a:sym typeface="Lato"/>
            </a:endParaRPr>
          </a:p>
        </p:txBody>
      </p:sp>
      <p:pic>
        <p:nvPicPr>
          <p:cNvPr id="269" name="Google Shape;269;p18"/>
          <p:cNvPicPr preferRelativeResize="0"/>
          <p:nvPr/>
        </p:nvPicPr>
        <p:blipFill rotWithShape="1">
          <a:blip r:embed="rId5">
            <a:alphaModFix/>
          </a:blip>
          <a:srcRect/>
          <a:stretch/>
        </p:blipFill>
        <p:spPr>
          <a:xfrm>
            <a:off x="636159" y="864635"/>
            <a:ext cx="61722" cy="92349"/>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Achieved</a:t>
            </a:r>
            <a:endParaRPr sz="2000" b="1" i="0" u="none" strike="noStrike" cap="none">
              <a:solidFill>
                <a:srgbClr val="FFFFFF"/>
              </a:solidFill>
              <a:latin typeface="Lato"/>
              <a:ea typeface="Lato"/>
              <a:cs typeface="Lato"/>
              <a:sym typeface="Lato"/>
            </a:endParaRPr>
          </a:p>
        </p:txBody>
      </p:sp>
      <p:pic>
        <p:nvPicPr>
          <p:cNvPr id="71" name="Google Shape;71;p4"/>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2" name="Google Shape;72;p4"/>
          <p:cNvSpPr txBox="1"/>
          <p:nvPr/>
        </p:nvSpPr>
        <p:spPr>
          <a:xfrm>
            <a:off x="3683999" y="46325"/>
            <a:ext cx="1751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In this course</a:t>
            </a:r>
            <a:endParaRPr sz="2000" b="1" i="0" u="none" strike="noStrike" cap="none">
              <a:solidFill>
                <a:srgbClr val="FFFFFF"/>
              </a:solidFill>
              <a:latin typeface="Lato"/>
              <a:ea typeface="Lato"/>
              <a:cs typeface="Lato"/>
              <a:sym typeface="Lato"/>
            </a:endParaRPr>
          </a:p>
        </p:txBody>
      </p:sp>
      <p:sp>
        <p:nvSpPr>
          <p:cNvPr id="73" name="Google Shape;73;p4"/>
          <p:cNvSpPr txBox="1"/>
          <p:nvPr/>
        </p:nvSpPr>
        <p:spPr>
          <a:xfrm>
            <a:off x="305950" y="734057"/>
            <a:ext cx="6819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222222"/>
                </a:solidFill>
                <a:latin typeface="Lato"/>
                <a:ea typeface="Lato"/>
                <a:cs typeface="Lato"/>
                <a:sym typeface="Lato"/>
              </a:rPr>
              <a:t>What we are learning in this session</a:t>
            </a:r>
            <a:endParaRPr sz="1600" b="1" i="0" u="none" strike="noStrike" cap="none">
              <a:solidFill>
                <a:srgbClr val="222222"/>
              </a:solidFill>
              <a:latin typeface="Lato"/>
              <a:ea typeface="Lato"/>
              <a:cs typeface="Lato"/>
              <a:sym typeface="Lato"/>
            </a:endParaRPr>
          </a:p>
        </p:txBody>
      </p:sp>
      <p:pic>
        <p:nvPicPr>
          <p:cNvPr id="74" name="Google Shape;74;p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5" name="Google Shape;75;p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76" name="Google Shape;76;p4"/>
          <p:cNvSpPr txBox="1"/>
          <p:nvPr/>
        </p:nvSpPr>
        <p:spPr>
          <a:xfrm>
            <a:off x="510275" y="11008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Views</a:t>
            </a:r>
            <a:endParaRPr sz="1400" b="0" i="0" u="none" strike="noStrike" cap="none">
              <a:solidFill>
                <a:srgbClr val="222222"/>
              </a:solidFill>
              <a:latin typeface="Lato"/>
              <a:ea typeface="Lato"/>
              <a:cs typeface="Lato"/>
              <a:sym typeface="Lato"/>
            </a:endParaRPr>
          </a:p>
        </p:txBody>
      </p:sp>
      <p:pic>
        <p:nvPicPr>
          <p:cNvPr id="77" name="Google Shape;77;p4"/>
          <p:cNvPicPr preferRelativeResize="0"/>
          <p:nvPr/>
        </p:nvPicPr>
        <p:blipFill rotWithShape="1">
          <a:blip r:embed="rId5">
            <a:alphaModFix/>
          </a:blip>
          <a:srcRect/>
          <a:stretch/>
        </p:blipFill>
        <p:spPr>
          <a:xfrm>
            <a:off x="400492" y="1224837"/>
            <a:ext cx="61722" cy="109728"/>
          </a:xfrm>
          <a:prstGeom prst="rect">
            <a:avLst/>
          </a:prstGeom>
          <a:noFill/>
          <a:ln>
            <a:noFill/>
          </a:ln>
        </p:spPr>
      </p:pic>
      <p:sp>
        <p:nvSpPr>
          <p:cNvPr id="78" name="Google Shape;78;p4"/>
          <p:cNvSpPr txBox="1"/>
          <p:nvPr/>
        </p:nvSpPr>
        <p:spPr>
          <a:xfrm>
            <a:off x="510275" y="14056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Functions</a:t>
            </a:r>
            <a:endParaRPr sz="1400" b="0" i="0" u="none" strike="noStrike" cap="none">
              <a:solidFill>
                <a:srgbClr val="222222"/>
              </a:solidFill>
              <a:latin typeface="Lato"/>
              <a:ea typeface="Lato"/>
              <a:cs typeface="Lato"/>
              <a:sym typeface="Lato"/>
            </a:endParaRPr>
          </a:p>
        </p:txBody>
      </p:sp>
      <p:pic>
        <p:nvPicPr>
          <p:cNvPr id="79" name="Google Shape;79;p4"/>
          <p:cNvPicPr preferRelativeResize="0"/>
          <p:nvPr/>
        </p:nvPicPr>
        <p:blipFill rotWithShape="1">
          <a:blip r:embed="rId5">
            <a:alphaModFix/>
          </a:blip>
          <a:srcRect/>
          <a:stretch/>
        </p:blipFill>
        <p:spPr>
          <a:xfrm>
            <a:off x="400492" y="1529637"/>
            <a:ext cx="61722" cy="109728"/>
          </a:xfrm>
          <a:prstGeom prst="rect">
            <a:avLst/>
          </a:prstGeom>
          <a:noFill/>
          <a:ln>
            <a:noFill/>
          </a:ln>
        </p:spPr>
      </p:pic>
      <p:sp>
        <p:nvSpPr>
          <p:cNvPr id="80" name="Google Shape;80;p4"/>
          <p:cNvSpPr txBox="1"/>
          <p:nvPr/>
        </p:nvSpPr>
        <p:spPr>
          <a:xfrm>
            <a:off x="510275" y="17104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Stored Procedures</a:t>
            </a:r>
            <a:endParaRPr sz="1400" b="0" i="0" u="none" strike="noStrike" cap="none">
              <a:solidFill>
                <a:srgbClr val="222222"/>
              </a:solidFill>
              <a:latin typeface="Lato"/>
              <a:ea typeface="Lato"/>
              <a:cs typeface="Lato"/>
              <a:sym typeface="Lato"/>
            </a:endParaRPr>
          </a:p>
        </p:txBody>
      </p:sp>
      <p:pic>
        <p:nvPicPr>
          <p:cNvPr id="81" name="Google Shape;81;p4"/>
          <p:cNvPicPr preferRelativeResize="0"/>
          <p:nvPr/>
        </p:nvPicPr>
        <p:blipFill rotWithShape="1">
          <a:blip r:embed="rId5">
            <a:alphaModFix/>
          </a:blip>
          <a:srcRect/>
          <a:stretch/>
        </p:blipFill>
        <p:spPr>
          <a:xfrm>
            <a:off x="400492" y="1834437"/>
            <a:ext cx="61722" cy="109728"/>
          </a:xfrm>
          <a:prstGeom prst="rect">
            <a:avLst/>
          </a:prstGeom>
          <a:noFill/>
          <a:ln>
            <a:noFill/>
          </a:ln>
        </p:spPr>
      </p:pic>
      <p:sp>
        <p:nvSpPr>
          <p:cNvPr id="82" name="Google Shape;82;p4"/>
          <p:cNvSpPr txBox="1"/>
          <p:nvPr/>
        </p:nvSpPr>
        <p:spPr>
          <a:xfrm>
            <a:off x="510275" y="20152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Indexes</a:t>
            </a:r>
            <a:endParaRPr sz="1400" b="0" i="0" u="none" strike="noStrike" cap="none">
              <a:solidFill>
                <a:srgbClr val="222222"/>
              </a:solidFill>
              <a:latin typeface="Lato"/>
              <a:ea typeface="Lato"/>
              <a:cs typeface="Lato"/>
              <a:sym typeface="Lato"/>
            </a:endParaRPr>
          </a:p>
        </p:txBody>
      </p:sp>
      <p:pic>
        <p:nvPicPr>
          <p:cNvPr id="83" name="Google Shape;83;p4"/>
          <p:cNvPicPr preferRelativeResize="0"/>
          <p:nvPr/>
        </p:nvPicPr>
        <p:blipFill rotWithShape="1">
          <a:blip r:embed="rId5">
            <a:alphaModFix/>
          </a:blip>
          <a:srcRect/>
          <a:stretch/>
        </p:blipFill>
        <p:spPr>
          <a:xfrm>
            <a:off x="400492" y="2139237"/>
            <a:ext cx="61722" cy="109728"/>
          </a:xfrm>
          <a:prstGeom prst="rect">
            <a:avLst/>
          </a:prstGeom>
          <a:noFill/>
          <a:ln>
            <a:noFill/>
          </a:ln>
        </p:spPr>
      </p:pic>
      <p:sp>
        <p:nvSpPr>
          <p:cNvPr id="84" name="Google Shape;84;p4"/>
          <p:cNvSpPr txBox="1"/>
          <p:nvPr/>
        </p:nvSpPr>
        <p:spPr>
          <a:xfrm>
            <a:off x="510275" y="23200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Joins</a:t>
            </a:r>
            <a:endParaRPr sz="1400" b="0" i="0" u="none" strike="noStrike" cap="none">
              <a:solidFill>
                <a:srgbClr val="222222"/>
              </a:solidFill>
              <a:latin typeface="Lato"/>
              <a:ea typeface="Lato"/>
              <a:cs typeface="Lato"/>
              <a:sym typeface="Lato"/>
            </a:endParaRPr>
          </a:p>
        </p:txBody>
      </p:sp>
      <p:pic>
        <p:nvPicPr>
          <p:cNvPr id="85" name="Google Shape;85;p4"/>
          <p:cNvPicPr preferRelativeResize="0"/>
          <p:nvPr/>
        </p:nvPicPr>
        <p:blipFill rotWithShape="1">
          <a:blip r:embed="rId5">
            <a:alphaModFix/>
          </a:blip>
          <a:srcRect/>
          <a:stretch/>
        </p:blipFill>
        <p:spPr>
          <a:xfrm>
            <a:off x="400492" y="2444037"/>
            <a:ext cx="61722" cy="109728"/>
          </a:xfrm>
          <a:prstGeom prst="rect">
            <a:avLst/>
          </a:prstGeom>
          <a:noFill/>
          <a:ln>
            <a:noFill/>
          </a:ln>
        </p:spPr>
      </p:pic>
      <p:sp>
        <p:nvSpPr>
          <p:cNvPr id="86" name="Google Shape;86;p4"/>
          <p:cNvSpPr txBox="1"/>
          <p:nvPr/>
        </p:nvSpPr>
        <p:spPr>
          <a:xfrm>
            <a:off x="510275" y="26248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Create Database</a:t>
            </a:r>
            <a:endParaRPr sz="1400" b="0" i="0" u="none" strike="noStrike" cap="none">
              <a:solidFill>
                <a:srgbClr val="222222"/>
              </a:solidFill>
              <a:latin typeface="Lato"/>
              <a:ea typeface="Lato"/>
              <a:cs typeface="Lato"/>
              <a:sym typeface="Lato"/>
            </a:endParaRPr>
          </a:p>
        </p:txBody>
      </p:sp>
      <p:pic>
        <p:nvPicPr>
          <p:cNvPr id="87" name="Google Shape;87;p4"/>
          <p:cNvPicPr preferRelativeResize="0"/>
          <p:nvPr/>
        </p:nvPicPr>
        <p:blipFill rotWithShape="1">
          <a:blip r:embed="rId5">
            <a:alphaModFix/>
          </a:blip>
          <a:srcRect/>
          <a:stretch/>
        </p:blipFill>
        <p:spPr>
          <a:xfrm>
            <a:off x="400492" y="2748837"/>
            <a:ext cx="61722" cy="109728"/>
          </a:xfrm>
          <a:prstGeom prst="rect">
            <a:avLst/>
          </a:prstGeom>
          <a:noFill/>
          <a:ln>
            <a:noFill/>
          </a:ln>
        </p:spPr>
      </p:pic>
      <p:sp>
        <p:nvSpPr>
          <p:cNvPr id="88" name="Google Shape;88;p4"/>
          <p:cNvSpPr txBox="1"/>
          <p:nvPr/>
        </p:nvSpPr>
        <p:spPr>
          <a:xfrm>
            <a:off x="510275" y="29296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400" b="0" i="0" u="none" strike="noStrike" cap="none">
                <a:solidFill>
                  <a:srgbClr val="000000"/>
                </a:solidFill>
                <a:latin typeface="Lato"/>
                <a:ea typeface="Lato"/>
                <a:cs typeface="Lato"/>
                <a:sym typeface="Lato"/>
              </a:rPr>
              <a:t>Create Table</a:t>
            </a:r>
            <a:endParaRPr sz="1400" b="0" i="0" u="none" strike="noStrike" cap="none">
              <a:solidFill>
                <a:srgbClr val="222222"/>
              </a:solidFill>
              <a:latin typeface="Lato"/>
              <a:ea typeface="Lato"/>
              <a:cs typeface="Lato"/>
              <a:sym typeface="Lato"/>
            </a:endParaRPr>
          </a:p>
        </p:txBody>
      </p:sp>
      <p:pic>
        <p:nvPicPr>
          <p:cNvPr id="89" name="Google Shape;89;p4"/>
          <p:cNvPicPr preferRelativeResize="0"/>
          <p:nvPr/>
        </p:nvPicPr>
        <p:blipFill rotWithShape="1">
          <a:blip r:embed="rId5">
            <a:alphaModFix/>
          </a:blip>
          <a:srcRect/>
          <a:stretch/>
        </p:blipFill>
        <p:spPr>
          <a:xfrm>
            <a:off x="400492" y="3053637"/>
            <a:ext cx="61722" cy="109728"/>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00" name="Google Shape;100;p1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01" name="Google Shape;101;p1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02" name="Google Shape;102;p19"/>
          <p:cNvSpPr txBox="1"/>
          <p:nvPr/>
        </p:nvSpPr>
        <p:spPr>
          <a:xfrm>
            <a:off x="3334650" y="46313"/>
            <a:ext cx="2474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Views</a:t>
            </a:r>
            <a:endParaRPr sz="2000" b="1" i="0" u="none" strike="noStrike" cap="none">
              <a:solidFill>
                <a:srgbClr val="FFFFFF"/>
              </a:solidFill>
              <a:latin typeface="Lato"/>
              <a:ea typeface="Lato"/>
              <a:cs typeface="Lato"/>
              <a:sym typeface="Lato"/>
            </a:endParaRPr>
          </a:p>
        </p:txBody>
      </p:sp>
      <p:sp>
        <p:nvSpPr>
          <p:cNvPr id="103" name="Google Shape;103;p19"/>
          <p:cNvSpPr txBox="1"/>
          <p:nvPr/>
        </p:nvSpPr>
        <p:spPr>
          <a:xfrm>
            <a:off x="745942" y="6078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In SQL Server, a view is a virtual table whose values are defined by a query. In another word, a view is a name given to a query that can be used as a table. The rows and columns of a view come from tables referenced by a query.</a:t>
            </a:r>
            <a:endParaRPr sz="1400" b="0" i="0" u="none" strike="noStrike" cap="none">
              <a:solidFill>
                <a:srgbClr val="181717"/>
              </a:solidFill>
              <a:highlight>
                <a:srgbClr val="FFFFFF"/>
              </a:highlight>
              <a:latin typeface="Lato"/>
              <a:ea typeface="Lato"/>
              <a:cs typeface="Lato"/>
              <a:sym typeface="Lato"/>
            </a:endParaRPr>
          </a:p>
        </p:txBody>
      </p:sp>
      <p:pic>
        <p:nvPicPr>
          <p:cNvPr id="104" name="Google Shape;104;p19"/>
          <p:cNvPicPr preferRelativeResize="0"/>
          <p:nvPr/>
        </p:nvPicPr>
        <p:blipFill rotWithShape="1">
          <a:blip r:embed="rId5">
            <a:alphaModFix/>
          </a:blip>
          <a:srcRect/>
          <a:stretch/>
        </p:blipFill>
        <p:spPr>
          <a:xfrm>
            <a:off x="636158" y="731875"/>
            <a:ext cx="61722" cy="109728"/>
          </a:xfrm>
          <a:prstGeom prst="rect">
            <a:avLst/>
          </a:prstGeom>
          <a:noFill/>
          <a:ln>
            <a:noFill/>
          </a:ln>
        </p:spPr>
      </p:pic>
      <p:sp>
        <p:nvSpPr>
          <p:cNvPr id="105" name="Google Shape;105;p19"/>
          <p:cNvSpPr txBox="1"/>
          <p:nvPr/>
        </p:nvSpPr>
        <p:spPr>
          <a:xfrm>
            <a:off x="745942" y="1404089"/>
            <a:ext cx="7761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Types of Views:</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1). User-defined Views</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2). Indexed Views</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3). Partitioned Views</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chemeClr val="lt1"/>
                </a:highlight>
                <a:latin typeface="Lato"/>
                <a:ea typeface="Lato"/>
                <a:cs typeface="Lato"/>
                <a:sym typeface="Lato"/>
              </a:rPr>
              <a:t>4). System Views</a:t>
            </a:r>
            <a:endParaRPr sz="1400" b="0" i="0" u="none" strike="noStrike" cap="none">
              <a:solidFill>
                <a:srgbClr val="181717"/>
              </a:solidFill>
              <a:highlight>
                <a:srgbClr val="FFFFFF"/>
              </a:highlight>
              <a:latin typeface="Lato"/>
              <a:ea typeface="Lato"/>
              <a:cs typeface="Lato"/>
              <a:sym typeface="Lato"/>
            </a:endParaRPr>
          </a:p>
        </p:txBody>
      </p:sp>
      <p:pic>
        <p:nvPicPr>
          <p:cNvPr id="106" name="Google Shape;106;p19"/>
          <p:cNvPicPr preferRelativeResize="0"/>
          <p:nvPr/>
        </p:nvPicPr>
        <p:blipFill rotWithShape="1">
          <a:blip r:embed="rId5">
            <a:alphaModFix/>
          </a:blip>
          <a:srcRect/>
          <a:stretch/>
        </p:blipFill>
        <p:spPr>
          <a:xfrm>
            <a:off x="636158" y="1528088"/>
            <a:ext cx="61722" cy="109728"/>
          </a:xfrm>
          <a:prstGeom prst="rect">
            <a:avLst/>
          </a:prstGeom>
          <a:noFill/>
          <a:ln>
            <a:noFill/>
          </a:ln>
        </p:spPr>
      </p:pic>
      <p:sp>
        <p:nvSpPr>
          <p:cNvPr id="107" name="Google Shape;107;p19"/>
          <p:cNvSpPr txBox="1"/>
          <p:nvPr/>
        </p:nvSpPr>
        <p:spPr>
          <a:xfrm>
            <a:off x="745942" y="2741475"/>
            <a:ext cx="7761900" cy="2134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Important Points:</a:t>
            </a:r>
            <a:endParaRPr sz="1400" b="1"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Unless indexed, a view does not exist as a stored set of data values in a database.</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Views can be created by using tables or other views in the current or other databases.</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The SQL statements comprising the view are stored in the database and not the resulting data.</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The data from a view is generated dynamically when a view is referenced.</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Views are used as a security mechanism to mask the underlying base tables and permit user access only to the view.</a:t>
            </a:r>
            <a:endParaRPr sz="1400" b="0" i="0" u="none" strike="noStrike" cap="none">
              <a:solidFill>
                <a:srgbClr val="181717"/>
              </a:solidFill>
              <a:highlight>
                <a:srgbClr val="FFFFFF"/>
              </a:highlight>
              <a:latin typeface="Lato"/>
              <a:ea typeface="Lato"/>
              <a:cs typeface="Lato"/>
              <a:sym typeface="Lato"/>
            </a:endParaRPr>
          </a:p>
        </p:txBody>
      </p:sp>
      <p:pic>
        <p:nvPicPr>
          <p:cNvPr id="108" name="Google Shape;108;p19"/>
          <p:cNvPicPr preferRelativeResize="0"/>
          <p:nvPr/>
        </p:nvPicPr>
        <p:blipFill rotWithShape="1">
          <a:blip r:embed="rId5">
            <a:alphaModFix/>
          </a:blip>
          <a:srcRect/>
          <a:stretch/>
        </p:blipFill>
        <p:spPr>
          <a:xfrm>
            <a:off x="636158" y="2865475"/>
            <a:ext cx="61722" cy="109728"/>
          </a:xfrm>
          <a:prstGeom prst="rect">
            <a:avLst/>
          </a:prstGeom>
          <a:noFill/>
          <a:ln>
            <a:noFill/>
          </a:ln>
        </p:spPr>
      </p:pic>
      <p:sp>
        <p:nvSpPr>
          <p:cNvPr id="109" name="Google Shape;109;p19"/>
          <p:cNvSpPr txBox="1"/>
          <p:nvPr/>
        </p:nvSpPr>
        <p:spPr>
          <a:xfrm>
            <a:off x="3336741" y="1400450"/>
            <a:ext cx="5171100" cy="1639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a:t>
            </a:r>
            <a:endParaRPr sz="1400" b="1" i="0" u="none" strike="noStrike" cap="none">
              <a:solidFill>
                <a:srgbClr val="181717"/>
              </a:solidFill>
              <a:highlight>
                <a:srgbClr val="FFFFFF"/>
              </a:highlight>
              <a:latin typeface="Lato"/>
              <a:ea typeface="Lato"/>
              <a:cs typeface="Lato"/>
              <a:sym typeface="Lato"/>
            </a:endParaRPr>
          </a:p>
          <a:p>
            <a:pPr marL="0" marR="10160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VIEW</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schema_name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view_name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chemeClr val="dk1"/>
                </a:solidFill>
                <a:highlight>
                  <a:srgbClr val="FFFFFF"/>
                </a:highlight>
                <a:latin typeface="Lato"/>
                <a:ea typeface="Lato"/>
                <a:cs typeface="Lato"/>
                <a:sym typeface="Lato"/>
              </a:rPr>
              <a:t> </a:t>
            </a:r>
            <a:endParaRPr sz="1400" b="0" i="0" u="none" strike="noStrike" cap="none">
              <a:solidFill>
                <a:schemeClr val="dk1"/>
              </a:solidFill>
              <a:highlight>
                <a:srgbClr val="FFFFFF"/>
              </a:highlight>
              <a:latin typeface="Lato"/>
              <a:ea typeface="Lato"/>
              <a:cs typeface="Lato"/>
              <a:sym typeface="Lato"/>
            </a:endParaRPr>
          </a:p>
          <a:p>
            <a:pPr marL="0" marR="10160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AS</a:t>
            </a:r>
            <a:endParaRPr sz="1400" b="0" i="0" u="none" strike="noStrike" cap="none">
              <a:solidFill>
                <a:schemeClr val="dk1"/>
              </a:solidFill>
              <a:highlight>
                <a:srgbClr val="FFFFFF"/>
              </a:highlight>
              <a:latin typeface="Lato"/>
              <a:ea typeface="Lato"/>
              <a:cs typeface="Lato"/>
              <a:sym typeface="Lato"/>
            </a:endParaRPr>
          </a:p>
          <a:p>
            <a:pPr marL="0" marR="10160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SELECT</a:t>
            </a:r>
            <a:r>
              <a:rPr lang="en" sz="1400" b="0" i="0" u="none" strike="noStrike" cap="none">
                <a:solidFill>
                  <a:schemeClr val="dk1"/>
                </a:solidFill>
                <a:highlight>
                  <a:srgbClr val="FFFFFF"/>
                </a:highlight>
                <a:latin typeface="Lato"/>
                <a:ea typeface="Lato"/>
                <a:cs typeface="Lato"/>
                <a:sym typeface="Lato"/>
              </a:rPr>
              <a:t> column1</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column2</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0" marR="10160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FROM</a:t>
            </a:r>
            <a:r>
              <a:rPr lang="en" sz="1400" b="0" i="0" u="none" strike="noStrike" cap="none">
                <a:solidFill>
                  <a:schemeClr val="dk1"/>
                </a:solidFill>
                <a:highlight>
                  <a:srgbClr val="FFFFFF"/>
                </a:highlight>
                <a:latin typeface="Lato"/>
                <a:ea typeface="Lato"/>
                <a:cs typeface="Lato"/>
                <a:sym typeface="Lato"/>
              </a:rPr>
              <a:t> table1</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table2</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0" marR="101600" lvl="0" indent="0" algn="l" rtl="0">
              <a:lnSpc>
                <a:spcPct val="115000"/>
              </a:lnSpc>
              <a:spcBef>
                <a:spcPts val="0"/>
              </a:spcBef>
              <a:spcAft>
                <a:spcPts val="0"/>
              </a:spcAft>
              <a:buClr>
                <a:schemeClr val="dk1"/>
              </a:buClr>
              <a:buSzPts val="1100"/>
              <a:buFont typeface="Arial"/>
              <a:buNone/>
            </a:pP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WHERE</a:t>
            </a: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110" name="Google Shape;110;p19"/>
          <p:cNvPicPr preferRelativeResize="0"/>
          <p:nvPr/>
        </p:nvPicPr>
        <p:blipFill rotWithShape="1">
          <a:blip r:embed="rId5">
            <a:alphaModFix/>
          </a:blip>
          <a:srcRect/>
          <a:stretch/>
        </p:blipFill>
        <p:spPr>
          <a:xfrm>
            <a:off x="3226959" y="1524456"/>
            <a:ext cx="61722" cy="109728"/>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16" name="Google Shape;116;p2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17" name="Google Shape;117;p2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18" name="Google Shape;118;p20"/>
          <p:cNvSpPr txBox="1"/>
          <p:nvPr/>
        </p:nvSpPr>
        <p:spPr>
          <a:xfrm>
            <a:off x="3154350" y="46313"/>
            <a:ext cx="2835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Functions</a:t>
            </a:r>
            <a:endParaRPr sz="2000" b="1" i="0" u="none" strike="noStrike" cap="none">
              <a:solidFill>
                <a:srgbClr val="FFFFFF"/>
              </a:solidFill>
              <a:latin typeface="Lato"/>
              <a:ea typeface="Lato"/>
              <a:cs typeface="Lato"/>
              <a:sym typeface="Lato"/>
            </a:endParaRPr>
          </a:p>
        </p:txBody>
      </p:sp>
      <p:sp>
        <p:nvSpPr>
          <p:cNvPr id="119" name="Google Shape;119;p20"/>
          <p:cNvSpPr txBox="1"/>
          <p:nvPr/>
        </p:nvSpPr>
        <p:spPr>
          <a:xfrm>
            <a:off x="692950" y="8364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Functions in SQL Server are similar to functions in other programming languages. Functions in SQL Server contains SQL statements that perform some specific tasks. Functions can have input parameters and must return a single value or multiple records.</a:t>
            </a:r>
            <a:endParaRPr sz="1400" b="0" i="0" u="none" strike="noStrike" cap="none">
              <a:solidFill>
                <a:srgbClr val="181717"/>
              </a:solidFill>
              <a:highlight>
                <a:srgbClr val="FFFFFF"/>
              </a:highlight>
              <a:latin typeface="Lato"/>
              <a:ea typeface="Lato"/>
              <a:cs typeface="Lato"/>
              <a:sym typeface="Lato"/>
            </a:endParaRPr>
          </a:p>
        </p:txBody>
      </p:sp>
      <p:pic>
        <p:nvPicPr>
          <p:cNvPr id="120" name="Google Shape;120;p20"/>
          <p:cNvPicPr preferRelativeResize="0"/>
          <p:nvPr/>
        </p:nvPicPr>
        <p:blipFill rotWithShape="1">
          <a:blip r:embed="rId5">
            <a:alphaModFix/>
          </a:blip>
          <a:srcRect/>
          <a:stretch/>
        </p:blipFill>
        <p:spPr>
          <a:xfrm>
            <a:off x="583167" y="960475"/>
            <a:ext cx="61722" cy="109728"/>
          </a:xfrm>
          <a:prstGeom prst="rect">
            <a:avLst/>
          </a:prstGeom>
          <a:noFill/>
          <a:ln>
            <a:noFill/>
          </a:ln>
        </p:spPr>
      </p:pic>
      <p:sp>
        <p:nvSpPr>
          <p:cNvPr id="121" name="Google Shape;121;p20"/>
          <p:cNvSpPr txBox="1"/>
          <p:nvPr/>
        </p:nvSpPr>
        <p:spPr>
          <a:xfrm>
            <a:off x="692950" y="1632689"/>
            <a:ext cx="7761900" cy="581700"/>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If your scripts use the same set of SQL statements repeatedly then this can be converted into a function in the database.</a:t>
            </a:r>
            <a:endParaRPr sz="1400" b="0" i="0" u="none" strike="noStrike" cap="none">
              <a:solidFill>
                <a:srgbClr val="181717"/>
              </a:solidFill>
              <a:highlight>
                <a:srgbClr val="FFFFFF"/>
              </a:highlight>
              <a:latin typeface="Lato"/>
              <a:ea typeface="Lato"/>
              <a:cs typeface="Lato"/>
              <a:sym typeface="Lato"/>
            </a:endParaRPr>
          </a:p>
        </p:txBody>
      </p:sp>
      <p:pic>
        <p:nvPicPr>
          <p:cNvPr id="122" name="Google Shape;122;p20"/>
          <p:cNvPicPr preferRelativeResize="0"/>
          <p:nvPr/>
        </p:nvPicPr>
        <p:blipFill rotWithShape="1">
          <a:blip r:embed="rId5">
            <a:alphaModFix/>
          </a:blip>
          <a:srcRect/>
          <a:stretch/>
        </p:blipFill>
        <p:spPr>
          <a:xfrm>
            <a:off x="583167" y="1756688"/>
            <a:ext cx="61722" cy="109728"/>
          </a:xfrm>
          <a:prstGeom prst="rect">
            <a:avLst/>
          </a:prstGeom>
          <a:noFill/>
          <a:ln>
            <a:noFill/>
          </a:ln>
        </p:spPr>
      </p:pic>
      <p:sp>
        <p:nvSpPr>
          <p:cNvPr id="123" name="Google Shape;123;p20"/>
          <p:cNvSpPr txBox="1"/>
          <p:nvPr/>
        </p:nvSpPr>
        <p:spPr>
          <a:xfrm>
            <a:off x="692950" y="2208075"/>
            <a:ext cx="7761900" cy="2382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Types of Functions:</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SQL Server Functions are of two types.</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1). System Functions: </a:t>
            </a:r>
            <a:r>
              <a:rPr lang="en" sz="1400" b="0" i="0" u="none" strike="noStrike" cap="none">
                <a:solidFill>
                  <a:srgbClr val="181717"/>
                </a:solidFill>
                <a:highlight>
                  <a:srgbClr val="FFFFFF"/>
                </a:highlight>
                <a:latin typeface="Lato"/>
                <a:ea typeface="Lato"/>
                <a:cs typeface="Lato"/>
                <a:sym typeface="Lato"/>
              </a:rPr>
              <a:t>These are built-in functions available in every database. Some common types are Aggregate functions, Analytic functions, Ranking functions, Rowset functions, Scalar functions.</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2). User Defined Functions (UDFs): </a:t>
            </a:r>
            <a:r>
              <a:rPr lang="en" sz="1400" b="0" i="0" u="none" strike="noStrike" cap="none">
                <a:solidFill>
                  <a:srgbClr val="181717"/>
                </a:solidFill>
                <a:highlight>
                  <a:srgbClr val="FFFFFF"/>
                </a:highlight>
                <a:latin typeface="Lato"/>
                <a:ea typeface="Lato"/>
                <a:cs typeface="Lato"/>
                <a:sym typeface="Lato"/>
              </a:rPr>
              <a:t>Functions created by the database user are called User-defined functions. UDFs are of two types:</a:t>
            </a:r>
            <a:endParaRPr sz="1400" b="0" i="0" u="none" strike="noStrike" cap="none">
              <a:solidFill>
                <a:srgbClr val="181717"/>
              </a:solidFill>
              <a:highlight>
                <a:srgbClr val="FFFFFF"/>
              </a:highlight>
              <a:latin typeface="Lato"/>
              <a:ea typeface="Lato"/>
              <a:cs typeface="Lato"/>
              <a:sym typeface="Lato"/>
            </a:endParaRPr>
          </a:p>
        </p:txBody>
      </p:sp>
      <p:pic>
        <p:nvPicPr>
          <p:cNvPr id="124" name="Google Shape;124;p20"/>
          <p:cNvPicPr preferRelativeResize="0"/>
          <p:nvPr/>
        </p:nvPicPr>
        <p:blipFill rotWithShape="1">
          <a:blip r:embed="rId5">
            <a:alphaModFix/>
          </a:blip>
          <a:srcRect/>
          <a:stretch/>
        </p:blipFill>
        <p:spPr>
          <a:xfrm>
            <a:off x="583167" y="2332075"/>
            <a:ext cx="61722" cy="109728"/>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30" name="Google Shape;130;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1" name="Google Shape;131;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32" name="Google Shape;132;p21"/>
          <p:cNvSpPr txBox="1"/>
          <p:nvPr/>
        </p:nvSpPr>
        <p:spPr>
          <a:xfrm>
            <a:off x="3154350" y="46313"/>
            <a:ext cx="2835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Functions</a:t>
            </a:r>
            <a:endParaRPr sz="2000" b="1" i="0" u="none" strike="noStrike" cap="none">
              <a:solidFill>
                <a:srgbClr val="FFFFFF"/>
              </a:solidFill>
              <a:latin typeface="Lato"/>
              <a:ea typeface="Lato"/>
              <a:cs typeface="Lato"/>
              <a:sym typeface="Lato"/>
            </a:endParaRPr>
          </a:p>
        </p:txBody>
      </p:sp>
      <p:sp>
        <p:nvSpPr>
          <p:cNvPr id="133" name="Google Shape;133;p21"/>
          <p:cNvSpPr txBox="1"/>
          <p:nvPr/>
        </p:nvSpPr>
        <p:spPr>
          <a:xfrm>
            <a:off x="692950" y="1674675"/>
            <a:ext cx="7761900" cy="2134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Advantage of User-defined Functions:</a:t>
            </a:r>
            <a:endParaRPr sz="1400" b="1"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Faster Execution: Similar to stored procedures, UDFs reduce the compilation cost of T-SQL by caching the plans and reusing them for future executions.</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Reduce Network Traffic: The SQL statements of a function execute in the database, and the application calling it needs to make a function call to the database.</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Supports Modular Programming: UDFs can be modified independently of the application source code. You can create UDFs once and store them in the database, and they can be called any number of times.</a:t>
            </a:r>
            <a:endParaRPr sz="1400" b="0" i="0" u="none" strike="noStrike" cap="none">
              <a:solidFill>
                <a:srgbClr val="181717"/>
              </a:solidFill>
              <a:highlight>
                <a:srgbClr val="FFFFFF"/>
              </a:highlight>
              <a:latin typeface="Lato"/>
              <a:ea typeface="Lato"/>
              <a:cs typeface="Lato"/>
              <a:sym typeface="Lato"/>
            </a:endParaRPr>
          </a:p>
        </p:txBody>
      </p:sp>
      <p:pic>
        <p:nvPicPr>
          <p:cNvPr id="134" name="Google Shape;134;p21"/>
          <p:cNvPicPr preferRelativeResize="0"/>
          <p:nvPr/>
        </p:nvPicPr>
        <p:blipFill rotWithShape="1">
          <a:blip r:embed="rId5">
            <a:alphaModFix/>
          </a:blip>
          <a:srcRect/>
          <a:stretch/>
        </p:blipFill>
        <p:spPr>
          <a:xfrm>
            <a:off x="583167" y="1798675"/>
            <a:ext cx="61722" cy="109728"/>
          </a:xfrm>
          <a:prstGeom prst="rect">
            <a:avLst/>
          </a:prstGeom>
          <a:noFill/>
          <a:ln>
            <a:noFill/>
          </a:ln>
        </p:spPr>
      </p:pic>
      <p:sp>
        <p:nvSpPr>
          <p:cNvPr id="135" name="Google Shape;135;p21"/>
          <p:cNvSpPr txBox="1"/>
          <p:nvPr/>
        </p:nvSpPr>
        <p:spPr>
          <a:xfrm>
            <a:off x="692950" y="852750"/>
            <a:ext cx="7761900" cy="895800"/>
          </a:xfrm>
          <a:prstGeom prst="rect">
            <a:avLst/>
          </a:prstGeom>
          <a:noFill/>
          <a:ln>
            <a:noFill/>
          </a:ln>
        </p:spPr>
        <p:txBody>
          <a:bodyPr spcFirstLastPara="1" wrap="square" lIns="91425" tIns="91425" rIns="91425" bIns="91425" anchor="t" anchorCtr="0">
            <a:spAutoFit/>
          </a:bodyPr>
          <a:lstStyle/>
          <a:p>
            <a:pPr marL="0" marR="0" lvl="0" indent="457200" algn="just" rtl="0">
              <a:lnSpc>
                <a:spcPct val="115000"/>
              </a:lnSpc>
              <a:spcBef>
                <a:spcPts val="0"/>
              </a:spcBef>
              <a:spcAft>
                <a:spcPts val="0"/>
              </a:spcAft>
              <a:buClr>
                <a:srgbClr val="000000"/>
              </a:buClr>
              <a:buSzPts val="1400"/>
              <a:buFont typeface="Arial"/>
              <a:buNone/>
            </a:pPr>
            <a:r>
              <a:rPr lang="en" sz="1400" b="1" i="0" u="none" strike="noStrike" cap="none">
                <a:solidFill>
                  <a:srgbClr val="181717"/>
                </a:solidFill>
                <a:highlight>
                  <a:schemeClr val="lt1"/>
                </a:highlight>
                <a:latin typeface="Lato"/>
                <a:ea typeface="Lato"/>
                <a:cs typeface="Lato"/>
                <a:sym typeface="Lato"/>
              </a:rPr>
              <a:t>2.1). Scalar functions:</a:t>
            </a:r>
            <a:r>
              <a:rPr lang="en" sz="1400" b="0" i="0" u="none" strike="noStrike" cap="none">
                <a:solidFill>
                  <a:srgbClr val="181717"/>
                </a:solidFill>
                <a:highlight>
                  <a:schemeClr val="lt1"/>
                </a:highlight>
                <a:latin typeface="Lato"/>
                <a:ea typeface="Lato"/>
                <a:cs typeface="Lato"/>
                <a:sym typeface="Lato"/>
              </a:rPr>
              <a:t> The function that returns a single data value is called a scalar function.</a:t>
            </a:r>
            <a:endParaRPr sz="1400" b="0" i="0" u="none" strike="noStrike" cap="none">
              <a:solidFill>
                <a:srgbClr val="181717"/>
              </a:solidFill>
              <a:highlight>
                <a:schemeClr val="lt1"/>
              </a:highlight>
              <a:latin typeface="Lato"/>
              <a:ea typeface="Lato"/>
              <a:cs typeface="Lato"/>
              <a:sym typeface="Lato"/>
            </a:endParaRPr>
          </a:p>
          <a:p>
            <a:pPr marL="0" marR="0" lvl="0" indent="457200" algn="just" rtl="0">
              <a:lnSpc>
                <a:spcPct val="115000"/>
              </a:lnSpc>
              <a:spcBef>
                <a:spcPts val="0"/>
              </a:spcBef>
              <a:spcAft>
                <a:spcPts val="0"/>
              </a:spcAft>
              <a:buClr>
                <a:srgbClr val="000000"/>
              </a:buClr>
              <a:buSzPts val="1400"/>
              <a:buFont typeface="Arial"/>
              <a:buNone/>
            </a:pPr>
            <a:r>
              <a:rPr lang="en" sz="1400" b="1" i="0" u="none" strike="noStrike" cap="none">
                <a:solidFill>
                  <a:srgbClr val="181717"/>
                </a:solidFill>
                <a:highlight>
                  <a:schemeClr val="lt1"/>
                </a:highlight>
                <a:latin typeface="Lato"/>
                <a:ea typeface="Lato"/>
                <a:cs typeface="Lato"/>
                <a:sym typeface="Lato"/>
              </a:rPr>
              <a:t>2.2). Table-valued functions:</a:t>
            </a:r>
            <a:r>
              <a:rPr lang="en" sz="1400" b="0" i="0" u="none" strike="noStrike" cap="none">
                <a:solidFill>
                  <a:srgbClr val="181717"/>
                </a:solidFill>
                <a:highlight>
                  <a:schemeClr val="lt1"/>
                </a:highlight>
                <a:latin typeface="Lato"/>
                <a:ea typeface="Lato"/>
                <a:cs typeface="Lato"/>
                <a:sym typeface="Lato"/>
              </a:rPr>
              <a:t> The function that returns multiple records as a table data type is called a Table-valued function. It can be a result set of a single select statement.</a:t>
            </a:r>
            <a:endParaRPr sz="1400" b="0" i="0" u="none" strike="noStrike" cap="none">
              <a:solidFill>
                <a:srgbClr val="181717"/>
              </a:solidFill>
              <a:highlight>
                <a:schemeClr val="lt1"/>
              </a:highlight>
              <a:latin typeface="Lato"/>
              <a:ea typeface="Lato"/>
              <a:cs typeface="Lato"/>
              <a:sym typeface="Lato"/>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41" name="Google Shape;141;p2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2" name="Google Shape;142;p2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43" name="Google Shape;143;p22"/>
          <p:cNvSpPr txBox="1"/>
          <p:nvPr/>
        </p:nvSpPr>
        <p:spPr>
          <a:xfrm>
            <a:off x="2610250" y="43760"/>
            <a:ext cx="3927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Stored Procedures</a:t>
            </a:r>
            <a:endParaRPr sz="2000" b="1" i="0" u="none" strike="noStrike" cap="none">
              <a:solidFill>
                <a:srgbClr val="FFFFFF"/>
              </a:solidFill>
              <a:latin typeface="Lato"/>
              <a:ea typeface="Lato"/>
              <a:cs typeface="Lato"/>
              <a:sym typeface="Lato"/>
            </a:endParaRPr>
          </a:p>
        </p:txBody>
      </p:sp>
      <p:sp>
        <p:nvSpPr>
          <p:cNvPr id="144" name="Google Shape;144;p22"/>
          <p:cNvSpPr txBox="1"/>
          <p:nvPr/>
        </p:nvSpPr>
        <p:spPr>
          <a:xfrm>
            <a:off x="745942" y="7602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In SQL Server, a stored procedure is a set of T-SQL statements which is compiled and stored in the database. The stored procedure accepts input and output parameters, executes the SQL statements, and returns a result set if any.</a:t>
            </a:r>
            <a:endParaRPr sz="1400" b="0" i="0" u="none" strike="noStrike" cap="none">
              <a:solidFill>
                <a:srgbClr val="181717"/>
              </a:solidFill>
              <a:highlight>
                <a:srgbClr val="FFFFFF"/>
              </a:highlight>
              <a:latin typeface="Lato"/>
              <a:ea typeface="Lato"/>
              <a:cs typeface="Lato"/>
              <a:sym typeface="Lato"/>
            </a:endParaRPr>
          </a:p>
        </p:txBody>
      </p:sp>
      <p:pic>
        <p:nvPicPr>
          <p:cNvPr id="145" name="Google Shape;145;p22"/>
          <p:cNvPicPr preferRelativeResize="0"/>
          <p:nvPr/>
        </p:nvPicPr>
        <p:blipFill rotWithShape="1">
          <a:blip r:embed="rId5">
            <a:alphaModFix/>
          </a:blip>
          <a:srcRect/>
          <a:stretch/>
        </p:blipFill>
        <p:spPr>
          <a:xfrm>
            <a:off x="636158" y="884274"/>
            <a:ext cx="61722" cy="109728"/>
          </a:xfrm>
          <a:prstGeom prst="rect">
            <a:avLst/>
          </a:prstGeom>
          <a:noFill/>
          <a:ln>
            <a:noFill/>
          </a:ln>
        </p:spPr>
      </p:pic>
      <p:sp>
        <p:nvSpPr>
          <p:cNvPr id="146" name="Google Shape;146;p22"/>
          <p:cNvSpPr txBox="1"/>
          <p:nvPr/>
        </p:nvSpPr>
        <p:spPr>
          <a:xfrm>
            <a:off x="745942" y="1575666"/>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By default, a stored procedure compiles when it gets executed for the first time. It also creates an execution plan that is reused for subsequent executions for faster performance.</a:t>
            </a:r>
            <a:endParaRPr sz="1400" b="0" i="0" u="none" strike="noStrike" cap="none">
              <a:solidFill>
                <a:srgbClr val="181717"/>
              </a:solidFill>
              <a:highlight>
                <a:srgbClr val="FFFFFF"/>
              </a:highlight>
              <a:latin typeface="Lato"/>
              <a:ea typeface="Lato"/>
              <a:cs typeface="Lato"/>
              <a:sym typeface="Lato"/>
            </a:endParaRPr>
          </a:p>
        </p:txBody>
      </p:sp>
      <p:pic>
        <p:nvPicPr>
          <p:cNvPr id="147" name="Google Shape;147;p22"/>
          <p:cNvPicPr preferRelativeResize="0"/>
          <p:nvPr/>
        </p:nvPicPr>
        <p:blipFill rotWithShape="1">
          <a:blip r:embed="rId5">
            <a:alphaModFix/>
          </a:blip>
          <a:srcRect/>
          <a:stretch/>
        </p:blipFill>
        <p:spPr>
          <a:xfrm>
            <a:off x="636158" y="1699665"/>
            <a:ext cx="61722" cy="109728"/>
          </a:xfrm>
          <a:prstGeom prst="rect">
            <a:avLst/>
          </a:prstGeom>
          <a:noFill/>
          <a:ln>
            <a:noFill/>
          </a:ln>
        </p:spPr>
      </p:pic>
      <p:sp>
        <p:nvSpPr>
          <p:cNvPr id="148" name="Google Shape;148;p22"/>
          <p:cNvSpPr txBox="1"/>
          <p:nvPr/>
        </p:nvSpPr>
        <p:spPr>
          <a:xfrm>
            <a:off x="745942" y="2135508"/>
            <a:ext cx="7761900" cy="1887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Stored procedures are of two types:</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1). User-defined procedures:</a:t>
            </a:r>
            <a:r>
              <a:rPr lang="en" sz="1400" b="0" i="0" u="none" strike="noStrike" cap="none">
                <a:solidFill>
                  <a:srgbClr val="181717"/>
                </a:solidFill>
                <a:highlight>
                  <a:srgbClr val="FFFFFF"/>
                </a:highlight>
                <a:latin typeface="Lato"/>
                <a:ea typeface="Lato"/>
                <a:cs typeface="Lato"/>
                <a:sym typeface="Lato"/>
              </a:rPr>
              <a:t> A User-defined stored procedure is created by a database user in a user-defined database or any System database except the resource database.</a:t>
            </a: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2). System procedures:</a:t>
            </a:r>
            <a:r>
              <a:rPr lang="en" sz="1400" b="0" i="0" u="none" strike="noStrike" cap="none">
                <a:solidFill>
                  <a:srgbClr val="181717"/>
                </a:solidFill>
                <a:highlight>
                  <a:srgbClr val="FFFFFF"/>
                </a:highlight>
                <a:latin typeface="Lato"/>
                <a:ea typeface="Lato"/>
                <a:cs typeface="Lato"/>
                <a:sym typeface="Lato"/>
              </a:rPr>
              <a:t> System procedures are included with SQL Server and are physically stored in the internal, hidden Resource database and logically appear in the sys schema of all the databases. The system stored procedures start with the sp_ prefix.</a:t>
            </a:r>
            <a:endParaRPr sz="1400" b="0" i="0" u="none" strike="noStrike" cap="none">
              <a:solidFill>
                <a:srgbClr val="181717"/>
              </a:solidFill>
              <a:highlight>
                <a:srgbClr val="FFFFFF"/>
              </a:highlight>
              <a:latin typeface="Lato"/>
              <a:ea typeface="Lato"/>
              <a:cs typeface="Lato"/>
              <a:sym typeface="Lato"/>
            </a:endParaRPr>
          </a:p>
        </p:txBody>
      </p:sp>
      <p:pic>
        <p:nvPicPr>
          <p:cNvPr id="149" name="Google Shape;149;p22"/>
          <p:cNvPicPr preferRelativeResize="0"/>
          <p:nvPr/>
        </p:nvPicPr>
        <p:blipFill rotWithShape="1">
          <a:blip r:embed="rId5">
            <a:alphaModFix/>
          </a:blip>
          <a:srcRect/>
          <a:stretch/>
        </p:blipFill>
        <p:spPr>
          <a:xfrm>
            <a:off x="636158" y="2259507"/>
            <a:ext cx="61722" cy="109728"/>
          </a:xfrm>
          <a:prstGeom prst="rect">
            <a:avLst/>
          </a:prstGeom>
          <a:noFill/>
          <a:ln>
            <a:noFill/>
          </a:ln>
        </p:spPr>
      </p:pic>
      <p:sp>
        <p:nvSpPr>
          <p:cNvPr id="150" name="Google Shape;150;p22"/>
          <p:cNvSpPr txBox="1"/>
          <p:nvPr/>
        </p:nvSpPr>
        <p:spPr>
          <a:xfrm>
            <a:off x="745942" y="39606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Create Stored Procedure:</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Use the CREATE statement to create a stored procedure.</a:t>
            </a:r>
            <a:endParaRPr sz="1400" b="0" i="0" u="none" strike="noStrike" cap="none">
              <a:solidFill>
                <a:srgbClr val="181717"/>
              </a:solidFill>
              <a:highlight>
                <a:srgbClr val="FFFFFF"/>
              </a:highlight>
              <a:latin typeface="Lato"/>
              <a:ea typeface="Lato"/>
              <a:cs typeface="Lato"/>
              <a:sym typeface="Lato"/>
            </a:endParaRPr>
          </a:p>
        </p:txBody>
      </p:sp>
      <p:pic>
        <p:nvPicPr>
          <p:cNvPr id="151" name="Google Shape;151;p22"/>
          <p:cNvPicPr preferRelativeResize="0"/>
          <p:nvPr/>
        </p:nvPicPr>
        <p:blipFill rotWithShape="1">
          <a:blip r:embed="rId5">
            <a:alphaModFix/>
          </a:blip>
          <a:srcRect/>
          <a:stretch/>
        </p:blipFill>
        <p:spPr>
          <a:xfrm>
            <a:off x="636158" y="4084675"/>
            <a:ext cx="61722" cy="109728"/>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57" name="Google Shape;157;p2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58" name="Google Shape;158;p2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59" name="Google Shape;159;p23"/>
          <p:cNvSpPr txBox="1"/>
          <p:nvPr/>
        </p:nvSpPr>
        <p:spPr>
          <a:xfrm>
            <a:off x="2610250" y="43760"/>
            <a:ext cx="3927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Stored Procedures</a:t>
            </a:r>
            <a:endParaRPr sz="2000" b="1" i="0" u="none" strike="noStrike" cap="none">
              <a:solidFill>
                <a:srgbClr val="FFFFFF"/>
              </a:solidFill>
              <a:latin typeface="Lato"/>
              <a:ea typeface="Lato"/>
              <a:cs typeface="Lato"/>
              <a:sym typeface="Lato"/>
            </a:endParaRPr>
          </a:p>
        </p:txBody>
      </p:sp>
      <p:sp>
        <p:nvSpPr>
          <p:cNvPr id="160" name="Google Shape;160;p23"/>
          <p:cNvSpPr txBox="1"/>
          <p:nvPr/>
        </p:nvSpPr>
        <p:spPr>
          <a:xfrm>
            <a:off x="745942" y="912675"/>
            <a:ext cx="7761900" cy="2134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A6E3A"/>
                </a:solidFill>
                <a:highlight>
                  <a:srgbClr val="FFFFFF"/>
                </a:highlight>
                <a:latin typeface="Lato"/>
                <a:ea typeface="Lato"/>
                <a:cs typeface="Lato"/>
                <a:sym typeface="Lato"/>
              </a:rPr>
              <a:t>OR</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ALTER</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PROC</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PROCEDURE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schema_name</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procedure_name</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EE9900"/>
                </a:solidFill>
                <a:highlight>
                  <a:srgbClr val="FFFFFF"/>
                </a:highlight>
                <a:latin typeface="Lato"/>
                <a:ea typeface="Lato"/>
                <a:cs typeface="Lato"/>
                <a:sym typeface="Lato"/>
              </a:rPr>
              <a:t>@parameter</a:t>
            </a:r>
            <a:r>
              <a:rPr lang="en" sz="1400" b="0" i="0" u="none" strike="noStrike" cap="none">
                <a:solidFill>
                  <a:schemeClr val="dk1"/>
                </a:solidFill>
                <a:highlight>
                  <a:srgbClr val="FFFFFF"/>
                </a:highlight>
                <a:latin typeface="Lato"/>
                <a:ea typeface="Lato"/>
                <a:cs typeface="Lato"/>
                <a:sym typeface="Lato"/>
              </a:rPr>
              <a:t> data_type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OUT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OUTPUT </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READONLY</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WITH</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procedure_option</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FOR</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REPLICATION</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AS</a:t>
            </a:r>
            <a:endParaRPr sz="1400" b="0" i="0" u="none" strike="noStrike" cap="none">
              <a:solidFill>
                <a:schemeClr val="dk1"/>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200" b="0" i="0" u="none" strike="noStrike" cap="none">
                <a:solidFill>
                  <a:schemeClr val="dk1"/>
                </a:solidFill>
                <a:highlight>
                  <a:srgbClr val="FFFFFF"/>
                </a:highlight>
                <a:latin typeface="Courier New"/>
                <a:ea typeface="Courier New"/>
                <a:cs typeface="Courier New"/>
                <a:sym typeface="Courier New"/>
              </a:rPr>
              <a:t>    </a:t>
            </a:r>
            <a:r>
              <a:rPr lang="en" sz="1400" b="0" i="0" u="none" strike="noStrike" cap="none">
                <a:solidFill>
                  <a:srgbClr val="0077AA"/>
                </a:solidFill>
                <a:highlight>
                  <a:srgbClr val="FFFFFF"/>
                </a:highlight>
                <a:latin typeface="Lato"/>
                <a:ea typeface="Lato"/>
                <a:cs typeface="Lato"/>
                <a:sym typeface="Lato"/>
              </a:rPr>
              <a:t>BEGIN</a:t>
            </a:r>
            <a:endParaRPr sz="1400" b="0" i="0" u="none" strike="noStrike" cap="none">
              <a:solidFill>
                <a:schemeClr val="dk1"/>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highlight>
                  <a:srgbClr val="FFFFFF"/>
                </a:highlight>
                <a:latin typeface="Lato"/>
                <a:ea typeface="Lato"/>
                <a:cs typeface="Lato"/>
                <a:sym typeface="Lato"/>
              </a:rPr>
              <a:t>        		sql_statements </a:t>
            </a:r>
            <a:endParaRPr sz="1400" b="0" i="0" u="none" strike="noStrike" cap="none">
              <a:solidFill>
                <a:schemeClr val="dk1"/>
              </a:solidFill>
              <a:highlight>
                <a:srgbClr val="FFFFFF"/>
              </a:highlight>
              <a:latin typeface="Lato"/>
              <a:ea typeface="Lato"/>
              <a:cs typeface="Lato"/>
              <a:sym typeface="Lato"/>
            </a:endParaRPr>
          </a:p>
          <a:p>
            <a:pPr marL="101600" marR="101600" lvl="0" indent="0" algn="l" rtl="0">
              <a:lnSpc>
                <a:spcPct val="115000"/>
              </a:lnSpc>
              <a:spcBef>
                <a:spcPts val="0"/>
              </a:spcBef>
              <a:spcAft>
                <a:spcPts val="0"/>
              </a:spcAft>
              <a:buClr>
                <a:schemeClr val="dk1"/>
              </a:buClr>
              <a:buSzPts val="1100"/>
              <a:buFont typeface="Arial"/>
              <a:buNone/>
            </a:pP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END</a:t>
            </a:r>
            <a:endParaRPr sz="1400" b="0" i="0" u="none" strike="noStrike" cap="none">
              <a:solidFill>
                <a:srgbClr val="181717"/>
              </a:solidFill>
              <a:highlight>
                <a:srgbClr val="FFFFFF"/>
              </a:highlight>
              <a:latin typeface="Lato"/>
              <a:ea typeface="Lato"/>
              <a:cs typeface="Lato"/>
              <a:sym typeface="Lato"/>
            </a:endParaRPr>
          </a:p>
        </p:txBody>
      </p:sp>
      <p:pic>
        <p:nvPicPr>
          <p:cNvPr id="161" name="Google Shape;161;p23"/>
          <p:cNvPicPr preferRelativeResize="0"/>
          <p:nvPr/>
        </p:nvPicPr>
        <p:blipFill rotWithShape="1">
          <a:blip r:embed="rId5">
            <a:alphaModFix/>
          </a:blip>
          <a:srcRect/>
          <a:stretch/>
        </p:blipFill>
        <p:spPr>
          <a:xfrm>
            <a:off x="636158" y="1036675"/>
            <a:ext cx="61722" cy="109728"/>
          </a:xfrm>
          <a:prstGeom prst="rect">
            <a:avLst/>
          </a:prstGeom>
          <a:noFill/>
          <a:ln>
            <a:noFill/>
          </a:ln>
        </p:spPr>
      </p:pic>
      <p:sp>
        <p:nvSpPr>
          <p:cNvPr id="162" name="Google Shape;162;p23"/>
          <p:cNvSpPr txBox="1"/>
          <p:nvPr/>
        </p:nvSpPr>
        <p:spPr>
          <a:xfrm>
            <a:off x="745942" y="3122475"/>
            <a:ext cx="7761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Advantages of Stored procedures:</a:t>
            </a:r>
            <a:endParaRPr sz="1400" b="1"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Stored procedures are reusable. Multiple users in multiple applications can use the same Stored Procedure.</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SPs reside in the database, it reduces network traffic. Applications have to make a procedure call to the database and it communicates back to the user.</a:t>
            </a:r>
            <a:endParaRPr sz="1400" b="0" i="0" u="none" strike="noStrike" cap="none">
              <a:solidFill>
                <a:srgbClr val="181717"/>
              </a:solidFill>
              <a:highlight>
                <a:srgbClr val="FFFFFF"/>
              </a:highlight>
              <a:latin typeface="Lato"/>
              <a:ea typeface="Lato"/>
              <a:cs typeface="Lato"/>
              <a:sym typeface="Lato"/>
            </a:endParaRPr>
          </a:p>
        </p:txBody>
      </p:sp>
      <p:pic>
        <p:nvPicPr>
          <p:cNvPr id="163" name="Google Shape;163;p23"/>
          <p:cNvPicPr preferRelativeResize="0"/>
          <p:nvPr/>
        </p:nvPicPr>
        <p:blipFill rotWithShape="1">
          <a:blip r:embed="rId5">
            <a:alphaModFix/>
          </a:blip>
          <a:srcRect/>
          <a:stretch/>
        </p:blipFill>
        <p:spPr>
          <a:xfrm>
            <a:off x="636158" y="3246475"/>
            <a:ext cx="61722" cy="109728"/>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2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69" name="Google Shape;169;p2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70" name="Google Shape;170;p2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71" name="Google Shape;171;p24"/>
          <p:cNvSpPr txBox="1"/>
          <p:nvPr/>
        </p:nvSpPr>
        <p:spPr>
          <a:xfrm>
            <a:off x="2610250" y="43760"/>
            <a:ext cx="39273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Stored Procedures</a:t>
            </a:r>
            <a:endParaRPr sz="2000" b="1" i="0" u="none" strike="noStrike" cap="none">
              <a:solidFill>
                <a:srgbClr val="FFFFFF"/>
              </a:solidFill>
              <a:latin typeface="Lato"/>
              <a:ea typeface="Lato"/>
              <a:cs typeface="Lato"/>
              <a:sym typeface="Lato"/>
            </a:endParaRPr>
          </a:p>
        </p:txBody>
      </p:sp>
      <p:sp>
        <p:nvSpPr>
          <p:cNvPr id="172" name="Google Shape;172;p24"/>
          <p:cNvSpPr txBox="1"/>
          <p:nvPr/>
        </p:nvSpPr>
        <p:spPr>
          <a:xfrm>
            <a:off x="692950" y="813666"/>
            <a:ext cx="7761900" cy="1639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Advantages of Stored procedures:</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Database objects are encapsulated within a stored procedure, and this acts as a security mechanism by restricting access to the database objects. Reduced development cost, easily modified, and increased readability.</a:t>
            </a:r>
            <a:endParaRPr sz="1400" b="0"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Improves performance. When a stored procedure is executed for the first time, the database processor creates an execution plan which is reused every time this SP is executed.</a:t>
            </a:r>
            <a:endParaRPr sz="1400" b="0" i="0" u="none" strike="noStrike" cap="none">
              <a:solidFill>
                <a:srgbClr val="181717"/>
              </a:solidFill>
              <a:highlight>
                <a:srgbClr val="FFFFFF"/>
              </a:highlight>
              <a:latin typeface="Lato"/>
              <a:ea typeface="Lato"/>
              <a:cs typeface="Lato"/>
              <a:sym typeface="Lato"/>
            </a:endParaRPr>
          </a:p>
        </p:txBody>
      </p:sp>
      <p:pic>
        <p:nvPicPr>
          <p:cNvPr id="173" name="Google Shape;173;p24"/>
          <p:cNvPicPr preferRelativeResize="0"/>
          <p:nvPr/>
        </p:nvPicPr>
        <p:blipFill rotWithShape="1">
          <a:blip r:embed="rId5">
            <a:alphaModFix/>
          </a:blip>
          <a:srcRect/>
          <a:stretch/>
        </p:blipFill>
        <p:spPr>
          <a:xfrm>
            <a:off x="583167" y="937665"/>
            <a:ext cx="61722" cy="109728"/>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2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79" name="Google Shape;179;p2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80" name="Google Shape;180;p2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81" name="Google Shape;181;p25"/>
          <p:cNvSpPr txBox="1"/>
          <p:nvPr/>
        </p:nvSpPr>
        <p:spPr>
          <a:xfrm>
            <a:off x="3291900" y="47605"/>
            <a:ext cx="2535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Indexes</a:t>
            </a:r>
            <a:endParaRPr sz="2000" b="1" i="0" u="none" strike="noStrike" cap="none">
              <a:solidFill>
                <a:srgbClr val="FFFFFF"/>
              </a:solidFill>
              <a:latin typeface="Lato"/>
              <a:ea typeface="Lato"/>
              <a:cs typeface="Lato"/>
              <a:sym typeface="Lato"/>
            </a:endParaRPr>
          </a:p>
        </p:txBody>
      </p:sp>
      <p:sp>
        <p:nvSpPr>
          <p:cNvPr id="182" name="Google Shape;182;p25"/>
          <p:cNvSpPr txBox="1"/>
          <p:nvPr/>
        </p:nvSpPr>
        <p:spPr>
          <a:xfrm>
            <a:off x="745942" y="607875"/>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An Index in SQL Server is a data structure associated with tables and views that helps in faster retrieval of rows.</a:t>
            </a:r>
            <a:endParaRPr sz="1400" b="0" i="0" u="none" strike="noStrike" cap="none">
              <a:solidFill>
                <a:srgbClr val="181717"/>
              </a:solidFill>
              <a:highlight>
                <a:srgbClr val="FFFFFF"/>
              </a:highlight>
              <a:latin typeface="Lato"/>
              <a:ea typeface="Lato"/>
              <a:cs typeface="Lato"/>
              <a:sym typeface="Lato"/>
            </a:endParaRPr>
          </a:p>
        </p:txBody>
      </p:sp>
      <p:pic>
        <p:nvPicPr>
          <p:cNvPr id="183" name="Google Shape;183;p25"/>
          <p:cNvPicPr preferRelativeResize="0"/>
          <p:nvPr/>
        </p:nvPicPr>
        <p:blipFill rotWithShape="1">
          <a:blip r:embed="rId5">
            <a:alphaModFix/>
          </a:blip>
          <a:srcRect/>
          <a:stretch/>
        </p:blipFill>
        <p:spPr>
          <a:xfrm>
            <a:off x="636158" y="731875"/>
            <a:ext cx="61722" cy="109728"/>
          </a:xfrm>
          <a:prstGeom prst="rect">
            <a:avLst/>
          </a:prstGeom>
          <a:noFill/>
          <a:ln>
            <a:noFill/>
          </a:ln>
        </p:spPr>
      </p:pic>
      <p:sp>
        <p:nvSpPr>
          <p:cNvPr id="184" name="Google Shape;184;p25"/>
          <p:cNvSpPr txBox="1"/>
          <p:nvPr/>
        </p:nvSpPr>
        <p:spPr>
          <a:xfrm>
            <a:off x="745942" y="1141275"/>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Data in a table is stored in rows in an unordered structure called Heap. If you have to fetch data from a table, the query optimizer has to scan the entire table to retrieve the required row(s). If a table has a large number of rows, then SQL Server will take a long time to retrieve the required rows. So, to speed up data retrieval, SQL Server has a special data structure called indexes.</a:t>
            </a:r>
            <a:endParaRPr sz="1400" b="0" i="0" u="none" strike="noStrike" cap="none">
              <a:solidFill>
                <a:srgbClr val="181717"/>
              </a:solidFill>
              <a:highlight>
                <a:srgbClr val="FFFFFF"/>
              </a:highlight>
              <a:latin typeface="Lato"/>
              <a:ea typeface="Lato"/>
              <a:cs typeface="Lato"/>
              <a:sym typeface="Lato"/>
            </a:endParaRPr>
          </a:p>
        </p:txBody>
      </p:sp>
      <p:pic>
        <p:nvPicPr>
          <p:cNvPr id="185" name="Google Shape;185;p25"/>
          <p:cNvPicPr preferRelativeResize="0"/>
          <p:nvPr/>
        </p:nvPicPr>
        <p:blipFill rotWithShape="1">
          <a:blip r:embed="rId5">
            <a:alphaModFix/>
          </a:blip>
          <a:srcRect/>
          <a:stretch/>
        </p:blipFill>
        <p:spPr>
          <a:xfrm>
            <a:off x="636158" y="1265275"/>
            <a:ext cx="61722" cy="109728"/>
          </a:xfrm>
          <a:prstGeom prst="rect">
            <a:avLst/>
          </a:prstGeom>
          <a:noFill/>
          <a:ln>
            <a:noFill/>
          </a:ln>
        </p:spPr>
      </p:pic>
      <p:sp>
        <p:nvSpPr>
          <p:cNvPr id="186" name="Google Shape;186;p25"/>
          <p:cNvSpPr txBox="1"/>
          <p:nvPr/>
        </p:nvSpPr>
        <p:spPr>
          <a:xfrm>
            <a:off x="745942" y="22080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An index is mostly created on one or more columns which are commonly used in the SELECT clause or WHERE clause.</a:t>
            </a:r>
            <a:endParaRPr sz="1400" b="0" i="0" u="none" strike="noStrike" cap="none">
              <a:solidFill>
                <a:srgbClr val="181717"/>
              </a:solidFill>
              <a:highlight>
                <a:srgbClr val="FFFFFF"/>
              </a:highlight>
              <a:latin typeface="Lato"/>
              <a:ea typeface="Lato"/>
              <a:cs typeface="Lato"/>
              <a:sym typeface="Lato"/>
            </a:endParaRPr>
          </a:p>
        </p:txBody>
      </p:sp>
      <p:pic>
        <p:nvPicPr>
          <p:cNvPr id="187" name="Google Shape;187;p25"/>
          <p:cNvPicPr preferRelativeResize="0"/>
          <p:nvPr/>
        </p:nvPicPr>
        <p:blipFill rotWithShape="1">
          <a:blip r:embed="rId5">
            <a:alphaModFix/>
          </a:blip>
          <a:srcRect/>
          <a:stretch/>
        </p:blipFill>
        <p:spPr>
          <a:xfrm>
            <a:off x="636158" y="2332075"/>
            <a:ext cx="61722" cy="109728"/>
          </a:xfrm>
          <a:prstGeom prst="rect">
            <a:avLst/>
          </a:prstGeom>
          <a:noFill/>
          <a:ln>
            <a:noFill/>
          </a:ln>
        </p:spPr>
      </p:pic>
      <p:sp>
        <p:nvSpPr>
          <p:cNvPr id="188" name="Google Shape;188;p25"/>
          <p:cNvSpPr txBox="1"/>
          <p:nvPr/>
        </p:nvSpPr>
        <p:spPr>
          <a:xfrm>
            <a:off x="745942" y="2764284"/>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There are two types of indexes in SQL Server:</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Clustered Indexes, and  Non-Clustered Indexes</a:t>
            </a:r>
            <a:endParaRPr sz="1400" b="0" i="0" u="none" strike="noStrike" cap="none">
              <a:solidFill>
                <a:srgbClr val="181717"/>
              </a:solidFill>
              <a:highlight>
                <a:srgbClr val="FFFFFF"/>
              </a:highlight>
              <a:latin typeface="Lato"/>
              <a:ea typeface="Lato"/>
              <a:cs typeface="Lato"/>
              <a:sym typeface="Lato"/>
            </a:endParaRPr>
          </a:p>
        </p:txBody>
      </p:sp>
      <p:pic>
        <p:nvPicPr>
          <p:cNvPr id="189" name="Google Shape;189;p25"/>
          <p:cNvPicPr preferRelativeResize="0"/>
          <p:nvPr/>
        </p:nvPicPr>
        <p:blipFill rotWithShape="1">
          <a:blip r:embed="rId5">
            <a:alphaModFix/>
          </a:blip>
          <a:srcRect/>
          <a:stretch/>
        </p:blipFill>
        <p:spPr>
          <a:xfrm>
            <a:off x="636158" y="2888284"/>
            <a:ext cx="61722" cy="109728"/>
          </a:xfrm>
          <a:prstGeom prst="rect">
            <a:avLst/>
          </a:prstGeom>
          <a:noFill/>
          <a:ln>
            <a:noFill/>
          </a:ln>
        </p:spPr>
      </p:pic>
      <p:sp>
        <p:nvSpPr>
          <p:cNvPr id="190" name="Google Shape;190;p25"/>
          <p:cNvSpPr txBox="1"/>
          <p:nvPr/>
        </p:nvSpPr>
        <p:spPr>
          <a:xfrm>
            <a:off x="745942" y="3332405"/>
            <a:ext cx="7761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Clustered Indexes:</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 clustered index defines the order in which the table data will be sorted and stored. As mentioned before, a table without indexes will be stored in an unordered structure. When you define a clustered index on a column, it will sort data based on that column values and store it. Thus, it helps in faster retrieval of the data.</a:t>
            </a:r>
            <a:endParaRPr sz="1400" b="0" i="0" u="none" strike="noStrike" cap="none">
              <a:solidFill>
                <a:srgbClr val="181717"/>
              </a:solidFill>
              <a:highlight>
                <a:srgbClr val="FFFFFF"/>
              </a:highlight>
              <a:latin typeface="Lato"/>
              <a:ea typeface="Lato"/>
              <a:cs typeface="Lato"/>
              <a:sym typeface="Lato"/>
            </a:endParaRPr>
          </a:p>
        </p:txBody>
      </p:sp>
      <p:pic>
        <p:nvPicPr>
          <p:cNvPr id="191" name="Google Shape;191;p25"/>
          <p:cNvPicPr preferRelativeResize="0"/>
          <p:nvPr/>
        </p:nvPicPr>
        <p:blipFill rotWithShape="1">
          <a:blip r:embed="rId5">
            <a:alphaModFix/>
          </a:blip>
          <a:srcRect/>
          <a:stretch/>
        </p:blipFill>
        <p:spPr>
          <a:xfrm>
            <a:off x="636158" y="3456405"/>
            <a:ext cx="61722" cy="109728"/>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2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97" name="Google Shape;197;p2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8" name="Google Shape;198;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99" name="Google Shape;199;p26"/>
          <p:cNvSpPr txBox="1"/>
          <p:nvPr/>
        </p:nvSpPr>
        <p:spPr>
          <a:xfrm>
            <a:off x="3291900" y="47605"/>
            <a:ext cx="2535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Indexes</a:t>
            </a:r>
            <a:endParaRPr sz="2000" b="1" i="0" u="none" strike="noStrike" cap="none">
              <a:solidFill>
                <a:srgbClr val="FFFFFF"/>
              </a:solidFill>
              <a:latin typeface="Lato"/>
              <a:ea typeface="Lato"/>
              <a:cs typeface="Lato"/>
              <a:sym typeface="Lato"/>
            </a:endParaRPr>
          </a:p>
        </p:txBody>
      </p:sp>
      <p:sp>
        <p:nvSpPr>
          <p:cNvPr id="200" name="Google Shape;200;p26"/>
          <p:cNvSpPr txBox="1"/>
          <p:nvPr/>
        </p:nvSpPr>
        <p:spPr>
          <a:xfrm>
            <a:off x="745942" y="1324256"/>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When you create a Primary Key constraint on a table, a unique clustered index is automatically created on the table.</a:t>
            </a:r>
            <a:endParaRPr sz="1400" b="0" i="0" u="none" strike="noStrike" cap="none">
              <a:solidFill>
                <a:srgbClr val="181717"/>
              </a:solidFill>
              <a:highlight>
                <a:srgbClr val="FFFFFF"/>
              </a:highlight>
              <a:latin typeface="Lato"/>
              <a:ea typeface="Lato"/>
              <a:cs typeface="Lato"/>
              <a:sym typeface="Lato"/>
            </a:endParaRPr>
          </a:p>
        </p:txBody>
      </p:sp>
      <p:pic>
        <p:nvPicPr>
          <p:cNvPr id="201" name="Google Shape;201;p26"/>
          <p:cNvPicPr preferRelativeResize="0"/>
          <p:nvPr/>
        </p:nvPicPr>
        <p:blipFill rotWithShape="1">
          <a:blip r:embed="rId5">
            <a:alphaModFix/>
          </a:blip>
          <a:srcRect/>
          <a:stretch/>
        </p:blipFill>
        <p:spPr>
          <a:xfrm>
            <a:off x="636158" y="1448256"/>
            <a:ext cx="61722" cy="109728"/>
          </a:xfrm>
          <a:prstGeom prst="rect">
            <a:avLst/>
          </a:prstGeom>
          <a:noFill/>
          <a:ln>
            <a:noFill/>
          </a:ln>
        </p:spPr>
      </p:pic>
      <p:sp>
        <p:nvSpPr>
          <p:cNvPr id="202" name="Google Shape;202;p26"/>
          <p:cNvSpPr txBox="1"/>
          <p:nvPr/>
        </p:nvSpPr>
        <p:spPr>
          <a:xfrm>
            <a:off x="745942" y="1872694"/>
            <a:ext cx="7761900" cy="648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CLUSTERED</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INDEX</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index_name</a:t>
            </a:r>
            <a:r>
              <a:rPr lang="en" sz="1400" b="0" i="0" u="none" strike="noStrike" cap="none">
                <a:solidFill>
                  <a:srgbClr val="9A6E3A"/>
                </a:solidFill>
                <a:highlight>
                  <a:srgbClr val="FFFFFF"/>
                </a:highlight>
                <a:latin typeface="Lato"/>
                <a:ea typeface="Lato"/>
                <a:cs typeface="Lato"/>
                <a:sym typeface="Lato"/>
              </a:rPr>
              <a:t>&gt;</a:t>
            </a:r>
            <a:endParaRPr sz="1400" b="0" i="0" u="none" strike="noStrike" cap="none">
              <a:solidFill>
                <a:schemeClr val="dk1"/>
              </a:solidFill>
              <a:highlight>
                <a:srgbClr val="FFFFFF"/>
              </a:highlight>
              <a:latin typeface="Lato"/>
              <a:ea typeface="Lato"/>
              <a:cs typeface="Lato"/>
              <a:sym typeface="Lato"/>
            </a:endParaRPr>
          </a:p>
          <a:p>
            <a:pPr marL="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     	ON</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schema</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table_name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column_name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asc</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desc</a:t>
            </a: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203" name="Google Shape;203;p26"/>
          <p:cNvPicPr preferRelativeResize="0"/>
          <p:nvPr/>
        </p:nvPicPr>
        <p:blipFill rotWithShape="1">
          <a:blip r:embed="rId5">
            <a:alphaModFix/>
          </a:blip>
          <a:srcRect/>
          <a:stretch/>
        </p:blipFill>
        <p:spPr>
          <a:xfrm>
            <a:off x="636158" y="1996693"/>
            <a:ext cx="61722" cy="109728"/>
          </a:xfrm>
          <a:prstGeom prst="rect">
            <a:avLst/>
          </a:prstGeom>
          <a:noFill/>
          <a:ln>
            <a:noFill/>
          </a:ln>
        </p:spPr>
      </p:pic>
      <p:sp>
        <p:nvSpPr>
          <p:cNvPr id="204" name="Google Shape;204;p26"/>
          <p:cNvSpPr txBox="1"/>
          <p:nvPr/>
        </p:nvSpPr>
        <p:spPr>
          <a:xfrm>
            <a:off x="745942" y="25128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Non-Clustered Indexes:</a:t>
            </a:r>
            <a:endParaRPr sz="1400" b="1" i="0" u="none" strike="noStrike" cap="none">
              <a:solidFill>
                <a:srgbClr val="181717"/>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SQL Server provides two types of indexes, clustered and non-clustered indexes. Here you will learn non-clustered indexes.</a:t>
            </a:r>
            <a:endParaRPr sz="1400" b="0" i="0" u="none" strike="noStrike" cap="none">
              <a:solidFill>
                <a:srgbClr val="181717"/>
              </a:solidFill>
              <a:highlight>
                <a:srgbClr val="FFFFFF"/>
              </a:highlight>
              <a:latin typeface="Lato"/>
              <a:ea typeface="Lato"/>
              <a:cs typeface="Lato"/>
              <a:sym typeface="Lato"/>
            </a:endParaRPr>
          </a:p>
        </p:txBody>
      </p:sp>
      <p:pic>
        <p:nvPicPr>
          <p:cNvPr id="205" name="Google Shape;205;p26"/>
          <p:cNvPicPr preferRelativeResize="0"/>
          <p:nvPr/>
        </p:nvPicPr>
        <p:blipFill rotWithShape="1">
          <a:blip r:embed="rId5">
            <a:alphaModFix/>
          </a:blip>
          <a:srcRect/>
          <a:stretch/>
        </p:blipFill>
        <p:spPr>
          <a:xfrm>
            <a:off x="636158" y="2636875"/>
            <a:ext cx="61722" cy="109728"/>
          </a:xfrm>
          <a:prstGeom prst="rect">
            <a:avLst/>
          </a:prstGeom>
          <a:noFill/>
          <a:ln>
            <a:noFill/>
          </a:ln>
        </p:spPr>
      </p:pic>
      <p:sp>
        <p:nvSpPr>
          <p:cNvPr id="206" name="Google Shape;206;p26"/>
          <p:cNvSpPr txBox="1"/>
          <p:nvPr/>
        </p:nvSpPr>
        <p:spPr>
          <a:xfrm>
            <a:off x="745942" y="802261"/>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There can be only one clustered index on a table because the data rows can be stored in only one order.</a:t>
            </a:r>
            <a:endParaRPr sz="1400" b="0" i="0" u="none" strike="noStrike" cap="none">
              <a:solidFill>
                <a:srgbClr val="181717"/>
              </a:solidFill>
              <a:highlight>
                <a:srgbClr val="FFFFFF"/>
              </a:highlight>
              <a:latin typeface="Lato"/>
              <a:ea typeface="Lato"/>
              <a:cs typeface="Lato"/>
              <a:sym typeface="Lato"/>
            </a:endParaRPr>
          </a:p>
        </p:txBody>
      </p:sp>
      <p:pic>
        <p:nvPicPr>
          <p:cNvPr id="207" name="Google Shape;207;p26"/>
          <p:cNvPicPr preferRelativeResize="0"/>
          <p:nvPr/>
        </p:nvPicPr>
        <p:blipFill rotWithShape="1">
          <a:blip r:embed="rId5">
            <a:alphaModFix/>
          </a:blip>
          <a:srcRect/>
          <a:stretch/>
        </p:blipFill>
        <p:spPr>
          <a:xfrm>
            <a:off x="636158" y="926261"/>
            <a:ext cx="61722" cy="109728"/>
          </a:xfrm>
          <a:prstGeom prst="rect">
            <a:avLst/>
          </a:prstGeom>
          <a:noFill/>
          <a:ln>
            <a:noFill/>
          </a:ln>
        </p:spPr>
      </p:pic>
      <p:sp>
        <p:nvSpPr>
          <p:cNvPr id="208" name="Google Shape;208;p26"/>
          <p:cNvSpPr txBox="1"/>
          <p:nvPr/>
        </p:nvSpPr>
        <p:spPr>
          <a:xfrm>
            <a:off x="745942" y="3316861"/>
            <a:ext cx="7761900" cy="1262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 non-clustered index does not sort the data rows physically. It creates a separate key-value structure from the table data where the key contains the column values (on which a non-clustered index is declared) and each value contains a pointer to the data row that contains the actual value. It is similar to a textbook having an index at the back of the book with page numbers pointing to the actual information.</a:t>
            </a:r>
            <a:endParaRPr sz="1400" b="0" i="0" u="none" strike="noStrike" cap="none">
              <a:solidFill>
                <a:srgbClr val="181717"/>
              </a:solidFill>
              <a:highlight>
                <a:srgbClr val="FFFFFF"/>
              </a:highlight>
              <a:latin typeface="Lato"/>
              <a:ea typeface="Lato"/>
              <a:cs typeface="Lato"/>
              <a:sym typeface="Lato"/>
            </a:endParaRPr>
          </a:p>
        </p:txBody>
      </p:sp>
      <p:pic>
        <p:nvPicPr>
          <p:cNvPr id="209" name="Google Shape;209;p26"/>
          <p:cNvPicPr preferRelativeResize="0"/>
          <p:nvPr/>
        </p:nvPicPr>
        <p:blipFill rotWithShape="1">
          <a:blip r:embed="rId5">
            <a:alphaModFix/>
          </a:blip>
          <a:srcRect/>
          <a:stretch/>
        </p:blipFill>
        <p:spPr>
          <a:xfrm>
            <a:off x="636158" y="3440861"/>
            <a:ext cx="61722" cy="109728"/>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2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15" name="Google Shape;215;p2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6" name="Google Shape;216;p2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17" name="Google Shape;217;p27"/>
          <p:cNvSpPr txBox="1"/>
          <p:nvPr/>
        </p:nvSpPr>
        <p:spPr>
          <a:xfrm>
            <a:off x="3291900" y="47605"/>
            <a:ext cx="2535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Indexes</a:t>
            </a:r>
            <a:endParaRPr sz="2000" b="1" i="0" u="none" strike="noStrike" cap="none">
              <a:solidFill>
                <a:srgbClr val="FFFFFF"/>
              </a:solidFill>
              <a:latin typeface="Lato"/>
              <a:ea typeface="Lato"/>
              <a:cs typeface="Lato"/>
              <a:sym typeface="Lato"/>
            </a:endParaRPr>
          </a:p>
        </p:txBody>
      </p:sp>
      <p:sp>
        <p:nvSpPr>
          <p:cNvPr id="218" name="Google Shape;218;p27"/>
          <p:cNvSpPr txBox="1"/>
          <p:nvPr/>
        </p:nvSpPr>
        <p:spPr>
          <a:xfrm>
            <a:off x="745942" y="2047903"/>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When you create a Primary Key constraint on a table, a unique clustered index is automatically created on the table.</a:t>
            </a:r>
            <a:endParaRPr sz="1400" b="0" i="0" u="none" strike="noStrike" cap="none">
              <a:solidFill>
                <a:srgbClr val="181717"/>
              </a:solidFill>
              <a:highlight>
                <a:srgbClr val="FFFFFF"/>
              </a:highlight>
              <a:latin typeface="Lato"/>
              <a:ea typeface="Lato"/>
              <a:cs typeface="Lato"/>
              <a:sym typeface="Lato"/>
            </a:endParaRPr>
          </a:p>
        </p:txBody>
      </p:sp>
      <p:pic>
        <p:nvPicPr>
          <p:cNvPr id="219" name="Google Shape;219;p27"/>
          <p:cNvPicPr preferRelativeResize="0"/>
          <p:nvPr/>
        </p:nvPicPr>
        <p:blipFill rotWithShape="1">
          <a:blip r:embed="rId5">
            <a:alphaModFix/>
          </a:blip>
          <a:srcRect/>
          <a:stretch/>
        </p:blipFill>
        <p:spPr>
          <a:xfrm>
            <a:off x="636158" y="2171902"/>
            <a:ext cx="61722" cy="109728"/>
          </a:xfrm>
          <a:prstGeom prst="rect">
            <a:avLst/>
          </a:prstGeom>
          <a:noFill/>
          <a:ln>
            <a:noFill/>
          </a:ln>
        </p:spPr>
      </p:pic>
      <p:sp>
        <p:nvSpPr>
          <p:cNvPr id="220" name="Google Shape;220;p27"/>
          <p:cNvSpPr txBox="1"/>
          <p:nvPr/>
        </p:nvSpPr>
        <p:spPr>
          <a:xfrm>
            <a:off x="745942" y="2615517"/>
            <a:ext cx="7761900" cy="648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CLUSTERED</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INDEX</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index_name</a:t>
            </a:r>
            <a:r>
              <a:rPr lang="en" sz="1400" b="0" i="0" u="none" strike="noStrike" cap="none">
                <a:solidFill>
                  <a:srgbClr val="9A6E3A"/>
                </a:solidFill>
                <a:highlight>
                  <a:srgbClr val="FFFFFF"/>
                </a:highlight>
                <a:latin typeface="Lato"/>
                <a:ea typeface="Lato"/>
                <a:cs typeface="Lato"/>
                <a:sym typeface="Lato"/>
              </a:rPr>
              <a:t>&gt;</a:t>
            </a:r>
            <a:endParaRPr sz="1400" b="0" i="0" u="none" strike="noStrike" cap="none">
              <a:solidFill>
                <a:schemeClr val="dk1"/>
              </a:solidFill>
              <a:highlight>
                <a:srgbClr val="FFFFFF"/>
              </a:highlight>
              <a:latin typeface="Lato"/>
              <a:ea typeface="Lato"/>
              <a:cs typeface="Lato"/>
              <a:sym typeface="Lato"/>
            </a:endParaRPr>
          </a:p>
          <a:p>
            <a:pPr marL="4572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ON</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schema</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table_name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column_name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asc</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desc</a:t>
            </a: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221" name="Google Shape;221;p27"/>
          <p:cNvPicPr preferRelativeResize="0"/>
          <p:nvPr/>
        </p:nvPicPr>
        <p:blipFill rotWithShape="1">
          <a:blip r:embed="rId5">
            <a:alphaModFix/>
          </a:blip>
          <a:srcRect/>
          <a:stretch/>
        </p:blipFill>
        <p:spPr>
          <a:xfrm>
            <a:off x="636158" y="2739516"/>
            <a:ext cx="61722" cy="109728"/>
          </a:xfrm>
          <a:prstGeom prst="rect">
            <a:avLst/>
          </a:prstGeom>
          <a:noFill/>
          <a:ln>
            <a:noFill/>
          </a:ln>
        </p:spPr>
      </p:pic>
      <p:sp>
        <p:nvSpPr>
          <p:cNvPr id="222" name="Google Shape;222;p27"/>
          <p:cNvSpPr txBox="1"/>
          <p:nvPr/>
        </p:nvSpPr>
        <p:spPr>
          <a:xfrm>
            <a:off x="745942" y="847880"/>
            <a:ext cx="77619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There can be 999 non-clustered indexes on a single table is 999. When you create a Unique constraint, a unique non-clustered index is created on the table.</a:t>
            </a:r>
            <a:endParaRPr sz="1400" b="0" i="0" u="none" strike="noStrike" cap="none">
              <a:solidFill>
                <a:srgbClr val="181717"/>
              </a:solidFill>
              <a:highlight>
                <a:srgbClr val="FFFFFF"/>
              </a:highlight>
              <a:latin typeface="Lato"/>
              <a:ea typeface="Lato"/>
              <a:cs typeface="Lato"/>
              <a:sym typeface="Lato"/>
            </a:endParaRPr>
          </a:p>
        </p:txBody>
      </p:sp>
      <p:pic>
        <p:nvPicPr>
          <p:cNvPr id="223" name="Google Shape;223;p27"/>
          <p:cNvPicPr preferRelativeResize="0"/>
          <p:nvPr/>
        </p:nvPicPr>
        <p:blipFill rotWithShape="1">
          <a:blip r:embed="rId5">
            <a:alphaModFix/>
          </a:blip>
          <a:srcRect/>
          <a:stretch/>
        </p:blipFill>
        <p:spPr>
          <a:xfrm>
            <a:off x="636158" y="971879"/>
            <a:ext cx="61722" cy="109728"/>
          </a:xfrm>
          <a:prstGeom prst="rect">
            <a:avLst/>
          </a:prstGeom>
          <a:noFill/>
          <a:ln>
            <a:noFill/>
          </a:ln>
        </p:spPr>
      </p:pic>
      <p:sp>
        <p:nvSpPr>
          <p:cNvPr id="224" name="Google Shape;224;p27"/>
          <p:cNvSpPr txBox="1"/>
          <p:nvPr/>
        </p:nvSpPr>
        <p:spPr>
          <a:xfrm>
            <a:off x="745942" y="1404089"/>
            <a:ext cx="7761900" cy="648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NONCLUSTERED</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INDEX</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index_name</a:t>
            </a:r>
            <a:r>
              <a:rPr lang="en" sz="1400" b="0" i="0" u="none" strike="noStrike" cap="none">
                <a:solidFill>
                  <a:srgbClr val="9A6E3A"/>
                </a:solidFill>
                <a:highlight>
                  <a:srgbClr val="FFFFFF"/>
                </a:highlight>
                <a:latin typeface="Lato"/>
                <a:ea typeface="Lato"/>
                <a:cs typeface="Lato"/>
                <a:sym typeface="Lato"/>
              </a:rPr>
              <a:t>&gt;</a:t>
            </a:r>
            <a:endParaRPr sz="1400" b="0" i="0" u="none" strike="noStrike" cap="none">
              <a:solidFill>
                <a:schemeClr val="dk1"/>
              </a:solidFill>
              <a:highlight>
                <a:srgbClr val="FFFFFF"/>
              </a:highlight>
              <a:latin typeface="Lato"/>
              <a:ea typeface="Lato"/>
              <a:cs typeface="Lato"/>
              <a:sym typeface="Lato"/>
            </a:endParaRPr>
          </a:p>
          <a:p>
            <a:pPr marL="4572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ON</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chemeClr val="dk1"/>
                </a:solidFill>
                <a:highlight>
                  <a:srgbClr val="FFFFFF"/>
                </a:highlight>
                <a:latin typeface="Lato"/>
                <a:ea typeface="Lato"/>
                <a:cs typeface="Lato"/>
                <a:sym typeface="Lato"/>
              </a:rPr>
              <a:t>table_name</a:t>
            </a:r>
            <a:r>
              <a:rPr lang="en" sz="1400" b="0" i="0" u="none" strike="noStrike" cap="none">
                <a:solidFill>
                  <a:srgbClr val="9A6E3A"/>
                </a:solidFill>
                <a:highlight>
                  <a:srgbClr val="FFFFFF"/>
                </a:highlight>
                <a:latin typeface="Lato"/>
                <a:ea typeface="Lato"/>
                <a:cs typeface="Lato"/>
                <a:sym typeface="Lato"/>
              </a:rPr>
              <a:t>&gt;</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0077AA"/>
                </a:solidFill>
                <a:highlight>
                  <a:srgbClr val="FFFFFF"/>
                </a:highlight>
                <a:latin typeface="Lato"/>
                <a:ea typeface="Lato"/>
                <a:cs typeface="Lato"/>
                <a:sym typeface="Lato"/>
              </a:rPr>
              <a:t>column</a:t>
            </a: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225" name="Google Shape;225;p27"/>
          <p:cNvPicPr preferRelativeResize="0"/>
          <p:nvPr/>
        </p:nvPicPr>
        <p:blipFill rotWithShape="1">
          <a:blip r:embed="rId5">
            <a:alphaModFix/>
          </a:blip>
          <a:srcRect/>
          <a:stretch/>
        </p:blipFill>
        <p:spPr>
          <a:xfrm>
            <a:off x="636158" y="1528088"/>
            <a:ext cx="61722" cy="109728"/>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2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31" name="Google Shape;231;p2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2" name="Google Shape;232;p2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33" name="Google Shape;233;p28"/>
          <p:cNvSpPr txBox="1"/>
          <p:nvPr/>
        </p:nvSpPr>
        <p:spPr>
          <a:xfrm>
            <a:off x="3291900" y="47605"/>
            <a:ext cx="2535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Joins</a:t>
            </a:r>
            <a:endParaRPr sz="2000" b="1" i="0" u="none" strike="noStrike" cap="none">
              <a:solidFill>
                <a:srgbClr val="FFFFFF"/>
              </a:solidFill>
              <a:latin typeface="Lato"/>
              <a:ea typeface="Lato"/>
              <a:cs typeface="Lato"/>
              <a:sym typeface="Lato"/>
            </a:endParaRPr>
          </a:p>
        </p:txBody>
      </p:sp>
      <p:sp>
        <p:nvSpPr>
          <p:cNvPr id="234" name="Google Shape;234;p28"/>
          <p:cNvSpPr txBox="1"/>
          <p:nvPr/>
        </p:nvSpPr>
        <p:spPr>
          <a:xfrm>
            <a:off x="745942" y="661266"/>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SQL Server joins are essential for retrieving data from multiple tables in a relational database. They allow you to combine rows from two or more tables based on a related column between them.</a:t>
            </a:r>
            <a:endParaRPr sz="1400" b="0" i="0" u="none" strike="noStrike" cap="none">
              <a:solidFill>
                <a:srgbClr val="181717"/>
              </a:solidFill>
              <a:highlight>
                <a:srgbClr val="FFFFFF"/>
              </a:highlight>
              <a:latin typeface="Lato"/>
              <a:ea typeface="Lato"/>
              <a:cs typeface="Lato"/>
              <a:sym typeface="Lato"/>
            </a:endParaRPr>
          </a:p>
        </p:txBody>
      </p:sp>
      <p:pic>
        <p:nvPicPr>
          <p:cNvPr id="235" name="Google Shape;235;p28"/>
          <p:cNvPicPr preferRelativeResize="0"/>
          <p:nvPr/>
        </p:nvPicPr>
        <p:blipFill rotWithShape="1">
          <a:blip r:embed="rId5">
            <a:alphaModFix/>
          </a:blip>
          <a:srcRect/>
          <a:stretch/>
        </p:blipFill>
        <p:spPr>
          <a:xfrm>
            <a:off x="636158" y="785265"/>
            <a:ext cx="61722" cy="109728"/>
          </a:xfrm>
          <a:prstGeom prst="rect">
            <a:avLst/>
          </a:prstGeom>
          <a:noFill/>
          <a:ln>
            <a:noFill/>
          </a:ln>
        </p:spPr>
      </p:pic>
      <p:sp>
        <p:nvSpPr>
          <p:cNvPr id="236" name="Google Shape;236;p28"/>
          <p:cNvSpPr txBox="1"/>
          <p:nvPr/>
        </p:nvSpPr>
        <p:spPr>
          <a:xfrm>
            <a:off x="745942" y="1461616"/>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1). INNER JOIN: </a:t>
            </a:r>
            <a:r>
              <a:rPr lang="en" sz="1400" b="0" i="0" u="none" strike="noStrike" cap="none">
                <a:solidFill>
                  <a:srgbClr val="181717"/>
                </a:solidFill>
                <a:highlight>
                  <a:schemeClr val="lt1"/>
                </a:highlight>
                <a:latin typeface="Lato"/>
                <a:ea typeface="Lato"/>
                <a:cs typeface="Lato"/>
                <a:sym typeface="Lato"/>
              </a:rPr>
              <a:t>An INNER JOIN returns only the rows that have matching values in both tables.</a:t>
            </a:r>
            <a:endParaRPr sz="1400" b="0" i="0" u="none" strike="noStrike" cap="none">
              <a:solidFill>
                <a:srgbClr val="181717"/>
              </a:solidFill>
              <a:highlight>
                <a:srgbClr val="FFFFFF"/>
              </a:highlight>
              <a:latin typeface="Lato"/>
              <a:ea typeface="Lato"/>
              <a:cs typeface="Lato"/>
              <a:sym typeface="Lato"/>
            </a:endParaRPr>
          </a:p>
        </p:txBody>
      </p:sp>
      <p:pic>
        <p:nvPicPr>
          <p:cNvPr id="237" name="Google Shape;237;p28"/>
          <p:cNvPicPr preferRelativeResize="0"/>
          <p:nvPr/>
        </p:nvPicPr>
        <p:blipFill rotWithShape="1">
          <a:blip r:embed="rId5">
            <a:alphaModFix/>
          </a:blip>
          <a:srcRect/>
          <a:stretch/>
        </p:blipFill>
        <p:spPr>
          <a:xfrm>
            <a:off x="636158" y="1581479"/>
            <a:ext cx="61722" cy="109728"/>
          </a:xfrm>
          <a:prstGeom prst="rect">
            <a:avLst/>
          </a:prstGeom>
          <a:noFill/>
          <a:ln>
            <a:noFill/>
          </a:ln>
        </p:spPr>
      </p:pic>
      <p:pic>
        <p:nvPicPr>
          <p:cNvPr id="238" name="Google Shape;238;p28"/>
          <p:cNvPicPr preferRelativeResize="0"/>
          <p:nvPr/>
        </p:nvPicPr>
        <p:blipFill rotWithShape="1">
          <a:blip r:embed="rId6">
            <a:alphaModFix/>
          </a:blip>
          <a:srcRect/>
          <a:stretch/>
        </p:blipFill>
        <p:spPr>
          <a:xfrm>
            <a:off x="1787042" y="1928266"/>
            <a:ext cx="5675900" cy="1027925"/>
          </a:xfrm>
          <a:prstGeom prst="rect">
            <a:avLst/>
          </a:prstGeom>
          <a:noFill/>
          <a:ln>
            <a:noFill/>
          </a:ln>
        </p:spPr>
      </p:pic>
      <p:sp>
        <p:nvSpPr>
          <p:cNvPr id="239" name="Google Shape;239;p28"/>
          <p:cNvSpPr txBox="1"/>
          <p:nvPr/>
        </p:nvSpPr>
        <p:spPr>
          <a:xfrm>
            <a:off x="745942" y="2947266"/>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2). LEFT JOIN (or LEFT OUTER JOIN): </a:t>
            </a:r>
            <a:r>
              <a:rPr lang="en" sz="1400" b="0" i="0" u="none" strike="noStrike" cap="none">
                <a:solidFill>
                  <a:srgbClr val="181717"/>
                </a:solidFill>
                <a:highlight>
                  <a:schemeClr val="lt1"/>
                </a:highlight>
                <a:latin typeface="Lato"/>
                <a:ea typeface="Lato"/>
                <a:cs typeface="Lato"/>
                <a:sym typeface="Lato"/>
              </a:rPr>
              <a:t>A LEFT JOIN returns all rows from the left table and the matched rows from the right table. If there's no match, it returns NULL for columns from the right table.</a:t>
            </a:r>
            <a:endParaRPr sz="1400" b="0" i="0" u="none" strike="noStrike" cap="none">
              <a:solidFill>
                <a:srgbClr val="181717"/>
              </a:solidFill>
              <a:highlight>
                <a:srgbClr val="FFFFFF"/>
              </a:highlight>
              <a:latin typeface="Lato"/>
              <a:ea typeface="Lato"/>
              <a:cs typeface="Lato"/>
              <a:sym typeface="Lato"/>
            </a:endParaRPr>
          </a:p>
        </p:txBody>
      </p:sp>
      <p:pic>
        <p:nvPicPr>
          <p:cNvPr id="240" name="Google Shape;240;p28"/>
          <p:cNvPicPr preferRelativeResize="0"/>
          <p:nvPr/>
        </p:nvPicPr>
        <p:blipFill rotWithShape="1">
          <a:blip r:embed="rId5">
            <a:alphaModFix/>
          </a:blip>
          <a:srcRect/>
          <a:stretch/>
        </p:blipFill>
        <p:spPr>
          <a:xfrm>
            <a:off x="636158" y="3071265"/>
            <a:ext cx="61722" cy="109728"/>
          </a:xfrm>
          <a:prstGeom prst="rect">
            <a:avLst/>
          </a:prstGeom>
          <a:noFill/>
          <a:ln>
            <a:noFill/>
          </a:ln>
        </p:spPr>
      </p:pic>
      <p:pic>
        <p:nvPicPr>
          <p:cNvPr id="241" name="Google Shape;241;p28"/>
          <p:cNvPicPr preferRelativeResize="0"/>
          <p:nvPr/>
        </p:nvPicPr>
        <p:blipFill rotWithShape="1">
          <a:blip r:embed="rId7">
            <a:alphaModFix/>
          </a:blip>
          <a:srcRect/>
          <a:stretch/>
        </p:blipFill>
        <p:spPr>
          <a:xfrm>
            <a:off x="1787041" y="3713166"/>
            <a:ext cx="5675900" cy="1009041"/>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2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47" name="Google Shape;247;p2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48" name="Google Shape;248;p2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49" name="Google Shape;249;p29"/>
          <p:cNvSpPr txBox="1"/>
          <p:nvPr/>
        </p:nvSpPr>
        <p:spPr>
          <a:xfrm>
            <a:off x="745942" y="7602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3). RIGHT JOIN (or RIGHT OUTER JOIN): </a:t>
            </a:r>
            <a:r>
              <a:rPr lang="en" sz="1400" b="0" i="0" u="none" strike="noStrike" cap="none">
                <a:solidFill>
                  <a:srgbClr val="181717"/>
                </a:solidFill>
                <a:highlight>
                  <a:schemeClr val="lt1"/>
                </a:highlight>
                <a:latin typeface="Lato"/>
                <a:ea typeface="Lato"/>
                <a:cs typeface="Lato"/>
                <a:sym typeface="Lato"/>
              </a:rPr>
              <a:t>A RIGHT JOIN returns all rows from the right table and the matched rows from the left table. If there's no match, it returns NULL for columns from the left table.</a:t>
            </a:r>
            <a:endParaRPr sz="1400" b="1" i="0" u="none" strike="noStrike" cap="none">
              <a:solidFill>
                <a:srgbClr val="181717"/>
              </a:solidFill>
              <a:highlight>
                <a:srgbClr val="FFFFFF"/>
              </a:highlight>
              <a:latin typeface="Lato"/>
              <a:ea typeface="Lato"/>
              <a:cs typeface="Lato"/>
              <a:sym typeface="Lato"/>
            </a:endParaRPr>
          </a:p>
        </p:txBody>
      </p:sp>
      <p:pic>
        <p:nvPicPr>
          <p:cNvPr id="250" name="Google Shape;250;p29"/>
          <p:cNvPicPr preferRelativeResize="0"/>
          <p:nvPr/>
        </p:nvPicPr>
        <p:blipFill rotWithShape="1">
          <a:blip r:embed="rId5">
            <a:alphaModFix/>
          </a:blip>
          <a:srcRect/>
          <a:stretch/>
        </p:blipFill>
        <p:spPr>
          <a:xfrm>
            <a:off x="636158" y="884274"/>
            <a:ext cx="61722" cy="109728"/>
          </a:xfrm>
          <a:prstGeom prst="rect">
            <a:avLst/>
          </a:prstGeom>
          <a:noFill/>
          <a:ln>
            <a:noFill/>
          </a:ln>
        </p:spPr>
      </p:pic>
      <p:sp>
        <p:nvSpPr>
          <p:cNvPr id="251" name="Google Shape;251;p29"/>
          <p:cNvSpPr txBox="1"/>
          <p:nvPr/>
        </p:nvSpPr>
        <p:spPr>
          <a:xfrm>
            <a:off x="3291900" y="47605"/>
            <a:ext cx="2535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Joins</a:t>
            </a:r>
            <a:endParaRPr sz="2000" b="1" i="0" u="none" strike="noStrike" cap="none">
              <a:solidFill>
                <a:srgbClr val="FFFFFF"/>
              </a:solidFill>
              <a:latin typeface="Lato"/>
              <a:ea typeface="Lato"/>
              <a:cs typeface="Lato"/>
              <a:sym typeface="Lato"/>
            </a:endParaRPr>
          </a:p>
        </p:txBody>
      </p:sp>
      <p:pic>
        <p:nvPicPr>
          <p:cNvPr id="252" name="Google Shape;252;p29"/>
          <p:cNvPicPr preferRelativeResize="0"/>
          <p:nvPr/>
        </p:nvPicPr>
        <p:blipFill rotWithShape="1">
          <a:blip r:embed="rId6">
            <a:alphaModFix/>
          </a:blip>
          <a:srcRect/>
          <a:stretch/>
        </p:blipFill>
        <p:spPr>
          <a:xfrm>
            <a:off x="1638879" y="1597550"/>
            <a:ext cx="5972224" cy="1076575"/>
          </a:xfrm>
          <a:prstGeom prst="rect">
            <a:avLst/>
          </a:prstGeom>
          <a:noFill/>
          <a:ln>
            <a:noFill/>
          </a:ln>
        </p:spPr>
      </p:pic>
      <p:sp>
        <p:nvSpPr>
          <p:cNvPr id="253" name="Google Shape;253;p29"/>
          <p:cNvSpPr txBox="1"/>
          <p:nvPr/>
        </p:nvSpPr>
        <p:spPr>
          <a:xfrm>
            <a:off x="745942" y="27414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4). FULL OUTER JOIN: </a:t>
            </a:r>
            <a:r>
              <a:rPr lang="en" sz="1400" b="0" i="0" u="none" strike="noStrike" cap="none">
                <a:solidFill>
                  <a:srgbClr val="181717"/>
                </a:solidFill>
                <a:highlight>
                  <a:schemeClr val="lt1"/>
                </a:highlight>
                <a:latin typeface="Lato"/>
                <a:ea typeface="Lato"/>
                <a:cs typeface="Lato"/>
                <a:sym typeface="Lato"/>
              </a:rPr>
              <a:t>A FULL OUTER JOIN returns all rows when there is a match in either the left or the right table. If there's no match, it returns NULL for columns from the table without a match.</a:t>
            </a:r>
            <a:endParaRPr sz="1400" b="1" i="0" u="none" strike="noStrike" cap="none">
              <a:solidFill>
                <a:srgbClr val="181717"/>
              </a:solidFill>
              <a:highlight>
                <a:srgbClr val="FFFFFF"/>
              </a:highlight>
              <a:latin typeface="Lato"/>
              <a:ea typeface="Lato"/>
              <a:cs typeface="Lato"/>
              <a:sym typeface="Lato"/>
            </a:endParaRPr>
          </a:p>
        </p:txBody>
      </p:sp>
      <p:pic>
        <p:nvPicPr>
          <p:cNvPr id="254" name="Google Shape;254;p29"/>
          <p:cNvPicPr preferRelativeResize="0"/>
          <p:nvPr/>
        </p:nvPicPr>
        <p:blipFill rotWithShape="1">
          <a:blip r:embed="rId5">
            <a:alphaModFix/>
          </a:blip>
          <a:srcRect/>
          <a:stretch/>
        </p:blipFill>
        <p:spPr>
          <a:xfrm>
            <a:off x="636158" y="2865475"/>
            <a:ext cx="61722" cy="109728"/>
          </a:xfrm>
          <a:prstGeom prst="rect">
            <a:avLst/>
          </a:prstGeom>
          <a:noFill/>
          <a:ln>
            <a:noFill/>
          </a:ln>
        </p:spPr>
      </p:pic>
      <p:pic>
        <p:nvPicPr>
          <p:cNvPr id="255" name="Google Shape;255;p29"/>
          <p:cNvPicPr preferRelativeResize="0"/>
          <p:nvPr/>
        </p:nvPicPr>
        <p:blipFill rotWithShape="1">
          <a:blip r:embed="rId7">
            <a:alphaModFix/>
          </a:blip>
          <a:srcRect/>
          <a:stretch/>
        </p:blipFill>
        <p:spPr>
          <a:xfrm>
            <a:off x="1655744" y="3547575"/>
            <a:ext cx="5938496" cy="1074066"/>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30"/>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61" name="Google Shape;261;p3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62" name="Google Shape;262;p3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63" name="Google Shape;263;p30"/>
          <p:cNvSpPr txBox="1"/>
          <p:nvPr/>
        </p:nvSpPr>
        <p:spPr>
          <a:xfrm>
            <a:off x="3291900" y="47605"/>
            <a:ext cx="2535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Server - Joins</a:t>
            </a:r>
            <a:endParaRPr sz="2000" b="1" i="0" u="none" strike="noStrike" cap="none">
              <a:solidFill>
                <a:srgbClr val="FFFFFF"/>
              </a:solidFill>
              <a:latin typeface="Lato"/>
              <a:ea typeface="Lato"/>
              <a:cs typeface="Lato"/>
              <a:sym typeface="Lato"/>
            </a:endParaRPr>
          </a:p>
        </p:txBody>
      </p:sp>
      <p:sp>
        <p:nvSpPr>
          <p:cNvPr id="264" name="Google Shape;264;p30"/>
          <p:cNvSpPr txBox="1"/>
          <p:nvPr/>
        </p:nvSpPr>
        <p:spPr>
          <a:xfrm>
            <a:off x="692950" y="882094"/>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5). SELF JOIN: </a:t>
            </a:r>
            <a:r>
              <a:rPr lang="en" sz="1400" b="0" i="0" u="none" strike="noStrike" cap="none">
                <a:solidFill>
                  <a:srgbClr val="181717"/>
                </a:solidFill>
                <a:highlight>
                  <a:schemeClr val="lt1"/>
                </a:highlight>
                <a:latin typeface="Lato"/>
                <a:ea typeface="Lato"/>
                <a:cs typeface="Lato"/>
                <a:sym typeface="Lato"/>
              </a:rPr>
              <a:t>A SELF JOIN is used to join a table with itself. It's often used when you have hierarchical or parent-child relationships within a table.</a:t>
            </a:r>
            <a:endParaRPr sz="1400" b="1" i="0" u="none" strike="noStrike" cap="none">
              <a:solidFill>
                <a:srgbClr val="181717"/>
              </a:solidFill>
              <a:highlight>
                <a:srgbClr val="FFFFFF"/>
              </a:highlight>
              <a:latin typeface="Lato"/>
              <a:ea typeface="Lato"/>
              <a:cs typeface="Lato"/>
              <a:sym typeface="Lato"/>
            </a:endParaRPr>
          </a:p>
        </p:txBody>
      </p:sp>
      <p:pic>
        <p:nvPicPr>
          <p:cNvPr id="265" name="Google Shape;265;p30"/>
          <p:cNvPicPr preferRelativeResize="0"/>
          <p:nvPr/>
        </p:nvPicPr>
        <p:blipFill rotWithShape="1">
          <a:blip r:embed="rId5">
            <a:alphaModFix/>
          </a:blip>
          <a:srcRect/>
          <a:stretch/>
        </p:blipFill>
        <p:spPr>
          <a:xfrm>
            <a:off x="583167" y="1006093"/>
            <a:ext cx="61722" cy="109728"/>
          </a:xfrm>
          <a:prstGeom prst="rect">
            <a:avLst/>
          </a:prstGeom>
          <a:noFill/>
          <a:ln>
            <a:noFill/>
          </a:ln>
        </p:spPr>
      </p:pic>
      <p:pic>
        <p:nvPicPr>
          <p:cNvPr id="266" name="Google Shape;266;p30"/>
          <p:cNvPicPr preferRelativeResize="0"/>
          <p:nvPr/>
        </p:nvPicPr>
        <p:blipFill rotWithShape="1">
          <a:blip r:embed="rId6">
            <a:alphaModFix/>
          </a:blip>
          <a:srcRect/>
          <a:stretch/>
        </p:blipFill>
        <p:spPr>
          <a:xfrm>
            <a:off x="1585738" y="1663094"/>
            <a:ext cx="5972525" cy="1073625"/>
          </a:xfrm>
          <a:prstGeom prst="rect">
            <a:avLst/>
          </a:prstGeom>
          <a:noFill/>
          <a:ln>
            <a:noFill/>
          </a:ln>
        </p:spPr>
      </p:pic>
      <p:sp>
        <p:nvSpPr>
          <p:cNvPr id="267" name="Google Shape;267;p30"/>
          <p:cNvSpPr txBox="1"/>
          <p:nvPr/>
        </p:nvSpPr>
        <p:spPr>
          <a:xfrm>
            <a:off x="692950" y="2787094"/>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6). CROSS JOIN: </a:t>
            </a:r>
            <a:r>
              <a:rPr lang="en" sz="1400" b="0" i="0" u="none" strike="noStrike" cap="none">
                <a:solidFill>
                  <a:srgbClr val="181717"/>
                </a:solidFill>
                <a:highlight>
                  <a:srgbClr val="FFFFFF"/>
                </a:highlight>
                <a:latin typeface="Lato"/>
                <a:ea typeface="Lato"/>
                <a:cs typeface="Lato"/>
                <a:sym typeface="Lato"/>
              </a:rPr>
              <a:t>A CROSS JOIN returns the Cartesian product of two tables, meaning it combines every row from the first table with every row from the second table.</a:t>
            </a:r>
            <a:endParaRPr sz="1400" b="0" i="0" u="none" strike="noStrike" cap="none">
              <a:solidFill>
                <a:srgbClr val="181717"/>
              </a:solidFill>
              <a:highlight>
                <a:srgbClr val="FFFFFF"/>
              </a:highlight>
              <a:latin typeface="Lato"/>
              <a:ea typeface="Lato"/>
              <a:cs typeface="Lato"/>
              <a:sym typeface="Lato"/>
            </a:endParaRPr>
          </a:p>
        </p:txBody>
      </p:sp>
      <p:pic>
        <p:nvPicPr>
          <p:cNvPr id="268" name="Google Shape;268;p30"/>
          <p:cNvPicPr preferRelativeResize="0"/>
          <p:nvPr/>
        </p:nvPicPr>
        <p:blipFill rotWithShape="1">
          <a:blip r:embed="rId5">
            <a:alphaModFix/>
          </a:blip>
          <a:srcRect/>
          <a:stretch/>
        </p:blipFill>
        <p:spPr>
          <a:xfrm>
            <a:off x="583167" y="2911093"/>
            <a:ext cx="61722" cy="109728"/>
          </a:xfrm>
          <a:prstGeom prst="rect">
            <a:avLst/>
          </a:prstGeom>
          <a:noFill/>
          <a:ln>
            <a:noFill/>
          </a:ln>
        </p:spPr>
      </p:pic>
      <p:pic>
        <p:nvPicPr>
          <p:cNvPr id="269" name="Google Shape;269;p30"/>
          <p:cNvPicPr preferRelativeResize="0"/>
          <p:nvPr/>
        </p:nvPicPr>
        <p:blipFill rotWithShape="1">
          <a:blip r:embed="rId7">
            <a:alphaModFix/>
          </a:blip>
          <a:srcRect/>
          <a:stretch/>
        </p:blipFill>
        <p:spPr>
          <a:xfrm>
            <a:off x="1585738" y="3531744"/>
            <a:ext cx="5972525" cy="840869"/>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3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75" name="Google Shape;275;p3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76" name="Google Shape;276;p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77" name="Google Shape;277;p31"/>
          <p:cNvSpPr txBox="1"/>
          <p:nvPr/>
        </p:nvSpPr>
        <p:spPr>
          <a:xfrm>
            <a:off x="3510100" y="46313"/>
            <a:ext cx="2127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Create Database</a:t>
            </a:r>
            <a:endParaRPr sz="2000" b="1" i="0" u="none" strike="noStrike" cap="none">
              <a:solidFill>
                <a:srgbClr val="FFFFFF"/>
              </a:solidFill>
              <a:latin typeface="Lato"/>
              <a:ea typeface="Lato"/>
              <a:cs typeface="Lato"/>
              <a:sym typeface="Lato"/>
            </a:endParaRPr>
          </a:p>
        </p:txBody>
      </p:sp>
      <p:sp>
        <p:nvSpPr>
          <p:cNvPr id="278" name="Google Shape;278;p31"/>
          <p:cNvSpPr txBox="1"/>
          <p:nvPr/>
        </p:nvSpPr>
        <p:spPr>
          <a:xfrm>
            <a:off x="692950" y="859284"/>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In SQL Server, a database is made up of a collection of objects like tables, functions, stored procedures, views etc. Each instance of SQL Server can have one or more databases. SQL Server databases are stored in the file system as files.</a:t>
            </a:r>
            <a:endParaRPr sz="1400" b="0" i="0" u="none" strike="noStrike" cap="none">
              <a:solidFill>
                <a:srgbClr val="181717"/>
              </a:solidFill>
              <a:highlight>
                <a:srgbClr val="FFFFFF"/>
              </a:highlight>
              <a:latin typeface="Lato"/>
              <a:ea typeface="Lato"/>
              <a:cs typeface="Lato"/>
              <a:sym typeface="Lato"/>
            </a:endParaRPr>
          </a:p>
        </p:txBody>
      </p:sp>
      <p:pic>
        <p:nvPicPr>
          <p:cNvPr id="279" name="Google Shape;279;p31"/>
          <p:cNvPicPr preferRelativeResize="0"/>
          <p:nvPr/>
        </p:nvPicPr>
        <p:blipFill rotWithShape="1">
          <a:blip r:embed="rId5">
            <a:alphaModFix/>
          </a:blip>
          <a:srcRect/>
          <a:stretch/>
        </p:blipFill>
        <p:spPr>
          <a:xfrm>
            <a:off x="583167" y="1006093"/>
            <a:ext cx="61722" cy="109728"/>
          </a:xfrm>
          <a:prstGeom prst="rect">
            <a:avLst/>
          </a:prstGeom>
          <a:noFill/>
          <a:ln>
            <a:noFill/>
          </a:ln>
        </p:spPr>
      </p:pic>
      <p:sp>
        <p:nvSpPr>
          <p:cNvPr id="280" name="Google Shape;280;p31"/>
          <p:cNvSpPr txBox="1"/>
          <p:nvPr/>
        </p:nvSpPr>
        <p:spPr>
          <a:xfrm>
            <a:off x="692950" y="16746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A login is used to gain access to a SQL Server instance and a database user is used to access a database. SQL Server Management Studio is widely used to work with a SQL Server database.</a:t>
            </a:r>
            <a:endParaRPr sz="1400" b="0" i="0" u="none" strike="noStrike" cap="none">
              <a:solidFill>
                <a:srgbClr val="181717"/>
              </a:solidFill>
              <a:highlight>
                <a:srgbClr val="FFFFFF"/>
              </a:highlight>
              <a:latin typeface="Lato"/>
              <a:ea typeface="Lato"/>
              <a:cs typeface="Lato"/>
              <a:sym typeface="Lato"/>
            </a:endParaRPr>
          </a:p>
        </p:txBody>
      </p:sp>
      <p:pic>
        <p:nvPicPr>
          <p:cNvPr id="281" name="Google Shape;281;p31"/>
          <p:cNvPicPr preferRelativeResize="0"/>
          <p:nvPr/>
        </p:nvPicPr>
        <p:blipFill rotWithShape="1">
          <a:blip r:embed="rId5">
            <a:alphaModFix/>
          </a:blip>
          <a:srcRect/>
          <a:stretch/>
        </p:blipFill>
        <p:spPr>
          <a:xfrm>
            <a:off x="583167" y="1821484"/>
            <a:ext cx="61722" cy="109728"/>
          </a:xfrm>
          <a:prstGeom prst="rect">
            <a:avLst/>
          </a:prstGeom>
          <a:noFill/>
          <a:ln>
            <a:noFill/>
          </a:ln>
        </p:spPr>
      </p:pic>
      <p:sp>
        <p:nvSpPr>
          <p:cNvPr id="282" name="Google Shape;282;p31"/>
          <p:cNvSpPr txBox="1"/>
          <p:nvPr/>
        </p:nvSpPr>
        <p:spPr>
          <a:xfrm>
            <a:off x="692950" y="2250061"/>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Type of Database in SQL Server</a:t>
            </a:r>
            <a:br>
              <a:rPr lang="en" sz="1400" b="1" i="0" u="none" strike="noStrike" cap="none">
                <a:solidFill>
                  <a:srgbClr val="181717"/>
                </a:solidFill>
                <a:highlight>
                  <a:srgbClr val="FFFFFF"/>
                </a:highlight>
                <a:latin typeface="Lato"/>
                <a:ea typeface="Lato"/>
                <a:cs typeface="Lato"/>
                <a:sym typeface="Lato"/>
              </a:rPr>
            </a:br>
            <a:r>
              <a:rPr lang="en" sz="1400" b="0" i="0" u="none" strike="noStrike" cap="none">
                <a:solidFill>
                  <a:srgbClr val="181717"/>
                </a:solidFill>
                <a:highlight>
                  <a:srgbClr val="FFFFFF"/>
                </a:highlight>
                <a:latin typeface="Lato"/>
                <a:ea typeface="Lato"/>
                <a:cs typeface="Lato"/>
                <a:sym typeface="Lato"/>
              </a:rPr>
              <a:t>There are two types of databases in SQL Server: </a:t>
            </a:r>
            <a:r>
              <a:rPr lang="en" sz="1400" b="1" i="0" u="none" strike="noStrike" cap="none">
                <a:solidFill>
                  <a:srgbClr val="181717"/>
                </a:solidFill>
                <a:highlight>
                  <a:srgbClr val="FFFFFF"/>
                </a:highlight>
                <a:latin typeface="Lato"/>
                <a:ea typeface="Lato"/>
                <a:cs typeface="Lato"/>
                <a:sym typeface="Lato"/>
              </a:rPr>
              <a:t>System Database</a:t>
            </a:r>
            <a:r>
              <a:rPr lang="en" sz="1400" b="0" i="0" u="none" strike="noStrike" cap="none">
                <a:solidFill>
                  <a:srgbClr val="181717"/>
                </a:solidFill>
                <a:highlight>
                  <a:srgbClr val="FFFFFF"/>
                </a:highlight>
                <a:latin typeface="Lato"/>
                <a:ea typeface="Lato"/>
                <a:cs typeface="Lato"/>
                <a:sym typeface="Lato"/>
              </a:rPr>
              <a:t> and </a:t>
            </a:r>
            <a:r>
              <a:rPr lang="en" sz="1400" b="1" i="0" u="none" strike="noStrike" cap="none">
                <a:solidFill>
                  <a:srgbClr val="181717"/>
                </a:solidFill>
                <a:highlight>
                  <a:srgbClr val="FFFFFF"/>
                </a:highlight>
                <a:latin typeface="Lato"/>
                <a:ea typeface="Lato"/>
                <a:cs typeface="Lato"/>
                <a:sym typeface="Lato"/>
              </a:rPr>
              <a:t>User Database</a:t>
            </a:r>
            <a:r>
              <a:rPr lang="en" sz="1400" b="0" i="0" u="none" strike="noStrike" cap="none">
                <a:solidFill>
                  <a:srgbClr val="181717"/>
                </a:solidFill>
                <a:highlight>
                  <a:srgbClr val="FFFFFF"/>
                </a:highlight>
                <a:latin typeface="Lato"/>
                <a:ea typeface="Lato"/>
                <a:cs typeface="Lato"/>
                <a:sym typeface="Lato"/>
              </a:rPr>
              <a:t>.</a:t>
            </a:r>
            <a:endParaRPr sz="1400" b="0" i="0" u="none" strike="noStrike" cap="none">
              <a:solidFill>
                <a:srgbClr val="181717"/>
              </a:solidFill>
              <a:highlight>
                <a:srgbClr val="FFFFFF"/>
              </a:highlight>
              <a:latin typeface="Lato"/>
              <a:ea typeface="Lato"/>
              <a:cs typeface="Lato"/>
              <a:sym typeface="Lato"/>
            </a:endParaRPr>
          </a:p>
        </p:txBody>
      </p:sp>
      <p:pic>
        <p:nvPicPr>
          <p:cNvPr id="283" name="Google Shape;283;p31"/>
          <p:cNvPicPr preferRelativeResize="0"/>
          <p:nvPr/>
        </p:nvPicPr>
        <p:blipFill rotWithShape="1">
          <a:blip r:embed="rId5">
            <a:alphaModFix/>
          </a:blip>
          <a:srcRect/>
          <a:stretch/>
        </p:blipFill>
        <p:spPr>
          <a:xfrm>
            <a:off x="583167" y="2396870"/>
            <a:ext cx="61722" cy="109728"/>
          </a:xfrm>
          <a:prstGeom prst="rect">
            <a:avLst/>
          </a:prstGeom>
          <a:noFill/>
          <a:ln>
            <a:noFill/>
          </a:ln>
        </p:spPr>
      </p:pic>
      <p:sp>
        <p:nvSpPr>
          <p:cNvPr id="284" name="Google Shape;284;p31"/>
          <p:cNvSpPr txBox="1"/>
          <p:nvPr/>
        </p:nvSpPr>
        <p:spPr>
          <a:xfrm>
            <a:off x="692950" y="2817675"/>
            <a:ext cx="7761900" cy="1887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181717"/>
                </a:solidFill>
                <a:highlight>
                  <a:srgbClr val="FFFFFF"/>
                </a:highlight>
                <a:latin typeface="Lato"/>
                <a:ea typeface="Lato"/>
                <a:cs typeface="Lato"/>
                <a:sym typeface="Lato"/>
              </a:rPr>
              <a:t>System databases</a:t>
            </a:r>
            <a:r>
              <a:rPr lang="en" sz="1400" b="0" i="0" u="none" strike="noStrike" cap="none">
                <a:solidFill>
                  <a:srgbClr val="181717"/>
                </a:solidFill>
                <a:highlight>
                  <a:srgbClr val="FFFFFF"/>
                </a:highlight>
                <a:latin typeface="Lato"/>
                <a:ea typeface="Lato"/>
                <a:cs typeface="Lato"/>
                <a:sym typeface="Lato"/>
              </a:rPr>
              <a:t> are created automatically when SQL Server is installed. They are used by SSMS and other SQL Server APIs and tools, so it is not recommended to modify the system databases manually.</a:t>
            </a:r>
            <a:br>
              <a:rPr lang="en" sz="1400" b="0" i="0" u="none" strike="noStrike" cap="none">
                <a:solidFill>
                  <a:srgbClr val="181717"/>
                </a:solidFill>
                <a:highlight>
                  <a:srgbClr val="FFFFFF"/>
                </a:highlight>
                <a:latin typeface="Lato"/>
                <a:ea typeface="Lato"/>
                <a:cs typeface="Lato"/>
                <a:sym typeface="Lato"/>
              </a:rPr>
            </a:br>
            <a:r>
              <a:rPr lang="en" sz="1400" b="1" i="0" u="none" strike="noStrike" cap="none">
                <a:solidFill>
                  <a:srgbClr val="181717"/>
                </a:solidFill>
                <a:highlight>
                  <a:srgbClr val="FFFFFF"/>
                </a:highlight>
                <a:latin typeface="Lato"/>
                <a:ea typeface="Lato"/>
                <a:cs typeface="Lato"/>
                <a:sym typeface="Lato"/>
              </a:rPr>
              <a:t>The followings are the system databases:</a:t>
            </a:r>
            <a:endParaRPr sz="1400" b="1" i="0" u="none" strike="noStrike" cap="none">
              <a:solidFill>
                <a:srgbClr val="181717"/>
              </a:solidFill>
              <a:highlight>
                <a:srgbClr val="FFFFFF"/>
              </a:highlight>
              <a:latin typeface="Lato"/>
              <a:ea typeface="Lato"/>
              <a:cs typeface="Lato"/>
              <a:sym typeface="Lato"/>
            </a:endParaRPr>
          </a:p>
          <a:p>
            <a:pPr marL="457200" marR="0" lvl="0" indent="-317500" algn="just"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master: master database stores all system level information for an instance of SQL Server. It includes instance-wide metadata such as logon accounts, endpoints, linked servers, and system configuration settings.</a:t>
            </a:r>
            <a:endParaRPr sz="1400" b="0" i="0" u="none" strike="noStrike" cap="none">
              <a:solidFill>
                <a:srgbClr val="181717"/>
              </a:solidFill>
              <a:highlight>
                <a:srgbClr val="FFFFFF"/>
              </a:highlight>
              <a:latin typeface="Lato"/>
              <a:ea typeface="Lato"/>
              <a:cs typeface="Lato"/>
              <a:sym typeface="Lato"/>
            </a:endParaRPr>
          </a:p>
        </p:txBody>
      </p:sp>
      <p:pic>
        <p:nvPicPr>
          <p:cNvPr id="285" name="Google Shape;285;p31"/>
          <p:cNvPicPr preferRelativeResize="0"/>
          <p:nvPr/>
        </p:nvPicPr>
        <p:blipFill rotWithShape="1">
          <a:blip r:embed="rId5">
            <a:alphaModFix/>
          </a:blip>
          <a:srcRect/>
          <a:stretch/>
        </p:blipFill>
        <p:spPr>
          <a:xfrm>
            <a:off x="583167" y="2964484"/>
            <a:ext cx="61722" cy="109728"/>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3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91" name="Google Shape;291;p3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92" name="Google Shape;292;p3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93" name="Google Shape;293;p32"/>
          <p:cNvSpPr txBox="1"/>
          <p:nvPr/>
        </p:nvSpPr>
        <p:spPr>
          <a:xfrm>
            <a:off x="3510100" y="46313"/>
            <a:ext cx="2127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Create Database</a:t>
            </a:r>
            <a:endParaRPr sz="2000" b="1" i="0" u="none" strike="noStrike" cap="none">
              <a:solidFill>
                <a:srgbClr val="FFFFFF"/>
              </a:solidFill>
              <a:latin typeface="Lato"/>
              <a:ea typeface="Lato"/>
              <a:cs typeface="Lato"/>
              <a:sym typeface="Lato"/>
            </a:endParaRPr>
          </a:p>
        </p:txBody>
      </p:sp>
      <p:sp>
        <p:nvSpPr>
          <p:cNvPr id="294" name="Google Shape;294;p32"/>
          <p:cNvSpPr txBox="1"/>
          <p:nvPr/>
        </p:nvSpPr>
        <p:spPr>
          <a:xfrm>
            <a:off x="692950" y="813666"/>
            <a:ext cx="7761900" cy="1887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181717"/>
                </a:solidFill>
                <a:highlight>
                  <a:srgbClr val="FFFFFF"/>
                </a:highlight>
                <a:latin typeface="Lato"/>
                <a:ea typeface="Lato"/>
                <a:cs typeface="Lato"/>
                <a:sym typeface="Lato"/>
              </a:rPr>
              <a:t>The followings are the system databases:</a:t>
            </a:r>
            <a:endParaRPr sz="1400" b="1" i="0" u="none" strike="noStrike" cap="none">
              <a:solidFill>
                <a:srgbClr val="181717"/>
              </a:solidFill>
              <a:highlight>
                <a:srgbClr val="FFFFFF"/>
              </a:highlight>
              <a:latin typeface="Lato"/>
              <a:ea typeface="Lato"/>
              <a:cs typeface="Lato"/>
              <a:sym typeface="Lato"/>
            </a:endParaRPr>
          </a:p>
          <a:p>
            <a:pPr marL="457200" marR="0" lvl="0" indent="-317500" algn="l"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model: model database is used as a template for all databases created on the instance of SQL Server</a:t>
            </a:r>
            <a:endParaRPr sz="1400" b="0" i="0" u="none" strike="noStrike" cap="none">
              <a:solidFill>
                <a:srgbClr val="181717"/>
              </a:solidFill>
              <a:highlight>
                <a:srgbClr val="FFFFFF"/>
              </a:highlight>
              <a:latin typeface="Lato"/>
              <a:ea typeface="Lato"/>
              <a:cs typeface="Lato"/>
              <a:sym typeface="Lato"/>
            </a:endParaRPr>
          </a:p>
          <a:p>
            <a:pPr marL="457200" marR="0" lvl="0" indent="-317500" algn="l"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msdb: msdb database is used by SQL Server Agent for scheduling alerts and jobs and by other features such as SQL Server Management Studio, Service Broker and Database Mail.</a:t>
            </a:r>
            <a:endParaRPr sz="1400" b="0" i="0" u="none" strike="noStrike" cap="none">
              <a:solidFill>
                <a:srgbClr val="181717"/>
              </a:solidFill>
              <a:highlight>
                <a:srgbClr val="FFFFFF"/>
              </a:highlight>
              <a:latin typeface="Lato"/>
              <a:ea typeface="Lato"/>
              <a:cs typeface="Lato"/>
              <a:sym typeface="Lato"/>
            </a:endParaRPr>
          </a:p>
          <a:p>
            <a:pPr marL="457200" marR="0" lvl="0" indent="-317500" algn="l" rtl="0">
              <a:lnSpc>
                <a:spcPct val="115000"/>
              </a:lnSpc>
              <a:spcBef>
                <a:spcPts val="0"/>
              </a:spcBef>
              <a:spcAft>
                <a:spcPts val="0"/>
              </a:spcAft>
              <a:buClr>
                <a:srgbClr val="181717"/>
              </a:buClr>
              <a:buSzPts val="1400"/>
              <a:buFont typeface="Lato"/>
              <a:buChar char="●"/>
            </a:pPr>
            <a:r>
              <a:rPr lang="en" sz="1400" b="0" i="0" u="none" strike="noStrike" cap="none">
                <a:solidFill>
                  <a:srgbClr val="181717"/>
                </a:solidFill>
                <a:highlight>
                  <a:srgbClr val="FFFFFF"/>
                </a:highlight>
                <a:latin typeface="Lato"/>
                <a:ea typeface="Lato"/>
                <a:cs typeface="Lato"/>
                <a:sym typeface="Lato"/>
              </a:rPr>
              <a:t>tempdb: tempdb database is used to hold temporary objects, intermediate result sets, and internal objects that the database engine creates.</a:t>
            </a:r>
            <a:endParaRPr sz="1400" b="0" i="0" u="none" strike="noStrike" cap="none">
              <a:solidFill>
                <a:srgbClr val="181717"/>
              </a:solidFill>
              <a:highlight>
                <a:srgbClr val="FFFFFF"/>
              </a:highlight>
              <a:latin typeface="Lato"/>
              <a:ea typeface="Lato"/>
              <a:cs typeface="Lato"/>
              <a:sym typeface="Lato"/>
            </a:endParaRPr>
          </a:p>
        </p:txBody>
      </p:sp>
      <p:pic>
        <p:nvPicPr>
          <p:cNvPr id="295" name="Google Shape;295;p32"/>
          <p:cNvPicPr preferRelativeResize="0"/>
          <p:nvPr/>
        </p:nvPicPr>
        <p:blipFill rotWithShape="1">
          <a:blip r:embed="rId5">
            <a:alphaModFix/>
          </a:blip>
          <a:srcRect/>
          <a:stretch/>
        </p:blipFill>
        <p:spPr>
          <a:xfrm>
            <a:off x="583167" y="960475"/>
            <a:ext cx="61722" cy="109728"/>
          </a:xfrm>
          <a:prstGeom prst="rect">
            <a:avLst/>
          </a:prstGeom>
          <a:noFill/>
          <a:ln>
            <a:noFill/>
          </a:ln>
        </p:spPr>
      </p:pic>
      <p:sp>
        <p:nvSpPr>
          <p:cNvPr id="296" name="Google Shape;296;p32"/>
          <p:cNvSpPr txBox="1"/>
          <p:nvPr/>
        </p:nvSpPr>
        <p:spPr>
          <a:xfrm>
            <a:off x="692950" y="2611884"/>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User-defined Databases</a:t>
            </a:r>
            <a:r>
              <a:rPr lang="en" sz="1400" b="0" i="0" u="none" strike="noStrike" cap="none">
                <a:solidFill>
                  <a:srgbClr val="181717"/>
                </a:solidFill>
                <a:highlight>
                  <a:srgbClr val="FFFFFF"/>
                </a:highlight>
                <a:latin typeface="Lato"/>
                <a:ea typeface="Lato"/>
                <a:cs typeface="Lato"/>
                <a:sym typeface="Lato"/>
              </a:rPr>
              <a:t> are created by the database user using T-SQL or SSMS for your application data. A maximum of 32767 databases can be created in an SQL Server instance.</a:t>
            </a:r>
            <a:endParaRPr sz="1400" b="0" i="0" u="none" strike="noStrike" cap="none">
              <a:solidFill>
                <a:srgbClr val="181717"/>
              </a:solidFill>
              <a:highlight>
                <a:srgbClr val="FFFFFF"/>
              </a:highlight>
              <a:latin typeface="Lato"/>
              <a:ea typeface="Lato"/>
              <a:cs typeface="Lato"/>
              <a:sym typeface="Lato"/>
            </a:endParaRPr>
          </a:p>
        </p:txBody>
      </p:sp>
      <p:pic>
        <p:nvPicPr>
          <p:cNvPr id="297" name="Google Shape;297;p32"/>
          <p:cNvPicPr preferRelativeResize="0"/>
          <p:nvPr/>
        </p:nvPicPr>
        <p:blipFill rotWithShape="1">
          <a:blip r:embed="rId5">
            <a:alphaModFix/>
          </a:blip>
          <a:srcRect/>
          <a:stretch/>
        </p:blipFill>
        <p:spPr>
          <a:xfrm>
            <a:off x="583167" y="2758693"/>
            <a:ext cx="61722" cy="109728"/>
          </a:xfrm>
          <a:prstGeom prst="rect">
            <a:avLst/>
          </a:prstGeom>
          <a:noFill/>
          <a:ln>
            <a:noFill/>
          </a:ln>
        </p:spPr>
      </p:pic>
      <p:sp>
        <p:nvSpPr>
          <p:cNvPr id="298" name="Google Shape;298;p32"/>
          <p:cNvSpPr txBox="1"/>
          <p:nvPr/>
        </p:nvSpPr>
        <p:spPr>
          <a:xfrm>
            <a:off x="692950" y="3187270"/>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You can execute the SQL script in the query editor using Master database.</a:t>
            </a:r>
            <a:endParaRPr sz="1400" b="1" i="0" u="none" strike="noStrike" cap="none">
              <a:solidFill>
                <a:srgbClr val="181717"/>
              </a:solidFill>
              <a:highlight>
                <a:srgbClr val="FFFFFF"/>
              </a:highlight>
              <a:latin typeface="Lato"/>
              <a:ea typeface="Lato"/>
              <a:cs typeface="Lato"/>
              <a:sym typeface="Lato"/>
            </a:endParaRPr>
          </a:p>
        </p:txBody>
      </p:sp>
      <p:pic>
        <p:nvPicPr>
          <p:cNvPr id="299" name="Google Shape;299;p32"/>
          <p:cNvPicPr preferRelativeResize="0"/>
          <p:nvPr/>
        </p:nvPicPr>
        <p:blipFill rotWithShape="1">
          <a:blip r:embed="rId5">
            <a:alphaModFix/>
          </a:blip>
          <a:srcRect/>
          <a:stretch/>
        </p:blipFill>
        <p:spPr>
          <a:xfrm>
            <a:off x="583167" y="3334079"/>
            <a:ext cx="61722" cy="109728"/>
          </a:xfrm>
          <a:prstGeom prst="rect">
            <a:avLst/>
          </a:prstGeom>
          <a:noFill/>
          <a:ln>
            <a:noFill/>
          </a:ln>
        </p:spPr>
      </p:pic>
      <p:sp>
        <p:nvSpPr>
          <p:cNvPr id="300" name="Google Shape;300;p32"/>
          <p:cNvSpPr txBox="1"/>
          <p:nvPr/>
        </p:nvSpPr>
        <p:spPr>
          <a:xfrm>
            <a:off x="692950" y="3526284"/>
            <a:ext cx="7761900" cy="648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chemeClr val="lt1"/>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USE</a:t>
            </a:r>
            <a:r>
              <a:rPr lang="en" sz="1400" b="0" i="0" u="none" strike="noStrike" cap="none">
                <a:solidFill>
                  <a:schemeClr val="dk1"/>
                </a:solidFill>
                <a:highlight>
                  <a:srgbClr val="FFFFFF"/>
                </a:highlight>
                <a:latin typeface="Lato"/>
                <a:ea typeface="Lato"/>
                <a:cs typeface="Lato"/>
                <a:sym typeface="Lato"/>
              </a:rPr>
              <a:t> master</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4572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&lt;</a:t>
            </a:r>
            <a:r>
              <a:rPr lang="en" sz="1400" b="0" i="0" u="none" strike="noStrike" cap="none">
                <a:solidFill>
                  <a:srgbClr val="0077AA"/>
                </a:solidFill>
                <a:highlight>
                  <a:srgbClr val="FFFFFF"/>
                </a:highlight>
                <a:latin typeface="Lato"/>
                <a:ea typeface="Lato"/>
                <a:cs typeface="Lato"/>
                <a:sym typeface="Lato"/>
              </a:rPr>
              <a:t>database</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name</a:t>
            </a:r>
            <a:r>
              <a:rPr lang="en" sz="1400" b="0" i="0" u="none" strike="noStrike" cap="none">
                <a:solidFill>
                  <a:srgbClr val="9A6E3A"/>
                </a:solidFill>
                <a:highlight>
                  <a:srgbClr val="FFFFFF"/>
                </a:highlight>
                <a:latin typeface="Lato"/>
                <a:ea typeface="Lato"/>
                <a:cs typeface="Lato"/>
                <a:sym typeface="Lato"/>
              </a:rPr>
              <a:t>&gt;</a:t>
            </a:r>
            <a:endParaRPr sz="1400" b="0" i="0" u="none" strike="noStrike" cap="none">
              <a:solidFill>
                <a:srgbClr val="181717"/>
              </a:solidFill>
              <a:highlight>
                <a:srgbClr val="FFFFFF"/>
              </a:highlight>
              <a:latin typeface="Lato"/>
              <a:ea typeface="Lato"/>
              <a:cs typeface="Lato"/>
              <a:sym typeface="Lato"/>
            </a:endParaRPr>
          </a:p>
        </p:txBody>
      </p:sp>
      <p:pic>
        <p:nvPicPr>
          <p:cNvPr id="301" name="Google Shape;301;p32"/>
          <p:cNvPicPr preferRelativeResize="0"/>
          <p:nvPr/>
        </p:nvPicPr>
        <p:blipFill rotWithShape="1">
          <a:blip r:embed="rId5">
            <a:alphaModFix/>
          </a:blip>
          <a:srcRect/>
          <a:stretch/>
        </p:blipFill>
        <p:spPr>
          <a:xfrm>
            <a:off x="583167" y="3673093"/>
            <a:ext cx="61722" cy="109728"/>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306" name="Google Shape;306;p3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07" name="Google Shape;307;p3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08" name="Google Shape;308;p3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09" name="Google Shape;309;p33"/>
          <p:cNvSpPr txBox="1"/>
          <p:nvPr/>
        </p:nvSpPr>
        <p:spPr>
          <a:xfrm>
            <a:off x="3763913" y="46313"/>
            <a:ext cx="161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Create Table</a:t>
            </a:r>
            <a:endParaRPr sz="2000" b="1" i="0" u="none" strike="noStrike" cap="none">
              <a:solidFill>
                <a:srgbClr val="FFFFFF"/>
              </a:solidFill>
              <a:latin typeface="Lato"/>
              <a:ea typeface="Lato"/>
              <a:cs typeface="Lato"/>
              <a:sym typeface="Lato"/>
            </a:endParaRPr>
          </a:p>
        </p:txBody>
      </p:sp>
      <p:sp>
        <p:nvSpPr>
          <p:cNvPr id="310" name="Google Shape;310;p33"/>
          <p:cNvSpPr txBox="1"/>
          <p:nvPr/>
        </p:nvSpPr>
        <p:spPr>
          <a:xfrm>
            <a:off x="692950" y="661266"/>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Tables are database objects that contain all the data in a database. In a table, data is logically organized in rows and columns. Each column represents a field and each row represents a unique record. Each column has a data type associated with it. It represents the type of data in that column. Each table is uniquely named in a database.</a:t>
            </a:r>
            <a:endParaRPr sz="1400" b="1" i="0" u="none" strike="noStrike" cap="none">
              <a:solidFill>
                <a:srgbClr val="181717"/>
              </a:solidFill>
              <a:highlight>
                <a:srgbClr val="FFFFFF"/>
              </a:highlight>
              <a:latin typeface="Lato"/>
              <a:ea typeface="Lato"/>
              <a:cs typeface="Lato"/>
              <a:sym typeface="Lato"/>
            </a:endParaRPr>
          </a:p>
        </p:txBody>
      </p:sp>
      <p:pic>
        <p:nvPicPr>
          <p:cNvPr id="311" name="Google Shape;311;p33"/>
          <p:cNvPicPr preferRelativeResize="0"/>
          <p:nvPr/>
        </p:nvPicPr>
        <p:blipFill rotWithShape="1">
          <a:blip r:embed="rId5">
            <a:alphaModFix/>
          </a:blip>
          <a:srcRect/>
          <a:stretch/>
        </p:blipFill>
        <p:spPr>
          <a:xfrm>
            <a:off x="583167" y="808075"/>
            <a:ext cx="61722" cy="109728"/>
          </a:xfrm>
          <a:prstGeom prst="rect">
            <a:avLst/>
          </a:prstGeom>
          <a:noFill/>
          <a:ln>
            <a:noFill/>
          </a:ln>
        </p:spPr>
      </p:pic>
      <p:sp>
        <p:nvSpPr>
          <p:cNvPr id="312" name="Google Shape;312;p33"/>
          <p:cNvSpPr txBox="1"/>
          <p:nvPr/>
        </p:nvSpPr>
        <p:spPr>
          <a:xfrm>
            <a:off x="692950" y="1716661"/>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Number of tables in a database is only limited by the number of objects allowed in the database (2,147,483,647). A user-defined table can have up to 1024 columns.</a:t>
            </a:r>
            <a:endParaRPr sz="1400" b="1" i="0" u="none" strike="noStrike" cap="none">
              <a:solidFill>
                <a:srgbClr val="181717"/>
              </a:solidFill>
              <a:highlight>
                <a:srgbClr val="FFFFFF"/>
              </a:highlight>
              <a:latin typeface="Lato"/>
              <a:ea typeface="Lato"/>
              <a:cs typeface="Lato"/>
              <a:sym typeface="Lato"/>
            </a:endParaRPr>
          </a:p>
        </p:txBody>
      </p:sp>
      <p:pic>
        <p:nvPicPr>
          <p:cNvPr id="313" name="Google Shape;313;p33"/>
          <p:cNvPicPr preferRelativeResize="0"/>
          <p:nvPr/>
        </p:nvPicPr>
        <p:blipFill rotWithShape="1">
          <a:blip r:embed="rId5">
            <a:alphaModFix/>
          </a:blip>
          <a:srcRect/>
          <a:stretch/>
        </p:blipFill>
        <p:spPr>
          <a:xfrm>
            <a:off x="583167" y="1863470"/>
            <a:ext cx="61722" cy="109728"/>
          </a:xfrm>
          <a:prstGeom prst="rect">
            <a:avLst/>
          </a:prstGeom>
          <a:noFill/>
          <a:ln>
            <a:noFill/>
          </a:ln>
        </p:spPr>
      </p:pic>
      <p:sp>
        <p:nvSpPr>
          <p:cNvPr id="314" name="Google Shape;314;p33"/>
          <p:cNvSpPr txBox="1"/>
          <p:nvPr/>
        </p:nvSpPr>
        <p:spPr>
          <a:xfrm>
            <a:off x="692950" y="2314856"/>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You can execute the CREATE TABLE statement in the query editor of SSMS to create a new table in SQL Server.</a:t>
            </a:r>
            <a:endParaRPr sz="1400" b="1" i="0" u="none" strike="noStrike" cap="none">
              <a:solidFill>
                <a:srgbClr val="181717"/>
              </a:solidFill>
              <a:highlight>
                <a:srgbClr val="FFFFFF"/>
              </a:highlight>
              <a:latin typeface="Lato"/>
              <a:ea typeface="Lato"/>
              <a:cs typeface="Lato"/>
              <a:sym typeface="Lato"/>
            </a:endParaRPr>
          </a:p>
        </p:txBody>
      </p:sp>
      <p:pic>
        <p:nvPicPr>
          <p:cNvPr id="315" name="Google Shape;315;p33"/>
          <p:cNvPicPr preferRelativeResize="0"/>
          <p:nvPr/>
        </p:nvPicPr>
        <p:blipFill rotWithShape="1">
          <a:blip r:embed="rId5">
            <a:alphaModFix/>
          </a:blip>
          <a:srcRect/>
          <a:stretch/>
        </p:blipFill>
        <p:spPr>
          <a:xfrm>
            <a:off x="583167" y="2461665"/>
            <a:ext cx="61722" cy="109728"/>
          </a:xfrm>
          <a:prstGeom prst="rect">
            <a:avLst/>
          </a:prstGeom>
          <a:noFill/>
          <a:ln>
            <a:noFill/>
          </a:ln>
        </p:spPr>
      </p:pic>
      <p:sp>
        <p:nvSpPr>
          <p:cNvPr id="316" name="Google Shape;316;p33"/>
          <p:cNvSpPr txBox="1"/>
          <p:nvPr/>
        </p:nvSpPr>
        <p:spPr>
          <a:xfrm>
            <a:off x="692950" y="2882470"/>
            <a:ext cx="7761900" cy="18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1" i="0" u="none" strike="noStrike" cap="none">
                <a:solidFill>
                  <a:srgbClr val="181717"/>
                </a:solidFill>
                <a:highlight>
                  <a:srgbClr val="FFFFFF"/>
                </a:highlight>
                <a:latin typeface="Lato"/>
                <a:ea typeface="Lato"/>
                <a:cs typeface="Lato"/>
                <a:sym typeface="Lato"/>
              </a:rPr>
              <a:t>Syntax:	</a:t>
            </a:r>
            <a:r>
              <a:rPr lang="en" sz="1400" b="0" i="0" u="none" strike="noStrike" cap="none">
                <a:solidFill>
                  <a:srgbClr val="0077AA"/>
                </a:solidFill>
                <a:highlight>
                  <a:srgbClr val="FFFFFF"/>
                </a:highlight>
                <a:latin typeface="Lato"/>
                <a:ea typeface="Lato"/>
                <a:cs typeface="Lato"/>
                <a:sym typeface="Lato"/>
              </a:rPr>
              <a:t>CREATE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TABLE</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database_name</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schema_name</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table_name </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highlight>
                  <a:srgbClr val="FFFFFF"/>
                </a:highlight>
                <a:latin typeface="Lato"/>
                <a:ea typeface="Lato"/>
                <a:cs typeface="Lato"/>
                <a:sym typeface="Lato"/>
              </a:rPr>
              <a:t>   		 pk_column_name data_type </a:t>
            </a:r>
            <a:r>
              <a:rPr lang="en" sz="1400" b="0" i="0" u="none" strike="noStrike" cap="none">
                <a:solidFill>
                  <a:srgbClr val="0077AA"/>
                </a:solidFill>
                <a:highlight>
                  <a:srgbClr val="FFFFFF"/>
                </a:highlight>
                <a:latin typeface="Lato"/>
                <a:ea typeface="Lato"/>
                <a:cs typeface="Lato"/>
                <a:sym typeface="Lato"/>
              </a:rPr>
              <a:t>PRIMARY</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0077AA"/>
                </a:solidFill>
                <a:highlight>
                  <a:srgbClr val="FFFFFF"/>
                </a:highlight>
                <a:latin typeface="Lato"/>
                <a:ea typeface="Lato"/>
                <a:cs typeface="Lato"/>
                <a:sym typeface="Lato"/>
              </a:rPr>
              <a:t>KEY</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highlight>
                  <a:srgbClr val="FFFFFF"/>
                </a:highlight>
                <a:latin typeface="Lato"/>
                <a:ea typeface="Lato"/>
                <a:cs typeface="Lato"/>
                <a:sym typeface="Lato"/>
              </a:rPr>
              <a:t>    			column_name2 data_type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90055"/>
                </a:solidFill>
                <a:highlight>
                  <a:srgbClr val="FFFFFF"/>
                </a:highlight>
                <a:latin typeface="Lato"/>
                <a:ea typeface="Lato"/>
                <a:cs typeface="Lato"/>
                <a:sym typeface="Lato"/>
              </a:rPr>
              <a:t>NULL</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NOT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0055"/>
                </a:solidFill>
                <a:highlight>
                  <a:srgbClr val="FFFFFF"/>
                </a:highlight>
                <a:latin typeface="Lato"/>
                <a:ea typeface="Lato"/>
                <a:cs typeface="Lato"/>
                <a:sym typeface="Lato"/>
              </a:rPr>
              <a:t>NULL</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9144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highlight>
                  <a:srgbClr val="FFFFFF"/>
                </a:highlight>
                <a:latin typeface="Lato"/>
                <a:ea typeface="Lato"/>
                <a:cs typeface="Lato"/>
                <a:sym typeface="Lato"/>
              </a:rPr>
              <a:t>column_name3 data_type </a:t>
            </a: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rgbClr val="990055"/>
                </a:solidFill>
                <a:highlight>
                  <a:srgbClr val="FFFFFF"/>
                </a:highlight>
                <a:latin typeface="Lato"/>
                <a:ea typeface="Lato"/>
                <a:cs typeface="Lato"/>
                <a:sym typeface="Lato"/>
              </a:rPr>
              <a:t>NULL</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A6E3A"/>
                </a:solidFill>
                <a:highlight>
                  <a:srgbClr val="FFFFFF"/>
                </a:highlight>
                <a:latin typeface="Lato"/>
                <a:ea typeface="Lato"/>
                <a:cs typeface="Lato"/>
                <a:sym typeface="Lato"/>
              </a:rPr>
              <a:t>NOT</a:t>
            </a: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0055"/>
                </a:solidFill>
                <a:highlight>
                  <a:srgbClr val="FFFFFF"/>
                </a:highlight>
                <a:latin typeface="Lato"/>
                <a:ea typeface="Lato"/>
                <a:cs typeface="Lato"/>
                <a:sym typeface="Lato"/>
              </a:rPr>
              <a:t>NULL</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9144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highlight>
                  <a:srgbClr val="FFFFFF"/>
                </a:highlight>
                <a:latin typeface="Lato"/>
                <a:ea typeface="Lato"/>
                <a:cs typeface="Lato"/>
                <a:sym typeface="Lato"/>
              </a:rPr>
              <a:t> </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9144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999999"/>
                </a:solidFill>
                <a:highlight>
                  <a:srgbClr val="FFFFFF"/>
                </a:highlight>
                <a:latin typeface="Lato"/>
                <a:ea typeface="Lato"/>
                <a:cs typeface="Lato"/>
                <a:sym typeface="Lato"/>
              </a:rPr>
              <a:t>[</a:t>
            </a:r>
            <a:r>
              <a:rPr lang="en" sz="1400" b="0" i="0" u="none" strike="noStrike" cap="none">
                <a:solidFill>
                  <a:schemeClr val="dk1"/>
                </a:solidFill>
                <a:highlight>
                  <a:srgbClr val="FFFFFF"/>
                </a:highlight>
                <a:latin typeface="Lato"/>
                <a:ea typeface="Lato"/>
                <a:cs typeface="Lato"/>
                <a:sym typeface="Lato"/>
              </a:rPr>
              <a:t>table_constraints</a:t>
            </a:r>
            <a:r>
              <a:rPr lang="en" sz="1400" b="0" i="0" u="none" strike="noStrike" cap="none">
                <a:solidFill>
                  <a:srgbClr val="999999"/>
                </a:solidFill>
                <a:highlight>
                  <a:srgbClr val="FFFFFF"/>
                </a:highlight>
                <a:latin typeface="Lato"/>
                <a:ea typeface="Lato"/>
                <a:cs typeface="Lato"/>
                <a:sym typeface="Lato"/>
              </a:rPr>
              <a:t>]</a:t>
            </a:r>
            <a:endParaRPr sz="1400" b="0" i="0" u="none" strike="noStrike" cap="none">
              <a:solidFill>
                <a:schemeClr val="dk1"/>
              </a:solidFill>
              <a:highlight>
                <a:srgbClr val="FFFFFF"/>
              </a:highlight>
              <a:latin typeface="Lato"/>
              <a:ea typeface="Lato"/>
              <a:cs typeface="Lato"/>
              <a:sym typeface="Lato"/>
            </a:endParaRPr>
          </a:p>
          <a:p>
            <a:pPr marL="457200" marR="0" lvl="0" indent="457200" algn="just" rtl="0">
              <a:lnSpc>
                <a:spcPct val="115000"/>
              </a:lnSpc>
              <a:spcBef>
                <a:spcPts val="0"/>
              </a:spcBef>
              <a:spcAft>
                <a:spcPts val="0"/>
              </a:spcAft>
              <a:buClr>
                <a:schemeClr val="dk1"/>
              </a:buClr>
              <a:buSzPts val="1100"/>
              <a:buFont typeface="Arial"/>
              <a:buNone/>
            </a:pPr>
            <a:r>
              <a:rPr lang="en" sz="1400" b="0" i="0" u="none" strike="noStrike" cap="none">
                <a:solidFill>
                  <a:srgbClr val="999999"/>
                </a:solidFill>
                <a:highlight>
                  <a:srgbClr val="FFFFFF"/>
                </a:highlight>
                <a:latin typeface="Lato"/>
                <a:ea typeface="Lato"/>
                <a:cs typeface="Lato"/>
                <a:sym typeface="Lato"/>
              </a:rPr>
              <a:t>);</a:t>
            </a:r>
            <a:endParaRPr sz="1400" b="1" i="0" u="none" strike="noStrike" cap="none">
              <a:solidFill>
                <a:srgbClr val="181717"/>
              </a:solidFill>
              <a:highlight>
                <a:srgbClr val="FFFFFF"/>
              </a:highlight>
              <a:latin typeface="Lato"/>
              <a:ea typeface="Lato"/>
              <a:cs typeface="Lato"/>
              <a:sym typeface="Lato"/>
            </a:endParaRPr>
          </a:p>
        </p:txBody>
      </p:sp>
      <p:pic>
        <p:nvPicPr>
          <p:cNvPr id="317" name="Google Shape;317;p33"/>
          <p:cNvPicPr preferRelativeResize="0"/>
          <p:nvPr/>
        </p:nvPicPr>
        <p:blipFill rotWithShape="1">
          <a:blip r:embed="rId5">
            <a:alphaModFix/>
          </a:blip>
          <a:srcRect/>
          <a:stretch/>
        </p:blipFill>
        <p:spPr>
          <a:xfrm>
            <a:off x="583167" y="3029279"/>
            <a:ext cx="61722" cy="109728"/>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3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23" name="Google Shape;323;p3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24" name="Google Shape;324;p3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25" name="Google Shape;325;p34"/>
          <p:cNvSpPr txBox="1"/>
          <p:nvPr/>
        </p:nvSpPr>
        <p:spPr>
          <a:xfrm>
            <a:off x="3763913" y="46313"/>
            <a:ext cx="161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Create Table</a:t>
            </a:r>
            <a:endParaRPr sz="2000" b="1" i="0" u="none" strike="noStrike" cap="none">
              <a:solidFill>
                <a:srgbClr val="FFFFFF"/>
              </a:solidFill>
              <a:latin typeface="Lato"/>
              <a:ea typeface="Lato"/>
              <a:cs typeface="Lato"/>
              <a:sym typeface="Lato"/>
            </a:endParaRPr>
          </a:p>
        </p:txBody>
      </p:sp>
      <p:sp>
        <p:nvSpPr>
          <p:cNvPr id="326" name="Google Shape;326;p34"/>
          <p:cNvSpPr txBox="1"/>
          <p:nvPr/>
        </p:nvSpPr>
        <p:spPr>
          <a:xfrm>
            <a:off x="692950" y="661266"/>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181717"/>
                </a:solidFill>
                <a:highlight>
                  <a:srgbClr val="FFFFFF"/>
                </a:highlight>
                <a:latin typeface="Lato"/>
                <a:ea typeface="Lato"/>
                <a:cs typeface="Lato"/>
                <a:sym typeface="Lato"/>
              </a:rPr>
              <a:t>Tables are database objects that contain all the data in a database. In a table, data is logically organized in rows and columns. Each column represents a field and each row represents a unique record. Each column has a data type associated with it. It represents the type of data in that column. Each table is uniquely named in a database.</a:t>
            </a:r>
            <a:endParaRPr sz="1400" b="1" i="0" u="none" strike="noStrike" cap="none">
              <a:solidFill>
                <a:srgbClr val="181717"/>
              </a:solidFill>
              <a:highlight>
                <a:srgbClr val="FFFFFF"/>
              </a:highlight>
              <a:latin typeface="Lato"/>
              <a:ea typeface="Lato"/>
              <a:cs typeface="Lato"/>
              <a:sym typeface="Lato"/>
            </a:endParaRPr>
          </a:p>
        </p:txBody>
      </p:sp>
      <p:pic>
        <p:nvPicPr>
          <p:cNvPr id="327" name="Google Shape;327;p34"/>
          <p:cNvPicPr preferRelativeResize="0"/>
          <p:nvPr/>
        </p:nvPicPr>
        <p:blipFill rotWithShape="1">
          <a:blip r:embed="rId5">
            <a:alphaModFix/>
          </a:blip>
          <a:srcRect/>
          <a:stretch/>
        </p:blipFill>
        <p:spPr>
          <a:xfrm>
            <a:off x="583167" y="808075"/>
            <a:ext cx="61722" cy="109728"/>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Achieved</a:t>
            </a:r>
            <a:endParaRPr sz="2000" b="1" i="0" u="none" strike="noStrike" cap="none">
              <a:solidFill>
                <a:srgbClr val="FFFFFF"/>
              </a:solidFill>
              <a:latin typeface="Lato"/>
              <a:ea typeface="Lato"/>
              <a:cs typeface="Lato"/>
              <a:sym typeface="Lato"/>
            </a:endParaRPr>
          </a:p>
        </p:txBody>
      </p:sp>
      <p:pic>
        <p:nvPicPr>
          <p:cNvPr id="71" name="Google Shape;71;p4"/>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2" name="Google Shape;72;p4"/>
          <p:cNvSpPr txBox="1"/>
          <p:nvPr/>
        </p:nvSpPr>
        <p:spPr>
          <a:xfrm>
            <a:off x="3683999" y="46325"/>
            <a:ext cx="1751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In this course</a:t>
            </a:r>
            <a:endParaRPr sz="2000" b="1" i="0" u="none" strike="noStrike" cap="none">
              <a:solidFill>
                <a:srgbClr val="FFFFFF"/>
              </a:solidFill>
              <a:latin typeface="Lato"/>
              <a:ea typeface="Lato"/>
              <a:cs typeface="Lato"/>
              <a:sym typeface="Lato"/>
            </a:endParaRPr>
          </a:p>
        </p:txBody>
      </p:sp>
      <p:sp>
        <p:nvSpPr>
          <p:cNvPr id="73" name="Google Shape;73;p4"/>
          <p:cNvSpPr txBox="1"/>
          <p:nvPr/>
        </p:nvSpPr>
        <p:spPr>
          <a:xfrm>
            <a:off x="305950" y="734057"/>
            <a:ext cx="6819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222222"/>
                </a:solidFill>
                <a:latin typeface="Lato"/>
                <a:ea typeface="Lato"/>
                <a:cs typeface="Lato"/>
                <a:sym typeface="Lato"/>
              </a:rPr>
              <a:t>What we are learning in this session</a:t>
            </a:r>
            <a:endParaRPr sz="1600" b="1" i="0" u="none" strike="noStrike" cap="none">
              <a:solidFill>
                <a:srgbClr val="222222"/>
              </a:solidFill>
              <a:latin typeface="Lato"/>
              <a:ea typeface="Lato"/>
              <a:cs typeface="Lato"/>
              <a:sym typeface="Lato"/>
            </a:endParaRPr>
          </a:p>
        </p:txBody>
      </p:sp>
      <p:pic>
        <p:nvPicPr>
          <p:cNvPr id="74" name="Google Shape;74;p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5" name="Google Shape;75;p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76" name="Google Shape;76;p4"/>
          <p:cNvSpPr txBox="1"/>
          <p:nvPr/>
        </p:nvSpPr>
        <p:spPr>
          <a:xfrm>
            <a:off x="510275" y="10246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Transactions - TCL Command</a:t>
            </a:r>
            <a:endParaRPr sz="1400" b="0" i="0" u="none" strike="noStrike" cap="none">
              <a:solidFill>
                <a:srgbClr val="222222"/>
              </a:solidFill>
              <a:latin typeface="Lato"/>
              <a:ea typeface="Lato"/>
              <a:cs typeface="Lato"/>
              <a:sym typeface="Lato"/>
            </a:endParaRPr>
          </a:p>
        </p:txBody>
      </p:sp>
      <p:pic>
        <p:nvPicPr>
          <p:cNvPr id="77" name="Google Shape;77;p4"/>
          <p:cNvPicPr preferRelativeResize="0"/>
          <p:nvPr/>
        </p:nvPicPr>
        <p:blipFill rotWithShape="1">
          <a:blip r:embed="rId5">
            <a:alphaModFix/>
          </a:blip>
          <a:srcRect/>
          <a:stretch/>
        </p:blipFill>
        <p:spPr>
          <a:xfrm>
            <a:off x="400492" y="1148637"/>
            <a:ext cx="61722" cy="109728"/>
          </a:xfrm>
          <a:prstGeom prst="rect">
            <a:avLst/>
          </a:prstGeom>
          <a:noFill/>
          <a:ln>
            <a:noFill/>
          </a:ln>
        </p:spPr>
      </p:pic>
      <p:sp>
        <p:nvSpPr>
          <p:cNvPr id="78" name="Google Shape;78;p4"/>
          <p:cNvSpPr txBox="1"/>
          <p:nvPr/>
        </p:nvSpPr>
        <p:spPr>
          <a:xfrm>
            <a:off x="510275" y="13294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Error Handling in SQL</a:t>
            </a:r>
            <a:endParaRPr sz="1400" b="0" i="0" u="none" strike="noStrike" cap="none">
              <a:solidFill>
                <a:srgbClr val="222222"/>
              </a:solidFill>
              <a:latin typeface="Lato"/>
              <a:ea typeface="Lato"/>
              <a:cs typeface="Lato"/>
              <a:sym typeface="Lato"/>
            </a:endParaRPr>
          </a:p>
        </p:txBody>
      </p:sp>
      <p:pic>
        <p:nvPicPr>
          <p:cNvPr id="79" name="Google Shape;79;p4"/>
          <p:cNvPicPr preferRelativeResize="0"/>
          <p:nvPr/>
        </p:nvPicPr>
        <p:blipFill rotWithShape="1">
          <a:blip r:embed="rId5">
            <a:alphaModFix/>
          </a:blip>
          <a:srcRect/>
          <a:stretch/>
        </p:blipFill>
        <p:spPr>
          <a:xfrm>
            <a:off x="400492" y="1453437"/>
            <a:ext cx="61722" cy="109728"/>
          </a:xfrm>
          <a:prstGeom prst="rect">
            <a:avLst/>
          </a:prstGeom>
          <a:noFill/>
          <a:ln>
            <a:noFill/>
          </a:ln>
        </p:spPr>
      </p:pic>
      <p:sp>
        <p:nvSpPr>
          <p:cNvPr id="80" name="Google Shape;80;p4"/>
          <p:cNvSpPr txBox="1"/>
          <p:nvPr/>
        </p:nvSpPr>
        <p:spPr>
          <a:xfrm>
            <a:off x="510275" y="16342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CTE</a:t>
            </a:r>
            <a:endParaRPr sz="1400" b="0" i="0" u="none" strike="noStrike" cap="none">
              <a:solidFill>
                <a:srgbClr val="222222"/>
              </a:solidFill>
              <a:latin typeface="Lato"/>
              <a:ea typeface="Lato"/>
              <a:cs typeface="Lato"/>
              <a:sym typeface="Lato"/>
            </a:endParaRPr>
          </a:p>
        </p:txBody>
      </p:sp>
      <p:pic>
        <p:nvPicPr>
          <p:cNvPr id="81" name="Google Shape;81;p4"/>
          <p:cNvPicPr preferRelativeResize="0"/>
          <p:nvPr/>
        </p:nvPicPr>
        <p:blipFill rotWithShape="1">
          <a:blip r:embed="rId5">
            <a:alphaModFix/>
          </a:blip>
          <a:srcRect/>
          <a:stretch/>
        </p:blipFill>
        <p:spPr>
          <a:xfrm>
            <a:off x="400492" y="1758237"/>
            <a:ext cx="61722" cy="109728"/>
          </a:xfrm>
          <a:prstGeom prst="rect">
            <a:avLst/>
          </a:prstGeom>
          <a:noFill/>
          <a:ln>
            <a:noFill/>
          </a:ln>
        </p:spPr>
      </p:pic>
      <p:sp>
        <p:nvSpPr>
          <p:cNvPr id="82" name="Google Shape;82;p4"/>
          <p:cNvSpPr txBox="1"/>
          <p:nvPr/>
        </p:nvSpPr>
        <p:spPr>
          <a:xfrm>
            <a:off x="510275" y="19390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Temp Table</a:t>
            </a:r>
            <a:endParaRPr sz="1400" b="0" i="0" u="none" strike="noStrike" cap="none">
              <a:solidFill>
                <a:srgbClr val="222222"/>
              </a:solidFill>
              <a:latin typeface="Lato"/>
              <a:ea typeface="Lato"/>
              <a:cs typeface="Lato"/>
              <a:sym typeface="Lato"/>
            </a:endParaRPr>
          </a:p>
        </p:txBody>
      </p:sp>
      <p:pic>
        <p:nvPicPr>
          <p:cNvPr id="83" name="Google Shape;83;p4"/>
          <p:cNvPicPr preferRelativeResize="0"/>
          <p:nvPr/>
        </p:nvPicPr>
        <p:blipFill rotWithShape="1">
          <a:blip r:embed="rId5">
            <a:alphaModFix/>
          </a:blip>
          <a:srcRect/>
          <a:stretch/>
        </p:blipFill>
        <p:spPr>
          <a:xfrm>
            <a:off x="400492" y="2063037"/>
            <a:ext cx="61722" cy="109728"/>
          </a:xfrm>
          <a:prstGeom prst="rect">
            <a:avLst/>
          </a:prstGeom>
          <a:noFill/>
          <a:ln>
            <a:noFill/>
          </a:ln>
        </p:spPr>
      </p:pic>
      <p:sp>
        <p:nvSpPr>
          <p:cNvPr id="84" name="Google Shape;84;p4"/>
          <p:cNvSpPr txBox="1"/>
          <p:nvPr/>
        </p:nvSpPr>
        <p:spPr>
          <a:xfrm>
            <a:off x="510275" y="22438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Variables</a:t>
            </a:r>
            <a:endParaRPr sz="1400" b="0" i="0" u="none" strike="noStrike" cap="none">
              <a:solidFill>
                <a:srgbClr val="222222"/>
              </a:solidFill>
              <a:latin typeface="Lato"/>
              <a:ea typeface="Lato"/>
              <a:cs typeface="Lato"/>
              <a:sym typeface="Lato"/>
            </a:endParaRPr>
          </a:p>
        </p:txBody>
      </p:sp>
      <p:pic>
        <p:nvPicPr>
          <p:cNvPr id="85" name="Google Shape;85;p4"/>
          <p:cNvPicPr preferRelativeResize="0"/>
          <p:nvPr/>
        </p:nvPicPr>
        <p:blipFill rotWithShape="1">
          <a:blip r:embed="rId5">
            <a:alphaModFix/>
          </a:blip>
          <a:srcRect/>
          <a:stretch/>
        </p:blipFill>
        <p:spPr>
          <a:xfrm>
            <a:off x="400492" y="2367837"/>
            <a:ext cx="61722" cy="109728"/>
          </a:xfrm>
          <a:prstGeom prst="rect">
            <a:avLst/>
          </a:prstGeom>
          <a:noFill/>
          <a:ln>
            <a:noFill/>
          </a:ln>
        </p:spPr>
      </p:pic>
      <p:sp>
        <p:nvSpPr>
          <p:cNvPr id="86" name="Google Shape;86;p4"/>
          <p:cNvSpPr txBox="1"/>
          <p:nvPr/>
        </p:nvSpPr>
        <p:spPr>
          <a:xfrm>
            <a:off x="510275" y="25486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Constraints</a:t>
            </a:r>
            <a:endParaRPr sz="1400" b="0" i="0" u="none" strike="noStrike" cap="none">
              <a:solidFill>
                <a:srgbClr val="222222"/>
              </a:solidFill>
              <a:latin typeface="Lato"/>
              <a:ea typeface="Lato"/>
              <a:cs typeface="Lato"/>
              <a:sym typeface="Lato"/>
            </a:endParaRPr>
          </a:p>
        </p:txBody>
      </p:sp>
      <p:pic>
        <p:nvPicPr>
          <p:cNvPr id="87" name="Google Shape;87;p4"/>
          <p:cNvPicPr preferRelativeResize="0"/>
          <p:nvPr/>
        </p:nvPicPr>
        <p:blipFill rotWithShape="1">
          <a:blip r:embed="rId5">
            <a:alphaModFix/>
          </a:blip>
          <a:srcRect/>
          <a:stretch/>
        </p:blipFill>
        <p:spPr>
          <a:xfrm>
            <a:off x="400492" y="2672637"/>
            <a:ext cx="61722" cy="109728"/>
          </a:xfrm>
          <a:prstGeom prst="rect">
            <a:avLst/>
          </a:prstGeom>
          <a:noFill/>
          <a:ln>
            <a:noFill/>
          </a:ln>
        </p:spPr>
      </p:pic>
      <p:sp>
        <p:nvSpPr>
          <p:cNvPr id="88" name="Google Shape;88;p4"/>
          <p:cNvSpPr txBox="1"/>
          <p:nvPr/>
        </p:nvSpPr>
        <p:spPr>
          <a:xfrm>
            <a:off x="510275" y="28534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Clustered vs Nonclustered</a:t>
            </a:r>
            <a:endParaRPr sz="1400" b="0" i="0" u="none" strike="noStrike" cap="none">
              <a:solidFill>
                <a:srgbClr val="222222"/>
              </a:solidFill>
              <a:latin typeface="Lato"/>
              <a:ea typeface="Lato"/>
              <a:cs typeface="Lato"/>
              <a:sym typeface="Lato"/>
            </a:endParaRPr>
          </a:p>
        </p:txBody>
      </p:sp>
      <p:pic>
        <p:nvPicPr>
          <p:cNvPr id="89" name="Google Shape;89;p4"/>
          <p:cNvPicPr preferRelativeResize="0"/>
          <p:nvPr/>
        </p:nvPicPr>
        <p:blipFill rotWithShape="1">
          <a:blip r:embed="rId5">
            <a:alphaModFix/>
          </a:blip>
          <a:srcRect/>
          <a:stretch/>
        </p:blipFill>
        <p:spPr>
          <a:xfrm>
            <a:off x="400492" y="2977437"/>
            <a:ext cx="61722" cy="109728"/>
          </a:xfrm>
          <a:prstGeom prst="rect">
            <a:avLst/>
          </a:prstGeom>
          <a:noFill/>
          <a:ln>
            <a:noFill/>
          </a:ln>
        </p:spPr>
      </p:pic>
      <p:sp>
        <p:nvSpPr>
          <p:cNvPr id="90" name="Google Shape;90;p4"/>
          <p:cNvSpPr txBox="1"/>
          <p:nvPr/>
        </p:nvSpPr>
        <p:spPr>
          <a:xfrm>
            <a:off x="510275" y="31582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Trigger</a:t>
            </a:r>
            <a:endParaRPr sz="1400" b="0" i="0" u="none" strike="noStrike" cap="none">
              <a:solidFill>
                <a:srgbClr val="222222"/>
              </a:solidFill>
              <a:latin typeface="Lato"/>
              <a:ea typeface="Lato"/>
              <a:cs typeface="Lato"/>
              <a:sym typeface="Lato"/>
            </a:endParaRPr>
          </a:p>
        </p:txBody>
      </p:sp>
      <p:pic>
        <p:nvPicPr>
          <p:cNvPr id="91" name="Google Shape;91;p4"/>
          <p:cNvPicPr preferRelativeResize="0"/>
          <p:nvPr/>
        </p:nvPicPr>
        <p:blipFill rotWithShape="1">
          <a:blip r:embed="rId5">
            <a:alphaModFix/>
          </a:blip>
          <a:srcRect/>
          <a:stretch/>
        </p:blipFill>
        <p:spPr>
          <a:xfrm>
            <a:off x="400492" y="3282237"/>
            <a:ext cx="61722" cy="109728"/>
          </a:xfrm>
          <a:prstGeom prst="rect">
            <a:avLst/>
          </a:prstGeom>
          <a:noFill/>
          <a:ln>
            <a:noFill/>
          </a:ln>
        </p:spPr>
      </p:pic>
      <p:sp>
        <p:nvSpPr>
          <p:cNvPr id="92" name="Google Shape;92;p4"/>
          <p:cNvSpPr txBox="1"/>
          <p:nvPr/>
        </p:nvSpPr>
        <p:spPr>
          <a:xfrm>
            <a:off x="510275" y="3463050"/>
            <a:ext cx="40617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a:latin typeface="Lato"/>
                <a:ea typeface="Lato"/>
                <a:cs typeface="Lato"/>
                <a:sym typeface="Lato"/>
              </a:rPr>
              <a:t>Cursor</a:t>
            </a:r>
            <a:endParaRPr sz="1400" b="0" i="0" u="none" strike="noStrike" cap="none">
              <a:solidFill>
                <a:srgbClr val="222222"/>
              </a:solidFill>
              <a:latin typeface="Lato"/>
              <a:ea typeface="Lato"/>
              <a:cs typeface="Lato"/>
              <a:sym typeface="Lato"/>
            </a:endParaRPr>
          </a:p>
        </p:txBody>
      </p:sp>
      <p:pic>
        <p:nvPicPr>
          <p:cNvPr id="93" name="Google Shape;93;p4"/>
          <p:cNvPicPr preferRelativeResize="0"/>
          <p:nvPr/>
        </p:nvPicPr>
        <p:blipFill rotWithShape="1">
          <a:blip r:embed="rId5">
            <a:alphaModFix/>
          </a:blip>
          <a:srcRect/>
          <a:stretch/>
        </p:blipFill>
        <p:spPr>
          <a:xfrm>
            <a:off x="400492" y="3587037"/>
            <a:ext cx="61722" cy="109728"/>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g3322e66b7a7_2_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10" name="Google Shape;110;g3322e66b7a7_2_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11" name="Google Shape;111;g3322e66b7a7_2_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12" name="Google Shape;112;g3322e66b7a7_2_1"/>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SQL Command</a:t>
            </a:r>
            <a:endParaRPr sz="2000" b="1" i="0" u="none" strike="noStrike" cap="none">
              <a:solidFill>
                <a:srgbClr val="FFFFFF"/>
              </a:solidFill>
              <a:latin typeface="Lato"/>
              <a:ea typeface="Lato"/>
              <a:cs typeface="Lato"/>
              <a:sym typeface="Lato"/>
            </a:endParaRPr>
          </a:p>
        </p:txBody>
      </p:sp>
      <p:grpSp>
        <p:nvGrpSpPr>
          <p:cNvPr id="113" name="Google Shape;113;g3322e66b7a7_2_1"/>
          <p:cNvGrpSpPr/>
          <p:nvPr/>
        </p:nvGrpSpPr>
        <p:grpSpPr>
          <a:xfrm>
            <a:off x="583167" y="760275"/>
            <a:ext cx="7871683" cy="1887000"/>
            <a:chOff x="583167" y="760275"/>
            <a:chExt cx="7871683" cy="1887000"/>
          </a:xfrm>
        </p:grpSpPr>
        <p:sp>
          <p:nvSpPr>
            <p:cNvPr id="114" name="Google Shape;114;g3322e66b7a7_2_1"/>
            <p:cNvSpPr txBox="1"/>
            <p:nvPr/>
          </p:nvSpPr>
          <p:spPr>
            <a:xfrm>
              <a:off x="692950" y="760275"/>
              <a:ext cx="7761900" cy="1887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Lato"/>
                  <a:ea typeface="Lato"/>
                  <a:cs typeface="Lato"/>
                  <a:sym typeface="Lato"/>
                </a:rPr>
                <a:t>SQL commands are instructions. It is used to communicate with the database. It is also used to perform specific tasks, functions, and queries of data.</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DDL (Data Definition Language)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DML (Data Manipulation Language)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DCL (Data Control Language)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TCL (Transaction Control Language)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DQL(Data Query Language)</a:t>
              </a:r>
              <a:endParaRPr sz="1400" b="0" i="0" u="none" strike="noStrike" cap="none">
                <a:solidFill>
                  <a:srgbClr val="000000"/>
                </a:solidFill>
                <a:latin typeface="Lato"/>
                <a:ea typeface="Lato"/>
                <a:cs typeface="Lato"/>
                <a:sym typeface="Lato"/>
              </a:endParaRPr>
            </a:p>
          </p:txBody>
        </p:sp>
        <p:pic>
          <p:nvPicPr>
            <p:cNvPr id="115" name="Google Shape;115;g3322e66b7a7_2_1"/>
            <p:cNvPicPr preferRelativeResize="0"/>
            <p:nvPr/>
          </p:nvPicPr>
          <p:blipFill rotWithShape="1">
            <a:blip r:embed="rId5">
              <a:alphaModFix/>
            </a:blip>
            <a:srcRect/>
            <a:stretch/>
          </p:blipFill>
          <p:spPr>
            <a:xfrm>
              <a:off x="583167" y="884274"/>
              <a:ext cx="61722" cy="109728"/>
            </a:xfrm>
            <a:prstGeom prst="rect">
              <a:avLst/>
            </a:prstGeom>
            <a:noFill/>
            <a:ln>
              <a:noFill/>
            </a:ln>
          </p:spPr>
        </p:pic>
      </p:grpSp>
      <p:pic>
        <p:nvPicPr>
          <p:cNvPr id="116" name="Google Shape;116;g3322e66b7a7_2_1"/>
          <p:cNvPicPr preferRelativeResize="0"/>
          <p:nvPr/>
        </p:nvPicPr>
        <p:blipFill rotWithShape="1">
          <a:blip r:embed="rId6">
            <a:alphaModFix/>
          </a:blip>
          <a:srcRect/>
          <a:stretch/>
        </p:blipFill>
        <p:spPr>
          <a:xfrm>
            <a:off x="4441975" y="1498875"/>
            <a:ext cx="4401749" cy="29158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g3322e66b7a7_2_1047"/>
          <p:cNvSpPr/>
          <p:nvPr/>
        </p:nvSpPr>
        <p:spPr>
          <a:xfrm>
            <a:off x="0" y="0"/>
            <a:ext cx="45723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g3322e66b7a7_2_1047"/>
          <p:cNvSpPr txBox="1"/>
          <p:nvPr/>
        </p:nvSpPr>
        <p:spPr>
          <a:xfrm>
            <a:off x="219750" y="1755900"/>
            <a:ext cx="4240800" cy="163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 sz="4700" b="0" i="0" u="none" strike="noStrike" cap="none">
                <a:solidFill>
                  <a:schemeClr val="lt1"/>
                </a:solidFill>
                <a:latin typeface="Lato Black"/>
                <a:ea typeface="Lato Black"/>
                <a:cs typeface="Lato Black"/>
                <a:sym typeface="Lato Black"/>
              </a:rPr>
              <a:t>Table - DD</a:t>
            </a:r>
            <a:r>
              <a:rPr lang="en" sz="4700">
                <a:solidFill>
                  <a:schemeClr val="lt1"/>
                </a:solidFill>
                <a:latin typeface="Lato Black"/>
                <a:ea typeface="Lato Black"/>
                <a:cs typeface="Lato Black"/>
                <a:sym typeface="Lato Black"/>
              </a:rPr>
              <a:t>L Command</a:t>
            </a:r>
            <a:endParaRPr sz="4700" b="0" i="0" u="none" strike="noStrike" cap="none">
              <a:solidFill>
                <a:schemeClr val="lt1"/>
              </a:solidFill>
              <a:latin typeface="Lato Black"/>
              <a:ea typeface="Lato Black"/>
              <a:cs typeface="Lato Black"/>
              <a:sym typeface="Lato Black"/>
            </a:endParaRPr>
          </a:p>
        </p:txBody>
      </p:sp>
      <p:pic>
        <p:nvPicPr>
          <p:cNvPr id="123" name="Google Shape;123;g3322e66b7a7_2_1047"/>
          <p:cNvPicPr preferRelativeResize="0"/>
          <p:nvPr/>
        </p:nvPicPr>
        <p:blipFill rotWithShape="1">
          <a:blip r:embed="rId3">
            <a:alphaModFix/>
          </a:blip>
          <a:srcRect/>
          <a:stretch/>
        </p:blipFill>
        <p:spPr>
          <a:xfrm>
            <a:off x="4732475" y="442200"/>
            <a:ext cx="4266899" cy="4266899"/>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g3322e66b7a7_2_109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29" name="Google Shape;129;g3322e66b7a7_2_109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0" name="Google Shape;130;g3322e66b7a7_2_109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31" name="Google Shape;131;g3322e66b7a7_2_1098"/>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DDL </a:t>
            </a:r>
            <a:r>
              <a:rPr lang="en" sz="2000" b="1">
                <a:solidFill>
                  <a:schemeClr val="lt1"/>
                </a:solidFill>
                <a:latin typeface="Lato"/>
                <a:ea typeface="Lato"/>
                <a:cs typeface="Lato"/>
                <a:sym typeface="Lato"/>
              </a:rPr>
              <a:t>Command</a:t>
            </a:r>
            <a:endParaRPr sz="2000" b="1" i="0" u="none" strike="noStrike" cap="none">
              <a:solidFill>
                <a:srgbClr val="FFFFFF"/>
              </a:solidFill>
              <a:latin typeface="Lato"/>
              <a:ea typeface="Lato"/>
              <a:cs typeface="Lato"/>
              <a:sym typeface="Lato"/>
            </a:endParaRPr>
          </a:p>
        </p:txBody>
      </p:sp>
      <p:grpSp>
        <p:nvGrpSpPr>
          <p:cNvPr id="132" name="Google Shape;132;g3322e66b7a7_2_1098"/>
          <p:cNvGrpSpPr/>
          <p:nvPr/>
        </p:nvGrpSpPr>
        <p:grpSpPr>
          <a:xfrm>
            <a:off x="583167" y="760275"/>
            <a:ext cx="7871683" cy="648000"/>
            <a:chOff x="583167" y="760275"/>
            <a:chExt cx="7871683" cy="648000"/>
          </a:xfrm>
        </p:grpSpPr>
        <p:sp>
          <p:nvSpPr>
            <p:cNvPr id="133" name="Google Shape;133;g3322e66b7a7_2_1098"/>
            <p:cNvSpPr txBox="1"/>
            <p:nvPr/>
          </p:nvSpPr>
          <p:spPr>
            <a:xfrm>
              <a:off x="692950" y="7602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In SQL, a table is a structured representation of data organized into rows and columns. It is a fundamental database object used to store, manage, and retrieve information. </a:t>
              </a:r>
              <a:endParaRPr sz="1400" b="0" i="0" u="none" strike="noStrike" cap="none">
                <a:solidFill>
                  <a:srgbClr val="000000"/>
                </a:solidFill>
                <a:latin typeface="Lato"/>
                <a:ea typeface="Lato"/>
                <a:cs typeface="Lato"/>
                <a:sym typeface="Lato"/>
              </a:endParaRPr>
            </a:p>
          </p:txBody>
        </p:sp>
        <p:pic>
          <p:nvPicPr>
            <p:cNvPr id="134" name="Google Shape;134;g3322e66b7a7_2_1098"/>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135" name="Google Shape;135;g3322e66b7a7_2_1098"/>
          <p:cNvGrpSpPr/>
          <p:nvPr/>
        </p:nvGrpSpPr>
        <p:grpSpPr>
          <a:xfrm>
            <a:off x="583167" y="1484175"/>
            <a:ext cx="7871683" cy="1887000"/>
            <a:chOff x="583167" y="1522275"/>
            <a:chExt cx="7871683" cy="1887000"/>
          </a:xfrm>
        </p:grpSpPr>
        <p:sp>
          <p:nvSpPr>
            <p:cNvPr id="136" name="Google Shape;136;g3322e66b7a7_2_1098"/>
            <p:cNvSpPr txBox="1"/>
            <p:nvPr/>
          </p:nvSpPr>
          <p:spPr>
            <a:xfrm>
              <a:off x="692950" y="1522275"/>
              <a:ext cx="7761900" cy="1887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Lato"/>
                  <a:ea typeface="Lato"/>
                  <a:cs typeface="Lato"/>
                  <a:sym typeface="Lato"/>
                </a:rPr>
                <a:t>Create Table :</a:t>
              </a:r>
              <a:endParaRPr sz="1400" b="1"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CREATE TABLE employees (</a:t>
              </a:r>
              <a:endParaRPr sz="1400" b="0" i="0" u="none" strike="noStrike" cap="none">
                <a:solidFill>
                  <a:srgbClr val="000000"/>
                </a:solidFill>
                <a:latin typeface="Lato"/>
                <a:ea typeface="Lato"/>
                <a:cs typeface="Lato"/>
                <a:sym typeface="Lato"/>
              </a:endParaRPr>
            </a:p>
            <a:p>
              <a:pPr marL="0" marR="0" lvl="0" indent="45720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employee_id INT PRIMARY KEY,</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Lato"/>
                  <a:ea typeface="Lato"/>
                  <a:cs typeface="Lato"/>
                  <a:sym typeface="Lato"/>
                </a:rPr>
                <a:t> employee_name VARCHAR(50),</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Lato"/>
                  <a:ea typeface="Lato"/>
                  <a:cs typeface="Lato"/>
                  <a:sym typeface="Lato"/>
                </a:rPr>
                <a:t> department VARCHAR(30),</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chemeClr val="dk1"/>
                </a:buClr>
                <a:buSzPts val="1100"/>
                <a:buFont typeface="Arial"/>
                <a:buNone/>
              </a:pPr>
              <a:r>
                <a:rPr lang="en" sz="1400" b="0" i="0" u="none" strike="noStrike" cap="none">
                  <a:solidFill>
                    <a:srgbClr val="000000"/>
                  </a:solidFill>
                  <a:latin typeface="Lato"/>
                  <a:ea typeface="Lato"/>
                  <a:cs typeface="Lato"/>
                  <a:sym typeface="Lato"/>
                </a:rPr>
                <a:t> salary DECIMAL(10, 2)</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t>
              </a:r>
              <a:endParaRPr sz="1400" b="0" i="0" u="none" strike="noStrike" cap="none">
                <a:solidFill>
                  <a:srgbClr val="000000"/>
                </a:solidFill>
                <a:latin typeface="Lato"/>
                <a:ea typeface="Lato"/>
                <a:cs typeface="Lato"/>
                <a:sym typeface="Lato"/>
              </a:endParaRPr>
            </a:p>
          </p:txBody>
        </p:sp>
        <p:pic>
          <p:nvPicPr>
            <p:cNvPr id="137" name="Google Shape;137;g3322e66b7a7_2_1098"/>
            <p:cNvPicPr preferRelativeResize="0"/>
            <p:nvPr/>
          </p:nvPicPr>
          <p:blipFill rotWithShape="1">
            <a:blip r:embed="rId5">
              <a:alphaModFix/>
            </a:blip>
            <a:srcRect/>
            <a:stretch/>
          </p:blipFill>
          <p:spPr>
            <a:xfrm>
              <a:off x="583167" y="1646275"/>
              <a:ext cx="61722" cy="109728"/>
            </a:xfrm>
            <a:prstGeom prst="rect">
              <a:avLst/>
            </a:prstGeom>
            <a:noFill/>
            <a:ln>
              <a:noFill/>
            </a:ln>
          </p:spPr>
        </p:pic>
      </p:grpSp>
      <p:grpSp>
        <p:nvGrpSpPr>
          <p:cNvPr id="138" name="Google Shape;138;g3322e66b7a7_2_1098"/>
          <p:cNvGrpSpPr/>
          <p:nvPr/>
        </p:nvGrpSpPr>
        <p:grpSpPr>
          <a:xfrm>
            <a:off x="583167" y="3427275"/>
            <a:ext cx="7871683" cy="648000"/>
            <a:chOff x="583167" y="2131875"/>
            <a:chExt cx="7871683" cy="648000"/>
          </a:xfrm>
        </p:grpSpPr>
        <p:sp>
          <p:nvSpPr>
            <p:cNvPr id="139" name="Google Shape;139;g3322e66b7a7_2_1098"/>
            <p:cNvSpPr txBox="1"/>
            <p:nvPr/>
          </p:nvSpPr>
          <p:spPr>
            <a:xfrm>
              <a:off x="692950" y="21318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Lato"/>
                  <a:ea typeface="Lato"/>
                  <a:cs typeface="Lato"/>
                  <a:sym typeface="Lato"/>
                </a:rPr>
                <a:t>Alter Table:</a:t>
              </a:r>
              <a:endParaRPr sz="1400" b="1"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ALTER TABLE employees ADD hire_date DATE</a:t>
              </a:r>
              <a:endParaRPr sz="1400" b="0" i="0" u="none" strike="noStrike" cap="none">
                <a:solidFill>
                  <a:srgbClr val="000000"/>
                </a:solidFill>
                <a:latin typeface="Lato"/>
                <a:ea typeface="Lato"/>
                <a:cs typeface="Lato"/>
                <a:sym typeface="Lato"/>
              </a:endParaRPr>
            </a:p>
          </p:txBody>
        </p:sp>
        <p:pic>
          <p:nvPicPr>
            <p:cNvPr id="140" name="Google Shape;140;g3322e66b7a7_2_1098"/>
            <p:cNvPicPr preferRelativeResize="0"/>
            <p:nvPr/>
          </p:nvPicPr>
          <p:blipFill rotWithShape="1">
            <a:blip r:embed="rId5">
              <a:alphaModFix/>
            </a:blip>
            <a:srcRect/>
            <a:stretch/>
          </p:blipFill>
          <p:spPr>
            <a:xfrm>
              <a:off x="583167" y="2255875"/>
              <a:ext cx="61722" cy="109728"/>
            </a:xfrm>
            <a:prstGeom prst="rect">
              <a:avLst/>
            </a:prstGeom>
            <a:noFill/>
            <a:ln>
              <a:noFill/>
            </a:ln>
          </p:spPr>
        </p:pic>
      </p:gr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g3322e66b7a7_2_115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46" name="Google Shape;146;g3322e66b7a7_2_115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7" name="Google Shape;147;g3322e66b7a7_2_115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grpSp>
        <p:nvGrpSpPr>
          <p:cNvPr id="148" name="Google Shape;148;g3322e66b7a7_2_1159"/>
          <p:cNvGrpSpPr/>
          <p:nvPr/>
        </p:nvGrpSpPr>
        <p:grpSpPr>
          <a:xfrm>
            <a:off x="579123" y="655057"/>
            <a:ext cx="7871683" cy="648000"/>
            <a:chOff x="583167" y="2131875"/>
            <a:chExt cx="7871683" cy="648000"/>
          </a:xfrm>
        </p:grpSpPr>
        <p:sp>
          <p:nvSpPr>
            <p:cNvPr id="149" name="Google Shape;149;g3322e66b7a7_2_1159"/>
            <p:cNvSpPr txBox="1"/>
            <p:nvPr/>
          </p:nvSpPr>
          <p:spPr>
            <a:xfrm>
              <a:off x="692950" y="21318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Lato"/>
                  <a:ea typeface="Lato"/>
                  <a:cs typeface="Lato"/>
                  <a:sym typeface="Lato"/>
                </a:rPr>
                <a:t>Drop Table:</a:t>
              </a:r>
              <a:endParaRPr sz="1400" b="1"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DROP TABLE employees</a:t>
              </a:r>
              <a:endParaRPr sz="1400" b="0" i="0" u="none" strike="noStrike" cap="none">
                <a:solidFill>
                  <a:srgbClr val="000000"/>
                </a:solidFill>
                <a:latin typeface="Lato"/>
                <a:ea typeface="Lato"/>
                <a:cs typeface="Lato"/>
                <a:sym typeface="Lato"/>
              </a:endParaRPr>
            </a:p>
          </p:txBody>
        </p:sp>
        <p:pic>
          <p:nvPicPr>
            <p:cNvPr id="150" name="Google Shape;150;g3322e66b7a7_2_1159"/>
            <p:cNvPicPr preferRelativeResize="0"/>
            <p:nvPr/>
          </p:nvPicPr>
          <p:blipFill rotWithShape="1">
            <a:blip r:embed="rId5">
              <a:alphaModFix/>
            </a:blip>
            <a:srcRect/>
            <a:stretch/>
          </p:blipFill>
          <p:spPr>
            <a:xfrm>
              <a:off x="583167" y="2255875"/>
              <a:ext cx="61722" cy="109728"/>
            </a:xfrm>
            <a:prstGeom prst="rect">
              <a:avLst/>
            </a:prstGeom>
            <a:noFill/>
            <a:ln>
              <a:noFill/>
            </a:ln>
          </p:spPr>
        </p:pic>
      </p:grpSp>
      <p:grpSp>
        <p:nvGrpSpPr>
          <p:cNvPr id="151" name="Google Shape;151;g3322e66b7a7_2_1159"/>
          <p:cNvGrpSpPr/>
          <p:nvPr/>
        </p:nvGrpSpPr>
        <p:grpSpPr>
          <a:xfrm>
            <a:off x="579123" y="1527471"/>
            <a:ext cx="7871683" cy="648000"/>
            <a:chOff x="583167" y="2131875"/>
            <a:chExt cx="7871683" cy="648000"/>
          </a:xfrm>
        </p:grpSpPr>
        <p:sp>
          <p:nvSpPr>
            <p:cNvPr id="152" name="Google Shape;152;g3322e66b7a7_2_1159"/>
            <p:cNvSpPr txBox="1"/>
            <p:nvPr/>
          </p:nvSpPr>
          <p:spPr>
            <a:xfrm>
              <a:off x="692950" y="21318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Lato"/>
                  <a:ea typeface="Lato"/>
                  <a:cs typeface="Lato"/>
                  <a:sym typeface="Lato"/>
                </a:rPr>
                <a:t>Truncate Table:</a:t>
              </a:r>
              <a:endParaRPr sz="1400" b="1"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TRUNCATE TABLE employees</a:t>
              </a:r>
              <a:endParaRPr sz="1400" b="0" i="0" u="none" strike="noStrike" cap="none">
                <a:solidFill>
                  <a:srgbClr val="000000"/>
                </a:solidFill>
                <a:latin typeface="Lato"/>
                <a:ea typeface="Lato"/>
                <a:cs typeface="Lato"/>
                <a:sym typeface="Lato"/>
              </a:endParaRPr>
            </a:p>
          </p:txBody>
        </p:sp>
        <p:pic>
          <p:nvPicPr>
            <p:cNvPr id="153" name="Google Shape;153;g3322e66b7a7_2_1159"/>
            <p:cNvPicPr preferRelativeResize="0"/>
            <p:nvPr/>
          </p:nvPicPr>
          <p:blipFill rotWithShape="1">
            <a:blip r:embed="rId5">
              <a:alphaModFix/>
            </a:blip>
            <a:srcRect/>
            <a:stretch/>
          </p:blipFill>
          <p:spPr>
            <a:xfrm>
              <a:off x="583167" y="2255875"/>
              <a:ext cx="61722" cy="109728"/>
            </a:xfrm>
            <a:prstGeom prst="rect">
              <a:avLst/>
            </a:prstGeom>
            <a:noFill/>
            <a:ln>
              <a:noFill/>
            </a:ln>
          </p:spPr>
        </p:pic>
      </p:grpSp>
      <p:sp>
        <p:nvSpPr>
          <p:cNvPr id="154" name="Google Shape;154;g3322e66b7a7_2_1159"/>
          <p:cNvSpPr txBox="1"/>
          <p:nvPr/>
        </p:nvSpPr>
        <p:spPr>
          <a:xfrm>
            <a:off x="697317" y="2644029"/>
            <a:ext cx="7871700" cy="969600"/>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1400"/>
              <a:buFont typeface="Arial"/>
              <a:buNone/>
            </a:pPr>
            <a:r>
              <a:rPr lang="en" sz="1400" b="1" i="0" u="none" strike="noStrike" cap="none">
                <a:solidFill>
                  <a:srgbClr val="000000"/>
                </a:solidFill>
                <a:latin typeface="Lato"/>
                <a:ea typeface="Lato"/>
                <a:cs typeface="Lato"/>
                <a:sym typeface="Lato"/>
              </a:rPr>
              <a:t>Syntax:</a:t>
            </a:r>
            <a:endParaRPr sz="1400" b="1" i="0" u="none" strike="noStrike" cap="none">
              <a:solidFill>
                <a:srgbClr val="000000"/>
              </a:solidFill>
              <a:latin typeface="Lato"/>
              <a:ea typeface="Lato"/>
              <a:cs typeface="Lato"/>
              <a:sym typeface="Lato"/>
            </a:endParaRPr>
          </a:p>
          <a:p>
            <a:pPr marL="0" marR="0" lvl="0" indent="0" algn="just" rtl="0">
              <a:lnSpc>
                <a:spcPct val="150000"/>
              </a:lnSpc>
              <a:spcBef>
                <a:spcPts val="0"/>
              </a:spcBef>
              <a:spcAft>
                <a:spcPts val="0"/>
              </a:spcAft>
              <a:buClr>
                <a:srgbClr val="000000"/>
              </a:buClr>
              <a:buSzPts val="1200"/>
              <a:buFont typeface="Arial"/>
              <a:buNone/>
            </a:pPr>
            <a:r>
              <a:rPr lang="en" sz="1200" b="0" i="0" u="none" strike="noStrike" cap="none">
                <a:solidFill>
                  <a:srgbClr val="4A86E8"/>
                </a:solidFill>
                <a:latin typeface="Lato"/>
                <a:ea typeface="Lato"/>
                <a:cs typeface="Lato"/>
                <a:sym typeface="Lato"/>
              </a:rPr>
              <a:t>DELETE FROM </a:t>
            </a:r>
            <a:r>
              <a:rPr lang="en" sz="1200" b="0" i="0" u="none" strike="noStrike" cap="none">
                <a:solidFill>
                  <a:schemeClr val="dk1"/>
                </a:solidFill>
                <a:latin typeface="Lato"/>
                <a:ea typeface="Lato"/>
                <a:cs typeface="Lato"/>
                <a:sym typeface="Lato"/>
              </a:rPr>
              <a:t>your_table </a:t>
            </a:r>
            <a:r>
              <a:rPr lang="en" sz="1200" b="0" i="0" u="none" strike="noStrike" cap="none">
                <a:solidFill>
                  <a:srgbClr val="4A86E8"/>
                </a:solidFill>
                <a:latin typeface="Lato"/>
                <a:ea typeface="Lato"/>
                <a:cs typeface="Lato"/>
                <a:sym typeface="Lato"/>
              </a:rPr>
              <a:t>WHERE condition</a:t>
            </a:r>
            <a:br>
              <a:rPr lang="en" sz="1200" b="0" i="0" u="none" strike="noStrike" cap="none">
                <a:solidFill>
                  <a:srgbClr val="4A86E8"/>
                </a:solidFill>
                <a:latin typeface="Lato"/>
                <a:ea typeface="Lato"/>
                <a:cs typeface="Lato"/>
                <a:sym typeface="Lato"/>
              </a:rPr>
            </a:br>
            <a:r>
              <a:rPr lang="en" sz="1200" b="0" i="0" u="none" strike="noStrike" cap="none">
                <a:solidFill>
                  <a:srgbClr val="4A86E8"/>
                </a:solidFill>
                <a:latin typeface="Lato"/>
                <a:ea typeface="Lato"/>
                <a:cs typeface="Lato"/>
                <a:sym typeface="Lato"/>
              </a:rPr>
              <a:t>TRUNCATE TABLE </a:t>
            </a:r>
            <a:r>
              <a:rPr lang="en" sz="1200" b="0" i="0" u="none" strike="noStrike" cap="none">
                <a:solidFill>
                  <a:schemeClr val="dk1"/>
                </a:solidFill>
                <a:latin typeface="Lato"/>
                <a:ea typeface="Lato"/>
                <a:cs typeface="Lato"/>
                <a:sym typeface="Lato"/>
              </a:rPr>
              <a:t>your_table</a:t>
            </a:r>
            <a:endParaRPr sz="1200" b="0" i="0" u="none" strike="noStrike" cap="none">
              <a:solidFill>
                <a:srgbClr val="000000"/>
              </a:solidFill>
              <a:latin typeface="Lato"/>
              <a:ea typeface="Lato"/>
              <a:cs typeface="Lato"/>
              <a:sym typeface="Lato"/>
            </a:endParaRPr>
          </a:p>
        </p:txBody>
      </p:sp>
      <p:sp>
        <p:nvSpPr>
          <p:cNvPr id="155" name="Google Shape;155;g3322e66b7a7_2_1159"/>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DDL Command</a:t>
            </a:r>
            <a:endParaRPr sz="2000" b="1" i="0" u="none" strike="noStrike" cap="none">
              <a:solidFill>
                <a:srgbClr val="FFFFFF"/>
              </a:solidFill>
              <a:latin typeface="Lato"/>
              <a:ea typeface="Lato"/>
              <a:cs typeface="Lato"/>
              <a:sym typeface="Lato"/>
            </a:endParaRPr>
          </a:p>
        </p:txBody>
      </p:sp>
      <p:grpSp>
        <p:nvGrpSpPr>
          <p:cNvPr id="156" name="Google Shape;156;g3322e66b7a7_2_1159"/>
          <p:cNvGrpSpPr/>
          <p:nvPr/>
        </p:nvGrpSpPr>
        <p:grpSpPr>
          <a:xfrm>
            <a:off x="579123" y="1207634"/>
            <a:ext cx="7871683" cy="400200"/>
            <a:chOff x="583167" y="2131875"/>
            <a:chExt cx="7871683" cy="400200"/>
          </a:xfrm>
        </p:grpSpPr>
        <p:sp>
          <p:nvSpPr>
            <p:cNvPr id="157" name="Google Shape;157;g3322e66b7a7_2_1159"/>
            <p:cNvSpPr txBox="1"/>
            <p:nvPr/>
          </p:nvSpPr>
          <p:spPr>
            <a:xfrm>
              <a:off x="692950" y="2131875"/>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DROP is used to delete database objects, such as tables, views, indexes, or databases themselves.</a:t>
              </a:r>
              <a:endParaRPr sz="1400" b="0" i="0" u="none" strike="noStrike" cap="none">
                <a:solidFill>
                  <a:srgbClr val="000000"/>
                </a:solidFill>
                <a:latin typeface="Lato"/>
                <a:ea typeface="Lato"/>
                <a:cs typeface="Lato"/>
                <a:sym typeface="Lato"/>
              </a:endParaRPr>
            </a:p>
          </p:txBody>
        </p:sp>
        <p:pic>
          <p:nvPicPr>
            <p:cNvPr id="158" name="Google Shape;158;g3322e66b7a7_2_1159"/>
            <p:cNvPicPr preferRelativeResize="0"/>
            <p:nvPr/>
          </p:nvPicPr>
          <p:blipFill rotWithShape="1">
            <a:blip r:embed="rId5">
              <a:alphaModFix/>
            </a:blip>
            <a:srcRect/>
            <a:stretch/>
          </p:blipFill>
          <p:spPr>
            <a:xfrm>
              <a:off x="583167" y="2255875"/>
              <a:ext cx="61722" cy="109728"/>
            </a:xfrm>
            <a:prstGeom prst="rect">
              <a:avLst/>
            </a:prstGeom>
            <a:noFill/>
            <a:ln>
              <a:noFill/>
            </a:ln>
          </p:spPr>
        </p:pic>
      </p:grpSp>
      <p:grpSp>
        <p:nvGrpSpPr>
          <p:cNvPr id="159" name="Google Shape;159;g3322e66b7a7_2_1159"/>
          <p:cNvGrpSpPr/>
          <p:nvPr/>
        </p:nvGrpSpPr>
        <p:grpSpPr>
          <a:xfrm>
            <a:off x="579123" y="2068643"/>
            <a:ext cx="7871683" cy="648000"/>
            <a:chOff x="583167" y="2131875"/>
            <a:chExt cx="7871683" cy="648000"/>
          </a:xfrm>
        </p:grpSpPr>
        <p:sp>
          <p:nvSpPr>
            <p:cNvPr id="160" name="Google Shape;160;g3322e66b7a7_2_1159"/>
            <p:cNvSpPr txBox="1"/>
            <p:nvPr/>
          </p:nvSpPr>
          <p:spPr>
            <a:xfrm>
              <a:off x="692950" y="21318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sz="1400" b="0" i="0" u="none" strike="noStrike" cap="none">
                  <a:solidFill>
                    <a:schemeClr val="dk1"/>
                  </a:solidFill>
                  <a:latin typeface="Lato"/>
                  <a:ea typeface="Lato"/>
                  <a:cs typeface="Lato"/>
                  <a:sym typeface="Lato"/>
                </a:rPr>
                <a:t>TRUNCATE is used to remove all records from a table but retains the table structure for future use. When we use TRUNCATE it will reset column identity.</a:t>
              </a:r>
              <a:endParaRPr sz="1400" b="0" i="0" u="none" strike="noStrike" cap="none">
                <a:solidFill>
                  <a:srgbClr val="000000"/>
                </a:solidFill>
                <a:latin typeface="Lato"/>
                <a:ea typeface="Lato"/>
                <a:cs typeface="Lato"/>
                <a:sym typeface="Lato"/>
              </a:endParaRPr>
            </a:p>
          </p:txBody>
        </p:sp>
        <p:pic>
          <p:nvPicPr>
            <p:cNvPr id="161" name="Google Shape;161;g3322e66b7a7_2_1159"/>
            <p:cNvPicPr preferRelativeResize="0"/>
            <p:nvPr/>
          </p:nvPicPr>
          <p:blipFill rotWithShape="1">
            <a:blip r:embed="rId5">
              <a:alphaModFix/>
            </a:blip>
            <a:srcRect/>
            <a:stretch/>
          </p:blipFill>
          <p:spPr>
            <a:xfrm>
              <a:off x="583167" y="2255875"/>
              <a:ext cx="61722" cy="109728"/>
            </a:xfrm>
            <a:prstGeom prst="rect">
              <a:avLst/>
            </a:prstGeom>
            <a:noFill/>
            <a:ln>
              <a:noFill/>
            </a:ln>
          </p:spPr>
        </p:pic>
      </p:grpSp>
      <p:grpSp>
        <p:nvGrpSpPr>
          <p:cNvPr id="162" name="Google Shape;162;g3322e66b7a7_2_1159"/>
          <p:cNvGrpSpPr/>
          <p:nvPr/>
        </p:nvGrpSpPr>
        <p:grpSpPr>
          <a:xfrm>
            <a:off x="574983" y="3592643"/>
            <a:ext cx="7871683" cy="895800"/>
            <a:chOff x="583167" y="2131875"/>
            <a:chExt cx="7871683" cy="895800"/>
          </a:xfrm>
        </p:grpSpPr>
        <p:sp>
          <p:nvSpPr>
            <p:cNvPr id="163" name="Google Shape;163;g3322e66b7a7_2_1159"/>
            <p:cNvSpPr txBox="1"/>
            <p:nvPr/>
          </p:nvSpPr>
          <p:spPr>
            <a:xfrm>
              <a:off x="692950" y="21318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DELETE is a row-by-row operation allowing conditional removal, while TRUNCATE efficiently removes all rows in one operation without conditions but may not be suitable if foreign key constraints are present or if you need to log individual deletions.</a:t>
              </a:r>
              <a:endParaRPr sz="1400" b="0" i="0" u="none" strike="noStrike" cap="none">
                <a:solidFill>
                  <a:schemeClr val="dk1"/>
                </a:solidFill>
                <a:latin typeface="Lato"/>
                <a:ea typeface="Lato"/>
                <a:cs typeface="Lato"/>
                <a:sym typeface="Lato"/>
              </a:endParaRPr>
            </a:p>
          </p:txBody>
        </p:sp>
        <p:pic>
          <p:nvPicPr>
            <p:cNvPr id="164" name="Google Shape;164;g3322e66b7a7_2_1159"/>
            <p:cNvPicPr preferRelativeResize="0"/>
            <p:nvPr/>
          </p:nvPicPr>
          <p:blipFill rotWithShape="1">
            <a:blip r:embed="rId5">
              <a:alphaModFix/>
            </a:blip>
            <a:srcRect/>
            <a:stretch/>
          </p:blipFill>
          <p:spPr>
            <a:xfrm>
              <a:off x="583167" y="2255875"/>
              <a:ext cx="61722" cy="109728"/>
            </a:xfrm>
            <a:prstGeom prst="rect">
              <a:avLst/>
            </a:prstGeom>
            <a:noFill/>
            <a:ln>
              <a:noFill/>
            </a:ln>
          </p:spPr>
        </p:pic>
      </p:gr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g3322e66b7a7_2_1227"/>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g3322e66b7a7_2_1227"/>
          <p:cNvSpPr txBox="1"/>
          <p:nvPr/>
        </p:nvSpPr>
        <p:spPr>
          <a:xfrm>
            <a:off x="1132050" y="2121600"/>
            <a:ext cx="6880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b="0" i="0" u="none" strike="noStrike" cap="none">
                <a:solidFill>
                  <a:schemeClr val="lt1"/>
                </a:solidFill>
                <a:latin typeface="Lato Black"/>
                <a:ea typeface="Lato Black"/>
                <a:cs typeface="Lato Black"/>
                <a:sym typeface="Lato Black"/>
              </a:rPr>
              <a:t>DQL &amp; DML Command</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g3322e66b7a7_2_127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76" name="Google Shape;176;g3322e66b7a7_2_127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77" name="Google Shape;177;g3322e66b7a7_2_127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78" name="Google Shape;178;g3322e66b7a7_2_1277"/>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DQL &amp; DML</a:t>
            </a:r>
            <a:endParaRPr sz="2000" b="1" i="0" u="none" strike="noStrike" cap="none">
              <a:solidFill>
                <a:srgbClr val="FFFFFF"/>
              </a:solidFill>
              <a:latin typeface="Lato"/>
              <a:ea typeface="Lato"/>
              <a:cs typeface="Lato"/>
              <a:sym typeface="Lato"/>
            </a:endParaRPr>
          </a:p>
        </p:txBody>
      </p:sp>
      <p:sp>
        <p:nvSpPr>
          <p:cNvPr id="179" name="Google Shape;179;g3322e66b7a7_2_1277"/>
          <p:cNvSpPr txBox="1"/>
          <p:nvPr/>
        </p:nvSpPr>
        <p:spPr>
          <a:xfrm>
            <a:off x="692950" y="1407975"/>
            <a:ext cx="7761900" cy="33741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EmployeeID, FirstName, LastName, Salary, DepartmentID</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FROM Employee</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WHERE DepartmentID = 1</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INSERT INTO Employee (FirstName, LastName, Salary, DepartmentID)</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VALUES ('John', 'Doe', 50000, 2)</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UPDATE Employee</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SET Salary = 55000</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WHERE EmployeeID = 101</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DELETE FROM Employee</a:t>
            </a:r>
            <a:endParaRPr sz="1400" b="0" i="0" u="none" strike="noStrike" cap="none">
              <a:solidFill>
                <a:srgbClr val="000000"/>
              </a:solidFill>
              <a:latin typeface="Lato"/>
              <a:ea typeface="Lato"/>
              <a:cs typeface="Lato"/>
              <a:sym typeface="Lato"/>
            </a:endParaRPr>
          </a:p>
          <a:p>
            <a:pPr marL="45720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WHERE EmployeeID = 102</a:t>
            </a:r>
            <a:endParaRPr sz="1400" b="0" i="0" u="none" strike="noStrike" cap="none">
              <a:solidFill>
                <a:srgbClr val="000000"/>
              </a:solidFill>
              <a:latin typeface="Lato"/>
              <a:ea typeface="Lato"/>
              <a:cs typeface="Lato"/>
              <a:sym typeface="Lato"/>
            </a:endParaRPr>
          </a:p>
        </p:txBody>
      </p:sp>
      <p:grpSp>
        <p:nvGrpSpPr>
          <p:cNvPr id="180" name="Google Shape;180;g3322e66b7a7_2_1277"/>
          <p:cNvGrpSpPr/>
          <p:nvPr/>
        </p:nvGrpSpPr>
        <p:grpSpPr>
          <a:xfrm>
            <a:off x="583167" y="760275"/>
            <a:ext cx="7871683" cy="648000"/>
            <a:chOff x="583167" y="760275"/>
            <a:chExt cx="7871683" cy="648000"/>
          </a:xfrm>
        </p:grpSpPr>
        <p:sp>
          <p:nvSpPr>
            <p:cNvPr id="181" name="Google Shape;181;g3322e66b7a7_2_1277"/>
            <p:cNvSpPr txBox="1"/>
            <p:nvPr/>
          </p:nvSpPr>
          <p:spPr>
            <a:xfrm>
              <a:off x="692950" y="7602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DML (Data Manipulation Language) commands in SQL Server are used to interact with and manipulate data stored in tables.</a:t>
              </a:r>
              <a:endParaRPr sz="1400" b="0" i="0" u="none" strike="noStrike" cap="none">
                <a:solidFill>
                  <a:srgbClr val="000000"/>
                </a:solidFill>
                <a:latin typeface="Lato"/>
                <a:ea typeface="Lato"/>
                <a:cs typeface="Lato"/>
                <a:sym typeface="Lato"/>
              </a:endParaRPr>
            </a:p>
          </p:txBody>
        </p:sp>
        <p:pic>
          <p:nvPicPr>
            <p:cNvPr id="182" name="Google Shape;182;g3322e66b7a7_2_1277"/>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g3322e66b7a7_2_133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88" name="Google Shape;188;g3322e66b7a7_2_133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89" name="Google Shape;189;g3322e66b7a7_2_133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90" name="Google Shape;190;g3322e66b7a7_2_1333"/>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DQL &amp; DML</a:t>
            </a:r>
            <a:endParaRPr sz="2000" b="1" i="0" u="none" strike="noStrike" cap="none">
              <a:solidFill>
                <a:srgbClr val="FFFFFF"/>
              </a:solidFill>
              <a:latin typeface="Lato"/>
              <a:ea typeface="Lato"/>
              <a:cs typeface="Lato"/>
              <a:sym typeface="Lato"/>
            </a:endParaRPr>
          </a:p>
        </p:txBody>
      </p:sp>
      <p:sp>
        <p:nvSpPr>
          <p:cNvPr id="191" name="Google Shape;191;g3322e66b7a7_2_1333"/>
          <p:cNvSpPr txBox="1"/>
          <p:nvPr/>
        </p:nvSpPr>
        <p:spPr>
          <a:xfrm>
            <a:off x="691050" y="870150"/>
            <a:ext cx="7761900" cy="37080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ORDER BY : Retrieve all employees sorted by their salary in descending order. Default order type is ascending.</a:t>
            </a:r>
            <a:endParaRPr>
              <a:latin typeface="Lato"/>
              <a:ea typeface="Lato"/>
              <a:cs typeface="Lato"/>
              <a:sym typeface="Lato"/>
            </a:endParaRPr>
          </a:p>
          <a:p>
            <a:pPr marL="914400" marR="0" lvl="1"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 FROM Employee </a:t>
            </a:r>
            <a:endParaRPr sz="1400" b="0" i="0" u="none" strike="noStrike" cap="none">
              <a:solidFill>
                <a:srgbClr val="000000"/>
              </a:solidFill>
              <a:latin typeface="Lato"/>
              <a:ea typeface="Lato"/>
              <a:cs typeface="Lato"/>
              <a:sym typeface="Lato"/>
            </a:endParaRPr>
          </a:p>
          <a:p>
            <a:pPr marL="914400" marR="0" lvl="0" indent="0" algn="just"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ORDER BY Salary DESC</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GROUP BY : Count the number of employees in each department</a:t>
            </a:r>
            <a:endParaRPr>
              <a:latin typeface="Lato"/>
              <a:ea typeface="Lato"/>
              <a:cs typeface="Lato"/>
              <a:sym typeface="Lato"/>
            </a:endParaRPr>
          </a:p>
          <a:p>
            <a:pPr marL="914400" marR="0" lvl="1"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Department, COUNT(*) AS EmployeeCount</a:t>
            </a:r>
            <a:endParaRPr sz="1400" b="0" i="0" u="none" strike="noStrike" cap="none">
              <a:solidFill>
                <a:srgbClr val="000000"/>
              </a:solidFill>
              <a:latin typeface="Lato"/>
              <a:ea typeface="Lato"/>
              <a:cs typeface="Lato"/>
              <a:sym typeface="Lato"/>
            </a:endParaRPr>
          </a:p>
          <a:p>
            <a:pPr marL="914400" marR="0" lvl="0" indent="0" algn="just"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FROM Employee</a:t>
            </a:r>
            <a:endParaRPr sz="1400" b="0" i="0" u="none" strike="noStrike" cap="none">
              <a:solidFill>
                <a:srgbClr val="000000"/>
              </a:solidFill>
              <a:latin typeface="Lato"/>
              <a:ea typeface="Lato"/>
              <a:cs typeface="Lato"/>
              <a:sym typeface="Lato"/>
            </a:endParaRPr>
          </a:p>
          <a:p>
            <a:pPr marL="914400" marR="0" lvl="0" indent="0" algn="just"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GROUP BY Department</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DISTINCT : Retrieve unique departments from the Employee table</a:t>
            </a:r>
            <a:endParaRPr>
              <a:latin typeface="Lato"/>
              <a:ea typeface="Lato"/>
              <a:cs typeface="Lato"/>
              <a:sym typeface="Lato"/>
            </a:endParaRPr>
          </a:p>
          <a:p>
            <a:pPr marL="914400" marR="0" lvl="1"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DISTINCT Department</a:t>
            </a:r>
            <a:endParaRPr sz="1400" b="0" i="0" u="none" strike="noStrike" cap="none">
              <a:solidFill>
                <a:srgbClr val="000000"/>
              </a:solidFill>
              <a:latin typeface="Lato"/>
              <a:ea typeface="Lato"/>
              <a:cs typeface="Lato"/>
              <a:sym typeface="Lato"/>
            </a:endParaRPr>
          </a:p>
          <a:p>
            <a:pPr marL="914400" marR="0" lvl="0" indent="0" algn="just"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FROM Employee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SUM, AVG, MIN, MAX</a:t>
            </a:r>
            <a:endParaRPr>
              <a:latin typeface="Lato"/>
              <a:ea typeface="Lato"/>
              <a:cs typeface="Lato"/>
              <a:sym typeface="Lato"/>
            </a:endParaRPr>
          </a:p>
          <a:p>
            <a:pPr marL="914400" marR="0" lvl="1"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a:t>
            </a:r>
            <a:r>
              <a:rPr lang="en">
                <a:latin typeface="Lato"/>
                <a:ea typeface="Lato"/>
                <a:cs typeface="Lato"/>
                <a:sym typeface="Lato"/>
              </a:rPr>
              <a:t> </a:t>
            </a:r>
            <a:r>
              <a:rPr lang="en" sz="1400" b="0" i="0" u="none" strike="noStrike" cap="none">
                <a:solidFill>
                  <a:srgbClr val="000000"/>
                </a:solidFill>
                <a:latin typeface="Lato"/>
                <a:ea typeface="Lato"/>
                <a:cs typeface="Lato"/>
                <a:sym typeface="Lato"/>
              </a:rPr>
              <a:t>SUM(Salary) AS TotalSalary, </a:t>
            </a:r>
            <a:r>
              <a:rPr lang="en">
                <a:latin typeface="Lato"/>
                <a:ea typeface="Lato"/>
                <a:cs typeface="Lato"/>
                <a:sym typeface="Lato"/>
              </a:rPr>
              <a:t> </a:t>
            </a:r>
            <a:r>
              <a:rPr lang="en" sz="1400" b="0" i="0" u="none" strike="noStrike" cap="none">
                <a:solidFill>
                  <a:srgbClr val="000000"/>
                </a:solidFill>
                <a:latin typeface="Lato"/>
                <a:ea typeface="Lato"/>
                <a:cs typeface="Lato"/>
                <a:sym typeface="Lato"/>
              </a:rPr>
              <a:t>AVG(Salary) AS AvgSalary,</a:t>
            </a:r>
            <a:endParaRPr sz="1400" b="0" i="0" u="none" strike="noStrike" cap="none">
              <a:solidFill>
                <a:srgbClr val="000000"/>
              </a:solidFill>
              <a:latin typeface="Lato"/>
              <a:ea typeface="Lato"/>
              <a:cs typeface="Lato"/>
              <a:sym typeface="Lato"/>
            </a:endParaRPr>
          </a:p>
          <a:p>
            <a:pPr marL="914400" marR="0" lvl="0" indent="0" algn="just"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MIN(Salary) AS MinSalary,</a:t>
            </a:r>
            <a:r>
              <a:rPr lang="en">
                <a:latin typeface="Lato"/>
                <a:ea typeface="Lato"/>
                <a:cs typeface="Lato"/>
                <a:sym typeface="Lato"/>
              </a:rPr>
              <a:t> </a:t>
            </a:r>
            <a:r>
              <a:rPr lang="en" sz="1400" b="0" i="0" u="none" strike="noStrike" cap="none">
                <a:solidFill>
                  <a:srgbClr val="000000"/>
                </a:solidFill>
                <a:latin typeface="Lato"/>
                <a:ea typeface="Lato"/>
                <a:cs typeface="Lato"/>
                <a:sym typeface="Lato"/>
              </a:rPr>
              <a:t>MAX(Salary) AS MaxSalary</a:t>
            </a:r>
            <a:endParaRPr sz="1400" b="0" i="0" u="none" strike="noStrike" cap="none">
              <a:solidFill>
                <a:srgbClr val="000000"/>
              </a:solidFill>
              <a:latin typeface="Lato"/>
              <a:ea typeface="Lato"/>
              <a:cs typeface="Lato"/>
              <a:sym typeface="Lato"/>
            </a:endParaRPr>
          </a:p>
          <a:p>
            <a:pPr marL="914400" marR="0" lvl="0" indent="0" algn="just"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FROM Employee</a:t>
            </a:r>
            <a:endParaRPr sz="1400" b="0" i="0" u="none" strike="noStrike" cap="none">
              <a:solidFill>
                <a:srgbClr val="000000"/>
              </a:solidFill>
              <a:latin typeface="Lato"/>
              <a:ea typeface="Lato"/>
              <a:cs typeface="Lato"/>
              <a:sym typeface="Lato"/>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5"/>
        <p:cNvGrpSpPr/>
        <p:nvPr/>
      </p:nvGrpSpPr>
      <p:grpSpPr>
        <a:xfrm>
          <a:off x="0" y="0"/>
          <a:ext cx="0" cy="0"/>
          <a:chOff x="0" y="0"/>
          <a:chExt cx="0" cy="0"/>
        </a:xfrm>
      </p:grpSpPr>
      <p:sp>
        <p:nvSpPr>
          <p:cNvPr id="196" name="Google Shape;196;g3324a8267e4_0_5"/>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g3324a8267e4_0_5"/>
          <p:cNvSpPr txBox="1"/>
          <p:nvPr/>
        </p:nvSpPr>
        <p:spPr>
          <a:xfrm>
            <a:off x="1132050" y="2121600"/>
            <a:ext cx="6880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endParaRPr sz="4700" b="0" i="0" u="none" strike="noStrike" cap="none">
              <a:solidFill>
                <a:schemeClr val="lt1"/>
              </a:solidFill>
              <a:latin typeface="Lato Black"/>
              <a:ea typeface="Lato Black"/>
              <a:cs typeface="Lato Black"/>
              <a:sym typeface="Lato Black"/>
            </a:endParaRPr>
          </a:p>
        </p:txBody>
      </p:sp>
      <p:pic>
        <p:nvPicPr>
          <p:cNvPr id="198" name="Google Shape;198;g3324a8267e4_0_5"/>
          <p:cNvPicPr preferRelativeResize="0"/>
          <p:nvPr/>
        </p:nvPicPr>
        <p:blipFill rotWithShape="1">
          <a:blip r:embed="rId3">
            <a:alphaModFix/>
          </a:blip>
          <a:srcRect t="7482" b="5409"/>
          <a:stretch/>
        </p:blipFill>
        <p:spPr>
          <a:xfrm>
            <a:off x="1783050" y="178350"/>
            <a:ext cx="5490875" cy="4665024"/>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2"/>
        <p:cNvGrpSpPr/>
        <p:nvPr/>
      </p:nvGrpSpPr>
      <p:grpSpPr>
        <a:xfrm>
          <a:off x="0" y="0"/>
          <a:ext cx="0" cy="0"/>
          <a:chOff x="0" y="0"/>
          <a:chExt cx="0" cy="0"/>
        </a:xfrm>
      </p:grpSpPr>
      <p:sp>
        <p:nvSpPr>
          <p:cNvPr id="203" name="Google Shape;203;g3322e66b7a7_2_1386"/>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g3322e66b7a7_2_1386"/>
          <p:cNvSpPr txBox="1"/>
          <p:nvPr/>
        </p:nvSpPr>
        <p:spPr>
          <a:xfrm>
            <a:off x="1132050" y="2121600"/>
            <a:ext cx="6880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b="0" i="0" u="none" strike="noStrike" cap="none">
                <a:solidFill>
                  <a:schemeClr val="lt1"/>
                </a:solidFill>
                <a:latin typeface="Lato Black"/>
                <a:ea typeface="Lato Black"/>
                <a:cs typeface="Lato Black"/>
                <a:sym typeface="Lato Black"/>
              </a:rPr>
              <a:t>DCL Command</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g3322e66b7a7_2_143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10" name="Google Shape;210;g3322e66b7a7_2_143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1" name="Google Shape;211;g3322e66b7a7_2_143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12" name="Google Shape;212;g3322e66b7a7_2_1436"/>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DCL</a:t>
            </a:r>
            <a:endParaRPr sz="2000" b="1" i="0" u="none" strike="noStrike" cap="none">
              <a:solidFill>
                <a:srgbClr val="FFFFFF"/>
              </a:solidFill>
              <a:latin typeface="Lato"/>
              <a:ea typeface="Lato"/>
              <a:cs typeface="Lato"/>
              <a:sym typeface="Lato"/>
            </a:endParaRPr>
          </a:p>
        </p:txBody>
      </p:sp>
      <p:sp>
        <p:nvSpPr>
          <p:cNvPr id="213" name="Google Shape;213;g3322e66b7a7_2_1436"/>
          <p:cNvSpPr txBox="1"/>
          <p:nvPr/>
        </p:nvSpPr>
        <p:spPr>
          <a:xfrm>
            <a:off x="692950" y="1407975"/>
            <a:ext cx="7761900" cy="6480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GRANT SELECT, INSERT ON Employee TO user1</a:t>
            </a:r>
            <a:endParaRPr>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REVOKE DELETE ON Employee FROM user2</a:t>
            </a:r>
            <a:endParaRPr sz="1400" b="0" i="0" u="none" strike="noStrike" cap="none">
              <a:solidFill>
                <a:srgbClr val="000000"/>
              </a:solidFill>
              <a:latin typeface="Lato"/>
              <a:ea typeface="Lato"/>
              <a:cs typeface="Lato"/>
              <a:sym typeface="Lato"/>
            </a:endParaRPr>
          </a:p>
        </p:txBody>
      </p:sp>
      <p:grpSp>
        <p:nvGrpSpPr>
          <p:cNvPr id="214" name="Google Shape;214;g3322e66b7a7_2_1436"/>
          <p:cNvGrpSpPr/>
          <p:nvPr/>
        </p:nvGrpSpPr>
        <p:grpSpPr>
          <a:xfrm>
            <a:off x="583167" y="760275"/>
            <a:ext cx="7871683" cy="648000"/>
            <a:chOff x="583167" y="760275"/>
            <a:chExt cx="7871683" cy="648000"/>
          </a:xfrm>
        </p:grpSpPr>
        <p:sp>
          <p:nvSpPr>
            <p:cNvPr id="215" name="Google Shape;215;g3322e66b7a7_2_1436"/>
            <p:cNvSpPr txBox="1"/>
            <p:nvPr/>
          </p:nvSpPr>
          <p:spPr>
            <a:xfrm>
              <a:off x="692950" y="7602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DCL (Data Control Language) commands in SQL are used to control access to the data within a database.</a:t>
              </a:r>
              <a:endParaRPr sz="1400" b="0" i="0" u="none" strike="noStrike" cap="none">
                <a:solidFill>
                  <a:srgbClr val="000000"/>
                </a:solidFill>
                <a:latin typeface="Lato"/>
                <a:ea typeface="Lato"/>
                <a:cs typeface="Lato"/>
                <a:sym typeface="Lato"/>
              </a:endParaRPr>
            </a:p>
          </p:txBody>
        </p:sp>
        <p:pic>
          <p:nvPicPr>
            <p:cNvPr id="216" name="Google Shape;216;g3322e66b7a7_2_1436"/>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0"/>
        <p:cNvGrpSpPr/>
        <p:nvPr/>
      </p:nvGrpSpPr>
      <p:grpSpPr>
        <a:xfrm>
          <a:off x="0" y="0"/>
          <a:ext cx="0" cy="0"/>
          <a:chOff x="0" y="0"/>
          <a:chExt cx="0" cy="0"/>
        </a:xfrm>
      </p:grpSpPr>
      <p:sp>
        <p:nvSpPr>
          <p:cNvPr id="221" name="Google Shape;221;g3322e66b7a7_2_1492"/>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g3322e66b7a7_2_1492"/>
          <p:cNvSpPr txBox="1"/>
          <p:nvPr/>
        </p:nvSpPr>
        <p:spPr>
          <a:xfrm>
            <a:off x="1132050" y="2121600"/>
            <a:ext cx="6880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b="0" i="0" u="none" strike="noStrike" cap="none">
                <a:solidFill>
                  <a:schemeClr val="lt1"/>
                </a:solidFill>
                <a:latin typeface="Lato Black"/>
                <a:ea typeface="Lato Black"/>
                <a:cs typeface="Lato Black"/>
                <a:sym typeface="Lato Black"/>
              </a:rPr>
              <a:t>TCL Command</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g3322e66b7a7_2_154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28" name="Google Shape;228;g3322e66b7a7_2_154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29" name="Google Shape;229;g3322e66b7a7_2_154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30" name="Google Shape;230;g3322e66b7a7_2_1542"/>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TCL</a:t>
            </a:r>
            <a:endParaRPr sz="2000" b="1" i="0" u="none" strike="noStrike" cap="none">
              <a:solidFill>
                <a:srgbClr val="FFFFFF"/>
              </a:solidFill>
              <a:latin typeface="Lato"/>
              <a:ea typeface="Lato"/>
              <a:cs typeface="Lato"/>
              <a:sym typeface="Lato"/>
            </a:endParaRPr>
          </a:p>
        </p:txBody>
      </p:sp>
      <p:grpSp>
        <p:nvGrpSpPr>
          <p:cNvPr id="231" name="Google Shape;231;g3322e66b7a7_2_1542"/>
          <p:cNvGrpSpPr/>
          <p:nvPr/>
        </p:nvGrpSpPr>
        <p:grpSpPr>
          <a:xfrm>
            <a:off x="583167" y="760275"/>
            <a:ext cx="7871683" cy="400200"/>
            <a:chOff x="583167" y="760275"/>
            <a:chExt cx="7871683" cy="400200"/>
          </a:xfrm>
        </p:grpSpPr>
        <p:sp>
          <p:nvSpPr>
            <p:cNvPr id="232" name="Google Shape;232;g3322e66b7a7_2_1542"/>
            <p:cNvSpPr txBox="1"/>
            <p:nvPr/>
          </p:nvSpPr>
          <p:spPr>
            <a:xfrm>
              <a:off x="692950" y="760275"/>
              <a:ext cx="7761900" cy="400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TCL (Transaction Control Language) commands in SQL are used to manage transactions.</a:t>
              </a:r>
              <a:endParaRPr sz="1400" b="0" i="0" u="none" strike="noStrike" cap="none">
                <a:solidFill>
                  <a:srgbClr val="000000"/>
                </a:solidFill>
                <a:latin typeface="Lato"/>
                <a:ea typeface="Lato"/>
                <a:cs typeface="Lato"/>
                <a:sym typeface="Lato"/>
              </a:endParaRPr>
            </a:p>
          </p:txBody>
        </p:sp>
        <p:pic>
          <p:nvPicPr>
            <p:cNvPr id="233" name="Google Shape;233;g3322e66b7a7_2_1542"/>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234" name="Google Shape;234;g3322e66b7a7_2_1542"/>
          <p:cNvGrpSpPr/>
          <p:nvPr/>
        </p:nvGrpSpPr>
        <p:grpSpPr>
          <a:xfrm>
            <a:off x="583167" y="1293675"/>
            <a:ext cx="7871683" cy="1391400"/>
            <a:chOff x="583167" y="760275"/>
            <a:chExt cx="7871683" cy="1391400"/>
          </a:xfrm>
        </p:grpSpPr>
        <p:sp>
          <p:nvSpPr>
            <p:cNvPr id="235" name="Google Shape;235;g3322e66b7a7_2_1542"/>
            <p:cNvSpPr txBox="1"/>
            <p:nvPr/>
          </p:nvSpPr>
          <p:spPr>
            <a:xfrm>
              <a:off x="692950" y="760275"/>
              <a:ext cx="7761900" cy="13914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COMMIT: Saves all the changes made during the current transaction to the database.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ROLLBACK: Undoes all changes made during the current transaction, reverting the database to its state before the transaction started.</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SAVEPOINT: Sets a named point within a transaction to which you can later roll back.</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ROLLBACK TO SAVEPOINT: Rolls back the transaction to a specified savepoint.</a:t>
              </a:r>
              <a:endParaRPr sz="1400" b="0" i="0" u="none" strike="noStrike" cap="none">
                <a:solidFill>
                  <a:srgbClr val="000000"/>
                </a:solidFill>
                <a:latin typeface="Lato"/>
                <a:ea typeface="Lato"/>
                <a:cs typeface="Lato"/>
                <a:sym typeface="Lato"/>
              </a:endParaRPr>
            </a:p>
          </p:txBody>
        </p:sp>
        <p:pic>
          <p:nvPicPr>
            <p:cNvPr id="236" name="Google Shape;236;g3322e66b7a7_2_1542"/>
            <p:cNvPicPr preferRelativeResize="0"/>
            <p:nvPr/>
          </p:nvPicPr>
          <p:blipFill rotWithShape="1">
            <a:blip r:embed="rId5">
              <a:alphaModFix/>
            </a:blip>
            <a:srcRect/>
            <a:stretch/>
          </p:blipFill>
          <p:spPr>
            <a:xfrm>
              <a:off x="583167" y="884274"/>
              <a:ext cx="61722" cy="109728"/>
            </a:xfrm>
            <a:prstGeom prst="rect">
              <a:avLst/>
            </a:prstGeom>
            <a:noFill/>
            <a:ln>
              <a:noFill/>
            </a:ln>
          </p:spPr>
        </p:pic>
      </p:grpSp>
      <p:pic>
        <p:nvPicPr>
          <p:cNvPr id="237" name="Google Shape;237;g3322e66b7a7_2_1542"/>
          <p:cNvPicPr preferRelativeResize="0"/>
          <p:nvPr/>
        </p:nvPicPr>
        <p:blipFill rotWithShape="1">
          <a:blip r:embed="rId6">
            <a:alphaModFix/>
          </a:blip>
          <a:srcRect/>
          <a:stretch/>
        </p:blipFill>
        <p:spPr>
          <a:xfrm>
            <a:off x="154300" y="3047275"/>
            <a:ext cx="8839202" cy="1281713"/>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1"/>
        <p:cNvGrpSpPr/>
        <p:nvPr/>
      </p:nvGrpSpPr>
      <p:grpSpPr>
        <a:xfrm>
          <a:off x="0" y="0"/>
          <a:ext cx="0" cy="0"/>
          <a:chOff x="0" y="0"/>
          <a:chExt cx="0" cy="0"/>
        </a:xfrm>
      </p:grpSpPr>
      <p:sp>
        <p:nvSpPr>
          <p:cNvPr id="242" name="Google Shape;242;g3322e66b7a7_2_1601"/>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g3322e66b7a7_2_1601"/>
          <p:cNvSpPr txBox="1"/>
          <p:nvPr/>
        </p:nvSpPr>
        <p:spPr>
          <a:xfrm>
            <a:off x="1132050" y="2121600"/>
            <a:ext cx="6880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a:solidFill>
                  <a:schemeClr val="lt1"/>
                </a:solidFill>
                <a:latin typeface="Lato Black"/>
                <a:ea typeface="Lato Black"/>
                <a:cs typeface="Lato Black"/>
                <a:sym typeface="Lato Black"/>
              </a:rPr>
              <a:t>Error Handling</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1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49" name="Google Shape;249;p1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50" name="Google Shape;250;p1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51" name="Google Shape;251;p19"/>
          <p:cNvSpPr txBox="1"/>
          <p:nvPr/>
        </p:nvSpPr>
        <p:spPr>
          <a:xfrm>
            <a:off x="3334650" y="46325"/>
            <a:ext cx="2713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Error Handling in SQL</a:t>
            </a:r>
            <a:endParaRPr sz="2000" b="1" i="0" u="none" strike="noStrike" cap="none">
              <a:solidFill>
                <a:srgbClr val="FFFFFF"/>
              </a:solidFill>
              <a:latin typeface="Lato"/>
              <a:ea typeface="Lato"/>
              <a:cs typeface="Lato"/>
              <a:sym typeface="Lato"/>
            </a:endParaRPr>
          </a:p>
        </p:txBody>
      </p:sp>
      <p:sp>
        <p:nvSpPr>
          <p:cNvPr id="252" name="Google Shape;252;p19"/>
          <p:cNvSpPr txBox="1"/>
          <p:nvPr/>
        </p:nvSpPr>
        <p:spPr>
          <a:xfrm>
            <a:off x="745942" y="6840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Error handling in SQL Server gives us control over the Transact-SQL code. For example, when things go wrong, we get a chance to do something about it and possibly make it right again.</a:t>
            </a:r>
            <a:endParaRPr i="0" u="none" strike="noStrike" cap="none">
              <a:solidFill>
                <a:srgbClr val="181717"/>
              </a:solidFill>
              <a:highlight>
                <a:srgbClr val="FFFFFF"/>
              </a:highlight>
              <a:latin typeface="Lato"/>
              <a:ea typeface="Lato"/>
              <a:cs typeface="Lato"/>
              <a:sym typeface="Lato"/>
            </a:endParaRPr>
          </a:p>
        </p:txBody>
      </p:sp>
      <p:pic>
        <p:nvPicPr>
          <p:cNvPr id="253" name="Google Shape;253;p19"/>
          <p:cNvPicPr preferRelativeResize="0"/>
          <p:nvPr/>
        </p:nvPicPr>
        <p:blipFill rotWithShape="1">
          <a:blip r:embed="rId5">
            <a:alphaModFix/>
          </a:blip>
          <a:srcRect/>
          <a:stretch/>
        </p:blipFill>
        <p:spPr>
          <a:xfrm>
            <a:off x="636158" y="808075"/>
            <a:ext cx="61722" cy="109728"/>
          </a:xfrm>
          <a:prstGeom prst="rect">
            <a:avLst/>
          </a:prstGeom>
          <a:noFill/>
          <a:ln>
            <a:noFill/>
          </a:ln>
        </p:spPr>
      </p:pic>
      <p:sp>
        <p:nvSpPr>
          <p:cNvPr id="254" name="Google Shape;254;p19"/>
          <p:cNvSpPr txBox="1"/>
          <p:nvPr/>
        </p:nvSpPr>
        <p:spPr>
          <a:xfrm>
            <a:off x="745942" y="1293675"/>
            <a:ext cx="7761900" cy="1639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Why Error Handling?</a:t>
            </a:r>
            <a:endParaRPr>
              <a:solidFill>
                <a:srgbClr val="252525"/>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endParaRPr>
              <a:solidFill>
                <a:srgbClr val="252525"/>
              </a:solidFill>
              <a:highlight>
                <a:srgbClr val="FFFFFF"/>
              </a:highlight>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 Prevents unexpected failures</a:t>
            </a:r>
            <a:endParaRPr>
              <a:solidFill>
                <a:srgbClr val="252525"/>
              </a:solidFill>
              <a:highlight>
                <a:srgbClr val="FFFFFF"/>
              </a:highlight>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 Helps in debugging &amp; troubleshooting</a:t>
            </a:r>
            <a:endParaRPr>
              <a:solidFill>
                <a:srgbClr val="252525"/>
              </a:solidFill>
              <a:highlight>
                <a:srgbClr val="FFFFFF"/>
              </a:highlight>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 Ensures data consistency</a:t>
            </a:r>
            <a:endParaRPr>
              <a:solidFill>
                <a:srgbClr val="252525"/>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 Improves user experience</a:t>
            </a:r>
            <a:endParaRPr>
              <a:solidFill>
                <a:srgbClr val="252525"/>
              </a:solidFill>
              <a:highlight>
                <a:srgbClr val="FFFFFF"/>
              </a:highlight>
              <a:latin typeface="Lato"/>
              <a:ea typeface="Lato"/>
              <a:cs typeface="Lato"/>
              <a:sym typeface="Lato"/>
            </a:endParaRPr>
          </a:p>
        </p:txBody>
      </p:sp>
      <p:pic>
        <p:nvPicPr>
          <p:cNvPr id="255" name="Google Shape;255;p19"/>
          <p:cNvPicPr preferRelativeResize="0"/>
          <p:nvPr/>
        </p:nvPicPr>
        <p:blipFill rotWithShape="1">
          <a:blip r:embed="rId5">
            <a:alphaModFix/>
          </a:blip>
          <a:srcRect/>
          <a:stretch/>
        </p:blipFill>
        <p:spPr>
          <a:xfrm>
            <a:off x="636158" y="1417675"/>
            <a:ext cx="61722" cy="109728"/>
          </a:xfrm>
          <a:prstGeom prst="rect">
            <a:avLst/>
          </a:prstGeom>
          <a:noFill/>
          <a:ln>
            <a:noFill/>
          </a:ln>
        </p:spPr>
      </p:pic>
      <p:sp>
        <p:nvSpPr>
          <p:cNvPr id="256" name="Google Shape;256;p19"/>
          <p:cNvSpPr txBox="1"/>
          <p:nvPr/>
        </p:nvSpPr>
        <p:spPr>
          <a:xfrm>
            <a:off x="745942" y="2893875"/>
            <a:ext cx="7761900" cy="12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Lato"/>
                <a:ea typeface="Lato"/>
                <a:cs typeface="Lato"/>
                <a:sym typeface="Lato"/>
              </a:rPr>
              <a:t>Types of Errors:</a:t>
            </a:r>
            <a:endParaRPr>
              <a:solidFill>
                <a:schemeClr val="dk1"/>
              </a:solidFill>
              <a:latin typeface="Lato"/>
              <a:ea typeface="Lato"/>
              <a:cs typeface="Lato"/>
              <a:sym typeface="Lato"/>
            </a:endParaRPr>
          </a:p>
          <a:p>
            <a:pPr marL="0" lvl="0" indent="0" algn="l" rtl="0">
              <a:lnSpc>
                <a:spcPct val="115000"/>
              </a:lnSpc>
              <a:spcBef>
                <a:spcPts val="1200"/>
              </a:spcBef>
              <a:spcAft>
                <a:spcPts val="200"/>
              </a:spcAft>
              <a:buClr>
                <a:schemeClr val="dk1"/>
              </a:buClr>
              <a:buSzPts val="1100"/>
              <a:buFont typeface="Arial"/>
              <a:buNone/>
            </a:pPr>
            <a:r>
              <a:rPr lang="en">
                <a:solidFill>
                  <a:schemeClr val="dk1"/>
                </a:solidFill>
                <a:latin typeface="Lato"/>
                <a:ea typeface="Lato"/>
                <a:cs typeface="Lato"/>
                <a:sym typeface="Lato"/>
              </a:rPr>
              <a:t>❌ </a:t>
            </a:r>
            <a:r>
              <a:rPr lang="en" b="1">
                <a:solidFill>
                  <a:schemeClr val="dk1"/>
                </a:solidFill>
                <a:latin typeface="Lato"/>
                <a:ea typeface="Lato"/>
                <a:cs typeface="Lato"/>
                <a:sym typeface="Lato"/>
              </a:rPr>
              <a:t>Syntax Errors</a:t>
            </a:r>
            <a:r>
              <a:rPr lang="en">
                <a:solidFill>
                  <a:schemeClr val="dk1"/>
                </a:solidFill>
                <a:latin typeface="Lato"/>
                <a:ea typeface="Lato"/>
                <a:cs typeface="Lato"/>
                <a:sym typeface="Lato"/>
              </a:rPr>
              <a:t> – Incorrect SQL syntax</a:t>
            </a:r>
            <a:br>
              <a:rPr lang="en">
                <a:solidFill>
                  <a:schemeClr val="dk1"/>
                </a:solidFill>
                <a:latin typeface="Lato"/>
                <a:ea typeface="Lato"/>
                <a:cs typeface="Lato"/>
                <a:sym typeface="Lato"/>
              </a:rPr>
            </a:br>
            <a:r>
              <a:rPr lang="en">
                <a:solidFill>
                  <a:schemeClr val="dk1"/>
                </a:solidFill>
                <a:latin typeface="Lato"/>
                <a:ea typeface="Lato"/>
                <a:cs typeface="Lato"/>
                <a:sym typeface="Lato"/>
              </a:rPr>
              <a:t>❌ </a:t>
            </a:r>
            <a:r>
              <a:rPr lang="en" b="1">
                <a:solidFill>
                  <a:schemeClr val="dk1"/>
                </a:solidFill>
                <a:latin typeface="Lato"/>
                <a:ea typeface="Lato"/>
                <a:cs typeface="Lato"/>
                <a:sym typeface="Lato"/>
              </a:rPr>
              <a:t>Runtime Errors</a:t>
            </a:r>
            <a:r>
              <a:rPr lang="en">
                <a:solidFill>
                  <a:schemeClr val="dk1"/>
                </a:solidFill>
                <a:latin typeface="Lato"/>
                <a:ea typeface="Lato"/>
                <a:cs typeface="Lato"/>
                <a:sym typeface="Lato"/>
              </a:rPr>
              <a:t> – Division by zero, type mismatches</a:t>
            </a:r>
            <a:br>
              <a:rPr lang="en">
                <a:solidFill>
                  <a:schemeClr val="dk1"/>
                </a:solidFill>
                <a:latin typeface="Lato"/>
                <a:ea typeface="Lato"/>
                <a:cs typeface="Lato"/>
                <a:sym typeface="Lato"/>
              </a:rPr>
            </a:br>
            <a:r>
              <a:rPr lang="en">
                <a:solidFill>
                  <a:schemeClr val="dk1"/>
                </a:solidFill>
                <a:latin typeface="Lato"/>
                <a:ea typeface="Lato"/>
                <a:cs typeface="Lato"/>
                <a:sym typeface="Lato"/>
              </a:rPr>
              <a:t>❌ </a:t>
            </a:r>
            <a:r>
              <a:rPr lang="en" b="1">
                <a:solidFill>
                  <a:schemeClr val="dk1"/>
                </a:solidFill>
                <a:latin typeface="Lato"/>
                <a:ea typeface="Lato"/>
                <a:cs typeface="Lato"/>
                <a:sym typeface="Lato"/>
              </a:rPr>
              <a:t>Logical Errors</a:t>
            </a:r>
            <a:r>
              <a:rPr lang="en">
                <a:solidFill>
                  <a:schemeClr val="dk1"/>
                </a:solidFill>
                <a:latin typeface="Lato"/>
                <a:ea typeface="Lato"/>
                <a:cs typeface="Lato"/>
                <a:sym typeface="Lato"/>
              </a:rPr>
              <a:t> – Incorrect business logic</a:t>
            </a:r>
            <a:endParaRPr sz="1700">
              <a:solidFill>
                <a:srgbClr val="252525"/>
              </a:solidFill>
              <a:highlight>
                <a:srgbClr val="FFFFFF"/>
              </a:highlight>
              <a:latin typeface="Lato"/>
              <a:ea typeface="Lato"/>
              <a:cs typeface="Lato"/>
              <a:sym typeface="Lato"/>
            </a:endParaRPr>
          </a:p>
        </p:txBody>
      </p:sp>
      <p:pic>
        <p:nvPicPr>
          <p:cNvPr id="257" name="Google Shape;257;p19"/>
          <p:cNvPicPr preferRelativeResize="0"/>
          <p:nvPr/>
        </p:nvPicPr>
        <p:blipFill rotWithShape="1">
          <a:blip r:embed="rId5">
            <a:alphaModFix/>
          </a:blip>
          <a:srcRect/>
          <a:stretch/>
        </p:blipFill>
        <p:spPr>
          <a:xfrm>
            <a:off x="636158" y="3017875"/>
            <a:ext cx="61722" cy="109728"/>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g3322e66b7a7_2_161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63" name="Google Shape;263;g3322e66b7a7_2_161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64" name="Google Shape;264;g3322e66b7a7_2_161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65" name="Google Shape;265;g3322e66b7a7_2_1618"/>
          <p:cNvSpPr txBox="1"/>
          <p:nvPr/>
        </p:nvSpPr>
        <p:spPr>
          <a:xfrm>
            <a:off x="3334650" y="46325"/>
            <a:ext cx="2713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Error Handling in SQL</a:t>
            </a:r>
            <a:endParaRPr sz="2000" b="1" i="0" u="none" strike="noStrike" cap="none">
              <a:solidFill>
                <a:srgbClr val="FFFFFF"/>
              </a:solidFill>
              <a:latin typeface="Lato"/>
              <a:ea typeface="Lato"/>
              <a:cs typeface="Lato"/>
              <a:sym typeface="Lato"/>
            </a:endParaRPr>
          </a:p>
        </p:txBody>
      </p:sp>
      <p:sp>
        <p:nvSpPr>
          <p:cNvPr id="266" name="Google Shape;266;g3322e66b7a7_2_1618"/>
          <p:cNvSpPr txBox="1"/>
          <p:nvPr/>
        </p:nvSpPr>
        <p:spPr>
          <a:xfrm>
            <a:off x="745942" y="684075"/>
            <a:ext cx="7761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Error Handling Methods:</a:t>
            </a:r>
            <a:endParaRPr>
              <a:solidFill>
                <a:srgbClr val="252525"/>
              </a:solidFill>
              <a:highlight>
                <a:srgbClr val="FFFFFF"/>
              </a:highlight>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endParaRPr>
              <a:solidFill>
                <a:srgbClr val="252525"/>
              </a:solidFill>
              <a:highlight>
                <a:srgbClr val="FFFFFF"/>
              </a:highlight>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1️⃣ </a:t>
            </a:r>
            <a:r>
              <a:rPr lang="en">
                <a:solidFill>
                  <a:srgbClr val="188038"/>
                </a:solidFill>
                <a:latin typeface="Lato"/>
                <a:ea typeface="Lato"/>
                <a:cs typeface="Lato"/>
                <a:sym typeface="Lato"/>
              </a:rPr>
              <a:t>TRY...CATCH</a:t>
            </a:r>
            <a:r>
              <a:rPr lang="en">
                <a:solidFill>
                  <a:schemeClr val="dk1"/>
                </a:solidFill>
                <a:latin typeface="Lato"/>
                <a:ea typeface="Lato"/>
                <a:cs typeface="Lato"/>
                <a:sym typeface="Lato"/>
              </a:rPr>
              <a:t> – Handles runtime errors</a:t>
            </a: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2️⃣ </a:t>
            </a:r>
            <a:r>
              <a:rPr lang="en">
                <a:solidFill>
                  <a:srgbClr val="188038"/>
                </a:solidFill>
                <a:latin typeface="Lato"/>
                <a:ea typeface="Lato"/>
                <a:cs typeface="Lato"/>
                <a:sym typeface="Lato"/>
              </a:rPr>
              <a:t>RAISEERROR</a:t>
            </a:r>
            <a:r>
              <a:rPr lang="en">
                <a:solidFill>
                  <a:schemeClr val="dk1"/>
                </a:solidFill>
                <a:latin typeface="Lato"/>
                <a:ea typeface="Lato"/>
                <a:cs typeface="Lato"/>
                <a:sym typeface="Lato"/>
              </a:rPr>
              <a:t> &amp; </a:t>
            </a:r>
            <a:r>
              <a:rPr lang="en">
                <a:solidFill>
                  <a:srgbClr val="188038"/>
                </a:solidFill>
                <a:latin typeface="Lato"/>
                <a:ea typeface="Lato"/>
                <a:cs typeface="Lato"/>
                <a:sym typeface="Lato"/>
              </a:rPr>
              <a:t>THROW</a:t>
            </a:r>
            <a:r>
              <a:rPr lang="en">
                <a:solidFill>
                  <a:schemeClr val="dk1"/>
                </a:solidFill>
                <a:latin typeface="Lato"/>
                <a:ea typeface="Lato"/>
                <a:cs typeface="Lato"/>
                <a:sym typeface="Lato"/>
              </a:rPr>
              <a:t> – Raises custom errors</a:t>
            </a:r>
            <a:endParaRPr>
              <a:solidFill>
                <a:schemeClr val="dk1"/>
              </a:solidFill>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3️⃣ </a:t>
            </a:r>
            <a:r>
              <a:rPr lang="en">
                <a:solidFill>
                  <a:srgbClr val="188038"/>
                </a:solidFill>
                <a:latin typeface="Lato"/>
                <a:ea typeface="Lato"/>
                <a:cs typeface="Lato"/>
                <a:sym typeface="Lato"/>
              </a:rPr>
              <a:t>@@ERROR</a:t>
            </a:r>
            <a:r>
              <a:rPr lang="en">
                <a:solidFill>
                  <a:schemeClr val="dk1"/>
                </a:solidFill>
                <a:latin typeface="Lato"/>
                <a:ea typeface="Lato"/>
                <a:cs typeface="Lato"/>
                <a:sym typeface="Lato"/>
              </a:rPr>
              <a:t> – Retrieves error codes</a:t>
            </a:r>
            <a:endParaRPr>
              <a:solidFill>
                <a:srgbClr val="252525"/>
              </a:solidFill>
              <a:highlight>
                <a:srgbClr val="FFFFFF"/>
              </a:highlight>
              <a:latin typeface="Lato"/>
              <a:ea typeface="Lato"/>
              <a:cs typeface="Lato"/>
              <a:sym typeface="Lato"/>
            </a:endParaRPr>
          </a:p>
        </p:txBody>
      </p:sp>
      <p:pic>
        <p:nvPicPr>
          <p:cNvPr id="267" name="Google Shape;267;g3322e66b7a7_2_1618"/>
          <p:cNvPicPr preferRelativeResize="0"/>
          <p:nvPr/>
        </p:nvPicPr>
        <p:blipFill rotWithShape="1">
          <a:blip r:embed="rId5">
            <a:alphaModFix/>
          </a:blip>
          <a:srcRect/>
          <a:stretch/>
        </p:blipFill>
        <p:spPr>
          <a:xfrm>
            <a:off x="636158" y="808075"/>
            <a:ext cx="61722" cy="109728"/>
          </a:xfrm>
          <a:prstGeom prst="rect">
            <a:avLst/>
          </a:prstGeom>
          <a:noFill/>
          <a:ln>
            <a:noFill/>
          </a:ln>
        </p:spPr>
      </p:pic>
      <p:sp>
        <p:nvSpPr>
          <p:cNvPr id="268" name="Google Shape;268;g3322e66b7a7_2_1618"/>
          <p:cNvSpPr txBox="1"/>
          <p:nvPr/>
        </p:nvSpPr>
        <p:spPr>
          <a:xfrm>
            <a:off x="745942" y="2131875"/>
            <a:ext cx="7761900" cy="2382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
                <a:solidFill>
                  <a:srgbClr val="252525"/>
                </a:solidFill>
                <a:highlight>
                  <a:srgbClr val="FFFFFF"/>
                </a:highlight>
                <a:latin typeface="Lato"/>
                <a:ea typeface="Lato"/>
                <a:cs typeface="Lato"/>
                <a:sym typeface="Lato"/>
              </a:rPr>
              <a:t>TRY...CATCH Block (Example):</a:t>
            </a:r>
            <a:endParaRPr>
              <a:solidFill>
                <a:srgbClr val="252525"/>
              </a:solidFill>
              <a:highlight>
                <a:srgbClr val="FFFFFF"/>
              </a:highlight>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BEGIN TRY</a:t>
            </a: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    SELECT 1/0 -- Division by zero error</a:t>
            </a: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END TRY</a:t>
            </a: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BEGIN CATCH</a:t>
            </a: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    PRINT 'Error: ' + ERROR_MESSAGE()</a:t>
            </a:r>
            <a:endParaRPr>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a:solidFill>
                  <a:schemeClr val="dk1"/>
                </a:solidFill>
                <a:latin typeface="Lato"/>
                <a:ea typeface="Lato"/>
                <a:cs typeface="Lato"/>
                <a:sym typeface="Lato"/>
              </a:rPr>
              <a:t>END CATCH</a:t>
            </a:r>
            <a:endParaRPr>
              <a:solidFill>
                <a:schemeClr val="dk1"/>
              </a:solidFill>
              <a:latin typeface="Lato"/>
              <a:ea typeface="Lato"/>
              <a:cs typeface="Lato"/>
              <a:sym typeface="Lato"/>
            </a:endParaRPr>
          </a:p>
          <a:p>
            <a:pPr marL="0" marR="0" lvl="0" indent="0" algn="just" rtl="0">
              <a:lnSpc>
                <a:spcPct val="115000"/>
              </a:lnSpc>
              <a:spcBef>
                <a:spcPts val="0"/>
              </a:spcBef>
              <a:spcAft>
                <a:spcPts val="0"/>
              </a:spcAft>
              <a:buClr>
                <a:schemeClr val="dk1"/>
              </a:buClr>
              <a:buSzPts val="1100"/>
              <a:buFont typeface="Arial"/>
              <a:buNone/>
            </a:pPr>
            <a:endParaRPr>
              <a:solidFill>
                <a:schemeClr val="dk1"/>
              </a:solidFill>
              <a:latin typeface="Lato"/>
              <a:ea typeface="Lato"/>
              <a:cs typeface="Lato"/>
              <a:sym typeface="Lato"/>
            </a:endParaRPr>
          </a:p>
        </p:txBody>
      </p:sp>
      <p:pic>
        <p:nvPicPr>
          <p:cNvPr id="269" name="Google Shape;269;g3322e66b7a7_2_1618"/>
          <p:cNvPicPr preferRelativeResize="0"/>
          <p:nvPr/>
        </p:nvPicPr>
        <p:blipFill rotWithShape="1">
          <a:blip r:embed="rId5">
            <a:alphaModFix/>
          </a:blip>
          <a:srcRect/>
          <a:stretch/>
        </p:blipFill>
        <p:spPr>
          <a:xfrm>
            <a:off x="636158" y="2255875"/>
            <a:ext cx="61722" cy="109728"/>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3"/>
        <p:cNvGrpSpPr/>
        <p:nvPr/>
      </p:nvGrpSpPr>
      <p:grpSpPr>
        <a:xfrm>
          <a:off x="0" y="0"/>
          <a:ext cx="0" cy="0"/>
          <a:chOff x="0" y="0"/>
          <a:chExt cx="0" cy="0"/>
        </a:xfrm>
      </p:grpSpPr>
      <p:sp>
        <p:nvSpPr>
          <p:cNvPr id="274" name="Google Shape;274;g3322e66b7a7_2_57"/>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g3322e66b7a7_2_57"/>
          <p:cNvSpPr txBox="1"/>
          <p:nvPr/>
        </p:nvSpPr>
        <p:spPr>
          <a:xfrm>
            <a:off x="66000" y="2144700"/>
            <a:ext cx="9012600" cy="861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 sz="4400" b="0" i="0" u="none" strike="noStrike" cap="none">
                <a:solidFill>
                  <a:schemeClr val="lt1"/>
                </a:solidFill>
                <a:latin typeface="Lato Black"/>
                <a:ea typeface="Lato Black"/>
                <a:cs typeface="Lato Black"/>
                <a:sym typeface="Lato Black"/>
              </a:rPr>
              <a:t>CTE (Common Table Expression)</a:t>
            </a:r>
            <a:endParaRPr sz="44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280" name="Google Shape;280;g3322e66b7a7_2_10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81" name="Google Shape;281;g3322e66b7a7_2_10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82" name="Google Shape;282;g3322e66b7a7_2_10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83" name="Google Shape;283;g3322e66b7a7_2_107"/>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CTE</a:t>
            </a:r>
            <a:endParaRPr sz="2000" b="1" i="0" u="none" strike="noStrike" cap="none">
              <a:solidFill>
                <a:srgbClr val="FFFFFF"/>
              </a:solidFill>
              <a:latin typeface="Lato"/>
              <a:ea typeface="Lato"/>
              <a:cs typeface="Lato"/>
              <a:sym typeface="Lato"/>
            </a:endParaRPr>
          </a:p>
        </p:txBody>
      </p:sp>
      <p:grpSp>
        <p:nvGrpSpPr>
          <p:cNvPr id="284" name="Google Shape;284;g3322e66b7a7_2_107"/>
          <p:cNvGrpSpPr/>
          <p:nvPr/>
        </p:nvGrpSpPr>
        <p:grpSpPr>
          <a:xfrm>
            <a:off x="583167" y="760275"/>
            <a:ext cx="7871683" cy="648000"/>
            <a:chOff x="583167" y="760275"/>
            <a:chExt cx="7871683" cy="648000"/>
          </a:xfrm>
        </p:grpSpPr>
        <p:sp>
          <p:nvSpPr>
            <p:cNvPr id="285" name="Google Shape;285;g3322e66b7a7_2_107"/>
            <p:cNvSpPr txBox="1"/>
            <p:nvPr/>
          </p:nvSpPr>
          <p:spPr>
            <a:xfrm>
              <a:off x="692950" y="7602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 Common Table Expression is a temporary result set that you can reference within a SELECT, INSERT, UPDATE, or DELETE statement</a:t>
              </a:r>
              <a:endParaRPr sz="1400" b="0" i="0" u="none" strike="noStrike" cap="none">
                <a:solidFill>
                  <a:srgbClr val="000000"/>
                </a:solidFill>
                <a:latin typeface="Lato"/>
                <a:ea typeface="Lato"/>
                <a:cs typeface="Lato"/>
                <a:sym typeface="Lato"/>
              </a:endParaRPr>
            </a:p>
          </p:txBody>
        </p:sp>
        <p:pic>
          <p:nvPicPr>
            <p:cNvPr id="286" name="Google Shape;286;g3322e66b7a7_2_107"/>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287" name="Google Shape;287;g3322e66b7a7_2_107"/>
          <p:cNvGrpSpPr/>
          <p:nvPr/>
        </p:nvGrpSpPr>
        <p:grpSpPr>
          <a:xfrm>
            <a:off x="583167" y="1446075"/>
            <a:ext cx="7871683" cy="895800"/>
            <a:chOff x="583167" y="760275"/>
            <a:chExt cx="7871683" cy="895800"/>
          </a:xfrm>
        </p:grpSpPr>
        <p:sp>
          <p:nvSpPr>
            <p:cNvPr id="288" name="Google Shape;288;g3322e66b7a7_2_107"/>
            <p:cNvSpPr txBox="1"/>
            <p:nvPr/>
          </p:nvSpPr>
          <p:spPr>
            <a:xfrm>
              <a:off x="692950" y="7602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CTEs are particularly useful for making complex queries more readable and maintainable by breaking them down into smaller, logical units. They can also be recursive, allowing you to perform hierarchical queries.</a:t>
              </a:r>
              <a:endParaRPr sz="1400" b="0" i="0" u="none" strike="noStrike" cap="none">
                <a:solidFill>
                  <a:srgbClr val="000000"/>
                </a:solidFill>
                <a:latin typeface="Lato"/>
                <a:ea typeface="Lato"/>
                <a:cs typeface="Lato"/>
                <a:sym typeface="Lato"/>
              </a:endParaRPr>
            </a:p>
          </p:txBody>
        </p:sp>
        <p:pic>
          <p:nvPicPr>
            <p:cNvPr id="289" name="Google Shape;289;g3322e66b7a7_2_107"/>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290" name="Google Shape;290;g3322e66b7a7_2_107"/>
          <p:cNvGrpSpPr/>
          <p:nvPr/>
        </p:nvGrpSpPr>
        <p:grpSpPr>
          <a:xfrm>
            <a:off x="583167" y="2436675"/>
            <a:ext cx="7871683" cy="1391400"/>
            <a:chOff x="583167" y="760275"/>
            <a:chExt cx="7871683" cy="1391400"/>
          </a:xfrm>
        </p:grpSpPr>
        <p:sp>
          <p:nvSpPr>
            <p:cNvPr id="291" name="Google Shape;291;g3322e66b7a7_2_107"/>
            <p:cNvSpPr txBox="1"/>
            <p:nvPr/>
          </p:nvSpPr>
          <p:spPr>
            <a:xfrm>
              <a:off x="692950" y="760275"/>
              <a:ext cx="7761900" cy="1391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WITH SalesCTE (Product, TotalSales) AS (</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SELECT Product, SUM(SalesAmount) AS TotalSales</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FROM Sales</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GROUP BY Product )</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SELECT * FROM SalesCTE</a:t>
              </a:r>
              <a:endParaRPr sz="1400" b="0" i="0" u="none" strike="noStrike" cap="none">
                <a:solidFill>
                  <a:srgbClr val="000000"/>
                </a:solidFill>
                <a:latin typeface="Lato"/>
                <a:ea typeface="Lato"/>
                <a:cs typeface="Lato"/>
                <a:sym typeface="Lato"/>
              </a:endParaRPr>
            </a:p>
          </p:txBody>
        </p:sp>
        <p:pic>
          <p:nvPicPr>
            <p:cNvPr id="292" name="Google Shape;292;g3322e66b7a7_2_107"/>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g3322e66b7a7_2_168"/>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98" name="Google Shape;298;g3322e66b7a7_2_16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99" name="Google Shape;299;g3322e66b7a7_2_16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00" name="Google Shape;300;g3322e66b7a7_2_168"/>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CTE</a:t>
            </a:r>
            <a:endParaRPr sz="2000" b="1" i="0" u="none" strike="noStrike" cap="none">
              <a:solidFill>
                <a:srgbClr val="FFFFFF"/>
              </a:solidFill>
              <a:latin typeface="Lato"/>
              <a:ea typeface="Lato"/>
              <a:cs typeface="Lato"/>
              <a:sym typeface="Lato"/>
            </a:endParaRPr>
          </a:p>
        </p:txBody>
      </p:sp>
      <p:grpSp>
        <p:nvGrpSpPr>
          <p:cNvPr id="301" name="Google Shape;301;g3322e66b7a7_2_168"/>
          <p:cNvGrpSpPr/>
          <p:nvPr/>
        </p:nvGrpSpPr>
        <p:grpSpPr>
          <a:xfrm>
            <a:off x="583167" y="760275"/>
            <a:ext cx="7871683" cy="2630400"/>
            <a:chOff x="583167" y="760275"/>
            <a:chExt cx="7871683" cy="2630400"/>
          </a:xfrm>
        </p:grpSpPr>
        <p:sp>
          <p:nvSpPr>
            <p:cNvPr id="302" name="Google Shape;302;g3322e66b7a7_2_168"/>
            <p:cNvSpPr txBox="1"/>
            <p:nvPr/>
          </p:nvSpPr>
          <p:spPr>
            <a:xfrm>
              <a:off x="692950" y="760275"/>
              <a:ext cx="7761900" cy="26304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Benefits :</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CTEs make code more readable. And readability makes queries easier to debug.</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CTEs can reference the results multiple times throughout the query. By storing the results of the subquery, you can reuse them throughout a larger query.</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CTEs can help you perform multi-level aggregations. Use CTEs to store the results of aggregations, which you can then summarize in the main query.</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Reference </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sng" strike="noStrike" cap="none">
                  <a:solidFill>
                    <a:schemeClr val="hlink"/>
                  </a:solidFill>
                  <a:latin typeface="Lato"/>
                  <a:ea typeface="Lato"/>
                  <a:cs typeface="Lato"/>
                  <a:sym typeface="Lato"/>
                  <a:hlinkClick r:id="rId5"/>
                </a:rPr>
                <a:t>https://stackoverflow.com/questions/54176/what-are-the-advantages-disadvantages-of-using-a-cte</a:t>
              </a:r>
              <a:endParaRPr sz="1400" b="0" i="0" u="none" strike="noStrike" cap="none">
                <a:solidFill>
                  <a:srgbClr val="000000"/>
                </a:solidFill>
                <a:latin typeface="Lato"/>
                <a:ea typeface="Lato"/>
                <a:cs typeface="Lato"/>
                <a:sym typeface="Lato"/>
              </a:endParaRPr>
            </a:p>
          </p:txBody>
        </p:sp>
        <p:pic>
          <p:nvPicPr>
            <p:cNvPr id="303" name="Google Shape;303;g3322e66b7a7_2_168"/>
            <p:cNvPicPr preferRelativeResize="0"/>
            <p:nvPr/>
          </p:nvPicPr>
          <p:blipFill rotWithShape="1">
            <a:blip r:embed="rId6">
              <a:alphaModFix/>
            </a:blip>
            <a:srcRect/>
            <a:stretch/>
          </p:blipFill>
          <p:spPr>
            <a:xfrm>
              <a:off x="583167" y="884274"/>
              <a:ext cx="61722" cy="109728"/>
            </a:xfrm>
            <a:prstGeom prst="rect">
              <a:avLst/>
            </a:prstGeom>
            <a:noFill/>
            <a:ln>
              <a:noFill/>
            </a:ln>
          </p:spPr>
        </p:pic>
      </p:gr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Google Shape;308;g3322e66b7a7_2_223"/>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g3322e66b7a7_2_223"/>
          <p:cNvSpPr txBox="1"/>
          <p:nvPr/>
        </p:nvSpPr>
        <p:spPr>
          <a:xfrm>
            <a:off x="2777550" y="2121600"/>
            <a:ext cx="3589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b="0" i="0" u="none" strike="noStrike" cap="none">
                <a:solidFill>
                  <a:schemeClr val="lt1"/>
                </a:solidFill>
                <a:latin typeface="Lato Black"/>
                <a:ea typeface="Lato Black"/>
                <a:cs typeface="Lato Black"/>
                <a:sym typeface="Lato Black"/>
              </a:rPr>
              <a:t>Temp Table</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g3322e66b7a7_2_27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15" name="Google Shape;315;g3322e66b7a7_2_27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16" name="Google Shape;316;g3322e66b7a7_2_27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17" name="Google Shape;317;g3322e66b7a7_2_273"/>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Temp Table</a:t>
            </a:r>
            <a:endParaRPr sz="2000" b="1" i="0" u="none" strike="noStrike" cap="none">
              <a:solidFill>
                <a:srgbClr val="FFFFFF"/>
              </a:solidFill>
              <a:latin typeface="Lato"/>
              <a:ea typeface="Lato"/>
              <a:cs typeface="Lato"/>
              <a:sym typeface="Lato"/>
            </a:endParaRPr>
          </a:p>
        </p:txBody>
      </p:sp>
      <p:grpSp>
        <p:nvGrpSpPr>
          <p:cNvPr id="318" name="Google Shape;318;g3322e66b7a7_2_273"/>
          <p:cNvGrpSpPr/>
          <p:nvPr/>
        </p:nvGrpSpPr>
        <p:grpSpPr>
          <a:xfrm>
            <a:off x="583167" y="760275"/>
            <a:ext cx="7871683" cy="1143600"/>
            <a:chOff x="583167" y="760275"/>
            <a:chExt cx="7871683" cy="1143600"/>
          </a:xfrm>
        </p:grpSpPr>
        <p:sp>
          <p:nvSpPr>
            <p:cNvPr id="319" name="Google Shape;319;g3322e66b7a7_2_273"/>
            <p:cNvSpPr txBox="1"/>
            <p:nvPr/>
          </p:nvSpPr>
          <p:spPr>
            <a:xfrm>
              <a:off x="692950" y="760275"/>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In SQL Server, a temporary table is a table that is created and exists only for the duration of a session or a specific scope of work. Temporary tables are particularly useful when you need to store and manipulate intermediate results within a specific operation, and you don't want to clutter the permanent database with such temporary data.</a:t>
              </a:r>
              <a:endParaRPr sz="1400" b="0" i="0" u="none" strike="noStrike" cap="none">
                <a:solidFill>
                  <a:srgbClr val="000000"/>
                </a:solidFill>
                <a:latin typeface="Lato"/>
                <a:ea typeface="Lato"/>
                <a:cs typeface="Lato"/>
                <a:sym typeface="Lato"/>
              </a:endParaRPr>
            </a:p>
          </p:txBody>
        </p:sp>
        <p:pic>
          <p:nvPicPr>
            <p:cNvPr id="320" name="Google Shape;320;g3322e66b7a7_2_273"/>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321" name="Google Shape;321;g3322e66b7a7_2_273"/>
          <p:cNvGrpSpPr/>
          <p:nvPr/>
        </p:nvGrpSpPr>
        <p:grpSpPr>
          <a:xfrm>
            <a:off x="583167" y="2017575"/>
            <a:ext cx="7871683" cy="2134800"/>
            <a:chOff x="583167" y="1522275"/>
            <a:chExt cx="7871683" cy="2134800"/>
          </a:xfrm>
        </p:grpSpPr>
        <p:sp>
          <p:nvSpPr>
            <p:cNvPr id="322" name="Google Shape;322;g3322e66b7a7_2_273"/>
            <p:cNvSpPr txBox="1"/>
            <p:nvPr/>
          </p:nvSpPr>
          <p:spPr>
            <a:xfrm>
              <a:off x="692950" y="1522275"/>
              <a:ext cx="7761900" cy="2134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Use Cases for Temporary Tables: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1" i="0" u="none" strike="noStrike" cap="none">
                  <a:solidFill>
                    <a:srgbClr val="000000"/>
                  </a:solidFill>
                  <a:latin typeface="Lato"/>
                  <a:ea typeface="Lato"/>
                  <a:cs typeface="Lato"/>
                  <a:sym typeface="Lato"/>
                </a:rPr>
                <a:t>Complex Queries:</a:t>
              </a:r>
              <a:r>
                <a:rPr lang="en" sz="1400" b="0" i="0" u="none" strike="noStrike" cap="none">
                  <a:solidFill>
                    <a:srgbClr val="000000"/>
                  </a:solidFill>
                  <a:latin typeface="Lato"/>
                  <a:ea typeface="Lato"/>
                  <a:cs typeface="Lato"/>
                  <a:sym typeface="Lato"/>
                </a:rPr>
                <a:t> Temporary tables can be used to store intermediate results during complex queries, improving readability and performance.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1" i="0" u="none" strike="noStrike" cap="none">
                  <a:solidFill>
                    <a:srgbClr val="000000"/>
                  </a:solidFill>
                  <a:latin typeface="Lato"/>
                  <a:ea typeface="Lato"/>
                  <a:cs typeface="Lato"/>
                  <a:sym typeface="Lato"/>
                </a:rPr>
                <a:t>Transaction Isolation:</a:t>
              </a:r>
              <a:r>
                <a:rPr lang="en" sz="1400" b="0" i="0" u="none" strike="noStrike" cap="none">
                  <a:solidFill>
                    <a:srgbClr val="000000"/>
                  </a:solidFill>
                  <a:latin typeface="Lato"/>
                  <a:ea typeface="Lato"/>
                  <a:cs typeface="Lato"/>
                  <a:sym typeface="Lato"/>
                </a:rPr>
                <a:t> Temporary tables can help isolate data within a transaction, preventing interference with other transactions.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1" i="0" u="none" strike="noStrike" cap="none">
                  <a:solidFill>
                    <a:srgbClr val="000000"/>
                  </a:solidFill>
                  <a:latin typeface="Lato"/>
                  <a:ea typeface="Lato"/>
                  <a:cs typeface="Lato"/>
                  <a:sym typeface="Lato"/>
                </a:rPr>
                <a:t>Reusability:</a:t>
              </a:r>
              <a:r>
                <a:rPr lang="en" sz="1400" b="0" i="0" u="none" strike="noStrike" cap="none">
                  <a:solidFill>
                    <a:srgbClr val="000000"/>
                  </a:solidFill>
                  <a:latin typeface="Lato"/>
                  <a:ea typeface="Lato"/>
                  <a:cs typeface="Lato"/>
                  <a:sym typeface="Lato"/>
                </a:rPr>
                <a:t> Temporary tables allow you to reuse the same set of data within a session without having to recreate the table structure.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1" i="0" u="none" strike="noStrike" cap="none">
                  <a:solidFill>
                    <a:srgbClr val="000000"/>
                  </a:solidFill>
                  <a:latin typeface="Lato"/>
                  <a:ea typeface="Lato"/>
                  <a:cs typeface="Lato"/>
                  <a:sym typeface="Lato"/>
                </a:rPr>
                <a:t>Temporary Storage:</a:t>
              </a:r>
              <a:r>
                <a:rPr lang="en" sz="1400" b="0" i="0" u="none" strike="noStrike" cap="none">
                  <a:solidFill>
                    <a:srgbClr val="000000"/>
                  </a:solidFill>
                  <a:latin typeface="Lato"/>
                  <a:ea typeface="Lato"/>
                  <a:cs typeface="Lato"/>
                  <a:sym typeface="Lato"/>
                </a:rPr>
                <a:t> Storing data temporarily for a specific process or reporting task.</a:t>
              </a:r>
              <a:endParaRPr sz="1400" b="0" i="0" u="none" strike="noStrike" cap="none">
                <a:solidFill>
                  <a:srgbClr val="000000"/>
                </a:solidFill>
                <a:latin typeface="Lato"/>
                <a:ea typeface="Lato"/>
                <a:cs typeface="Lato"/>
                <a:sym typeface="Lato"/>
              </a:endParaRPr>
            </a:p>
          </p:txBody>
        </p:sp>
        <p:pic>
          <p:nvPicPr>
            <p:cNvPr id="323" name="Google Shape;323;g3322e66b7a7_2_273"/>
            <p:cNvPicPr preferRelativeResize="0"/>
            <p:nvPr/>
          </p:nvPicPr>
          <p:blipFill rotWithShape="1">
            <a:blip r:embed="rId5">
              <a:alphaModFix/>
            </a:blip>
            <a:srcRect/>
            <a:stretch/>
          </p:blipFill>
          <p:spPr>
            <a:xfrm>
              <a:off x="583167" y="1646275"/>
              <a:ext cx="61722" cy="109728"/>
            </a:xfrm>
            <a:prstGeom prst="rect">
              <a:avLst/>
            </a:prstGeom>
            <a:noFill/>
            <a:ln>
              <a:noFill/>
            </a:ln>
          </p:spPr>
        </p:pic>
      </p:gr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328" name="Google Shape;328;g3322e66b7a7_2_33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29" name="Google Shape;329;g3322e66b7a7_2_33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30" name="Google Shape;330;g3322e66b7a7_2_3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31" name="Google Shape;331;g3322e66b7a7_2_331"/>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Temp Table</a:t>
            </a:r>
            <a:endParaRPr sz="2000" b="1" i="0" u="none" strike="noStrike" cap="none">
              <a:solidFill>
                <a:srgbClr val="FFFFFF"/>
              </a:solidFill>
              <a:latin typeface="Lato"/>
              <a:ea typeface="Lato"/>
              <a:cs typeface="Lato"/>
              <a:sym typeface="Lato"/>
            </a:endParaRPr>
          </a:p>
        </p:txBody>
      </p:sp>
      <p:grpSp>
        <p:nvGrpSpPr>
          <p:cNvPr id="332" name="Google Shape;332;g3322e66b7a7_2_331"/>
          <p:cNvGrpSpPr/>
          <p:nvPr/>
        </p:nvGrpSpPr>
        <p:grpSpPr>
          <a:xfrm>
            <a:off x="583167" y="798375"/>
            <a:ext cx="7871683" cy="3901800"/>
            <a:chOff x="583167" y="1522275"/>
            <a:chExt cx="7871683" cy="3901800"/>
          </a:xfrm>
        </p:grpSpPr>
        <p:sp>
          <p:nvSpPr>
            <p:cNvPr id="333" name="Google Shape;333;g3322e66b7a7_2_331"/>
            <p:cNvSpPr txBox="1"/>
            <p:nvPr/>
          </p:nvSpPr>
          <p:spPr>
            <a:xfrm>
              <a:off x="692950" y="1522275"/>
              <a:ext cx="7761900" cy="3901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Types of Temp Table :</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Local Temporary Table :</a:t>
              </a:r>
              <a:endParaRPr sz="1400" b="0" i="0" u="none" strike="noStrike" cap="none">
                <a:solidFill>
                  <a:srgbClr val="000000"/>
                </a:solidFill>
                <a:latin typeface="Lato"/>
                <a:ea typeface="Lato"/>
                <a:cs typeface="Lato"/>
                <a:sym typeface="Lato"/>
              </a:endParaRPr>
            </a:p>
            <a:p>
              <a:pPr marL="8001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Local temp tables are similar to Permanent Tables in SQL Server, it accepts the single hash value "#" as the prefix when created. They are visible only to the connection that creates it, and are deleted when the connection is closed.</a:t>
              </a:r>
              <a:endParaRPr sz="1400" b="0" i="0" u="none" strike="noStrike" cap="none">
                <a:solidFill>
                  <a:srgbClr val="000000"/>
                </a:solidFill>
                <a:latin typeface="Lato"/>
                <a:ea typeface="Lato"/>
                <a:cs typeface="Lato"/>
                <a:sym typeface="Lato"/>
              </a:endParaRPr>
            </a:p>
            <a:p>
              <a:pPr marL="8001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CREATE TABLE #TempTable (</a:t>
              </a:r>
              <a:endParaRPr sz="1400" b="0" i="0" u="none" strike="noStrike" cap="none">
                <a:solidFill>
                  <a:srgbClr val="000000"/>
                </a:solidFill>
                <a:latin typeface="Lato"/>
                <a:ea typeface="Lato"/>
                <a:cs typeface="Lato"/>
                <a:sym typeface="Lato"/>
              </a:endParaRPr>
            </a:p>
            <a:p>
              <a:pPr marL="13716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ID INT,</a:t>
              </a:r>
              <a:endParaRPr sz="1400" b="0" i="0" u="none" strike="noStrike" cap="none">
                <a:solidFill>
                  <a:srgbClr val="000000"/>
                </a:solidFill>
                <a:latin typeface="Lato"/>
                <a:ea typeface="Lato"/>
                <a:cs typeface="Lato"/>
                <a:sym typeface="Lato"/>
              </a:endParaRPr>
            </a:p>
            <a:p>
              <a:pPr marL="13716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Name VARCHAR(255)</a:t>
              </a:r>
              <a:endParaRPr sz="1400" b="0" i="0" u="none" strike="noStrike" cap="none">
                <a:solidFill>
                  <a:srgbClr val="000000"/>
                </a:solidFill>
                <a:latin typeface="Lato"/>
                <a:ea typeface="Lato"/>
                <a:cs typeface="Lato"/>
                <a:sym typeface="Lato"/>
              </a:endParaRPr>
            </a:p>
            <a:p>
              <a:pPr marL="13716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t>
              </a:r>
              <a:endParaRPr sz="1400" b="0" i="0" u="none" strike="noStrike" cap="none">
                <a:solidFill>
                  <a:srgbClr val="000000"/>
                </a:solidFill>
                <a:latin typeface="Lato"/>
                <a:ea typeface="Lato"/>
                <a:cs typeface="Lato"/>
                <a:sym typeface="Lato"/>
              </a:endParaRPr>
            </a:p>
            <a:p>
              <a:pPr marL="8001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INSERT INTO #TempTable VALUES (1, 'John'), (2, 'Jane')</a:t>
              </a:r>
              <a:endParaRPr sz="1400" b="0" i="0" u="none" strike="noStrike" cap="none">
                <a:solidFill>
                  <a:srgbClr val="000000"/>
                </a:solidFill>
                <a:latin typeface="Lato"/>
                <a:ea typeface="Lato"/>
                <a:cs typeface="Lato"/>
                <a:sym typeface="Lato"/>
              </a:endParaRPr>
            </a:p>
            <a:p>
              <a:pPr marL="8001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 FROM #TempTable</a:t>
              </a:r>
              <a:endParaRPr sz="1400" b="0" i="0" u="none" strike="noStrike" cap="none">
                <a:solidFill>
                  <a:srgbClr val="000000"/>
                </a:solidFill>
                <a:latin typeface="Lato"/>
                <a:ea typeface="Lato"/>
                <a:cs typeface="Lato"/>
                <a:sym typeface="Lato"/>
              </a:endParaRPr>
            </a:p>
            <a:p>
              <a:pPr marL="8001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DROP IF EXITS TABLE #</a:t>
              </a:r>
              <a:r>
                <a:rPr lang="en" sz="1400" b="0" i="0" u="none" strike="noStrike" cap="none">
                  <a:solidFill>
                    <a:schemeClr val="dk1"/>
                  </a:solidFill>
                  <a:latin typeface="Lato"/>
                  <a:ea typeface="Lato"/>
                  <a:cs typeface="Lato"/>
                  <a:sym typeface="Lato"/>
                </a:rPr>
                <a:t>TempTable</a:t>
              </a:r>
              <a:endParaRPr sz="1400" b="0" i="0" u="none" strike="noStrike" cap="none">
                <a:solidFill>
                  <a:srgbClr val="000000"/>
                </a:solidFill>
                <a:latin typeface="Lato"/>
                <a:ea typeface="Lato"/>
                <a:cs typeface="Lato"/>
                <a:sym typeface="Lato"/>
              </a:endParaRPr>
            </a:p>
            <a:p>
              <a:pPr marL="8001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 INTO #</a:t>
              </a:r>
              <a:r>
                <a:rPr lang="en" sz="1400" b="0" i="0" u="none" strike="noStrike" cap="none">
                  <a:solidFill>
                    <a:schemeClr val="dk1"/>
                  </a:solidFill>
                  <a:latin typeface="Lato"/>
                  <a:ea typeface="Lato"/>
                  <a:cs typeface="Lato"/>
                  <a:sym typeface="Lato"/>
                </a:rPr>
                <a:t>TempTable</a:t>
              </a:r>
              <a:r>
                <a:rPr lang="en" sz="1400" b="0" i="0" u="none" strike="noStrike" cap="none">
                  <a:solidFill>
                    <a:srgbClr val="000000"/>
                  </a:solidFill>
                  <a:latin typeface="Lato"/>
                  <a:ea typeface="Lato"/>
                  <a:cs typeface="Lato"/>
                  <a:sym typeface="Lato"/>
                </a:rPr>
                <a:t> FROM Employee</a:t>
              </a:r>
              <a:endParaRPr sz="1400" b="0" i="0" u="none" strike="noStrike" cap="none">
                <a:solidFill>
                  <a:srgbClr val="000000"/>
                </a:solidFill>
                <a:latin typeface="Lato"/>
                <a:ea typeface="Lato"/>
                <a:cs typeface="Lato"/>
                <a:sym typeface="Lato"/>
              </a:endParaRPr>
            </a:p>
          </p:txBody>
        </p:sp>
        <p:pic>
          <p:nvPicPr>
            <p:cNvPr id="334" name="Google Shape;334;g3322e66b7a7_2_331"/>
            <p:cNvPicPr preferRelativeResize="0"/>
            <p:nvPr/>
          </p:nvPicPr>
          <p:blipFill rotWithShape="1">
            <a:blip r:embed="rId5">
              <a:alphaModFix/>
            </a:blip>
            <a:srcRect/>
            <a:stretch/>
          </p:blipFill>
          <p:spPr>
            <a:xfrm>
              <a:off x="583167" y="1646275"/>
              <a:ext cx="61722" cy="109728"/>
            </a:xfrm>
            <a:prstGeom prst="rect">
              <a:avLst/>
            </a:prstGeom>
            <a:noFill/>
            <a:ln>
              <a:noFill/>
            </a:ln>
          </p:spPr>
        </p:pic>
      </p:gr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39" name="Google Shape;339;g3322e66b7a7_2_38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40" name="Google Shape;340;g3322e66b7a7_2_38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41" name="Google Shape;341;g3322e66b7a7_2_38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42" name="Google Shape;342;g3322e66b7a7_2_386"/>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Temp Table</a:t>
            </a:r>
            <a:endParaRPr sz="2000" b="1" i="0" u="none" strike="noStrike" cap="none">
              <a:solidFill>
                <a:srgbClr val="FFFFFF"/>
              </a:solidFill>
              <a:latin typeface="Lato"/>
              <a:ea typeface="Lato"/>
              <a:cs typeface="Lato"/>
              <a:sym typeface="Lato"/>
            </a:endParaRPr>
          </a:p>
        </p:txBody>
      </p:sp>
      <p:grpSp>
        <p:nvGrpSpPr>
          <p:cNvPr id="343" name="Google Shape;343;g3322e66b7a7_2_386"/>
          <p:cNvGrpSpPr/>
          <p:nvPr/>
        </p:nvGrpSpPr>
        <p:grpSpPr>
          <a:xfrm>
            <a:off x="583167" y="798375"/>
            <a:ext cx="7871683" cy="3901800"/>
            <a:chOff x="583167" y="1522275"/>
            <a:chExt cx="7871683" cy="3901800"/>
          </a:xfrm>
        </p:grpSpPr>
        <p:sp>
          <p:nvSpPr>
            <p:cNvPr id="344" name="Google Shape;344;g3322e66b7a7_2_386"/>
            <p:cNvSpPr txBox="1"/>
            <p:nvPr/>
          </p:nvSpPr>
          <p:spPr>
            <a:xfrm>
              <a:off x="692950" y="1522275"/>
              <a:ext cx="7761900" cy="3901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2.     Global Temporary Table</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Global Temporary Tables are also similar to Local Temporary Tables in SQL Server, except two "##" values are used as the prefix at the time of their creation. They are visible to all connections of SQLServer and only destroyed when the last connection referencing the table is closed (in which we have created the Global Temporary Table).</a:t>
              </a:r>
              <a:endParaRPr sz="1400" b="0" i="0" u="none" strike="noStrike" cap="none">
                <a:solidFill>
                  <a:srgbClr val="000000"/>
                </a:solidFill>
                <a:latin typeface="Lato"/>
                <a:ea typeface="Lato"/>
                <a:cs typeface="Lato"/>
                <a:sym typeface="Lato"/>
              </a:endParaRPr>
            </a:p>
            <a:p>
              <a:pPr marL="4572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CREATE TABLE ##GlobalTempTable (</a:t>
              </a:r>
              <a:endParaRPr sz="1400" b="0" i="0" u="none" strike="noStrike" cap="none">
                <a:solidFill>
                  <a:srgbClr val="000000"/>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ID INT,</a:t>
              </a:r>
              <a:endParaRPr sz="1400" b="0" i="0" u="none" strike="noStrike" cap="none">
                <a:solidFill>
                  <a:srgbClr val="000000"/>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    Name VARCHAR(255)</a:t>
              </a:r>
              <a:endParaRPr sz="1400" b="0" i="0" u="none" strike="noStrike" cap="none">
                <a:solidFill>
                  <a:srgbClr val="000000"/>
                </a:solidFill>
                <a:latin typeface="Lato"/>
                <a:ea typeface="Lato"/>
                <a:cs typeface="Lato"/>
                <a:sym typeface="Lato"/>
              </a:endParaRPr>
            </a:p>
            <a:p>
              <a:pPr marL="457200" marR="0" lvl="0" indent="0" algn="just"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t>
              </a:r>
              <a:endParaRPr sz="1400" b="0" i="0" u="none" strike="noStrike" cap="none">
                <a:solidFill>
                  <a:srgbClr val="000000"/>
                </a:solidFill>
                <a:latin typeface="Lato"/>
                <a:ea typeface="Lato"/>
                <a:cs typeface="Lato"/>
                <a:sym typeface="Lato"/>
              </a:endParaRPr>
            </a:p>
            <a:p>
              <a:pPr marL="4572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INSERT INTO ##GlobalTempTable VALUES (1, 'Mike'), (2, 'Sara')</a:t>
              </a:r>
              <a:endParaRPr sz="1400" b="0" i="0" u="none" strike="noStrike" cap="none">
                <a:solidFill>
                  <a:srgbClr val="000000"/>
                </a:solidFill>
                <a:latin typeface="Lato"/>
                <a:ea typeface="Lato"/>
                <a:cs typeface="Lato"/>
                <a:sym typeface="Lato"/>
              </a:endParaRPr>
            </a:p>
            <a:p>
              <a:pPr marL="457200" marR="0" lvl="0" indent="-317500" algn="just" rtl="0">
                <a:lnSpc>
                  <a:spcPct val="150000"/>
                </a:lnSpc>
                <a:spcBef>
                  <a:spcPts val="0"/>
                </a:spcBef>
                <a:spcAft>
                  <a:spcPts val="0"/>
                </a:spcAft>
                <a:buClr>
                  <a:srgbClr val="000000"/>
                </a:buClr>
                <a:buSzPts val="1400"/>
                <a:buFont typeface="Lato"/>
                <a:buChar char="-"/>
              </a:pPr>
              <a:r>
                <a:rPr lang="en" sz="1400" b="0" i="0" u="none" strike="noStrike" cap="none">
                  <a:solidFill>
                    <a:srgbClr val="000000"/>
                  </a:solidFill>
                  <a:latin typeface="Lato"/>
                  <a:ea typeface="Lato"/>
                  <a:cs typeface="Lato"/>
                  <a:sym typeface="Lato"/>
                </a:rPr>
                <a:t>SELECT * FROM ##GlobalTempTable</a:t>
              </a:r>
              <a:endParaRPr sz="1400" b="0" i="0" u="none" strike="noStrike" cap="none">
                <a:solidFill>
                  <a:srgbClr val="000000"/>
                </a:solidFill>
                <a:latin typeface="Lato"/>
                <a:ea typeface="Lato"/>
                <a:cs typeface="Lato"/>
                <a:sym typeface="Lato"/>
              </a:endParaRPr>
            </a:p>
            <a:p>
              <a:pPr marL="457200" marR="0" lvl="0" indent="-317500" algn="just" rtl="0">
                <a:lnSpc>
                  <a:spcPct val="150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DROP IF EXITS TABLE ##GlobalTempTable</a:t>
              </a:r>
              <a:endParaRPr sz="1400" b="0" i="0" u="none" strike="noStrike" cap="none">
                <a:solidFill>
                  <a:schemeClr val="dk1"/>
                </a:solidFill>
                <a:latin typeface="Lato"/>
                <a:ea typeface="Lato"/>
                <a:cs typeface="Lato"/>
                <a:sym typeface="Lato"/>
              </a:endParaRPr>
            </a:p>
            <a:p>
              <a:pPr marL="457200" marR="0" lvl="0" indent="-317500" algn="just" rtl="0">
                <a:lnSpc>
                  <a:spcPct val="150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SELECT * INTO ##GlobalTempTable FROM Employee</a:t>
              </a:r>
              <a:endParaRPr sz="1400" b="0" i="0" u="none" strike="noStrike" cap="none">
                <a:solidFill>
                  <a:srgbClr val="000000"/>
                </a:solidFill>
                <a:latin typeface="Lato"/>
                <a:ea typeface="Lato"/>
                <a:cs typeface="Lato"/>
                <a:sym typeface="Lato"/>
              </a:endParaRPr>
            </a:p>
          </p:txBody>
        </p:sp>
        <p:pic>
          <p:nvPicPr>
            <p:cNvPr id="345" name="Google Shape;345;g3322e66b7a7_2_386"/>
            <p:cNvPicPr preferRelativeResize="0"/>
            <p:nvPr/>
          </p:nvPicPr>
          <p:blipFill rotWithShape="1">
            <a:blip r:embed="rId5">
              <a:alphaModFix/>
            </a:blip>
            <a:srcRect/>
            <a:stretch/>
          </p:blipFill>
          <p:spPr>
            <a:xfrm>
              <a:off x="583167" y="1646275"/>
              <a:ext cx="61722" cy="109728"/>
            </a:xfrm>
            <a:prstGeom prst="rect">
              <a:avLst/>
            </a:prstGeom>
            <a:noFill/>
            <a:ln>
              <a:noFill/>
            </a:ln>
          </p:spPr>
        </p:pic>
      </p:gr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9"/>
        <p:cNvGrpSpPr/>
        <p:nvPr/>
      </p:nvGrpSpPr>
      <p:grpSpPr>
        <a:xfrm>
          <a:off x="0" y="0"/>
          <a:ext cx="0" cy="0"/>
          <a:chOff x="0" y="0"/>
          <a:chExt cx="0" cy="0"/>
        </a:xfrm>
      </p:grpSpPr>
      <p:sp>
        <p:nvSpPr>
          <p:cNvPr id="350" name="Google Shape;350;g3322e66b7a7_2_441"/>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g3322e66b7a7_2_441"/>
          <p:cNvSpPr txBox="1"/>
          <p:nvPr/>
        </p:nvSpPr>
        <p:spPr>
          <a:xfrm>
            <a:off x="2777550" y="2121600"/>
            <a:ext cx="3589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b="0" i="0" u="none" strike="noStrike" cap="none">
                <a:solidFill>
                  <a:schemeClr val="lt1"/>
                </a:solidFill>
                <a:latin typeface="Lato Black"/>
                <a:ea typeface="Lato Black"/>
                <a:cs typeface="Lato Black"/>
                <a:sym typeface="Lato Black"/>
              </a:rPr>
              <a:t>Variables</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Google Shape;356;g3322e66b7a7_2_49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57" name="Google Shape;357;g3322e66b7a7_2_49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58" name="Google Shape;358;g3322e66b7a7_2_49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59" name="Google Shape;359;g3322e66b7a7_2_491"/>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Variable</a:t>
            </a:r>
            <a:endParaRPr sz="2000" b="1" i="0" u="none" strike="noStrike" cap="none">
              <a:solidFill>
                <a:srgbClr val="FFFFFF"/>
              </a:solidFill>
              <a:latin typeface="Lato"/>
              <a:ea typeface="Lato"/>
              <a:cs typeface="Lato"/>
              <a:sym typeface="Lato"/>
            </a:endParaRPr>
          </a:p>
        </p:txBody>
      </p:sp>
      <p:grpSp>
        <p:nvGrpSpPr>
          <p:cNvPr id="360" name="Google Shape;360;g3322e66b7a7_2_491"/>
          <p:cNvGrpSpPr/>
          <p:nvPr/>
        </p:nvGrpSpPr>
        <p:grpSpPr>
          <a:xfrm>
            <a:off x="583167" y="760275"/>
            <a:ext cx="7871683" cy="1143600"/>
            <a:chOff x="583167" y="760275"/>
            <a:chExt cx="7871683" cy="1143600"/>
          </a:xfrm>
        </p:grpSpPr>
        <p:sp>
          <p:nvSpPr>
            <p:cNvPr id="361" name="Google Shape;361;g3322e66b7a7_2_491"/>
            <p:cNvSpPr txBox="1"/>
            <p:nvPr/>
          </p:nvSpPr>
          <p:spPr>
            <a:xfrm>
              <a:off x="692950" y="760275"/>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Variable is a storage location with a name that you assign to it. It is used to store and manipulate data temporarily within the scope of a batch, stored procedure, function, or trigger. Variables provide a way to pass data between different parts of a script or stored procedure, making the code more flexible and dynamic.</a:t>
              </a:r>
              <a:endParaRPr sz="1400" b="0" i="0" u="none" strike="noStrike" cap="none">
                <a:solidFill>
                  <a:srgbClr val="000000"/>
                </a:solidFill>
                <a:latin typeface="Lato"/>
                <a:ea typeface="Lato"/>
                <a:cs typeface="Lato"/>
                <a:sym typeface="Lato"/>
              </a:endParaRPr>
            </a:p>
          </p:txBody>
        </p:sp>
        <p:pic>
          <p:nvPicPr>
            <p:cNvPr id="362" name="Google Shape;362;g3322e66b7a7_2_491"/>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363" name="Google Shape;363;g3322e66b7a7_2_491"/>
          <p:cNvGrpSpPr/>
          <p:nvPr/>
        </p:nvGrpSpPr>
        <p:grpSpPr>
          <a:xfrm>
            <a:off x="583167" y="1979475"/>
            <a:ext cx="7871683" cy="581700"/>
            <a:chOff x="583167" y="760275"/>
            <a:chExt cx="7871683" cy="581700"/>
          </a:xfrm>
        </p:grpSpPr>
        <p:sp>
          <p:nvSpPr>
            <p:cNvPr id="364" name="Google Shape;364;g3322e66b7a7_2_491"/>
            <p:cNvSpPr txBox="1"/>
            <p:nvPr/>
          </p:nvSpPr>
          <p:spPr>
            <a:xfrm>
              <a:off x="692950" y="760275"/>
              <a:ext cx="7761900" cy="581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 sz="1200" b="0" i="0" u="none" strike="noStrike" cap="none">
                  <a:solidFill>
                    <a:srgbClr val="2E95D3"/>
                  </a:solidFill>
                  <a:latin typeface="Lato"/>
                  <a:ea typeface="Lato"/>
                  <a:cs typeface="Lato"/>
                  <a:sym typeface="Lato"/>
                </a:rPr>
                <a:t>DECLARE</a:t>
              </a:r>
              <a:r>
                <a:rPr lang="en" sz="1200" b="0" i="0" u="none" strike="noStrike" cap="none">
                  <a:solidFill>
                    <a:srgbClr val="FFFFFF"/>
                  </a:solidFill>
                  <a:latin typeface="Lato"/>
                  <a:ea typeface="Lato"/>
                  <a:cs typeface="Lato"/>
                  <a:sym typeface="Lato"/>
                </a:rPr>
                <a:t> </a:t>
              </a:r>
              <a:r>
                <a:rPr lang="en" sz="1200" b="0" i="0" u="none" strike="noStrike" cap="none">
                  <a:solidFill>
                    <a:srgbClr val="DF3079"/>
                  </a:solidFill>
                  <a:latin typeface="Lato"/>
                  <a:ea typeface="Lato"/>
                  <a:cs typeface="Lato"/>
                  <a:sym typeface="Lato"/>
                </a:rPr>
                <a:t>@MyVariable</a:t>
              </a:r>
              <a:r>
                <a:rPr lang="en" sz="1200" b="0" i="0" u="none" strike="noStrike" cap="none">
                  <a:solidFill>
                    <a:srgbClr val="FFFFFF"/>
                  </a:solidFill>
                  <a:latin typeface="Lato"/>
                  <a:ea typeface="Lato"/>
                  <a:cs typeface="Lato"/>
                  <a:sym typeface="Lato"/>
                </a:rPr>
                <a:t> </a:t>
              </a:r>
              <a:r>
                <a:rPr lang="en" sz="1200" b="0" i="0" u="none" strike="noStrike" cap="none">
                  <a:solidFill>
                    <a:srgbClr val="DF3079"/>
                  </a:solidFill>
                  <a:latin typeface="Lato"/>
                  <a:ea typeface="Lato"/>
                  <a:cs typeface="Lato"/>
                  <a:sym typeface="Lato"/>
                </a:rPr>
                <a:t>INT</a:t>
              </a:r>
              <a:endParaRPr sz="1200" b="0" i="0" u="none" strike="noStrike" cap="none">
                <a:solidFill>
                  <a:srgbClr val="FFFFFF"/>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200"/>
                <a:buFont typeface="Arial"/>
                <a:buNone/>
              </a:pPr>
              <a:r>
                <a:rPr lang="en" sz="1200" b="0" i="0" u="none" strike="noStrike" cap="none">
                  <a:solidFill>
                    <a:srgbClr val="2E95D3"/>
                  </a:solidFill>
                  <a:latin typeface="Lato"/>
                  <a:ea typeface="Lato"/>
                  <a:cs typeface="Lato"/>
                  <a:sym typeface="Lato"/>
                </a:rPr>
                <a:t>SET</a:t>
              </a:r>
              <a:r>
                <a:rPr lang="en" sz="1200" b="0" i="0" u="none" strike="noStrike" cap="none">
                  <a:solidFill>
                    <a:srgbClr val="FFFFFF"/>
                  </a:solidFill>
                  <a:latin typeface="Lato"/>
                  <a:ea typeface="Lato"/>
                  <a:cs typeface="Lato"/>
                  <a:sym typeface="Lato"/>
                </a:rPr>
                <a:t> </a:t>
              </a:r>
              <a:r>
                <a:rPr lang="en" sz="1200" b="0" i="0" u="none" strike="noStrike" cap="none">
                  <a:solidFill>
                    <a:srgbClr val="DF3079"/>
                  </a:solidFill>
                  <a:latin typeface="Lato"/>
                  <a:ea typeface="Lato"/>
                  <a:cs typeface="Lato"/>
                  <a:sym typeface="Lato"/>
                </a:rPr>
                <a:t>@MyVariable</a:t>
              </a:r>
              <a:r>
                <a:rPr lang="en" sz="1200" b="0" i="0" u="none" strike="noStrike" cap="none">
                  <a:solidFill>
                    <a:srgbClr val="FFFFFF"/>
                  </a:solidFill>
                  <a:latin typeface="Lato"/>
                  <a:ea typeface="Lato"/>
                  <a:cs typeface="Lato"/>
                  <a:sym typeface="Lato"/>
                </a:rPr>
                <a:t> </a:t>
              </a:r>
              <a:r>
                <a:rPr lang="en" sz="1200" b="0" i="0" u="none" strike="noStrike" cap="none">
                  <a:solidFill>
                    <a:schemeClr val="dk1"/>
                  </a:solidFill>
                  <a:latin typeface="Lato"/>
                  <a:ea typeface="Lato"/>
                  <a:cs typeface="Lato"/>
                  <a:sym typeface="Lato"/>
                </a:rPr>
                <a:t>= </a:t>
              </a:r>
              <a:r>
                <a:rPr lang="en" sz="1200" b="0" i="0" u="none" strike="noStrike" cap="none">
                  <a:solidFill>
                    <a:srgbClr val="DF3079"/>
                  </a:solidFill>
                  <a:latin typeface="Lato"/>
                  <a:ea typeface="Lato"/>
                  <a:cs typeface="Lato"/>
                  <a:sym typeface="Lato"/>
                </a:rPr>
                <a:t>42</a:t>
              </a:r>
              <a:endParaRPr sz="1200" b="0" i="0" u="none" strike="noStrike" cap="none">
                <a:solidFill>
                  <a:srgbClr val="000000"/>
                </a:solidFill>
                <a:latin typeface="Lato"/>
                <a:ea typeface="Lato"/>
                <a:cs typeface="Lato"/>
                <a:sym typeface="Lato"/>
              </a:endParaRPr>
            </a:p>
          </p:txBody>
        </p:sp>
        <p:pic>
          <p:nvPicPr>
            <p:cNvPr id="365" name="Google Shape;365;g3322e66b7a7_2_491"/>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g3322e66b7a7_2_54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71" name="Google Shape;371;g3322e66b7a7_2_54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72" name="Google Shape;372;g3322e66b7a7_2_54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73" name="Google Shape;373;g3322e66b7a7_2_549"/>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Variable</a:t>
            </a:r>
            <a:endParaRPr sz="2000" b="1" i="0" u="none" strike="noStrike" cap="none">
              <a:solidFill>
                <a:srgbClr val="FFFFFF"/>
              </a:solidFill>
              <a:latin typeface="Lato"/>
              <a:ea typeface="Lato"/>
              <a:cs typeface="Lato"/>
              <a:sym typeface="Lato"/>
            </a:endParaRPr>
          </a:p>
        </p:txBody>
      </p:sp>
      <p:graphicFrame>
        <p:nvGraphicFramePr>
          <p:cNvPr id="374" name="Google Shape;374;g3322e66b7a7_2_549"/>
          <p:cNvGraphicFramePr/>
          <p:nvPr/>
        </p:nvGraphicFramePr>
        <p:xfrm>
          <a:off x="553663" y="874075"/>
          <a:ext cx="3000000" cy="3000000"/>
        </p:xfrm>
        <a:graphic>
          <a:graphicData uri="http://schemas.openxmlformats.org/drawingml/2006/table">
            <a:tbl>
              <a:tblPr>
                <a:noFill/>
                <a:tableStyleId>{45D45078-F28F-418A-8506-26402C625666}</a:tableStyleId>
              </a:tblPr>
              <a:tblGrid>
                <a:gridCol w="1243750">
                  <a:extLst>
                    <a:ext uri="{9D8B030D-6E8A-4147-A177-3AD203B41FA5}">
                      <a16:colId xmlns:a16="http://schemas.microsoft.com/office/drawing/2014/main" val="20000"/>
                    </a:ext>
                  </a:extLst>
                </a:gridCol>
                <a:gridCol w="3426900">
                  <a:extLst>
                    <a:ext uri="{9D8B030D-6E8A-4147-A177-3AD203B41FA5}">
                      <a16:colId xmlns:a16="http://schemas.microsoft.com/office/drawing/2014/main" val="20001"/>
                    </a:ext>
                  </a:extLst>
                </a:gridCol>
                <a:gridCol w="3341425">
                  <a:extLst>
                    <a:ext uri="{9D8B030D-6E8A-4147-A177-3AD203B41FA5}">
                      <a16:colId xmlns:a16="http://schemas.microsoft.com/office/drawing/2014/main" val="20002"/>
                    </a:ext>
                  </a:extLst>
                </a:gridCol>
              </a:tblGrid>
              <a:tr h="399475">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Temporary Tables</a:t>
                      </a: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Variables</a:t>
                      </a:r>
                      <a:endParaRPr sz="1400" u="none" strike="noStrike" cap="none"/>
                    </a:p>
                  </a:txBody>
                  <a:tcPr marL="91425" marR="91425" marT="91425" marB="91425"/>
                </a:tc>
                <a:extLst>
                  <a:ext uri="{0D108BD9-81ED-4DB2-BD59-A6C34878D82A}">
                    <a16:rowId xmlns:a16="http://schemas.microsoft.com/office/drawing/2014/main" val="10000"/>
                  </a:ext>
                </a:extLst>
              </a:tr>
              <a:tr h="10448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Scope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Temporary tables are visible across sessions and can be used by multiple queries within the same session.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 Variables have a narrower scope and are typically limited to the batch or stored procedure in which they are declared.</a:t>
                      </a:r>
                      <a:endParaRPr sz="1400" u="none" strike="noStrike" cap="none"/>
                    </a:p>
                  </a:txBody>
                  <a:tcPr marL="91425" marR="91425" marT="91425" marB="91425"/>
                </a:tc>
                <a:extLst>
                  <a:ext uri="{0D108BD9-81ED-4DB2-BD59-A6C34878D82A}">
                    <a16:rowId xmlns:a16="http://schemas.microsoft.com/office/drawing/2014/main" val="10001"/>
                  </a:ext>
                </a:extLst>
              </a:tr>
              <a:tr h="8297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Data Persistence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Data in temporary tables persists until the session ends or the table is explicitly dropped.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Data stored in variables only persists for the duration of the batch or procedure execution.</a:t>
                      </a:r>
                      <a:endParaRPr sz="1400" u="none" strike="noStrike" cap="none"/>
                    </a:p>
                  </a:txBody>
                  <a:tcPr marL="91425" marR="91425" marT="91425" marB="91425"/>
                </a:tc>
                <a:extLst>
                  <a:ext uri="{0D108BD9-81ED-4DB2-BD59-A6C34878D82A}">
                    <a16:rowId xmlns:a16="http://schemas.microsoft.com/office/drawing/2014/main" val="10002"/>
                  </a:ext>
                </a:extLst>
              </a:tr>
              <a:tr h="10448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Performance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using temporary tables might introduce additional overhead, as they involve disk I/O (writing to tempdb).</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variables have lower overhead as they are stored in memory. </a:t>
                      </a:r>
                      <a:endParaRPr sz="1400" u="none" strike="noStrike" cap="none"/>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8"/>
        <p:cNvGrpSpPr/>
        <p:nvPr/>
      </p:nvGrpSpPr>
      <p:grpSpPr>
        <a:xfrm>
          <a:off x="0" y="0"/>
          <a:ext cx="0" cy="0"/>
          <a:chOff x="0" y="0"/>
          <a:chExt cx="0" cy="0"/>
        </a:xfrm>
      </p:grpSpPr>
      <p:sp>
        <p:nvSpPr>
          <p:cNvPr id="379" name="Google Shape;379;g3322e66b7a7_2_1639"/>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g3322e66b7a7_2_1639"/>
          <p:cNvSpPr txBox="1"/>
          <p:nvPr/>
        </p:nvSpPr>
        <p:spPr>
          <a:xfrm>
            <a:off x="2777550" y="2121600"/>
            <a:ext cx="3589500" cy="908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a:solidFill>
                  <a:schemeClr val="lt1"/>
                </a:solidFill>
                <a:latin typeface="Lato Black"/>
                <a:ea typeface="Lato Black"/>
                <a:cs typeface="Lato Black"/>
                <a:sym typeface="Lato Black"/>
              </a:rPr>
              <a:t>Constraint</a:t>
            </a:r>
            <a:r>
              <a:rPr lang="en" sz="4700" b="0" i="0" u="none" strike="noStrike" cap="none">
                <a:solidFill>
                  <a:schemeClr val="lt1"/>
                </a:solidFill>
                <a:latin typeface="Lato Black"/>
                <a:ea typeface="Lato Black"/>
                <a:cs typeface="Lato Black"/>
                <a:sym typeface="Lato Black"/>
              </a:rPr>
              <a:t>s</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g3322e66b7a7_2_1649"/>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386" name="Google Shape;386;g3322e66b7a7_2_164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87" name="Google Shape;387;g3322e66b7a7_2_164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388" name="Google Shape;388;g3322e66b7a7_2_1649"/>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2000" b="1">
                <a:solidFill>
                  <a:srgbClr val="FFFFFF"/>
                </a:solidFill>
                <a:latin typeface="Lato"/>
                <a:ea typeface="Lato"/>
                <a:cs typeface="Lato"/>
                <a:sym typeface="Lato"/>
              </a:rPr>
              <a:t>Constraints</a:t>
            </a:r>
            <a:endParaRPr sz="2000" b="1" i="0" u="none" strike="noStrike" cap="none">
              <a:solidFill>
                <a:srgbClr val="FFFFFF"/>
              </a:solidFill>
              <a:latin typeface="Lato"/>
              <a:ea typeface="Lato"/>
              <a:cs typeface="Lato"/>
              <a:sym typeface="Lato"/>
            </a:endParaRPr>
          </a:p>
        </p:txBody>
      </p:sp>
      <p:grpSp>
        <p:nvGrpSpPr>
          <p:cNvPr id="389" name="Google Shape;389;g3322e66b7a7_2_1649"/>
          <p:cNvGrpSpPr/>
          <p:nvPr/>
        </p:nvGrpSpPr>
        <p:grpSpPr>
          <a:xfrm>
            <a:off x="583167" y="760275"/>
            <a:ext cx="7871683" cy="895800"/>
            <a:chOff x="583167" y="760275"/>
            <a:chExt cx="7871683" cy="895800"/>
          </a:xfrm>
        </p:grpSpPr>
        <p:sp>
          <p:nvSpPr>
            <p:cNvPr id="390" name="Google Shape;390;g3322e66b7a7_2_1649"/>
            <p:cNvSpPr txBox="1"/>
            <p:nvPr/>
          </p:nvSpPr>
          <p:spPr>
            <a:xfrm>
              <a:off x="692950" y="7602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a:highlight>
                    <a:srgbClr val="FFFFFF"/>
                  </a:highlight>
                  <a:latin typeface="Lato"/>
                  <a:ea typeface="Lato"/>
                  <a:cs typeface="Lato"/>
                  <a:sym typeface="Lato"/>
                </a:rPr>
                <a:t>Constraints in SQL Server</a:t>
              </a:r>
              <a:r>
                <a:rPr lang="en">
                  <a:solidFill>
                    <a:srgbClr val="252525"/>
                  </a:solidFill>
                  <a:highlight>
                    <a:srgbClr val="FFFFFF"/>
                  </a:highlight>
                  <a:latin typeface="Lato"/>
                  <a:ea typeface="Lato"/>
                  <a:cs typeface="Lato"/>
                  <a:sym typeface="Lato"/>
                </a:rPr>
                <a:t> are predefined rules and restrictions that are enforced in a single column or multiple columns, regarding the values allowed in the columns, to maintain the integrity, accuracy, and reliability of that column’s data.</a:t>
              </a:r>
              <a:endParaRPr i="0" u="none" strike="noStrike" cap="none">
                <a:solidFill>
                  <a:srgbClr val="000000"/>
                </a:solidFill>
                <a:latin typeface="Lato"/>
                <a:ea typeface="Lato"/>
                <a:cs typeface="Lato"/>
                <a:sym typeface="Lato"/>
              </a:endParaRPr>
            </a:p>
          </p:txBody>
        </p:sp>
        <p:pic>
          <p:nvPicPr>
            <p:cNvPr id="391" name="Google Shape;391;g3322e66b7a7_2_1649"/>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392" name="Google Shape;392;g3322e66b7a7_2_1649"/>
          <p:cNvGrpSpPr/>
          <p:nvPr/>
        </p:nvGrpSpPr>
        <p:grpSpPr>
          <a:xfrm>
            <a:off x="583167" y="1598475"/>
            <a:ext cx="7871683" cy="1887000"/>
            <a:chOff x="583167" y="760275"/>
            <a:chExt cx="7871683" cy="1887000"/>
          </a:xfrm>
        </p:grpSpPr>
        <p:sp>
          <p:nvSpPr>
            <p:cNvPr id="393" name="Google Shape;393;g3322e66b7a7_2_1649"/>
            <p:cNvSpPr txBox="1"/>
            <p:nvPr/>
          </p:nvSpPr>
          <p:spPr>
            <a:xfrm>
              <a:off x="692950" y="760275"/>
              <a:ext cx="7761900" cy="1887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200"/>
                <a:buFont typeface="Arial"/>
                <a:buNone/>
              </a:pPr>
              <a:r>
                <a:rPr lang="en">
                  <a:solidFill>
                    <a:srgbClr val="2E95D3"/>
                  </a:solidFill>
                  <a:latin typeface="Lato"/>
                  <a:ea typeface="Lato"/>
                  <a:cs typeface="Lato"/>
                  <a:sym typeface="Lato"/>
                </a:rPr>
                <a:t>Types of Constraints:</a:t>
              </a:r>
              <a:endParaRPr>
                <a:solidFill>
                  <a:srgbClr val="2E95D3"/>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AutoNum type="arabicParenR"/>
              </a:pPr>
              <a:r>
                <a:rPr lang="en">
                  <a:solidFill>
                    <a:schemeClr val="dk1"/>
                  </a:solidFill>
                  <a:latin typeface="Lato"/>
                  <a:ea typeface="Lato"/>
                  <a:cs typeface="Lato"/>
                  <a:sym typeface="Lato"/>
                </a:rPr>
                <a:t>PRIMARY KEY - Ensures unique, non-null values in a column</a:t>
              </a:r>
              <a:endParaRPr>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AutoNum type="arabicParenR"/>
              </a:pPr>
              <a:r>
                <a:rPr lang="en">
                  <a:solidFill>
                    <a:schemeClr val="dk1"/>
                  </a:solidFill>
                  <a:latin typeface="Lato"/>
                  <a:ea typeface="Lato"/>
                  <a:cs typeface="Lato"/>
                  <a:sym typeface="Lato"/>
                </a:rPr>
                <a:t>FOREIGN KEY - Maintains referential integrity between tables</a:t>
              </a:r>
              <a:endParaRPr>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AutoNum type="arabicParenR"/>
              </a:pPr>
              <a:r>
                <a:rPr lang="en">
                  <a:solidFill>
                    <a:schemeClr val="dk1"/>
                  </a:solidFill>
                  <a:latin typeface="Lato"/>
                  <a:ea typeface="Lato"/>
                  <a:cs typeface="Lato"/>
                  <a:sym typeface="Lato"/>
                </a:rPr>
                <a:t>UNIQUE - Ensures all values in a column are unique</a:t>
              </a:r>
              <a:endParaRPr>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AutoNum type="arabicParenR"/>
              </a:pPr>
              <a:r>
                <a:rPr lang="en">
                  <a:solidFill>
                    <a:schemeClr val="dk1"/>
                  </a:solidFill>
                  <a:latin typeface="Lato"/>
                  <a:ea typeface="Lato"/>
                  <a:cs typeface="Lato"/>
                  <a:sym typeface="Lato"/>
                </a:rPr>
                <a:t>CHECK - Enforces a specific condition on column values</a:t>
              </a:r>
              <a:endParaRPr>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AutoNum type="arabicParenR"/>
              </a:pPr>
              <a:r>
                <a:rPr lang="en">
                  <a:solidFill>
                    <a:schemeClr val="dk1"/>
                  </a:solidFill>
                  <a:latin typeface="Lato"/>
                  <a:ea typeface="Lato"/>
                  <a:cs typeface="Lato"/>
                  <a:sym typeface="Lato"/>
                </a:rPr>
                <a:t>DEFAULT - Assigns a default value if none is provided</a:t>
              </a:r>
              <a:endParaRPr>
                <a:solidFill>
                  <a:schemeClr val="dk1"/>
                </a:solidFill>
                <a:latin typeface="Lato"/>
                <a:ea typeface="Lato"/>
                <a:cs typeface="Lato"/>
                <a:sym typeface="Lato"/>
              </a:endParaRPr>
            </a:p>
            <a:p>
              <a:pPr marL="457200" marR="0" lvl="0" indent="-317500" algn="just" rtl="0">
                <a:lnSpc>
                  <a:spcPct val="115000"/>
                </a:lnSpc>
                <a:spcBef>
                  <a:spcPts val="0"/>
                </a:spcBef>
                <a:spcAft>
                  <a:spcPts val="0"/>
                </a:spcAft>
                <a:buClr>
                  <a:schemeClr val="dk1"/>
                </a:buClr>
                <a:buSzPts val="1400"/>
                <a:buFont typeface="Lato"/>
                <a:buAutoNum type="arabicParenR"/>
              </a:pPr>
              <a:r>
                <a:rPr lang="en">
                  <a:solidFill>
                    <a:schemeClr val="dk1"/>
                  </a:solidFill>
                  <a:latin typeface="Lato"/>
                  <a:ea typeface="Lato"/>
                  <a:cs typeface="Lato"/>
                  <a:sym typeface="Lato"/>
                </a:rPr>
                <a:t>NOT NULL - Ensures a column cannot store NULL values</a:t>
              </a:r>
              <a:endParaRPr>
                <a:solidFill>
                  <a:schemeClr val="dk1"/>
                </a:solidFill>
                <a:latin typeface="Lato"/>
                <a:ea typeface="Lato"/>
                <a:cs typeface="Lato"/>
                <a:sym typeface="Lato"/>
              </a:endParaRPr>
            </a:p>
          </p:txBody>
        </p:sp>
        <p:pic>
          <p:nvPicPr>
            <p:cNvPr id="394" name="Google Shape;394;g3322e66b7a7_2_1649"/>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8"/>
        <p:cNvGrpSpPr/>
        <p:nvPr/>
      </p:nvGrpSpPr>
      <p:grpSpPr>
        <a:xfrm>
          <a:off x="0" y="0"/>
          <a:ext cx="0" cy="0"/>
          <a:chOff x="0" y="0"/>
          <a:chExt cx="0" cy="0"/>
        </a:xfrm>
      </p:grpSpPr>
      <p:sp>
        <p:nvSpPr>
          <p:cNvPr id="399" name="Google Shape;399;g3322e66b7a7_2_1644"/>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g3322e66b7a7_2_1644"/>
          <p:cNvSpPr txBox="1"/>
          <p:nvPr/>
        </p:nvSpPr>
        <p:spPr>
          <a:xfrm>
            <a:off x="2548950" y="1664400"/>
            <a:ext cx="4032000" cy="1631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700"/>
              <a:buFont typeface="Arial"/>
              <a:buNone/>
            </a:pPr>
            <a:r>
              <a:rPr lang="en" sz="4700">
                <a:solidFill>
                  <a:schemeClr val="lt1"/>
                </a:solidFill>
                <a:latin typeface="Lato Black"/>
                <a:ea typeface="Lato Black"/>
                <a:cs typeface="Lato Black"/>
                <a:sym typeface="Lato Black"/>
              </a:rPr>
              <a:t>Clustered vs Non-Clustred</a:t>
            </a:r>
            <a:endParaRPr sz="47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g3322e66b7a7_2_166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406" name="Google Shape;406;g3322e66b7a7_2_166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407" name="Google Shape;407;g3322e66b7a7_2_166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408" name="Google Shape;408;g3322e66b7a7_2_1662"/>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2000" b="1">
                <a:solidFill>
                  <a:srgbClr val="FFFFFF"/>
                </a:solidFill>
                <a:latin typeface="Lato"/>
                <a:ea typeface="Lato"/>
                <a:cs typeface="Lato"/>
                <a:sym typeface="Lato"/>
              </a:rPr>
              <a:t>Clustered vs Non clustered</a:t>
            </a:r>
            <a:endParaRPr sz="2000" b="1" i="0" u="none" strike="noStrike" cap="none">
              <a:solidFill>
                <a:srgbClr val="FFFFFF"/>
              </a:solidFill>
              <a:latin typeface="Lato"/>
              <a:ea typeface="Lato"/>
              <a:cs typeface="Lato"/>
              <a:sym typeface="Lato"/>
            </a:endParaRPr>
          </a:p>
        </p:txBody>
      </p:sp>
      <p:grpSp>
        <p:nvGrpSpPr>
          <p:cNvPr id="409" name="Google Shape;409;g3322e66b7a7_2_1662"/>
          <p:cNvGrpSpPr/>
          <p:nvPr/>
        </p:nvGrpSpPr>
        <p:grpSpPr>
          <a:xfrm>
            <a:off x="583167" y="760275"/>
            <a:ext cx="7871683" cy="942000"/>
            <a:chOff x="583167" y="760275"/>
            <a:chExt cx="7871683" cy="942000"/>
          </a:xfrm>
        </p:grpSpPr>
        <p:sp>
          <p:nvSpPr>
            <p:cNvPr id="410" name="Google Shape;410;g3322e66b7a7_2_1662"/>
            <p:cNvSpPr txBox="1"/>
            <p:nvPr/>
          </p:nvSpPr>
          <p:spPr>
            <a:xfrm>
              <a:off x="692950" y="760275"/>
              <a:ext cx="7761900" cy="942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a:latin typeface="Lato"/>
                  <a:ea typeface="Lato"/>
                  <a:cs typeface="Lato"/>
                  <a:sym typeface="Lato"/>
                </a:rPr>
                <a:t>What is an Index?</a:t>
              </a:r>
              <a:endParaRPr>
                <a:latin typeface="Lato"/>
                <a:ea typeface="Lato"/>
                <a:cs typeface="Lato"/>
                <a:sym typeface="Lato"/>
              </a:endParaRPr>
            </a:p>
            <a:p>
              <a:pPr marL="457200" marR="0" lvl="0" indent="-317500" algn="just" rtl="0">
                <a:lnSpc>
                  <a:spcPct val="115000"/>
                </a:lnSpc>
                <a:spcBef>
                  <a:spcPts val="0"/>
                </a:spcBef>
                <a:spcAft>
                  <a:spcPts val="0"/>
                </a:spcAft>
                <a:buSzPts val="1400"/>
                <a:buFont typeface="Lato"/>
                <a:buChar char="-"/>
              </a:pPr>
              <a:r>
                <a:rPr lang="en">
                  <a:latin typeface="Lato"/>
                  <a:ea typeface="Lato"/>
                  <a:cs typeface="Lato"/>
                  <a:sym typeface="Lato"/>
                </a:rPr>
                <a:t>Improves query performance by organizing data efficiently</a:t>
              </a:r>
              <a:endParaRPr>
                <a:latin typeface="Lato"/>
                <a:ea typeface="Lato"/>
                <a:cs typeface="Lato"/>
                <a:sym typeface="Lato"/>
              </a:endParaRPr>
            </a:p>
            <a:p>
              <a:pPr marL="457200" marR="0" lvl="0" indent="-336550" algn="just" rtl="0">
                <a:lnSpc>
                  <a:spcPct val="115000"/>
                </a:lnSpc>
                <a:spcBef>
                  <a:spcPts val="0"/>
                </a:spcBef>
                <a:spcAft>
                  <a:spcPts val="0"/>
                </a:spcAft>
                <a:buSzPts val="1700"/>
                <a:buFont typeface="Lato"/>
                <a:buChar char="-"/>
              </a:pPr>
              <a:r>
                <a:rPr lang="en">
                  <a:solidFill>
                    <a:schemeClr val="dk1"/>
                  </a:solidFill>
                  <a:latin typeface="Lato"/>
                  <a:ea typeface="Lato"/>
                  <a:cs typeface="Lato"/>
                  <a:sym typeface="Lato"/>
                </a:rPr>
                <a:t>Two main types: </a:t>
              </a:r>
              <a:r>
                <a:rPr lang="en" b="1">
                  <a:solidFill>
                    <a:schemeClr val="dk1"/>
                  </a:solidFill>
                  <a:latin typeface="Lato"/>
                  <a:ea typeface="Lato"/>
                  <a:cs typeface="Lato"/>
                  <a:sym typeface="Lato"/>
                </a:rPr>
                <a:t>Clustered</a:t>
              </a:r>
              <a:r>
                <a:rPr lang="en">
                  <a:solidFill>
                    <a:schemeClr val="dk1"/>
                  </a:solidFill>
                  <a:latin typeface="Lato"/>
                  <a:ea typeface="Lato"/>
                  <a:cs typeface="Lato"/>
                  <a:sym typeface="Lato"/>
                </a:rPr>
                <a:t> and </a:t>
              </a:r>
              <a:r>
                <a:rPr lang="en" b="1">
                  <a:solidFill>
                    <a:schemeClr val="dk1"/>
                  </a:solidFill>
                  <a:latin typeface="Lato"/>
                  <a:ea typeface="Lato"/>
                  <a:cs typeface="Lato"/>
                  <a:sym typeface="Lato"/>
                </a:rPr>
                <a:t>Non-Clustered</a:t>
              </a:r>
              <a:endParaRPr sz="1700">
                <a:latin typeface="Lato"/>
                <a:ea typeface="Lato"/>
                <a:cs typeface="Lato"/>
                <a:sym typeface="Lato"/>
              </a:endParaRPr>
            </a:p>
          </p:txBody>
        </p:sp>
        <p:pic>
          <p:nvPicPr>
            <p:cNvPr id="411" name="Google Shape;411;g3322e66b7a7_2_1662"/>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412" name="Google Shape;412;g3322e66b7a7_2_1662"/>
          <p:cNvGrpSpPr/>
          <p:nvPr/>
        </p:nvGrpSpPr>
        <p:grpSpPr>
          <a:xfrm>
            <a:off x="583176" y="3361628"/>
            <a:ext cx="3877474" cy="1520070"/>
            <a:chOff x="583167" y="760266"/>
            <a:chExt cx="3877474" cy="1744800"/>
          </a:xfrm>
        </p:grpSpPr>
        <p:sp>
          <p:nvSpPr>
            <p:cNvPr id="413" name="Google Shape;413;g3322e66b7a7_2_1662"/>
            <p:cNvSpPr txBox="1"/>
            <p:nvPr/>
          </p:nvSpPr>
          <p:spPr>
            <a:xfrm>
              <a:off x="692941" y="760266"/>
              <a:ext cx="3767700" cy="17448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 Clustered Index (Automatically created on PK)</a:t>
              </a:r>
              <a:endParaRPr sz="1300">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CREATE TABLE Employees (</a:t>
              </a:r>
              <a:endParaRPr sz="1300">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    EmployeeID INT PRIMARY KEY,</a:t>
              </a:r>
              <a:endParaRPr sz="1300">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    Name NVARCHAR(50)</a:t>
              </a:r>
              <a:endParaRPr sz="1300">
                <a:solidFill>
                  <a:schemeClr val="dk1"/>
                </a:solidFill>
                <a:latin typeface="Lato"/>
                <a:ea typeface="Lato"/>
                <a:cs typeface="Lato"/>
                <a:sym typeface="Lato"/>
              </a:endParaRPr>
            </a:p>
            <a:p>
              <a:pPr marL="0" lvl="0" indent="0" algn="just" rtl="0">
                <a:lnSpc>
                  <a:spcPct val="115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a:t>
              </a:r>
              <a:endParaRPr sz="1300">
                <a:solidFill>
                  <a:schemeClr val="dk1"/>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200"/>
                <a:buFont typeface="Arial"/>
                <a:buNone/>
              </a:pPr>
              <a:endParaRPr sz="1200">
                <a:solidFill>
                  <a:srgbClr val="2E95D3"/>
                </a:solidFill>
                <a:latin typeface="Lato"/>
                <a:ea typeface="Lato"/>
                <a:cs typeface="Lato"/>
                <a:sym typeface="Lato"/>
              </a:endParaRPr>
            </a:p>
          </p:txBody>
        </p:sp>
        <p:pic>
          <p:nvPicPr>
            <p:cNvPr id="414" name="Google Shape;414;g3322e66b7a7_2_1662"/>
            <p:cNvPicPr preferRelativeResize="0"/>
            <p:nvPr/>
          </p:nvPicPr>
          <p:blipFill rotWithShape="1">
            <a:blip r:embed="rId5">
              <a:alphaModFix/>
            </a:blip>
            <a:srcRect/>
            <a:stretch/>
          </p:blipFill>
          <p:spPr>
            <a:xfrm>
              <a:off x="583167" y="884274"/>
              <a:ext cx="61722" cy="109728"/>
            </a:xfrm>
            <a:prstGeom prst="rect">
              <a:avLst/>
            </a:prstGeom>
            <a:noFill/>
            <a:ln>
              <a:noFill/>
            </a:ln>
          </p:spPr>
        </p:pic>
      </p:grpSp>
      <p:graphicFrame>
        <p:nvGraphicFramePr>
          <p:cNvPr id="415" name="Google Shape;415;g3322e66b7a7_2_1662"/>
          <p:cNvGraphicFramePr/>
          <p:nvPr/>
        </p:nvGraphicFramePr>
        <p:xfrm>
          <a:off x="837475" y="1798575"/>
          <a:ext cx="3000000" cy="3000000"/>
        </p:xfrm>
        <a:graphic>
          <a:graphicData uri="http://schemas.openxmlformats.org/drawingml/2006/table">
            <a:tbl>
              <a:tblPr>
                <a:noFill/>
                <a:tableStyleId>{58FB3FCB-B62F-45EE-9843-9F81CF809FFA}</a:tableStyleId>
              </a:tblPr>
              <a:tblGrid>
                <a:gridCol w="2559475">
                  <a:extLst>
                    <a:ext uri="{9D8B030D-6E8A-4147-A177-3AD203B41FA5}">
                      <a16:colId xmlns:a16="http://schemas.microsoft.com/office/drawing/2014/main" val="20000"/>
                    </a:ext>
                  </a:extLst>
                </a:gridCol>
                <a:gridCol w="2270750">
                  <a:extLst>
                    <a:ext uri="{9D8B030D-6E8A-4147-A177-3AD203B41FA5}">
                      <a16:colId xmlns:a16="http://schemas.microsoft.com/office/drawing/2014/main" val="20001"/>
                    </a:ext>
                  </a:extLst>
                </a:gridCol>
                <a:gridCol w="2660925">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1000" b="1">
                          <a:solidFill>
                            <a:schemeClr val="accent1"/>
                          </a:solidFill>
                          <a:latin typeface="Lato"/>
                          <a:ea typeface="Lato"/>
                          <a:cs typeface="Lato"/>
                          <a:sym typeface="Lato"/>
                        </a:rPr>
                        <a:t>Feature</a:t>
                      </a:r>
                      <a:endParaRPr sz="1000" b="1">
                        <a:solidFill>
                          <a:schemeClr val="accent1"/>
                        </a:solidFill>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chemeClr val="accent1"/>
                          </a:solidFill>
                          <a:latin typeface="Lato"/>
                          <a:ea typeface="Lato"/>
                          <a:cs typeface="Lato"/>
                          <a:sym typeface="Lato"/>
                        </a:rPr>
                        <a:t>Clustered Index</a:t>
                      </a:r>
                      <a:endParaRPr sz="1000" b="1">
                        <a:solidFill>
                          <a:schemeClr val="accent1"/>
                        </a:solidFill>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chemeClr val="accent1"/>
                          </a:solidFill>
                          <a:latin typeface="Lato"/>
                          <a:ea typeface="Lato"/>
                          <a:cs typeface="Lato"/>
                          <a:sym typeface="Lato"/>
                        </a:rPr>
                        <a:t>Non-Clustered Index</a:t>
                      </a:r>
                      <a:endParaRPr sz="1000" b="1">
                        <a:solidFill>
                          <a:schemeClr val="accent1"/>
                        </a:solidFill>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b="1">
                          <a:latin typeface="Lato"/>
                          <a:ea typeface="Lato"/>
                          <a:cs typeface="Lato"/>
                          <a:sym typeface="Lato"/>
                        </a:rPr>
                        <a:t>Data Storage</a:t>
                      </a:r>
                      <a:endParaRPr sz="1000" b="1">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Stores actual data in sorted order</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Stores pointers to actual data</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b="1">
                          <a:latin typeface="Lato"/>
                          <a:ea typeface="Lato"/>
                          <a:cs typeface="Lato"/>
                          <a:sym typeface="Lato"/>
                        </a:rPr>
                        <a:t>Number per Table</a:t>
                      </a:r>
                      <a:endParaRPr sz="1000" b="1">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Only 1 per table</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Multiple allowed</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b="1">
                          <a:latin typeface="Lato"/>
                          <a:ea typeface="Lato"/>
                          <a:cs typeface="Lato"/>
                          <a:sym typeface="Lato"/>
                        </a:rPr>
                        <a:t>Speed</a:t>
                      </a:r>
                      <a:endParaRPr sz="1000" b="1">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Faster for SELECT queries</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Slower than clustered for large data</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b="1">
                          <a:latin typeface="Lato"/>
                          <a:ea typeface="Lato"/>
                          <a:cs typeface="Lato"/>
                          <a:sym typeface="Lato"/>
                        </a:rPr>
                        <a:t>Usage</a:t>
                      </a:r>
                      <a:endParaRPr sz="1000" b="1">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Ideal for primary keys</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Useful for search columns</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b="1">
                          <a:latin typeface="Lato"/>
                          <a:ea typeface="Lato"/>
                          <a:cs typeface="Lato"/>
                          <a:sym typeface="Lato"/>
                        </a:rPr>
                        <a:t>Example</a:t>
                      </a:r>
                      <a:endParaRPr sz="1000" b="1">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PRIMARY KEY creates a clustered index</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latin typeface="Lato"/>
                          <a:ea typeface="Lato"/>
                          <a:cs typeface="Lato"/>
                          <a:sym typeface="Lato"/>
                        </a:rPr>
                        <a:t>CREATE INDEX creates a non-clustered index</a:t>
                      </a:r>
                      <a:endParaRPr sz="1000">
                        <a:latin typeface="Lato"/>
                        <a:ea typeface="Lato"/>
                        <a:cs typeface="Lato"/>
                        <a:sym typeface="Lato"/>
                      </a:endParaRPr>
                    </a:p>
                  </a:txBody>
                  <a:tcPr marL="28575" marR="28575" marT="19050" marB="19050" anchor="b">
                    <a:lnL w="7625" cap="flat" cmpd="sng">
                      <a:solidFill>
                        <a:srgbClr val="CCCCCC"/>
                      </a:solidFill>
                      <a:prstDash val="solid"/>
                      <a:round/>
                      <a:headEnd type="none" w="sm" len="sm"/>
                      <a:tailEnd type="none" w="sm" len="sm"/>
                    </a:lnL>
                    <a:lnR w="7625" cap="flat" cmpd="sng">
                      <a:solidFill>
                        <a:srgbClr val="CCCCCC"/>
                      </a:solidFill>
                      <a:prstDash val="solid"/>
                      <a:round/>
                      <a:headEnd type="none" w="sm" len="sm"/>
                      <a:tailEnd type="none" w="sm" len="sm"/>
                    </a:lnR>
                    <a:lnT w="7625" cap="flat" cmpd="sng">
                      <a:solidFill>
                        <a:srgbClr val="CCCCCC"/>
                      </a:solidFill>
                      <a:prstDash val="solid"/>
                      <a:round/>
                      <a:headEnd type="none" w="sm" len="sm"/>
                      <a:tailEnd type="none" w="sm" len="sm"/>
                    </a:lnT>
                    <a:lnB w="76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416" name="Google Shape;416;g3322e66b7a7_2_1662"/>
          <p:cNvGrpSpPr/>
          <p:nvPr/>
        </p:nvGrpSpPr>
        <p:grpSpPr>
          <a:xfrm>
            <a:off x="4316976" y="3361628"/>
            <a:ext cx="3877474" cy="1474070"/>
            <a:chOff x="583167" y="760266"/>
            <a:chExt cx="3877474" cy="1692000"/>
          </a:xfrm>
        </p:grpSpPr>
        <p:sp>
          <p:nvSpPr>
            <p:cNvPr id="417" name="Google Shape;417;g3322e66b7a7_2_1662"/>
            <p:cNvSpPr txBox="1"/>
            <p:nvPr/>
          </p:nvSpPr>
          <p:spPr>
            <a:xfrm>
              <a:off x="692941" y="760266"/>
              <a:ext cx="3767700" cy="1692000"/>
            </a:xfrm>
            <a:prstGeom prst="rect">
              <a:avLst/>
            </a:prstGeom>
            <a:noFill/>
            <a:ln>
              <a:noFill/>
            </a:ln>
          </p:spPr>
          <p:txBody>
            <a:bodyPr spcFirstLastPara="1" wrap="square" lIns="91425" tIns="91425" rIns="91425" bIns="91425" anchor="t" anchorCtr="0">
              <a:spAutoFit/>
            </a:bodyPr>
            <a:lstStyle/>
            <a:p>
              <a:pPr marL="0" lvl="0" indent="0" algn="just" rtl="0">
                <a:lnSpc>
                  <a:spcPct val="138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 Non-Clustered Index</a:t>
              </a:r>
              <a:endParaRPr sz="1300">
                <a:solidFill>
                  <a:schemeClr val="dk1"/>
                </a:solidFill>
                <a:latin typeface="Lato"/>
                <a:ea typeface="Lato"/>
                <a:cs typeface="Lato"/>
                <a:sym typeface="Lato"/>
              </a:endParaRPr>
            </a:p>
            <a:p>
              <a:pPr marL="0" lvl="0" indent="0" algn="just" rtl="0">
                <a:lnSpc>
                  <a:spcPct val="138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CREATE NONCLUSTERED </a:t>
              </a:r>
              <a:endParaRPr sz="1300">
                <a:solidFill>
                  <a:schemeClr val="dk1"/>
                </a:solidFill>
                <a:latin typeface="Lato"/>
                <a:ea typeface="Lato"/>
                <a:cs typeface="Lato"/>
                <a:sym typeface="Lato"/>
              </a:endParaRPr>
            </a:p>
            <a:p>
              <a:pPr marL="0" lvl="0" indent="0" algn="just" rtl="0">
                <a:lnSpc>
                  <a:spcPct val="138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INDEX IX_Employees_Name </a:t>
              </a:r>
              <a:endParaRPr sz="1300">
                <a:solidFill>
                  <a:schemeClr val="dk1"/>
                </a:solidFill>
                <a:latin typeface="Lato"/>
                <a:ea typeface="Lato"/>
                <a:cs typeface="Lato"/>
                <a:sym typeface="Lato"/>
              </a:endParaRPr>
            </a:p>
            <a:p>
              <a:pPr marL="0" lvl="0" indent="0" algn="just" rtl="0">
                <a:lnSpc>
                  <a:spcPct val="138000"/>
                </a:lnSpc>
                <a:spcBef>
                  <a:spcPts val="0"/>
                </a:spcBef>
                <a:spcAft>
                  <a:spcPts val="0"/>
                </a:spcAft>
                <a:buClr>
                  <a:schemeClr val="dk1"/>
                </a:buClr>
                <a:buSzPts val="1100"/>
                <a:buFont typeface="Arial"/>
                <a:buNone/>
              </a:pPr>
              <a:r>
                <a:rPr lang="en" sz="1300">
                  <a:solidFill>
                    <a:schemeClr val="dk1"/>
                  </a:solidFill>
                  <a:latin typeface="Lato"/>
                  <a:ea typeface="Lato"/>
                  <a:cs typeface="Lato"/>
                  <a:sym typeface="Lato"/>
                </a:rPr>
                <a:t>ON Employees(Name);</a:t>
              </a:r>
              <a:endParaRPr sz="1300">
                <a:solidFill>
                  <a:schemeClr val="dk1"/>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200"/>
                <a:buFont typeface="Arial"/>
                <a:buNone/>
              </a:pPr>
              <a:endParaRPr sz="1200">
                <a:solidFill>
                  <a:srgbClr val="2E95D3"/>
                </a:solidFill>
                <a:latin typeface="Lato"/>
                <a:ea typeface="Lato"/>
                <a:cs typeface="Lato"/>
                <a:sym typeface="Lato"/>
              </a:endParaRPr>
            </a:p>
          </p:txBody>
        </p:sp>
        <p:pic>
          <p:nvPicPr>
            <p:cNvPr id="418" name="Google Shape;418;g3322e66b7a7_2_1662"/>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2"/>
        <p:cNvGrpSpPr/>
        <p:nvPr/>
      </p:nvGrpSpPr>
      <p:grpSpPr>
        <a:xfrm>
          <a:off x="0" y="0"/>
          <a:ext cx="0" cy="0"/>
          <a:chOff x="0" y="0"/>
          <a:chExt cx="0" cy="0"/>
        </a:xfrm>
      </p:grpSpPr>
      <p:sp>
        <p:nvSpPr>
          <p:cNvPr id="423" name="Google Shape;423;g3322e66b7a7_2_602"/>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g3322e66b7a7_2_602"/>
          <p:cNvSpPr txBox="1"/>
          <p:nvPr/>
        </p:nvSpPr>
        <p:spPr>
          <a:xfrm>
            <a:off x="66000" y="2144700"/>
            <a:ext cx="9012600" cy="861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 sz="4400" b="0" i="0" u="none" strike="noStrike" cap="none">
                <a:solidFill>
                  <a:schemeClr val="lt1"/>
                </a:solidFill>
                <a:latin typeface="Lato Black"/>
                <a:ea typeface="Lato Black"/>
                <a:cs typeface="Lato Black"/>
                <a:sym typeface="Lato Black"/>
              </a:rPr>
              <a:t>Trigger</a:t>
            </a:r>
            <a:endParaRPr sz="44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g3322e66b7a7_2_652"/>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430" name="Google Shape;430;g3322e66b7a7_2_65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431" name="Google Shape;431;g3322e66b7a7_2_65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432" name="Google Shape;432;g3322e66b7a7_2_652"/>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Trigger</a:t>
            </a:r>
            <a:endParaRPr sz="2000" b="1" i="0" u="none" strike="noStrike" cap="none">
              <a:solidFill>
                <a:srgbClr val="FFFFFF"/>
              </a:solidFill>
              <a:latin typeface="Lato"/>
              <a:ea typeface="Lato"/>
              <a:cs typeface="Lato"/>
              <a:sym typeface="Lato"/>
            </a:endParaRPr>
          </a:p>
        </p:txBody>
      </p:sp>
      <p:grpSp>
        <p:nvGrpSpPr>
          <p:cNvPr id="433" name="Google Shape;433;g3322e66b7a7_2_652"/>
          <p:cNvGrpSpPr/>
          <p:nvPr/>
        </p:nvGrpSpPr>
        <p:grpSpPr>
          <a:xfrm>
            <a:off x="583167" y="760275"/>
            <a:ext cx="7871683" cy="1143600"/>
            <a:chOff x="583167" y="760275"/>
            <a:chExt cx="7871683" cy="1143600"/>
          </a:xfrm>
        </p:grpSpPr>
        <p:sp>
          <p:nvSpPr>
            <p:cNvPr id="434" name="Google Shape;434;g3322e66b7a7_2_652"/>
            <p:cNvSpPr txBox="1"/>
            <p:nvPr/>
          </p:nvSpPr>
          <p:spPr>
            <a:xfrm>
              <a:off x="692950" y="760275"/>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 trigger is a special type of stored procedure that automatically runs when an event occurs in the database server. DML triggers run when a user tries to modify data through a data manipulation language (DML) event. DML events are INSERT, UPDATE, or DELETE statements on a table or view. </a:t>
              </a:r>
              <a:endParaRPr sz="1400" b="0" i="0" u="none" strike="noStrike" cap="none">
                <a:solidFill>
                  <a:srgbClr val="000000"/>
                </a:solidFill>
                <a:latin typeface="Lato"/>
                <a:ea typeface="Lato"/>
                <a:cs typeface="Lato"/>
                <a:sym typeface="Lato"/>
              </a:endParaRPr>
            </a:p>
          </p:txBody>
        </p:sp>
        <p:pic>
          <p:nvPicPr>
            <p:cNvPr id="435" name="Google Shape;435;g3322e66b7a7_2_652"/>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436" name="Google Shape;436;g3322e66b7a7_2_652"/>
          <p:cNvGrpSpPr/>
          <p:nvPr/>
        </p:nvGrpSpPr>
        <p:grpSpPr>
          <a:xfrm>
            <a:off x="583167" y="1922475"/>
            <a:ext cx="7871683" cy="648000"/>
            <a:chOff x="583167" y="760275"/>
            <a:chExt cx="7871683" cy="648000"/>
          </a:xfrm>
        </p:grpSpPr>
        <p:sp>
          <p:nvSpPr>
            <p:cNvPr id="437" name="Google Shape;437;g3322e66b7a7_2_652"/>
            <p:cNvSpPr txBox="1"/>
            <p:nvPr/>
          </p:nvSpPr>
          <p:spPr>
            <a:xfrm>
              <a:off x="692950" y="760275"/>
              <a:ext cx="7761900" cy="6480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DDL triggers run in response to a variety of data definition language (DDL) events. These events primarily correspond to Transact-SQL CREATE, ALTER, and DROP statements</a:t>
              </a:r>
              <a:endParaRPr sz="1400" b="0" i="0" u="none" strike="noStrike" cap="none">
                <a:solidFill>
                  <a:srgbClr val="000000"/>
                </a:solidFill>
                <a:latin typeface="Lato"/>
                <a:ea typeface="Lato"/>
                <a:cs typeface="Lato"/>
                <a:sym typeface="Lato"/>
              </a:endParaRPr>
            </a:p>
          </p:txBody>
        </p:sp>
        <p:pic>
          <p:nvPicPr>
            <p:cNvPr id="438" name="Google Shape;438;g3322e66b7a7_2_652"/>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439" name="Google Shape;439;g3322e66b7a7_2_652"/>
          <p:cNvGrpSpPr/>
          <p:nvPr/>
        </p:nvGrpSpPr>
        <p:grpSpPr>
          <a:xfrm>
            <a:off x="583167" y="2589075"/>
            <a:ext cx="7871683" cy="1143600"/>
            <a:chOff x="583167" y="760275"/>
            <a:chExt cx="7871683" cy="1143600"/>
          </a:xfrm>
        </p:grpSpPr>
        <p:sp>
          <p:nvSpPr>
            <p:cNvPr id="440" name="Google Shape;440;g3322e66b7a7_2_652"/>
            <p:cNvSpPr txBox="1"/>
            <p:nvPr/>
          </p:nvSpPr>
          <p:spPr>
            <a:xfrm>
              <a:off x="692950" y="760275"/>
              <a:ext cx="7761900" cy="1143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Reference</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sng" strike="noStrike" cap="none">
                  <a:solidFill>
                    <a:schemeClr val="hlink"/>
                  </a:solidFill>
                  <a:latin typeface="Lato"/>
                  <a:ea typeface="Lato"/>
                  <a:cs typeface="Lato"/>
                  <a:sym typeface="Lato"/>
                  <a:hlinkClick r:id="rId6"/>
                </a:rPr>
                <a:t>https://www.sqlshack.com/triggers-in-sql-server/</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sng" strike="noStrike" cap="none">
                  <a:solidFill>
                    <a:schemeClr val="hlink"/>
                  </a:solidFill>
                  <a:latin typeface="Lato"/>
                  <a:ea typeface="Lato"/>
                  <a:cs typeface="Lato"/>
                  <a:sym typeface="Lato"/>
                  <a:hlinkClick r:id="rId7"/>
                </a:rPr>
                <a:t>https://learn.microsoft.com/en-us/sql/t-sql/statements/create-trigger-transact-sql?view=sql-server-ver16</a:t>
              </a:r>
              <a:endParaRPr sz="1400" b="0" i="0" u="none" strike="noStrike" cap="none">
                <a:solidFill>
                  <a:srgbClr val="000000"/>
                </a:solidFill>
                <a:latin typeface="Lato"/>
                <a:ea typeface="Lato"/>
                <a:cs typeface="Lato"/>
                <a:sym typeface="Lato"/>
              </a:endParaRPr>
            </a:p>
          </p:txBody>
        </p:sp>
        <p:pic>
          <p:nvPicPr>
            <p:cNvPr id="441" name="Google Shape;441;g3322e66b7a7_2_652"/>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pic>
        <p:nvPicPr>
          <p:cNvPr id="446" name="Google Shape;446;g3322e66b7a7_2_713"/>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447" name="Google Shape;447;g3322e66b7a7_2_71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448" name="Google Shape;448;g3322e66b7a7_2_71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449" name="Google Shape;449;g3322e66b7a7_2_713"/>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2000" b="1" i="0" u="none" strike="noStrike" cap="none">
                <a:solidFill>
                  <a:srgbClr val="FFFFFF"/>
                </a:solidFill>
                <a:latin typeface="Lato"/>
                <a:ea typeface="Lato"/>
                <a:cs typeface="Lato"/>
                <a:sym typeface="Lato"/>
              </a:rPr>
              <a:t>Trigger</a:t>
            </a:r>
            <a:endParaRPr sz="2000" b="1" i="0" u="none" strike="noStrike" cap="none">
              <a:solidFill>
                <a:srgbClr val="FFFFFF"/>
              </a:solidFill>
              <a:latin typeface="Lato"/>
              <a:ea typeface="Lato"/>
              <a:cs typeface="Lato"/>
              <a:sym typeface="Lato"/>
            </a:endParaRPr>
          </a:p>
        </p:txBody>
      </p:sp>
      <p:grpSp>
        <p:nvGrpSpPr>
          <p:cNvPr id="450" name="Google Shape;450;g3322e66b7a7_2_713"/>
          <p:cNvGrpSpPr/>
          <p:nvPr/>
        </p:nvGrpSpPr>
        <p:grpSpPr>
          <a:xfrm>
            <a:off x="583167" y="684075"/>
            <a:ext cx="7871683" cy="2134800"/>
            <a:chOff x="583167" y="684075"/>
            <a:chExt cx="7871683" cy="2134800"/>
          </a:xfrm>
        </p:grpSpPr>
        <p:sp>
          <p:nvSpPr>
            <p:cNvPr id="451" name="Google Shape;451;g3322e66b7a7_2_713"/>
            <p:cNvSpPr txBox="1"/>
            <p:nvPr/>
          </p:nvSpPr>
          <p:spPr>
            <a:xfrm>
              <a:off x="692950" y="684075"/>
              <a:ext cx="7761900" cy="2134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Advantages of Triggers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Enforcing Business Rules: Triggers can be used to enforce business rules by automatically checking and validating data before it is inserted, updated, or deleted. This helps maintain data integrity.</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Audit Log: Triggers can be employed to maintain an audit log of changes, tracking who made the changes and when. This is beneficial for compliance and debugging purposes.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Synchronization of Data: Triggers can be used to synchronize data across different tables or databases when changes are made, ensuring consistency.</a:t>
              </a:r>
              <a:endParaRPr sz="1400" b="0" i="0" u="none" strike="noStrike" cap="none">
                <a:solidFill>
                  <a:srgbClr val="000000"/>
                </a:solidFill>
                <a:latin typeface="Lato"/>
                <a:ea typeface="Lato"/>
                <a:cs typeface="Lato"/>
                <a:sym typeface="Lato"/>
              </a:endParaRPr>
            </a:p>
          </p:txBody>
        </p:sp>
        <p:pic>
          <p:nvPicPr>
            <p:cNvPr id="452" name="Google Shape;452;g3322e66b7a7_2_713"/>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453" name="Google Shape;453;g3322e66b7a7_2_713"/>
          <p:cNvGrpSpPr/>
          <p:nvPr/>
        </p:nvGrpSpPr>
        <p:grpSpPr>
          <a:xfrm>
            <a:off x="583167" y="2741475"/>
            <a:ext cx="7871683" cy="1639200"/>
            <a:chOff x="583167" y="684075"/>
            <a:chExt cx="7871683" cy="1639200"/>
          </a:xfrm>
        </p:grpSpPr>
        <p:sp>
          <p:nvSpPr>
            <p:cNvPr id="454" name="Google Shape;454;g3322e66b7a7_2_713"/>
            <p:cNvSpPr txBox="1"/>
            <p:nvPr/>
          </p:nvSpPr>
          <p:spPr>
            <a:xfrm>
              <a:off x="692950" y="684075"/>
              <a:ext cx="7761900" cy="1639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Disadvantages or Drawbacks of Triggers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Performance Impact: Triggers can introduce performance overhead because they add additional processing during data modification operations.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Hidden Logic: Triggers contain logic that is not immediately evident when examining the SQL statements for a given operation. This can make it challenging to understand and debug the overall system logic.</a:t>
              </a:r>
              <a:endParaRPr sz="1400" b="0" i="0" u="none" strike="noStrike" cap="none">
                <a:solidFill>
                  <a:srgbClr val="000000"/>
                </a:solidFill>
                <a:latin typeface="Lato"/>
                <a:ea typeface="Lato"/>
                <a:cs typeface="Lato"/>
                <a:sym typeface="Lato"/>
              </a:endParaRPr>
            </a:p>
          </p:txBody>
        </p:sp>
        <p:pic>
          <p:nvPicPr>
            <p:cNvPr id="455" name="Google Shape;455;g3322e66b7a7_2_713"/>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9"/>
        <p:cNvGrpSpPr/>
        <p:nvPr/>
      </p:nvGrpSpPr>
      <p:grpSpPr>
        <a:xfrm>
          <a:off x="0" y="0"/>
          <a:ext cx="0" cy="0"/>
          <a:chOff x="0" y="0"/>
          <a:chExt cx="0" cy="0"/>
        </a:xfrm>
      </p:grpSpPr>
      <p:sp>
        <p:nvSpPr>
          <p:cNvPr id="460" name="Google Shape;460;g3322e66b7a7_2_771"/>
          <p:cNvSpPr/>
          <p:nvPr/>
        </p:nvSpPr>
        <p:spPr>
          <a:xfrm>
            <a:off x="300" y="0"/>
            <a:ext cx="9144000" cy="5151300"/>
          </a:xfrm>
          <a:prstGeom prst="rect">
            <a:avLst/>
          </a:prstGeom>
          <a:solidFill>
            <a:srgbClr val="FF81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g3322e66b7a7_2_771"/>
          <p:cNvSpPr txBox="1"/>
          <p:nvPr/>
        </p:nvSpPr>
        <p:spPr>
          <a:xfrm>
            <a:off x="66000" y="2144700"/>
            <a:ext cx="9012600" cy="861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 sz="4400" b="0" i="0" u="none" strike="noStrike" cap="none">
                <a:solidFill>
                  <a:schemeClr val="lt1"/>
                </a:solidFill>
                <a:latin typeface="Lato Black"/>
                <a:ea typeface="Lato Black"/>
                <a:cs typeface="Lato Black"/>
                <a:sym typeface="Lato Black"/>
              </a:rPr>
              <a:t>Cursor</a:t>
            </a:r>
            <a:endParaRPr sz="4400" b="0" i="0" u="none" strike="noStrike" cap="none">
              <a:solidFill>
                <a:schemeClr val="lt1"/>
              </a:solidFill>
              <a:latin typeface="Lato Black"/>
              <a:ea typeface="Lato Black"/>
              <a:cs typeface="Lato Black"/>
              <a:sym typeface="Lato Black"/>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466" name="Google Shape;466;g3322e66b7a7_2_82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467" name="Google Shape;467;g3322e66b7a7_2_8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468" name="Google Shape;468;g3322e66b7a7_2_8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469" name="Google Shape;469;g3322e66b7a7_2_821"/>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Cursor</a:t>
            </a:r>
            <a:endParaRPr sz="2000" b="1" i="0" u="none" strike="noStrike" cap="none">
              <a:solidFill>
                <a:srgbClr val="FFFFFF"/>
              </a:solidFill>
              <a:latin typeface="Lato"/>
              <a:ea typeface="Lato"/>
              <a:cs typeface="Lato"/>
              <a:sym typeface="Lato"/>
            </a:endParaRPr>
          </a:p>
        </p:txBody>
      </p:sp>
      <p:grpSp>
        <p:nvGrpSpPr>
          <p:cNvPr id="470" name="Google Shape;470;g3322e66b7a7_2_821"/>
          <p:cNvGrpSpPr/>
          <p:nvPr/>
        </p:nvGrpSpPr>
        <p:grpSpPr>
          <a:xfrm>
            <a:off x="583167" y="760275"/>
            <a:ext cx="7871683" cy="895800"/>
            <a:chOff x="583167" y="760275"/>
            <a:chExt cx="7871683" cy="895800"/>
          </a:xfrm>
        </p:grpSpPr>
        <p:sp>
          <p:nvSpPr>
            <p:cNvPr id="471" name="Google Shape;471;g3322e66b7a7_2_821"/>
            <p:cNvSpPr txBox="1"/>
            <p:nvPr/>
          </p:nvSpPr>
          <p:spPr>
            <a:xfrm>
              <a:off x="692950" y="760275"/>
              <a:ext cx="7761900" cy="895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Cursor is a database object that allows us to iterate over a result set, row by row, and perform operations on each row individually. Cursors are typically used within Transact-SQL (T-SQL) scripts or stored procedures to process data sequentially.</a:t>
              </a:r>
              <a:endParaRPr sz="1400" b="0" i="0" u="none" strike="noStrike" cap="none">
                <a:solidFill>
                  <a:srgbClr val="000000"/>
                </a:solidFill>
                <a:latin typeface="Lato"/>
                <a:ea typeface="Lato"/>
                <a:cs typeface="Lato"/>
                <a:sym typeface="Lato"/>
              </a:endParaRPr>
            </a:p>
          </p:txBody>
        </p:sp>
        <p:pic>
          <p:nvPicPr>
            <p:cNvPr id="472" name="Google Shape;472;g3322e66b7a7_2_821"/>
            <p:cNvPicPr preferRelativeResize="0"/>
            <p:nvPr/>
          </p:nvPicPr>
          <p:blipFill rotWithShape="1">
            <a:blip r:embed="rId5">
              <a:alphaModFix/>
            </a:blip>
            <a:srcRect/>
            <a:stretch/>
          </p:blipFill>
          <p:spPr>
            <a:xfrm>
              <a:off x="583167" y="884274"/>
              <a:ext cx="61722" cy="109728"/>
            </a:xfrm>
            <a:prstGeom prst="rect">
              <a:avLst/>
            </a:prstGeom>
            <a:noFill/>
            <a:ln>
              <a:noFill/>
            </a:ln>
          </p:spPr>
        </p:pic>
      </p:grpSp>
      <p:sp>
        <p:nvSpPr>
          <p:cNvPr id="473" name="Google Shape;473;g3322e66b7a7_2_821"/>
          <p:cNvSpPr txBox="1"/>
          <p:nvPr/>
        </p:nvSpPr>
        <p:spPr>
          <a:xfrm>
            <a:off x="692950" y="1750875"/>
            <a:ext cx="7761900" cy="2134800"/>
          </a:xfrm>
          <a:prstGeom prst="rect">
            <a:avLst/>
          </a:prstGeom>
          <a:noFill/>
          <a:ln>
            <a:noFill/>
          </a:ln>
        </p:spPr>
        <p:txBody>
          <a:bodyPr spcFirstLastPara="1" wrap="square" lIns="91425" tIns="91425" rIns="91425" bIns="91425" anchor="t" anchorCtr="0">
            <a:spAutoFit/>
          </a:bodyPr>
          <a:lstStyle/>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Forward-Only Cursor</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Static Cursor</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Dynamic Cursor</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Keyset-Driven Cursor</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Scrollable Cursor</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Reference</a:t>
            </a:r>
            <a:endParaRPr sz="1400" b="0" i="0" u="none" strike="noStrike" cap="none">
              <a:solidFill>
                <a:srgbClr val="000000"/>
              </a:solidFill>
              <a:latin typeface="Lato"/>
              <a:ea typeface="Lato"/>
              <a:cs typeface="Lato"/>
              <a:sym typeface="Lato"/>
            </a:endParaRPr>
          </a:p>
          <a:p>
            <a:pPr marL="0" marR="0" lvl="0" indent="0" algn="just" rtl="0">
              <a:lnSpc>
                <a:spcPct val="115000"/>
              </a:lnSpc>
              <a:spcBef>
                <a:spcPts val="0"/>
              </a:spcBef>
              <a:spcAft>
                <a:spcPts val="0"/>
              </a:spcAft>
              <a:buClr>
                <a:srgbClr val="000000"/>
              </a:buClr>
              <a:buSzPts val="1400"/>
              <a:buFont typeface="Arial"/>
              <a:buNone/>
            </a:pPr>
            <a:r>
              <a:rPr lang="en" sz="1400" b="0" i="0" u="sng" strike="noStrike" cap="none">
                <a:solidFill>
                  <a:schemeClr val="hlink"/>
                </a:solidFill>
                <a:latin typeface="Lato"/>
                <a:ea typeface="Lato"/>
                <a:cs typeface="Lato"/>
                <a:sym typeface="Lato"/>
                <a:hlinkClick r:id="rId6"/>
              </a:rPr>
              <a:t>https://learn.microsoft.com/en-us/sql/relational-databases/cursors?view=sql-server-ver16</a:t>
            </a:r>
            <a:endParaRPr sz="1400" b="0" i="0" u="none" strike="noStrike" cap="none">
              <a:solidFill>
                <a:srgbClr val="000000"/>
              </a:solidFill>
              <a:latin typeface="Lato"/>
              <a:ea typeface="Lato"/>
              <a:cs typeface="Lato"/>
              <a:sym typeface="Lato"/>
            </a:endParaRPr>
          </a:p>
        </p:txBody>
      </p:sp>
      <p:pic>
        <p:nvPicPr>
          <p:cNvPr id="474" name="Google Shape;474;g3322e66b7a7_2_821"/>
          <p:cNvPicPr preferRelativeResize="0"/>
          <p:nvPr/>
        </p:nvPicPr>
        <p:blipFill rotWithShape="1">
          <a:blip r:embed="rId5">
            <a:alphaModFix/>
          </a:blip>
          <a:srcRect/>
          <a:stretch/>
        </p:blipFill>
        <p:spPr>
          <a:xfrm>
            <a:off x="629092" y="3358437"/>
            <a:ext cx="61722" cy="109728"/>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g3322e66b7a7_2_87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480" name="Google Shape;480;g3322e66b7a7_2_87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481" name="Google Shape;481;g3322e66b7a7_2_87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482" name="Google Shape;482;g3322e66b7a7_2_877"/>
          <p:cNvSpPr txBox="1"/>
          <p:nvPr/>
        </p:nvSpPr>
        <p:spPr>
          <a:xfrm>
            <a:off x="2414800" y="46313"/>
            <a:ext cx="4318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FFFFFF"/>
                </a:solidFill>
                <a:latin typeface="Lato"/>
                <a:ea typeface="Lato"/>
                <a:cs typeface="Lato"/>
                <a:sym typeface="Lato"/>
              </a:rPr>
              <a:t>Cursor</a:t>
            </a:r>
            <a:endParaRPr sz="2000" b="1" i="0" u="none" strike="noStrike" cap="none">
              <a:solidFill>
                <a:srgbClr val="FFFFFF"/>
              </a:solidFill>
              <a:latin typeface="Lato"/>
              <a:ea typeface="Lato"/>
              <a:cs typeface="Lato"/>
              <a:sym typeface="Lato"/>
            </a:endParaRPr>
          </a:p>
        </p:txBody>
      </p:sp>
      <p:grpSp>
        <p:nvGrpSpPr>
          <p:cNvPr id="483" name="Google Shape;483;g3322e66b7a7_2_877"/>
          <p:cNvGrpSpPr/>
          <p:nvPr/>
        </p:nvGrpSpPr>
        <p:grpSpPr>
          <a:xfrm>
            <a:off x="583167" y="760275"/>
            <a:ext cx="7871683" cy="1639200"/>
            <a:chOff x="583167" y="760275"/>
            <a:chExt cx="7871683" cy="1639200"/>
          </a:xfrm>
        </p:grpSpPr>
        <p:sp>
          <p:nvSpPr>
            <p:cNvPr id="484" name="Google Shape;484;g3322e66b7a7_2_877"/>
            <p:cNvSpPr txBox="1"/>
            <p:nvPr/>
          </p:nvSpPr>
          <p:spPr>
            <a:xfrm>
              <a:off x="692950" y="760275"/>
              <a:ext cx="7761900" cy="16392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Advantages of Cursors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Explicit Control: Cursors provide explicit control over the fetching, updating, and deleting of rows. This can be useful in situations where we need fine-grained control over data manipulation.</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Scrolling: Cursors provide the ability to move back and forth through the result set, allowing for more flexible navigation compared to a simple query.</a:t>
              </a:r>
              <a:endParaRPr sz="1400" b="0" i="0" u="none" strike="noStrike" cap="none">
                <a:solidFill>
                  <a:srgbClr val="000000"/>
                </a:solidFill>
                <a:latin typeface="Lato"/>
                <a:ea typeface="Lato"/>
                <a:cs typeface="Lato"/>
                <a:sym typeface="Lato"/>
              </a:endParaRPr>
            </a:p>
          </p:txBody>
        </p:sp>
        <p:pic>
          <p:nvPicPr>
            <p:cNvPr id="485" name="Google Shape;485;g3322e66b7a7_2_877"/>
            <p:cNvPicPr preferRelativeResize="0"/>
            <p:nvPr/>
          </p:nvPicPr>
          <p:blipFill rotWithShape="1">
            <a:blip r:embed="rId5">
              <a:alphaModFix/>
            </a:blip>
            <a:srcRect/>
            <a:stretch/>
          </p:blipFill>
          <p:spPr>
            <a:xfrm>
              <a:off x="583167" y="884274"/>
              <a:ext cx="61722" cy="109728"/>
            </a:xfrm>
            <a:prstGeom prst="rect">
              <a:avLst/>
            </a:prstGeom>
            <a:noFill/>
            <a:ln>
              <a:noFill/>
            </a:ln>
          </p:spPr>
        </p:pic>
      </p:grpSp>
      <p:grpSp>
        <p:nvGrpSpPr>
          <p:cNvPr id="486" name="Google Shape;486;g3322e66b7a7_2_877"/>
          <p:cNvGrpSpPr/>
          <p:nvPr/>
        </p:nvGrpSpPr>
        <p:grpSpPr>
          <a:xfrm>
            <a:off x="583167" y="2512875"/>
            <a:ext cx="7871683" cy="2134800"/>
            <a:chOff x="583167" y="760275"/>
            <a:chExt cx="7871683" cy="2134800"/>
          </a:xfrm>
        </p:grpSpPr>
        <p:sp>
          <p:nvSpPr>
            <p:cNvPr id="487" name="Google Shape;487;g3322e66b7a7_2_877"/>
            <p:cNvSpPr txBox="1"/>
            <p:nvPr/>
          </p:nvSpPr>
          <p:spPr>
            <a:xfrm>
              <a:off x="692950" y="760275"/>
              <a:ext cx="7761900" cy="2134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Lato"/>
                  <a:ea typeface="Lato"/>
                  <a:cs typeface="Lato"/>
                  <a:sym typeface="Lato"/>
                </a:rPr>
                <a:t>Disadvantages of Cursors</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Performance Overhead: Cursors can result in poor performance, especially when processing large result sets, as they may require additional resources and increase database load.</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Blocking: Cursors can lead to increased locking and blocking issues, especially in concurrent environments, where other transactions may be affected by the locks held by the cursor.</a:t>
              </a:r>
              <a:endParaRPr sz="1400" b="0" i="0" u="none" strike="noStrike" cap="none">
                <a:solidFill>
                  <a:srgbClr val="000000"/>
                </a:solidFill>
                <a:latin typeface="Lato"/>
                <a:ea typeface="Lato"/>
                <a:cs typeface="Lato"/>
                <a:sym typeface="Lato"/>
              </a:endParaRPr>
            </a:p>
            <a:p>
              <a:pPr marL="457200" marR="0" lvl="0" indent="-317500" algn="just" rtl="0">
                <a:lnSpc>
                  <a:spcPct val="115000"/>
                </a:lnSpc>
                <a:spcBef>
                  <a:spcPts val="0"/>
                </a:spcBef>
                <a:spcAft>
                  <a:spcPts val="0"/>
                </a:spcAft>
                <a:buClr>
                  <a:srgbClr val="000000"/>
                </a:buClr>
                <a:buSzPts val="1400"/>
                <a:buFont typeface="Lato"/>
                <a:buAutoNum type="arabicPeriod"/>
              </a:pPr>
              <a:r>
                <a:rPr lang="en" sz="1400" b="0" i="0" u="none" strike="noStrike" cap="none">
                  <a:solidFill>
                    <a:srgbClr val="000000"/>
                  </a:solidFill>
                  <a:latin typeface="Lato"/>
                  <a:ea typeface="Lato"/>
                  <a:cs typeface="Lato"/>
                  <a:sym typeface="Lato"/>
                </a:rPr>
                <a:t>Complexity: Code using cursors tends to be more complex and harder to maintain than set-based operations. SQL is designed to work with sets of data efficiently, and using cursors might deviate from this paradigm.</a:t>
              </a:r>
              <a:endParaRPr sz="1400" b="0" i="0" u="none" strike="noStrike" cap="none">
                <a:solidFill>
                  <a:srgbClr val="000000"/>
                </a:solidFill>
                <a:latin typeface="Lato"/>
                <a:ea typeface="Lato"/>
                <a:cs typeface="Lato"/>
                <a:sym typeface="Lato"/>
              </a:endParaRPr>
            </a:p>
          </p:txBody>
        </p:sp>
        <p:pic>
          <p:nvPicPr>
            <p:cNvPr id="488" name="Google Shape;488;g3322e66b7a7_2_877"/>
            <p:cNvPicPr preferRelativeResize="0"/>
            <p:nvPr/>
          </p:nvPicPr>
          <p:blipFill rotWithShape="1">
            <a:blip r:embed="rId5">
              <a:alphaModFix/>
            </a:blip>
            <a:srcRect/>
            <a:stretch/>
          </p:blipFill>
          <p:spPr>
            <a:xfrm>
              <a:off x="583167" y="884274"/>
              <a:ext cx="61722" cy="109728"/>
            </a:xfrm>
            <a:prstGeom prst="rect">
              <a:avLst/>
            </a:prstGeom>
            <a:noFill/>
            <a:ln>
              <a:noFill/>
            </a:ln>
          </p:spPr>
        </p:pic>
      </p:gr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rgbClr val="FF8135"/>
        </a:solidFill>
        <a:effectLst/>
      </p:bgPr>
    </p:bg>
    <p:spTree>
      <p:nvGrpSpPr>
        <p:cNvPr id="1" name="Shape 492"/>
        <p:cNvGrpSpPr/>
        <p:nvPr/>
      </p:nvGrpSpPr>
      <p:grpSpPr>
        <a:xfrm>
          <a:off x="0" y="0"/>
          <a:ext cx="0" cy="0"/>
          <a:chOff x="0" y="0"/>
          <a:chExt cx="0" cy="0"/>
        </a:xfrm>
      </p:grpSpPr>
      <p:sp>
        <p:nvSpPr>
          <p:cNvPr id="493" name="Google Shape;493;p35"/>
          <p:cNvSpPr txBox="1"/>
          <p:nvPr/>
        </p:nvSpPr>
        <p:spPr>
          <a:xfrm>
            <a:off x="25" y="2153650"/>
            <a:ext cx="91440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chemeClr val="lt1"/>
                </a:solidFill>
                <a:latin typeface="Arial"/>
                <a:ea typeface="Arial"/>
                <a:cs typeface="Arial"/>
                <a:sym typeface="Arial"/>
              </a:rPr>
              <a:t>Thank you</a:t>
            </a:r>
            <a:endParaRPr sz="3600" b="0" i="0" u="none" strike="noStrike" cap="none">
              <a:solidFill>
                <a:schemeClr val="lt1"/>
              </a:solidFill>
              <a:latin typeface="Arial"/>
              <a:ea typeface="Arial"/>
              <a:cs typeface="Arial"/>
              <a:sym typeface="Arial"/>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a:stretch/>
        </p:blipFill>
        <p:spPr>
          <a:xfrm>
            <a:off x="0" y="4465"/>
            <a:ext cx="9144003" cy="5134572"/>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rgbClr val="F46524"/>
        </a:solidFill>
        <a:effectLst/>
      </p:bgPr>
    </p:bg>
    <p:spTree>
      <p:nvGrpSpPr>
        <p:cNvPr id="1" name="Shape 59"/>
        <p:cNvGrpSpPr/>
        <p:nvPr/>
      </p:nvGrpSpPr>
      <p:grpSpPr>
        <a:xfrm>
          <a:off x="0" y="0"/>
          <a:ext cx="0" cy="0"/>
          <a:chOff x="0" y="0"/>
          <a:chExt cx="0" cy="0"/>
        </a:xfrm>
      </p:grpSpPr>
      <p:sp>
        <p:nvSpPr>
          <p:cNvPr id="60" name="Google Shape;60;p15"/>
          <p:cNvSpPr txBox="1"/>
          <p:nvPr/>
        </p:nvSpPr>
        <p:spPr>
          <a:xfrm>
            <a:off x="0" y="1959550"/>
            <a:ext cx="9144000" cy="17070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4600"/>
              <a:buFont typeface="Arial"/>
              <a:buNone/>
            </a:pPr>
            <a:r>
              <a:rPr lang="en" sz="4600" b="1" i="0" u="none" strike="noStrike" cap="none">
                <a:solidFill>
                  <a:schemeClr val="lt1"/>
                </a:solidFill>
                <a:latin typeface="Lato"/>
                <a:ea typeface="Lato"/>
                <a:cs typeface="Lato"/>
                <a:sym typeface="Lato"/>
              </a:rPr>
              <a:t>Customer Satisfaction</a:t>
            </a:r>
            <a:endParaRPr sz="4600" b="1" i="0" u="none" strike="noStrike" cap="none">
              <a:solidFill>
                <a:schemeClr val="lt1"/>
              </a:solidFill>
              <a:latin typeface="Lato"/>
              <a:ea typeface="Lato"/>
              <a:cs typeface="Lato"/>
              <a:sym typeface="Lato"/>
            </a:endParaRPr>
          </a:p>
          <a:p>
            <a:pPr marL="0" marR="0" lvl="0" indent="0" algn="ctr" rtl="0">
              <a:lnSpc>
                <a:spcPct val="115000"/>
              </a:lnSpc>
              <a:spcBef>
                <a:spcPts val="0"/>
              </a:spcBef>
              <a:spcAft>
                <a:spcPts val="0"/>
              </a:spcAft>
              <a:buClr>
                <a:srgbClr val="000000"/>
              </a:buClr>
              <a:buSzPts val="4600"/>
              <a:buFont typeface="Arial"/>
              <a:buNone/>
            </a:pPr>
            <a:r>
              <a:rPr lang="en" sz="4600" b="1" i="0" u="none" strike="noStrike" cap="none">
                <a:solidFill>
                  <a:schemeClr val="lt1"/>
                </a:solidFill>
                <a:latin typeface="Lato"/>
                <a:ea typeface="Lato"/>
                <a:cs typeface="Lato"/>
                <a:sym typeface="Lato"/>
              </a:rPr>
              <a:t>Is Our Highest Priority</a:t>
            </a:r>
            <a:endParaRPr sz="4600" b="1" i="0" u="none" strike="noStrike" cap="none">
              <a:solidFill>
                <a:schemeClr val="lt1"/>
              </a:solidFill>
              <a:latin typeface="Lato"/>
              <a:ea typeface="Lato"/>
              <a:cs typeface="Lato"/>
              <a:sym typeface="Lato"/>
            </a:endParaRPr>
          </a:p>
        </p:txBody>
      </p:sp>
      <p:pic>
        <p:nvPicPr>
          <p:cNvPr id="61" name="Google Shape;61;p15"/>
          <p:cNvPicPr preferRelativeResize="0"/>
          <p:nvPr/>
        </p:nvPicPr>
        <p:blipFill rotWithShape="1">
          <a:blip r:embed="rId3">
            <a:alphaModFix/>
          </a:blip>
          <a:srcRect/>
          <a:stretch/>
        </p:blipFill>
        <p:spPr>
          <a:xfrm>
            <a:off x="4275375" y="958600"/>
            <a:ext cx="789825" cy="878350"/>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FF8135"/>
        </a:solidFill>
        <a:effectLst/>
      </p:bgPr>
    </p:bg>
    <p:spTree>
      <p:nvGrpSpPr>
        <p:cNvPr id="1" name="Shape 65"/>
        <p:cNvGrpSpPr/>
        <p:nvPr/>
      </p:nvGrpSpPr>
      <p:grpSpPr>
        <a:xfrm>
          <a:off x="0" y="0"/>
          <a:ext cx="0" cy="0"/>
          <a:chOff x="0" y="0"/>
          <a:chExt cx="0" cy="0"/>
        </a:xfrm>
      </p:grpSpPr>
      <p:pic>
        <p:nvPicPr>
          <p:cNvPr id="66" name="Google Shape;66;p16"/>
          <p:cNvPicPr preferRelativeResize="0"/>
          <p:nvPr/>
        </p:nvPicPr>
        <p:blipFill rotWithShape="1">
          <a:blip r:embed="rId3">
            <a:alphaModFix/>
          </a:blip>
          <a:srcRect t="139" b="139"/>
          <a:stretch/>
        </p:blipFill>
        <p:spPr>
          <a:xfrm>
            <a:off x="0" y="0"/>
            <a:ext cx="9143996" cy="5143501"/>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chemeClr val="lt1"/>
                </a:solidFill>
                <a:latin typeface="Lato"/>
                <a:ea typeface="Lato"/>
                <a:cs typeface="Lato"/>
                <a:sym typeface="Lato"/>
              </a:rPr>
              <a:t>In this session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94875" y="756732"/>
            <a:ext cx="6819600" cy="250834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dirty="0">
                <a:solidFill>
                  <a:srgbClr val="222222"/>
                </a:solidFill>
                <a:latin typeface="Lato"/>
                <a:ea typeface="Lato"/>
                <a:cs typeface="Lato"/>
                <a:sym typeface="Lato"/>
              </a:rPr>
              <a:t>What we are learning in this session</a:t>
            </a:r>
          </a:p>
          <a:p>
            <a:pPr marL="0" marR="0" lvl="0" indent="0" algn="l" rtl="0">
              <a:lnSpc>
                <a:spcPct val="100000"/>
              </a:lnSpc>
              <a:spcBef>
                <a:spcPts val="0"/>
              </a:spcBef>
              <a:spcAft>
                <a:spcPts val="0"/>
              </a:spcAft>
              <a:buClr>
                <a:srgbClr val="000000"/>
              </a:buClr>
              <a:buSzPts val="1600"/>
              <a:buFont typeface="Arial"/>
              <a:buNone/>
            </a:pPr>
            <a:endParaRPr lang="en" sz="1600" b="1" dirty="0">
              <a:solidFill>
                <a:srgbClr val="222222"/>
              </a:solidFill>
              <a:latin typeface="Lato"/>
              <a:ea typeface="Lato"/>
              <a:cs typeface="Lato"/>
              <a:sym typeface="Lato"/>
            </a:endParaRP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Introduction of EF</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EF Features </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EF Architecture</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EF Installation</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Data Annotation</a:t>
            </a:r>
          </a:p>
          <a:p>
            <a:pPr marL="285750" marR="0" lvl="0" indent="-285750" algn="l" rtl="0">
              <a:lnSpc>
                <a:spcPct val="100000"/>
              </a:lnSpc>
              <a:spcBef>
                <a:spcPts val="0"/>
              </a:spcBef>
              <a:spcAft>
                <a:spcPts val="0"/>
              </a:spcAft>
              <a:buClr>
                <a:schemeClr val="accent4">
                  <a:lumMod val="75000"/>
                </a:schemeClr>
              </a:buClr>
              <a:buSzPct val="80000"/>
              <a:buFont typeface="Lato" panose="020B0604020202020204" charset="0"/>
              <a:buChar char="►"/>
            </a:pPr>
            <a:endParaRPr i="0" u="none" strike="noStrike" cap="none" dirty="0">
              <a:solidFill>
                <a:srgbClr val="222222"/>
              </a:solidFill>
              <a:latin typeface="Lato"/>
              <a:ea typeface="Lato"/>
              <a:cs typeface="Lato"/>
              <a:sym typeface="Lato"/>
            </a:endParaRPr>
          </a:p>
        </p:txBody>
      </p:sp>
    </p:spTree>
    <p:extLst>
      <p:ext uri="{BB962C8B-B14F-4D97-AF65-F5344CB8AC3E}">
        <p14:creationId xmlns:p14="http://schemas.microsoft.com/office/powerpoint/2010/main" val="298832709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FF8135"/>
        </a:solidFill>
        <a:effectLst/>
      </p:bgPr>
    </p:bg>
    <p:spTree>
      <p:nvGrpSpPr>
        <p:cNvPr id="1" name="Shape 82"/>
        <p:cNvGrpSpPr/>
        <p:nvPr/>
      </p:nvGrpSpPr>
      <p:grpSpPr>
        <a:xfrm>
          <a:off x="0" y="0"/>
          <a:ext cx="0" cy="0"/>
          <a:chOff x="0" y="0"/>
          <a:chExt cx="0" cy="0"/>
        </a:xfrm>
      </p:grpSpPr>
      <p:sp>
        <p:nvSpPr>
          <p:cNvPr id="83" name="Google Shape;83;p18"/>
          <p:cNvSpPr txBox="1"/>
          <p:nvPr/>
        </p:nvSpPr>
        <p:spPr>
          <a:xfrm>
            <a:off x="25" y="2153650"/>
            <a:ext cx="91440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chemeClr val="lt1"/>
                </a:solidFill>
                <a:latin typeface="Arial"/>
                <a:ea typeface="Arial"/>
                <a:cs typeface="Arial"/>
                <a:sym typeface="Arial"/>
              </a:rPr>
              <a:t>Let’s Start</a:t>
            </a:r>
            <a:endParaRPr sz="3600" b="0" i="0" u="none" strike="noStrike" cap="none">
              <a:solidFill>
                <a:schemeClr val="lt1"/>
              </a:solidFill>
              <a:latin typeface="Arial"/>
              <a:ea typeface="Arial"/>
              <a:cs typeface="Arial"/>
              <a:sym typeface="Arial"/>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buSzPts val="2000"/>
            </a:pPr>
            <a:r>
              <a:rPr lang="en-US" sz="2000" b="1" dirty="0">
                <a:solidFill>
                  <a:srgbClr val="FFFFFF"/>
                </a:solidFill>
                <a:latin typeface="Lato"/>
                <a:ea typeface="Lato"/>
                <a:cs typeface="Lato"/>
                <a:sym typeface="Lato"/>
              </a:rPr>
              <a:t>Entity Framework - Introduction</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3000791"/>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Prior to .NET 3.5, we (developers) often used to write ADO.NET code or Enterprise Data Access Block to save or retrieve application data from the underlying database. We used to open a connection to the database, create a </a:t>
            </a:r>
            <a:r>
              <a:rPr lang="en-US" sz="1200" dirty="0" err="1">
                <a:latin typeface="Lato" panose="020B0604020202020204" charset="0"/>
              </a:rPr>
              <a:t>DataSet</a:t>
            </a:r>
            <a:r>
              <a:rPr lang="en-US" sz="1200" dirty="0">
                <a:latin typeface="Lato" panose="020B0604020202020204" charset="0"/>
              </a:rPr>
              <a:t> to fetch or submit the data to the database, convert data from the </a:t>
            </a:r>
            <a:r>
              <a:rPr lang="en-US" sz="1200" dirty="0" err="1">
                <a:latin typeface="Lato" panose="020B0604020202020204" charset="0"/>
              </a:rPr>
              <a:t>DataSet</a:t>
            </a:r>
            <a:r>
              <a:rPr lang="en-US" sz="1200" dirty="0">
                <a:latin typeface="Lato" panose="020B0604020202020204" charset="0"/>
              </a:rPr>
              <a:t> to .NET objects or vice-versa to apply business rules. This was a cumbersome and error prone process. Microsoft has provided a framework called "Entity Framework" to automate all these database related activities for your application.</a:t>
            </a:r>
          </a:p>
          <a:p>
            <a:pPr marL="285750" lvl="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Entity Framework is an open-source ORM framework for .NET applications supported by Microsoft. It enables developers to work with data using objects of domain specific classes without focusing on the underlying database tables and columns where this data is stored.</a:t>
            </a:r>
          </a:p>
          <a:p>
            <a:pPr marL="285750" lvl="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With the Entity Framework, developers can work at a higher level of abstraction when they deal with data, and can create and maintain data-oriented applications with less code compared with traditional applications.</a:t>
            </a:r>
            <a:r>
              <a:rPr lang="en-US" b="1" dirty="0">
                <a:latin typeface="Lato" panose="020B0604020202020204" charset="0"/>
              </a:rPr>
              <a:t>	</a:t>
            </a:r>
          </a:p>
        </p:txBody>
      </p:sp>
    </p:spTree>
    <p:extLst>
      <p:ext uri="{BB962C8B-B14F-4D97-AF65-F5344CB8AC3E}">
        <p14:creationId xmlns:p14="http://schemas.microsoft.com/office/powerpoint/2010/main" val="126370274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 Features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410878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Cross-platform:</a:t>
            </a:r>
            <a:r>
              <a:rPr lang="en-US" sz="1200" dirty="0">
                <a:latin typeface="Lato" panose="020B0604020202020204" charset="0"/>
              </a:rPr>
              <a:t> EF Core is a cross-platform framework which can run on Windows, Linux and Mac.</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Modelling:</a:t>
            </a:r>
            <a:r>
              <a:rPr lang="en-US" sz="1200" dirty="0">
                <a:latin typeface="Lato" panose="020B0604020202020204" charset="0"/>
              </a:rPr>
              <a:t> EF (Entity Framework) creates an EDM (Entity Data Model) based on POCO (Plain Old CLR Object) entities with get/set properties of different data types. It uses this model when querying or saving entity data to the underlying database.</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Querying:</a:t>
            </a:r>
            <a:r>
              <a:rPr lang="en-US" sz="1200" dirty="0">
                <a:latin typeface="Lato" panose="020B0604020202020204" charset="0"/>
              </a:rPr>
              <a:t> EF allows us to use LINQ queries (C#/VB.NET) to retrieve data from the underlying database. The database provider will translate this LINQ queries to the database-specific query language (e.g. SQL for a relational database). EF also allows us to execute raw SQL queries directly to the database.</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Change Tracking: </a:t>
            </a:r>
            <a:r>
              <a:rPr lang="en-US" sz="1200" dirty="0">
                <a:latin typeface="Lato" panose="020B0604020202020204" charset="0"/>
              </a:rPr>
              <a:t>EF keeps track of changes occurred to instances of your entities (Property values) which need to be submitted to the database.</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Saving:</a:t>
            </a:r>
            <a:r>
              <a:rPr lang="en-US" sz="1200" dirty="0">
                <a:latin typeface="Lato" panose="020B0604020202020204" charset="0"/>
              </a:rPr>
              <a:t> EF executes INSERT, UPDATE, and DELETE commands to the database based on the changes occurred to your entities when you call the </a:t>
            </a:r>
            <a:r>
              <a:rPr lang="en-US" sz="1200" dirty="0" err="1">
                <a:latin typeface="Lato" panose="020B0604020202020204" charset="0"/>
              </a:rPr>
              <a:t>SaveChanges</a:t>
            </a:r>
            <a:r>
              <a:rPr lang="en-US" sz="1200" dirty="0">
                <a:latin typeface="Lato" panose="020B0604020202020204" charset="0"/>
              </a:rPr>
              <a:t>() method. EF also provides the asynchronous </a:t>
            </a:r>
            <a:r>
              <a:rPr lang="en-US" sz="1200" dirty="0" err="1">
                <a:latin typeface="Lato" panose="020B0604020202020204" charset="0"/>
              </a:rPr>
              <a:t>SaveChangesAsync</a:t>
            </a:r>
            <a:r>
              <a:rPr lang="en-US" sz="1200" dirty="0">
                <a:latin typeface="Lato" panose="020B0604020202020204" charset="0"/>
              </a:rPr>
              <a:t>() method.</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Concurrency: </a:t>
            </a:r>
            <a:r>
              <a:rPr lang="en-US" sz="1200" dirty="0">
                <a:latin typeface="Lato" panose="020B0604020202020204" charset="0"/>
              </a:rPr>
              <a:t>EF uses Optimistic Concurrency by default to protect overwriting changes made by another user since data was fetched from the database</a:t>
            </a:r>
          </a:p>
          <a:p>
            <a:pPr marL="285750" lvl="0" indent="-285750">
              <a:lnSpc>
                <a:spcPct val="150000"/>
              </a:lnSpc>
              <a:buClr>
                <a:schemeClr val="accent4">
                  <a:lumMod val="75000"/>
                </a:schemeClr>
              </a:buClr>
              <a:buSzPct val="80000"/>
              <a:buFont typeface="Lato" panose="020B0604020202020204" charset="0"/>
              <a:buChar char="►"/>
            </a:pPr>
            <a:endParaRPr lang="en-US" sz="1200" dirty="0">
              <a:latin typeface="Lato" panose="020B0604020202020204" charset="0"/>
            </a:endParaRP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392126082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 Features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3739455"/>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Transactions: </a:t>
            </a:r>
            <a:r>
              <a:rPr lang="en-US" dirty="0">
                <a:latin typeface="Lato" panose="020B0604020202020204" charset="0"/>
              </a:rPr>
              <a:t>EF performs automatic transaction management while querying or saving data. It also provides options to customize transaction management.</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Caching</a:t>
            </a:r>
            <a:r>
              <a:rPr lang="en-US" dirty="0">
                <a:latin typeface="Lato" panose="020B0604020202020204" charset="0"/>
              </a:rPr>
              <a:t>: EF includes first level of caching out of the box. So, repeated querying will return data from the cache instead of hitting the database.</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Built-in Conventions</a:t>
            </a:r>
            <a:r>
              <a:rPr lang="en-US" dirty="0">
                <a:latin typeface="Lato" panose="020B0604020202020204" charset="0"/>
              </a:rPr>
              <a:t>: EF follows conventions over the configuration programming pattern, and includes a set of default rules which automatically configure the EF model.</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Configurations: </a:t>
            </a:r>
            <a:r>
              <a:rPr lang="en-US" dirty="0">
                <a:latin typeface="Lato" panose="020B0604020202020204" charset="0"/>
              </a:rPr>
              <a:t>EF allows us to configure the EF model by using data annotation attributes or Fluent API to override default conventions.</a:t>
            </a:r>
          </a:p>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Migrations: </a:t>
            </a:r>
            <a:r>
              <a:rPr lang="en-US" dirty="0">
                <a:latin typeface="Lato" panose="020B0604020202020204" charset="0"/>
              </a:rPr>
              <a:t>EF provides a set of migration commands that can be executed on the </a:t>
            </a:r>
            <a:r>
              <a:rPr lang="en-US" dirty="0" err="1">
                <a:latin typeface="Lato" panose="020B0604020202020204" charset="0"/>
              </a:rPr>
              <a:t>NuGet</a:t>
            </a:r>
            <a:r>
              <a:rPr lang="en-US" dirty="0">
                <a:latin typeface="Lato" panose="020B0604020202020204" charset="0"/>
              </a:rPr>
              <a:t> Package Manager Console or the Command Line Interface to create or manage underlying database Schema.</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spTree>
    <p:extLst>
      <p:ext uri="{BB962C8B-B14F-4D97-AF65-F5344CB8AC3E}">
        <p14:creationId xmlns:p14="http://schemas.microsoft.com/office/powerpoint/2010/main" val="416540756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 Architecture</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0" y="3679050"/>
            <a:ext cx="8800634" cy="1477297"/>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b="1" dirty="0">
                <a:latin typeface="Lato" panose="020B0604020202020204" charset="0"/>
              </a:rPr>
              <a:t>EDM (Entity Data Model): </a:t>
            </a:r>
            <a:r>
              <a:rPr lang="en-US" dirty="0">
                <a:latin typeface="Lato" panose="020B0604020202020204" charset="0"/>
              </a:rPr>
              <a:t>EDM consists of three main parts - Conceptual model, Mapping and Storage model.</a:t>
            </a:r>
          </a:p>
          <a:p>
            <a:pPr marL="285750" lvl="0" indent="-285750">
              <a:lnSpc>
                <a:spcPct val="150000"/>
              </a:lnSpc>
              <a:buClr>
                <a:schemeClr val="accent4">
                  <a:lumMod val="75000"/>
                </a:schemeClr>
              </a:buClr>
              <a:buSzPct val="80000"/>
              <a:buFont typeface="Lato" panose="020B0604020202020204" charset="0"/>
              <a:buChar char="►"/>
            </a:pPr>
            <a:endParaRPr lang="en-US" dirty="0">
              <a:latin typeface="Lato" panose="020B0604020202020204" charset="0"/>
            </a:endParaRP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pic>
        <p:nvPicPr>
          <p:cNvPr id="8" name="Google Shape;148;p21"/>
          <p:cNvPicPr preferRelativeResize="0"/>
          <p:nvPr/>
        </p:nvPicPr>
        <p:blipFill>
          <a:blip r:embed="rId5">
            <a:alphaModFix/>
          </a:blip>
          <a:stretch>
            <a:fillRect/>
          </a:stretch>
        </p:blipFill>
        <p:spPr>
          <a:xfrm>
            <a:off x="1267786" y="798633"/>
            <a:ext cx="6026728" cy="2667000"/>
          </a:xfrm>
          <a:prstGeom prst="rect">
            <a:avLst/>
          </a:prstGeom>
          <a:noFill/>
          <a:ln>
            <a:noFill/>
          </a:ln>
        </p:spPr>
      </p:pic>
    </p:spTree>
    <p:extLst>
      <p:ext uri="{BB962C8B-B14F-4D97-AF65-F5344CB8AC3E}">
        <p14:creationId xmlns:p14="http://schemas.microsoft.com/office/powerpoint/2010/main" val="294203029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-Architecture</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3785621"/>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Conceptual Model: </a:t>
            </a:r>
            <a:r>
              <a:rPr lang="en-US" sz="1200" dirty="0">
                <a:latin typeface="Lato" panose="020B0604020202020204" charset="0"/>
              </a:rPr>
              <a:t>The conceptual model contains the model classes and their relationships. This will be independent from your database table design.</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Storage Model: </a:t>
            </a:r>
            <a:r>
              <a:rPr lang="en-US" sz="1200" dirty="0">
                <a:latin typeface="Lato" panose="020B0604020202020204" charset="0"/>
              </a:rPr>
              <a:t>The storage model is the database design model which includes tables, views, stored procedures, and their relationships and keys.</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Mapping</a:t>
            </a:r>
            <a:r>
              <a:rPr lang="en-US" sz="1200" dirty="0">
                <a:latin typeface="Lato" panose="020B0604020202020204" charset="0"/>
              </a:rPr>
              <a:t>: Mapping consists of information about how the conceptual model is mapped to the storage model.</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LINQ to Entities: </a:t>
            </a:r>
            <a:r>
              <a:rPr lang="en-US" sz="1200" dirty="0">
                <a:latin typeface="Lato" panose="020B0604020202020204" charset="0"/>
              </a:rPr>
              <a:t>LINQ-to-Entities (L2E) is a query language used to write queries against the object model. It returns entities, which are defined in the conceptual model. You can use your LINQ skills here.</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Entity SQL: </a:t>
            </a:r>
            <a:r>
              <a:rPr lang="en-US" sz="1200" dirty="0">
                <a:latin typeface="Lato" panose="020B0604020202020204" charset="0"/>
              </a:rPr>
              <a:t>Entity SQL is another query language (For EF 6 only) just like LINQ to Entities. However, it is a little more difficult than L2E and the developer will have to learn it separately.</a:t>
            </a: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Object Service: </a:t>
            </a:r>
            <a:r>
              <a:rPr lang="en-US" sz="1200" dirty="0">
                <a:latin typeface="Lato" panose="020B0604020202020204" charset="0"/>
              </a:rPr>
              <a:t>Object service is a main entry point for accessing data from the database and returning it back. Object service is responsible for materialization, which is the process of converting data returned from an entity client data provider (next layer) to an entity object structure.</a:t>
            </a:r>
          </a:p>
          <a:p>
            <a:pPr marL="285750" lvl="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64107248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-Architecture</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1846629"/>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Entity Client Data Provider: </a:t>
            </a:r>
            <a:r>
              <a:rPr lang="en-US" sz="1200" dirty="0">
                <a:latin typeface="Lato" panose="020B0604020202020204" charset="0"/>
              </a:rPr>
              <a:t>The main responsibility of this layer is to convert LINQ-to-Entities or Entity SQL queries into a SQL query which is understood by the underlying database. It communicates with the </a:t>
            </a:r>
            <a:r>
              <a:rPr lang="en-US" sz="1200" dirty="0" err="1">
                <a:latin typeface="Lato" panose="020B0604020202020204" charset="0"/>
              </a:rPr>
              <a:t>ADO.Net</a:t>
            </a:r>
            <a:r>
              <a:rPr lang="en-US" sz="1200" dirty="0">
                <a:latin typeface="Lato" panose="020B0604020202020204" charset="0"/>
              </a:rPr>
              <a:t> data provider which in turn sends or retrieves data from the database.</a:t>
            </a:r>
          </a:p>
          <a:p>
            <a:pPr marL="285750" lvl="0" indent="-285750">
              <a:lnSpc>
                <a:spcPct val="150000"/>
              </a:lnSpc>
              <a:buClr>
                <a:schemeClr val="accent4">
                  <a:lumMod val="75000"/>
                </a:schemeClr>
              </a:buClr>
              <a:buSzPct val="80000"/>
              <a:buFont typeface="Lato" panose="020B0604020202020204" charset="0"/>
              <a:buChar char="►"/>
            </a:pPr>
            <a:r>
              <a:rPr lang="en-US" sz="1200" b="1" dirty="0" err="1">
                <a:latin typeface="Lato" panose="020B0604020202020204" charset="0"/>
              </a:rPr>
              <a:t>ADO.Net</a:t>
            </a:r>
            <a:r>
              <a:rPr lang="en-US" sz="1200" b="1" dirty="0">
                <a:latin typeface="Lato" panose="020B0604020202020204" charset="0"/>
              </a:rPr>
              <a:t> Data Provider: </a:t>
            </a:r>
            <a:r>
              <a:rPr lang="en-US" sz="1200" dirty="0">
                <a:latin typeface="Lato" panose="020B0604020202020204" charset="0"/>
              </a:rPr>
              <a:t>This layer communicates with the database using standard </a:t>
            </a:r>
            <a:r>
              <a:rPr lang="en-US" sz="1200" dirty="0" err="1">
                <a:latin typeface="Lato" panose="020B0604020202020204" charset="0"/>
              </a:rPr>
              <a:t>ADO.Net</a:t>
            </a:r>
            <a:r>
              <a:rPr lang="en-US" sz="1200" dirty="0">
                <a:latin typeface="Lato" panose="020B0604020202020204" charset="0"/>
              </a:rPr>
              <a:t>.</a:t>
            </a:r>
          </a:p>
          <a:p>
            <a:pPr marL="285750" lvl="0" indent="-285750">
              <a:lnSpc>
                <a:spcPct val="150000"/>
              </a:lnSpc>
              <a:buClr>
                <a:schemeClr val="accent4">
                  <a:lumMod val="75000"/>
                </a:schemeClr>
              </a:buClr>
              <a:buSzPct val="80000"/>
              <a:buFont typeface="Lato" panose="020B0604020202020204" charset="0"/>
              <a:buChar char="►"/>
            </a:pPr>
            <a:endParaRPr lang="en-US" sz="1200" dirty="0">
              <a:latin typeface="Lato" panose="020B0604020202020204" charset="0"/>
            </a:endParaRPr>
          </a:p>
          <a:p>
            <a:pPr marL="285750" lvl="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279286850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996901" y="0"/>
            <a:ext cx="7459579" cy="585216"/>
          </a:xfrm>
          <a:prstGeom prst="rect">
            <a:avLst/>
          </a:prstGeom>
          <a:noFill/>
          <a:ln>
            <a:noFill/>
          </a:ln>
        </p:spPr>
      </p:pic>
      <p:sp>
        <p:nvSpPr>
          <p:cNvPr id="75" name="Google Shape;75;p17"/>
          <p:cNvSpPr txBox="1"/>
          <p:nvPr/>
        </p:nvSpPr>
        <p:spPr>
          <a:xfrm>
            <a:off x="1560667" y="13425"/>
            <a:ext cx="5747073" cy="492412"/>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Diff. EF Core and EF 6</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83297" y="618116"/>
            <a:ext cx="8724434" cy="2446793"/>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br>
              <a:rPr lang="en-US" b="1" dirty="0">
                <a:solidFill>
                  <a:srgbClr val="222222"/>
                </a:solidFill>
                <a:latin typeface="Lato"/>
                <a:ea typeface="Lato"/>
                <a:cs typeface="Lato"/>
                <a:sym typeface="Lato"/>
              </a:rPr>
            </a:br>
            <a:endParaRPr lang="en-US" b="1" dirty="0">
              <a:solidFill>
                <a:srgbClr val="222222"/>
              </a:solidFill>
              <a:latin typeface="Lato"/>
              <a:ea typeface="Lato"/>
              <a:cs typeface="Lato"/>
              <a:sym typeface="Lato"/>
            </a:endParaRPr>
          </a:p>
          <a:p>
            <a:pPr marL="285750" indent="-285750">
              <a:lnSpc>
                <a:spcPct val="150000"/>
              </a:lnSpc>
              <a:buClr>
                <a:schemeClr val="accent4">
                  <a:lumMod val="75000"/>
                </a:schemeClr>
              </a:buClr>
              <a:buSzPct val="80000"/>
              <a:buFont typeface="Lato" panose="020B0604020202020204" charset="0"/>
              <a:buChar char="►"/>
            </a:pPr>
            <a:endParaRPr lang="en-US" b="1" dirty="0">
              <a:solidFill>
                <a:srgbClr val="222222"/>
              </a:solidFill>
              <a:latin typeface="Lato"/>
              <a:ea typeface="Lato"/>
              <a:cs typeface="Lato"/>
              <a:sym typeface="Lato"/>
            </a:endParaRPr>
          </a:p>
          <a:p>
            <a:pPr lvl="0">
              <a:lnSpc>
                <a:spcPct val="150000"/>
              </a:lnSpc>
              <a:buClr>
                <a:schemeClr val="accent4">
                  <a:lumMod val="75000"/>
                </a:schemeClr>
              </a:buClr>
              <a:buSzPct val="80000"/>
            </a:pPr>
            <a:br>
              <a:rPr lang="en-US" dirty="0">
                <a:latin typeface="Lato" panose="020B0604020202020204" charset="0"/>
              </a:rPr>
            </a:br>
            <a:br>
              <a:rPr lang="en-US" dirty="0">
                <a:latin typeface="Lato" panose="020B0604020202020204" charset="0"/>
              </a:rPr>
            </a:br>
            <a:r>
              <a:rPr lang="en-US"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b="1" dirty="0">
              <a:latin typeface="Lato" panose="020B060402020202020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931099034"/>
              </p:ext>
            </p:extLst>
          </p:nvPr>
        </p:nvGraphicFramePr>
        <p:xfrm>
          <a:off x="515909" y="733514"/>
          <a:ext cx="8345218" cy="2345032"/>
        </p:xfrm>
        <a:graphic>
          <a:graphicData uri="http://schemas.openxmlformats.org/drawingml/2006/table">
            <a:tbl>
              <a:tblPr firstRow="1" bandRow="1">
                <a:tableStyleId>{5C22544A-7EE6-4342-B048-85BDC9FD1C3A}</a:tableStyleId>
              </a:tblPr>
              <a:tblGrid>
                <a:gridCol w="4172609">
                  <a:extLst>
                    <a:ext uri="{9D8B030D-6E8A-4147-A177-3AD203B41FA5}">
                      <a16:colId xmlns:a16="http://schemas.microsoft.com/office/drawing/2014/main" val="116378460"/>
                    </a:ext>
                  </a:extLst>
                </a:gridCol>
                <a:gridCol w="4172609">
                  <a:extLst>
                    <a:ext uri="{9D8B030D-6E8A-4147-A177-3AD203B41FA5}">
                      <a16:colId xmlns:a16="http://schemas.microsoft.com/office/drawing/2014/main" val="2719973194"/>
                    </a:ext>
                  </a:extLst>
                </a:gridCol>
              </a:tblGrid>
              <a:tr h="310963">
                <a:tc>
                  <a:txBody>
                    <a:bodyPr/>
                    <a:lstStyle/>
                    <a:p>
                      <a:pPr algn="ctr"/>
                      <a:r>
                        <a:rPr lang="en-US" dirty="0">
                          <a:latin typeface="Lato" panose="020B0604020202020204" charset="0"/>
                        </a:rPr>
                        <a:t>EF</a:t>
                      </a:r>
                      <a:r>
                        <a:rPr lang="en-US" baseline="0" dirty="0">
                          <a:latin typeface="Lato" panose="020B0604020202020204" charset="0"/>
                        </a:rPr>
                        <a:t> Core</a:t>
                      </a:r>
                      <a:endParaRPr lang="en-US" dirty="0">
                        <a:latin typeface="Lato" panose="020B0604020202020204" charset="0"/>
                      </a:endParaRPr>
                    </a:p>
                  </a:txBody>
                  <a:tcPr/>
                </a:tc>
                <a:tc>
                  <a:txBody>
                    <a:bodyPr/>
                    <a:lstStyle/>
                    <a:p>
                      <a:pPr algn="ctr"/>
                      <a:r>
                        <a:rPr lang="en-US" dirty="0">
                          <a:latin typeface="Lato" panose="020B0604020202020204" charset="0"/>
                        </a:rPr>
                        <a:t>EF</a:t>
                      </a:r>
                      <a:r>
                        <a:rPr lang="en-US" baseline="0" dirty="0">
                          <a:latin typeface="Lato" panose="020B0604020202020204" charset="0"/>
                        </a:rPr>
                        <a:t> 6</a:t>
                      </a:r>
                      <a:endParaRPr lang="en-US" dirty="0">
                        <a:latin typeface="Lato" panose="020B0604020202020204" charset="0"/>
                      </a:endParaRPr>
                    </a:p>
                  </a:txBody>
                  <a:tcPr/>
                </a:tc>
                <a:extLst>
                  <a:ext uri="{0D108BD9-81ED-4DB2-BD59-A6C34878D82A}">
                    <a16:rowId xmlns:a16="http://schemas.microsoft.com/office/drawing/2014/main" val="1632854141"/>
                  </a:ext>
                </a:extLst>
              </a:tr>
              <a:tr h="482987">
                <a:tc>
                  <a:txBody>
                    <a:bodyPr/>
                    <a:lstStyle/>
                    <a:p>
                      <a:r>
                        <a:rPr lang="en-US" dirty="0">
                          <a:latin typeface="Lato" panose="020B0604020202020204" charset="0"/>
                        </a:rPr>
                        <a:t>It</a:t>
                      </a:r>
                      <a:r>
                        <a:rPr lang="en-US" baseline="0" dirty="0">
                          <a:latin typeface="Lato" panose="020B0604020202020204" charset="0"/>
                        </a:rPr>
                        <a:t> is cross platform.</a:t>
                      </a:r>
                      <a:endParaRPr lang="en-US" dirty="0">
                        <a:latin typeface="Lato" panose="020B0604020202020204" charset="0"/>
                      </a:endParaRPr>
                    </a:p>
                  </a:txBody>
                  <a:tcPr/>
                </a:tc>
                <a:tc>
                  <a:txBody>
                    <a:bodyPr/>
                    <a:lstStyle/>
                    <a:p>
                      <a:r>
                        <a:rPr lang="en-US" dirty="0">
                          <a:latin typeface="Lato" panose="020B0604020202020204" charset="0"/>
                        </a:rPr>
                        <a:t>It</a:t>
                      </a:r>
                      <a:r>
                        <a:rPr lang="en-US" baseline="0" dirty="0">
                          <a:latin typeface="Lato" panose="020B0604020202020204" charset="0"/>
                        </a:rPr>
                        <a:t> is for windows only</a:t>
                      </a:r>
                      <a:endParaRPr lang="en-US" dirty="0">
                        <a:latin typeface="Lato" panose="020B0604020202020204" charset="0"/>
                      </a:endParaRPr>
                    </a:p>
                  </a:txBody>
                  <a:tcPr/>
                </a:tc>
                <a:extLst>
                  <a:ext uri="{0D108BD9-81ED-4DB2-BD59-A6C34878D82A}">
                    <a16:rowId xmlns:a16="http://schemas.microsoft.com/office/drawing/2014/main" val="4188088602"/>
                  </a:ext>
                </a:extLst>
              </a:tr>
              <a:tr h="394854">
                <a:tc>
                  <a:txBody>
                    <a:bodyPr/>
                    <a:lstStyle/>
                    <a:p>
                      <a:r>
                        <a:rPr lang="en-US" sz="1400" b="0" i="0" u="none" strike="noStrike" cap="none" dirty="0">
                          <a:solidFill>
                            <a:schemeClr val="dk1"/>
                          </a:solidFill>
                          <a:effectLst/>
                          <a:latin typeface="+mn-lt"/>
                          <a:ea typeface="+mn-ea"/>
                          <a:cs typeface="+mn-cs"/>
                          <a:sym typeface="Arial"/>
                        </a:rPr>
                        <a:t>Designed for .NET Framework.</a:t>
                      </a:r>
                      <a:endParaRPr lang="en-US" dirty="0">
                        <a:latin typeface="Lato" panose="020B0604020202020204" charset="0"/>
                      </a:endParaRPr>
                    </a:p>
                  </a:txBody>
                  <a:tcPr/>
                </a:tc>
                <a:tc>
                  <a:txBody>
                    <a:bodyPr/>
                    <a:lstStyle/>
                    <a:p>
                      <a:r>
                        <a:rPr lang="en-US" sz="1400" b="0" i="0" u="none" strike="noStrike" cap="none" dirty="0">
                          <a:solidFill>
                            <a:schemeClr val="dk1"/>
                          </a:solidFill>
                          <a:effectLst/>
                          <a:latin typeface="+mn-lt"/>
                          <a:ea typeface="+mn-ea"/>
                          <a:cs typeface="+mn-cs"/>
                          <a:sym typeface="Arial"/>
                        </a:rPr>
                        <a:t>Designed for .NET Core.</a:t>
                      </a:r>
                      <a:endParaRPr lang="en-US" dirty="0">
                        <a:latin typeface="Lato" panose="020B0604020202020204" charset="0"/>
                      </a:endParaRPr>
                    </a:p>
                  </a:txBody>
                  <a:tcPr/>
                </a:tc>
                <a:extLst>
                  <a:ext uri="{0D108BD9-81ED-4DB2-BD59-A6C34878D82A}">
                    <a16:rowId xmlns:a16="http://schemas.microsoft.com/office/drawing/2014/main" val="1630518562"/>
                  </a:ext>
                </a:extLst>
              </a:tr>
              <a:tr h="276723">
                <a:tc>
                  <a:txBody>
                    <a:bodyPr/>
                    <a:lstStyle/>
                    <a:p>
                      <a:r>
                        <a:rPr lang="en-US" dirty="0">
                          <a:latin typeface="Lato" panose="020B0604020202020204" charset="0"/>
                        </a:rPr>
                        <a:t>Optimized</a:t>
                      </a:r>
                      <a:r>
                        <a:rPr lang="en-US" baseline="0" dirty="0">
                          <a:latin typeface="Lato" panose="020B0604020202020204" charset="0"/>
                        </a:rPr>
                        <a:t> for performance.</a:t>
                      </a:r>
                      <a:endParaRPr lang="en-US" dirty="0">
                        <a:latin typeface="Lato" panose="020B0604020202020204" charset="0"/>
                      </a:endParaRPr>
                    </a:p>
                  </a:txBody>
                  <a:tcPr/>
                </a:tc>
                <a:tc>
                  <a:txBody>
                    <a:bodyPr/>
                    <a:lstStyle/>
                    <a:p>
                      <a:r>
                        <a:rPr lang="en-US" dirty="0">
                          <a:latin typeface="Lato" panose="020B0604020202020204" charset="0"/>
                        </a:rPr>
                        <a:t>Less</a:t>
                      </a:r>
                      <a:r>
                        <a:rPr lang="en-US" baseline="0" dirty="0">
                          <a:latin typeface="Lato" panose="020B0604020202020204" charset="0"/>
                        </a:rPr>
                        <a:t> Optimized.</a:t>
                      </a:r>
                      <a:endParaRPr lang="en-US" dirty="0">
                        <a:latin typeface="Lato" panose="020B0604020202020204" charset="0"/>
                      </a:endParaRPr>
                    </a:p>
                  </a:txBody>
                  <a:tcPr/>
                </a:tc>
                <a:extLst>
                  <a:ext uri="{0D108BD9-81ED-4DB2-BD59-A6C34878D82A}">
                    <a16:rowId xmlns:a16="http://schemas.microsoft.com/office/drawing/2014/main" val="1032554291"/>
                  </a:ext>
                </a:extLst>
              </a:tr>
              <a:tr h="381000">
                <a:tc>
                  <a:txBody>
                    <a:bodyPr/>
                    <a:lstStyle/>
                    <a:p>
                      <a:r>
                        <a:rPr lang="en-US" dirty="0">
                          <a:latin typeface="Lato" panose="020B0604020202020204" charset="0"/>
                        </a:rPr>
                        <a:t>Regular</a:t>
                      </a:r>
                      <a:r>
                        <a:rPr lang="en-US" baseline="0" dirty="0">
                          <a:latin typeface="Lato" panose="020B0604020202020204" charset="0"/>
                        </a:rPr>
                        <a:t> updates with new features</a:t>
                      </a:r>
                      <a:endParaRPr lang="en-US" dirty="0">
                        <a:latin typeface="Lato" panose="020B0604020202020204" charset="0"/>
                      </a:endParaRPr>
                    </a:p>
                  </a:txBody>
                  <a:tcPr/>
                </a:tc>
                <a:tc>
                  <a:txBody>
                    <a:bodyPr/>
                    <a:lstStyle/>
                    <a:p>
                      <a:r>
                        <a:rPr lang="en-US" dirty="0">
                          <a:latin typeface="Lato" panose="020B0604020202020204" charset="0"/>
                        </a:rPr>
                        <a:t>Limited</a:t>
                      </a:r>
                      <a:r>
                        <a:rPr lang="en-US" baseline="0" dirty="0">
                          <a:latin typeface="Lato" panose="020B0604020202020204" charset="0"/>
                        </a:rPr>
                        <a:t> updates.</a:t>
                      </a:r>
                      <a:endParaRPr lang="en-US" dirty="0">
                        <a:latin typeface="Lato" panose="020B0604020202020204" charset="0"/>
                      </a:endParaRPr>
                    </a:p>
                  </a:txBody>
                  <a:tcPr/>
                </a:tc>
                <a:extLst>
                  <a:ext uri="{0D108BD9-81ED-4DB2-BD59-A6C34878D82A}">
                    <a16:rowId xmlns:a16="http://schemas.microsoft.com/office/drawing/2014/main" val="563659421"/>
                  </a:ext>
                </a:extLst>
              </a:tr>
              <a:tr h="470428">
                <a:tc>
                  <a:txBody>
                    <a:bodyPr/>
                    <a:lstStyle/>
                    <a:p>
                      <a:r>
                        <a:rPr lang="en-US" dirty="0">
                          <a:latin typeface="Lato" panose="020B0604020202020204" charset="0"/>
                        </a:rPr>
                        <a:t>Supports</a:t>
                      </a:r>
                      <a:r>
                        <a:rPr lang="en-US" baseline="0" dirty="0">
                          <a:latin typeface="Lato" panose="020B0604020202020204" charset="0"/>
                        </a:rPr>
                        <a:t> command batching.</a:t>
                      </a:r>
                      <a:endParaRPr lang="en-US" dirty="0">
                        <a:latin typeface="Lato" panose="020B0604020202020204" charset="0"/>
                      </a:endParaRPr>
                    </a:p>
                  </a:txBody>
                  <a:tcPr/>
                </a:tc>
                <a:tc>
                  <a:txBody>
                    <a:bodyPr/>
                    <a:lstStyle/>
                    <a:p>
                      <a:r>
                        <a:rPr lang="en-US" dirty="0">
                          <a:latin typeface="Lato" panose="020B0604020202020204" charset="0"/>
                        </a:rPr>
                        <a:t>Does</a:t>
                      </a:r>
                      <a:r>
                        <a:rPr lang="en-US" baseline="0" dirty="0">
                          <a:latin typeface="Lato" panose="020B0604020202020204" charset="0"/>
                        </a:rPr>
                        <a:t> not support command batching.</a:t>
                      </a:r>
                      <a:endParaRPr lang="en-US" dirty="0">
                        <a:latin typeface="Lato" panose="020B0604020202020204" charset="0"/>
                      </a:endParaRPr>
                    </a:p>
                  </a:txBody>
                  <a:tcPr/>
                </a:tc>
                <a:extLst>
                  <a:ext uri="{0D108BD9-81ED-4DB2-BD59-A6C34878D82A}">
                    <a16:rowId xmlns:a16="http://schemas.microsoft.com/office/drawing/2014/main" val="3175789470"/>
                  </a:ext>
                </a:extLst>
              </a:tr>
            </a:tbl>
          </a:graphicData>
        </a:graphic>
      </p:graphicFrame>
    </p:spTree>
    <p:extLst>
      <p:ext uri="{BB962C8B-B14F-4D97-AF65-F5344CB8AC3E}">
        <p14:creationId xmlns:p14="http://schemas.microsoft.com/office/powerpoint/2010/main" val="367923333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Core Installation</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343366" y="971483"/>
            <a:ext cx="8800634" cy="2677626"/>
          </a:xfrm>
          <a:prstGeom prst="rect">
            <a:avLst/>
          </a:prstGeom>
          <a:noFill/>
          <a:ln>
            <a:noFill/>
          </a:ln>
        </p:spPr>
        <p:txBody>
          <a:bodyPr spcFirstLastPara="1" wrap="square" lIns="91425" tIns="91425" rIns="91425" bIns="91425" anchor="t" anchorCtr="0">
            <a:spAutoFit/>
          </a:bodyPr>
          <a:lstStyle/>
          <a:p>
            <a:pPr lvl="0">
              <a:lnSpc>
                <a:spcPct val="150000"/>
              </a:lnSpc>
              <a:buClr>
                <a:schemeClr val="accent4">
                  <a:lumMod val="75000"/>
                </a:schemeClr>
              </a:buClr>
              <a:buSzPct val="80000"/>
            </a:pPr>
            <a:r>
              <a:rPr lang="en-US" sz="1200" b="1" dirty="0">
                <a:latin typeface="Lato" panose="020B0604020202020204" charset="0"/>
              </a:rPr>
              <a:t>Package required :</a:t>
            </a:r>
            <a:endParaRPr lang="en-US" sz="1200" dirty="0">
              <a:latin typeface="Lato" panose="020B0604020202020204" charset="0"/>
            </a:endParaRPr>
          </a:p>
          <a:p>
            <a:pPr marL="285750" lvl="0" indent="-285750">
              <a:lnSpc>
                <a:spcPct val="150000"/>
              </a:lnSpc>
              <a:buClr>
                <a:schemeClr val="accent4">
                  <a:lumMod val="75000"/>
                </a:schemeClr>
              </a:buClr>
              <a:buSzPct val="80000"/>
              <a:buFont typeface="Lato" panose="020B0604020202020204" charset="0"/>
              <a:buChar char="►"/>
            </a:pPr>
            <a:r>
              <a:rPr lang="en-US" sz="1200" b="1" dirty="0" err="1">
                <a:latin typeface="Lato" panose="020B0604020202020204" charset="0"/>
              </a:rPr>
              <a:t>Microsoft.EntityFrameworkCore.Tools</a:t>
            </a:r>
            <a:br>
              <a:rPr lang="en-US" sz="1200" dirty="0">
                <a:latin typeface="Lato" panose="020B0604020202020204" charset="0"/>
              </a:rPr>
            </a:br>
            <a:r>
              <a:rPr lang="en-US" sz="1200" dirty="0">
                <a:latin typeface="Lato" panose="020B0604020202020204" charset="0"/>
              </a:rPr>
              <a:t>The Entity Framework Core tools help with design-time development tasks. They're primarily used to manage Migrations and to scaffold a </a:t>
            </a:r>
            <a:r>
              <a:rPr lang="en-US" sz="1200" dirty="0" err="1">
                <a:latin typeface="Lato" panose="020B0604020202020204" charset="0"/>
              </a:rPr>
              <a:t>DbContext</a:t>
            </a:r>
            <a:r>
              <a:rPr lang="en-US" sz="1200" dirty="0">
                <a:latin typeface="Lato" panose="020B0604020202020204" charset="0"/>
              </a:rPr>
              <a:t> and entity types by reverse engineering the schema of a database.</a:t>
            </a:r>
          </a:p>
          <a:p>
            <a:pPr marL="285750" lvl="0" indent="-285750">
              <a:lnSpc>
                <a:spcPct val="150000"/>
              </a:lnSpc>
              <a:buClr>
                <a:schemeClr val="accent4">
                  <a:lumMod val="75000"/>
                </a:schemeClr>
              </a:buClr>
              <a:buSzPct val="80000"/>
              <a:buFont typeface="Lato" panose="020B0604020202020204" charset="0"/>
              <a:buChar char="►"/>
            </a:pPr>
            <a:r>
              <a:rPr lang="en-US" sz="1200" b="1" dirty="0" err="1">
                <a:latin typeface="Lato" panose="020B0604020202020204" charset="0"/>
              </a:rPr>
              <a:t>Microsoft.EntityFrameworkCore.SqlServer</a:t>
            </a:r>
            <a:br>
              <a:rPr lang="en-US" sz="1200" b="1" dirty="0">
                <a:latin typeface="Lato" panose="020B0604020202020204" charset="0"/>
              </a:rPr>
            </a:br>
            <a:r>
              <a:rPr lang="en-US" sz="1200" dirty="0" err="1">
                <a:latin typeface="Lato" panose="020B0604020202020204" charset="0"/>
              </a:rPr>
              <a:t>Microsoft.EntityFrameworkCore.SqlServer</a:t>
            </a:r>
            <a:r>
              <a:rPr lang="en-US" sz="1200" dirty="0">
                <a:latin typeface="Lato" panose="020B0604020202020204" charset="0"/>
              </a:rPr>
              <a:t> is the EF Core database provider package for Microsoft SQL Server and Azure SQL.</a:t>
            </a:r>
          </a:p>
          <a:p>
            <a:pPr marL="285750" lvl="0" indent="-285750">
              <a:lnSpc>
                <a:spcPct val="150000"/>
              </a:lnSpc>
              <a:buClr>
                <a:schemeClr val="accent4">
                  <a:lumMod val="75000"/>
                </a:schemeClr>
              </a:buClr>
              <a:buSzPct val="80000"/>
              <a:buFont typeface="Lato" panose="020B0604020202020204" charset="0"/>
              <a:buChar char="►"/>
            </a:pPr>
            <a:endParaRPr lang="en-US" sz="1200" dirty="0">
              <a:latin typeface="Lato" panose="020B0604020202020204" charset="0"/>
            </a:endParaRPr>
          </a:p>
          <a:p>
            <a:pPr marL="285750" lvl="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114750283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Core Installation</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1569630"/>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r>
              <a:rPr lang="en-US" sz="1200" b="1" dirty="0" err="1">
                <a:latin typeface="Lato" panose="020B0604020202020204" charset="0"/>
              </a:rPr>
              <a:t>DbContext</a:t>
            </a:r>
            <a:r>
              <a:rPr lang="en-US" sz="1200" b="1" dirty="0">
                <a:latin typeface="Lato" panose="020B0604020202020204" charset="0"/>
              </a:rPr>
              <a:t> : </a:t>
            </a:r>
            <a:r>
              <a:rPr lang="en-US" sz="1200" dirty="0">
                <a:latin typeface="Lato" panose="020B0604020202020204" charset="0"/>
              </a:rPr>
              <a:t>The </a:t>
            </a:r>
            <a:r>
              <a:rPr lang="en-US" sz="1200" dirty="0" err="1">
                <a:latin typeface="Lato" panose="020B0604020202020204" charset="0"/>
              </a:rPr>
              <a:t>DbContext</a:t>
            </a:r>
            <a:r>
              <a:rPr lang="en-US" sz="1200" dirty="0">
                <a:latin typeface="Lato" panose="020B0604020202020204" charset="0"/>
              </a:rPr>
              <a:t> class is a core component of Entity Framework Core (EF Core) that acts as a bridge between your application’s domain (entities) classes and the underlying database. It manages database connections, performs CRUD (Create, Read, Update, Delete) operations, manages transactions, and tracks changes to entities. The </a:t>
            </a:r>
            <a:r>
              <a:rPr lang="en-US" sz="1200" dirty="0" err="1">
                <a:latin typeface="Lato" panose="020B0604020202020204" charset="0"/>
              </a:rPr>
              <a:t>DbContext</a:t>
            </a:r>
            <a:r>
              <a:rPr lang="en-US" sz="1200" dirty="0">
                <a:latin typeface="Lato" panose="020B0604020202020204" charset="0"/>
              </a:rPr>
              <a:t> class is responsible for interacting with the database using the configured database provider (e.g., SQL Server, SQLite, etc.).</a:t>
            </a:r>
          </a:p>
          <a:p>
            <a:pPr marL="285750" lvl="0" indent="-285750">
              <a:lnSpc>
                <a:spcPct val="150000"/>
              </a:lnSpc>
              <a:buClr>
                <a:schemeClr val="accent4">
                  <a:lumMod val="75000"/>
                </a:schemeClr>
              </a:buClr>
              <a:buSzPct val="80000"/>
              <a:buFont typeface="Lato" panose="020B0604020202020204" charset="0"/>
              <a:buChar char="►"/>
            </a:pPr>
            <a:r>
              <a:rPr lang="en-US" sz="1200" b="1" dirty="0" err="1">
                <a:latin typeface="Lato" panose="020B0604020202020204" charset="0"/>
              </a:rPr>
              <a:t>DbSet</a:t>
            </a:r>
            <a:r>
              <a:rPr lang="en-US" sz="1200" b="1" dirty="0">
                <a:latin typeface="Lato" panose="020B0604020202020204" charset="0"/>
              </a:rPr>
              <a:t>: </a:t>
            </a:r>
            <a:r>
              <a:rPr lang="en-US" sz="1200" dirty="0">
                <a:latin typeface="Lato" panose="020B0604020202020204" charset="0"/>
              </a:rPr>
              <a:t>The </a:t>
            </a:r>
            <a:r>
              <a:rPr lang="en-US" sz="1200" dirty="0" err="1">
                <a:latin typeface="Lato" panose="020B0604020202020204" charset="0"/>
                <a:hlinkClick r:id="rId5" tooltip="DBSet Class"/>
              </a:rPr>
              <a:t>DbSet</a:t>
            </a:r>
            <a:r>
              <a:rPr lang="en-US" sz="1200" dirty="0">
                <a:latin typeface="Lato" panose="020B0604020202020204" charset="0"/>
                <a:hlinkClick r:id="rId5" tooltip="DBSet Class"/>
              </a:rPr>
              <a:t>&lt;</a:t>
            </a:r>
            <a:r>
              <a:rPr lang="en-US" sz="1200" dirty="0" err="1">
                <a:latin typeface="Lato" panose="020B0604020202020204" charset="0"/>
                <a:hlinkClick r:id="rId5" tooltip="DBSet Class"/>
              </a:rPr>
              <a:t>TEntity</a:t>
            </a:r>
            <a:r>
              <a:rPr lang="en-US" sz="1200" dirty="0">
                <a:latin typeface="Lato" panose="020B0604020202020204" charset="0"/>
                <a:hlinkClick r:id="rId5" tooltip="DBSet Class"/>
              </a:rPr>
              <a:t>&gt;</a:t>
            </a:r>
            <a:r>
              <a:rPr lang="en-US" sz="1200" dirty="0">
                <a:latin typeface="Lato" panose="020B0604020202020204" charset="0"/>
              </a:rPr>
              <a:t> class represents an entity set that can be used for create, read, update, and delete operations.</a:t>
            </a:r>
            <a:endParaRPr lang="en-US" sz="1200" b="1" dirty="0">
              <a:latin typeface="Lato" panose="020B0604020202020204" charset="0"/>
            </a:endParaRPr>
          </a:p>
        </p:txBody>
      </p:sp>
    </p:spTree>
    <p:extLst>
      <p:ext uri="{BB962C8B-B14F-4D97-AF65-F5344CB8AC3E}">
        <p14:creationId xmlns:p14="http://schemas.microsoft.com/office/powerpoint/2010/main" val="262665542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Core Installation</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461635"/>
          </a:xfrm>
          <a:prstGeom prst="rect">
            <a:avLst/>
          </a:prstGeom>
          <a:noFill/>
          <a:ln>
            <a:noFill/>
          </a:ln>
        </p:spPr>
        <p:txBody>
          <a:bodyPr spcFirstLastPara="1" wrap="square" lIns="91425" tIns="91425" rIns="91425" bIns="91425" anchor="t" anchorCtr="0">
            <a:spAutoFit/>
          </a:bodyPr>
          <a:lstStyle/>
          <a:p>
            <a:pPr marL="285750" lvl="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379" y="618116"/>
            <a:ext cx="4748119" cy="4045536"/>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5647" y="649314"/>
            <a:ext cx="3978936" cy="1652687"/>
          </a:xfrm>
          <a:prstGeom prst="rect">
            <a:avLst/>
          </a:prstGeom>
        </p:spPr>
      </p:pic>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45647" y="2538806"/>
            <a:ext cx="3978936" cy="1737877"/>
          </a:xfrm>
          <a:prstGeom prst="rect">
            <a:avLst/>
          </a:prstGeom>
        </p:spPr>
      </p:pic>
    </p:spTree>
    <p:extLst>
      <p:ext uri="{BB962C8B-B14F-4D97-AF65-F5344CB8AC3E}">
        <p14:creationId xmlns:p14="http://schemas.microsoft.com/office/powerpoint/2010/main" val="877715715"/>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EF Core Migration</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2123628"/>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Create Migration: </a:t>
            </a:r>
            <a:br>
              <a:rPr lang="en-US" sz="1200" b="1" dirty="0">
                <a:latin typeface="Lato" panose="020B0604020202020204" charset="0"/>
              </a:rPr>
            </a:br>
            <a:r>
              <a:rPr lang="en-US" sz="1200" dirty="0">
                <a:latin typeface="Lato" panose="020B0604020202020204" charset="0"/>
              </a:rPr>
              <a:t>CMD or Bash :- </a:t>
            </a:r>
            <a:r>
              <a:rPr lang="en-US" sz="1200" b="1" dirty="0" err="1">
                <a:latin typeface="Lato" panose="020B0604020202020204" charset="0"/>
              </a:rPr>
              <a:t>dotnet</a:t>
            </a:r>
            <a:r>
              <a:rPr lang="en-US" sz="1200" b="1" dirty="0">
                <a:latin typeface="Lato" panose="020B0604020202020204" charset="0"/>
              </a:rPr>
              <a:t> </a:t>
            </a:r>
            <a:r>
              <a:rPr lang="en-US" sz="1200" b="1" dirty="0" err="1">
                <a:latin typeface="Lato" panose="020B0604020202020204" charset="0"/>
              </a:rPr>
              <a:t>ef</a:t>
            </a:r>
            <a:r>
              <a:rPr lang="en-US" sz="1200" b="1" dirty="0">
                <a:latin typeface="Lato" panose="020B0604020202020204" charset="0"/>
              </a:rPr>
              <a:t> migrations add migration-name</a:t>
            </a:r>
            <a:br>
              <a:rPr lang="en-US" sz="1200" b="1" dirty="0">
                <a:latin typeface="Lato" panose="020B0604020202020204" charset="0"/>
              </a:rPr>
            </a:br>
            <a:r>
              <a:rPr lang="en-US" sz="1200" dirty="0">
                <a:latin typeface="Lato" panose="020B0604020202020204" charset="0"/>
              </a:rPr>
              <a:t>Package Manager Console :- </a:t>
            </a:r>
            <a:r>
              <a:rPr lang="en-US" sz="1200" b="1" dirty="0">
                <a:latin typeface="Lato" panose="020B0604020202020204" charset="0"/>
              </a:rPr>
              <a:t>Add-Migration migration-name</a:t>
            </a:r>
            <a:r>
              <a:rPr lang="en-US" sz="1200" dirty="0">
                <a:latin typeface="Lato" panose="020B0604020202020204" charset="0"/>
              </a:rPr>
              <a:t> </a:t>
            </a:r>
          </a:p>
          <a:p>
            <a:pPr marL="285750" lvl="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a:p>
            <a:pPr marL="285750" lvl="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Update Database:</a:t>
            </a:r>
            <a:br>
              <a:rPr lang="en-US" sz="1200" b="1" dirty="0">
                <a:latin typeface="Lato" panose="020B0604020202020204" charset="0"/>
              </a:rPr>
            </a:br>
            <a:r>
              <a:rPr lang="en-US" sz="1200" dirty="0">
                <a:latin typeface="Lato" panose="020B0604020202020204" charset="0"/>
              </a:rPr>
              <a:t>CMD or Bash :- </a:t>
            </a:r>
            <a:r>
              <a:rPr lang="en-US" sz="1200" b="1" dirty="0" err="1">
                <a:latin typeface="Lato" panose="020B0604020202020204" charset="0"/>
              </a:rPr>
              <a:t>dotnet</a:t>
            </a:r>
            <a:r>
              <a:rPr lang="en-US" sz="1200" b="1" dirty="0">
                <a:latin typeface="Lato" panose="020B0604020202020204" charset="0"/>
              </a:rPr>
              <a:t> </a:t>
            </a:r>
            <a:r>
              <a:rPr lang="en-US" sz="1200" b="1" dirty="0" err="1">
                <a:latin typeface="Lato" panose="020B0604020202020204" charset="0"/>
              </a:rPr>
              <a:t>ef</a:t>
            </a:r>
            <a:r>
              <a:rPr lang="en-US" sz="1200" b="1" dirty="0">
                <a:latin typeface="Lato" panose="020B0604020202020204" charset="0"/>
              </a:rPr>
              <a:t> database update</a:t>
            </a:r>
            <a:br>
              <a:rPr lang="en-US" sz="1200" b="1" dirty="0">
                <a:latin typeface="Lato" panose="020B0604020202020204" charset="0"/>
              </a:rPr>
            </a:br>
            <a:r>
              <a:rPr lang="en-US" sz="1200" dirty="0">
                <a:latin typeface="Lato" panose="020B0604020202020204" charset="0"/>
              </a:rPr>
              <a:t>Package Manager Console :- </a:t>
            </a:r>
            <a:r>
              <a:rPr lang="en-US" sz="1200" b="1" dirty="0">
                <a:latin typeface="Lato" panose="020B0604020202020204" charset="0"/>
              </a:rPr>
              <a:t>Update-Database</a:t>
            </a:r>
          </a:p>
        </p:txBody>
      </p:sp>
    </p:spTree>
    <p:extLst>
      <p:ext uri="{BB962C8B-B14F-4D97-AF65-F5344CB8AC3E}">
        <p14:creationId xmlns:p14="http://schemas.microsoft.com/office/powerpoint/2010/main" val="157594076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31"/>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73" name="Google Shape;273;p3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74" name="Google Shape;274;p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75" name="Google Shape;275;p31"/>
          <p:cNvSpPr txBox="1"/>
          <p:nvPr/>
        </p:nvSpPr>
        <p:spPr>
          <a:xfrm>
            <a:off x="2432400" y="46325"/>
            <a:ext cx="42792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EF - Model DataAnnotations</a:t>
            </a:r>
            <a:endParaRPr sz="2000" b="1">
              <a:solidFill>
                <a:srgbClr val="FFFFFF"/>
              </a:solidFill>
              <a:latin typeface="Lato"/>
              <a:ea typeface="Lato"/>
              <a:cs typeface="Lato"/>
              <a:sym typeface="Lato"/>
            </a:endParaRPr>
          </a:p>
        </p:txBody>
      </p:sp>
      <p:sp>
        <p:nvSpPr>
          <p:cNvPr id="276" name="Google Shape;276;p31"/>
          <p:cNvSpPr txBox="1"/>
          <p:nvPr/>
        </p:nvSpPr>
        <p:spPr>
          <a:xfrm>
            <a:off x="1151838" y="629561"/>
            <a:ext cx="6950100" cy="369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Without DataAnnotations</a:t>
            </a:r>
            <a:endParaRPr sz="1200">
              <a:solidFill>
                <a:srgbClr val="181717"/>
              </a:solidFill>
              <a:highlight>
                <a:srgbClr val="FFFFFF"/>
              </a:highlight>
              <a:latin typeface="Lato"/>
              <a:ea typeface="Lato"/>
              <a:cs typeface="Lato"/>
              <a:sym typeface="Lato"/>
            </a:endParaRPr>
          </a:p>
        </p:txBody>
      </p:sp>
      <p:pic>
        <p:nvPicPr>
          <p:cNvPr id="277" name="Google Shape;277;p31"/>
          <p:cNvPicPr preferRelativeResize="0"/>
          <p:nvPr/>
        </p:nvPicPr>
        <p:blipFill rotWithShape="1">
          <a:blip r:embed="rId5">
            <a:alphaModFix/>
          </a:blip>
          <a:srcRect/>
          <a:stretch/>
        </p:blipFill>
        <p:spPr>
          <a:xfrm>
            <a:off x="1042055" y="753550"/>
            <a:ext cx="61722" cy="109728"/>
          </a:xfrm>
          <a:prstGeom prst="rect">
            <a:avLst/>
          </a:prstGeom>
          <a:noFill/>
          <a:ln>
            <a:noFill/>
          </a:ln>
        </p:spPr>
      </p:pic>
      <p:pic>
        <p:nvPicPr>
          <p:cNvPr id="278" name="Google Shape;278;p31"/>
          <p:cNvPicPr preferRelativeResize="0"/>
          <p:nvPr/>
        </p:nvPicPr>
        <p:blipFill rotWithShape="1">
          <a:blip r:embed="rId6">
            <a:alphaModFix/>
          </a:blip>
          <a:srcRect t="2997"/>
          <a:stretch/>
        </p:blipFill>
        <p:spPr>
          <a:xfrm>
            <a:off x="1224600" y="937075"/>
            <a:ext cx="2552700" cy="1294361"/>
          </a:xfrm>
          <a:prstGeom prst="rect">
            <a:avLst/>
          </a:prstGeom>
          <a:noFill/>
          <a:ln>
            <a:noFill/>
          </a:ln>
        </p:spPr>
      </p:pic>
      <p:pic>
        <p:nvPicPr>
          <p:cNvPr id="279" name="Google Shape;279;p31"/>
          <p:cNvPicPr preferRelativeResize="0"/>
          <p:nvPr/>
        </p:nvPicPr>
        <p:blipFill>
          <a:blip r:embed="rId7">
            <a:alphaModFix/>
          </a:blip>
          <a:stretch>
            <a:fillRect/>
          </a:stretch>
        </p:blipFill>
        <p:spPr>
          <a:xfrm>
            <a:off x="4993475" y="978152"/>
            <a:ext cx="2552700" cy="1066800"/>
          </a:xfrm>
          <a:prstGeom prst="rect">
            <a:avLst/>
          </a:prstGeom>
          <a:noFill/>
          <a:ln>
            <a:noFill/>
          </a:ln>
        </p:spPr>
      </p:pic>
      <p:pic>
        <p:nvPicPr>
          <p:cNvPr id="280" name="Google Shape;280;p31"/>
          <p:cNvPicPr preferRelativeResize="0"/>
          <p:nvPr/>
        </p:nvPicPr>
        <p:blipFill>
          <a:blip r:embed="rId8">
            <a:alphaModFix/>
          </a:blip>
          <a:stretch>
            <a:fillRect/>
          </a:stretch>
        </p:blipFill>
        <p:spPr>
          <a:xfrm>
            <a:off x="5093900" y="2555252"/>
            <a:ext cx="2247900" cy="1038225"/>
          </a:xfrm>
          <a:prstGeom prst="rect">
            <a:avLst/>
          </a:prstGeom>
          <a:noFill/>
          <a:ln>
            <a:noFill/>
          </a:ln>
        </p:spPr>
      </p:pic>
      <p:pic>
        <p:nvPicPr>
          <p:cNvPr id="281" name="Google Shape;281;p31"/>
          <p:cNvPicPr preferRelativeResize="0"/>
          <p:nvPr/>
        </p:nvPicPr>
        <p:blipFill rotWithShape="1">
          <a:blip r:embed="rId9">
            <a:alphaModFix/>
          </a:blip>
          <a:srcRect t="5526"/>
          <a:stretch/>
        </p:blipFill>
        <p:spPr>
          <a:xfrm>
            <a:off x="1224600" y="2543400"/>
            <a:ext cx="2313175" cy="1637575"/>
          </a:xfrm>
          <a:prstGeom prst="rect">
            <a:avLst/>
          </a:prstGeom>
          <a:noFill/>
          <a:ln>
            <a:noFill/>
          </a:ln>
        </p:spPr>
      </p:pic>
      <p:sp>
        <p:nvSpPr>
          <p:cNvPr id="282" name="Google Shape;282;p31"/>
          <p:cNvSpPr txBox="1"/>
          <p:nvPr/>
        </p:nvSpPr>
        <p:spPr>
          <a:xfrm>
            <a:off x="1151838" y="2229761"/>
            <a:ext cx="6950100" cy="369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With DataAnnotations</a:t>
            </a:r>
            <a:endParaRPr sz="1200">
              <a:solidFill>
                <a:srgbClr val="181717"/>
              </a:solidFill>
              <a:highlight>
                <a:srgbClr val="FFFFFF"/>
              </a:highlight>
              <a:latin typeface="Lato"/>
              <a:ea typeface="Lato"/>
              <a:cs typeface="Lato"/>
              <a:sym typeface="Lato"/>
            </a:endParaRPr>
          </a:p>
        </p:txBody>
      </p:sp>
      <p:pic>
        <p:nvPicPr>
          <p:cNvPr id="283" name="Google Shape;283;p31"/>
          <p:cNvPicPr preferRelativeResize="0"/>
          <p:nvPr/>
        </p:nvPicPr>
        <p:blipFill rotWithShape="1">
          <a:blip r:embed="rId5">
            <a:alphaModFix/>
          </a:blip>
          <a:srcRect/>
          <a:stretch/>
        </p:blipFill>
        <p:spPr>
          <a:xfrm>
            <a:off x="1042055" y="2353750"/>
            <a:ext cx="61722" cy="109728"/>
          </a:xfrm>
          <a:prstGeom prst="rect">
            <a:avLst/>
          </a:prstGeom>
          <a:noFill/>
          <a:ln>
            <a:noFill/>
          </a:ln>
        </p:spPr>
      </p:pic>
    </p:spTree>
    <p:extLst>
      <p:ext uri="{BB962C8B-B14F-4D97-AF65-F5344CB8AC3E}">
        <p14:creationId xmlns:p14="http://schemas.microsoft.com/office/powerpoint/2010/main" val="105450397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chemeClr val="lt1"/>
                </a:solidFill>
                <a:latin typeface="Lato"/>
                <a:ea typeface="Lato"/>
                <a:cs typeface="Lato"/>
                <a:sym typeface="Lato"/>
              </a:rPr>
              <a:t>In this session</a:t>
            </a:r>
            <a:endParaRPr sz="2000" b="1" i="0" u="none" strike="noStrike" cap="none" dirty="0">
              <a:solidFill>
                <a:schemeClr val="lt1"/>
              </a:solidFill>
              <a:latin typeface="Lato"/>
              <a:ea typeface="Lato"/>
              <a:cs typeface="Lato"/>
              <a:sym typeface="Lato"/>
            </a:endParaRP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294875" y="756732"/>
            <a:ext cx="6819600" cy="250834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dirty="0">
                <a:solidFill>
                  <a:srgbClr val="222222"/>
                </a:solidFill>
                <a:latin typeface="Lato"/>
                <a:ea typeface="Lato"/>
                <a:cs typeface="Lato"/>
                <a:sym typeface="Lato"/>
              </a:rPr>
              <a:t>What we are learning in this session</a:t>
            </a:r>
          </a:p>
          <a:p>
            <a:pPr marL="0" marR="0" lvl="0" indent="0" algn="l" rtl="0">
              <a:lnSpc>
                <a:spcPct val="100000"/>
              </a:lnSpc>
              <a:spcBef>
                <a:spcPts val="0"/>
              </a:spcBef>
              <a:spcAft>
                <a:spcPts val="0"/>
              </a:spcAft>
              <a:buClr>
                <a:srgbClr val="000000"/>
              </a:buClr>
              <a:buSzPts val="1600"/>
              <a:buFont typeface="Arial"/>
              <a:buNone/>
            </a:pPr>
            <a:endParaRPr lang="en" sz="1600" b="1" dirty="0">
              <a:solidFill>
                <a:srgbClr val="222222"/>
              </a:solidFill>
              <a:latin typeface="Lato"/>
              <a:ea typeface="Lato"/>
              <a:cs typeface="Lato"/>
              <a:sym typeface="Lato"/>
            </a:endParaRP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EF Development Approach</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Introduction to EF Entities Relationships</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One to One Relationship</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One to Many Relationship</a:t>
            </a:r>
          </a:p>
          <a:p>
            <a:pPr marL="285750" marR="0" lvl="0" indent="-285750" algn="l" rtl="0">
              <a:lnSpc>
                <a:spcPct val="150000"/>
              </a:lnSpc>
              <a:spcBef>
                <a:spcPts val="0"/>
              </a:spcBef>
              <a:spcAft>
                <a:spcPts val="0"/>
              </a:spcAft>
              <a:buClr>
                <a:schemeClr val="accent4">
                  <a:lumMod val="75000"/>
                </a:schemeClr>
              </a:buClr>
              <a:buSzPct val="80000"/>
              <a:buFont typeface="Lato" panose="020B0604020202020204" charset="0"/>
              <a:buChar char="►"/>
            </a:pPr>
            <a:r>
              <a:rPr lang="en-US" dirty="0">
                <a:solidFill>
                  <a:srgbClr val="222222"/>
                </a:solidFill>
                <a:latin typeface="Lato"/>
                <a:ea typeface="Lato"/>
                <a:cs typeface="Lato"/>
                <a:sym typeface="Lato"/>
              </a:rPr>
              <a:t>Many to Many Relationship</a:t>
            </a:r>
          </a:p>
          <a:p>
            <a:pPr marL="285750" marR="0" lvl="0" indent="-285750" algn="l" rtl="0">
              <a:lnSpc>
                <a:spcPct val="100000"/>
              </a:lnSpc>
              <a:spcBef>
                <a:spcPts val="0"/>
              </a:spcBef>
              <a:spcAft>
                <a:spcPts val="0"/>
              </a:spcAft>
              <a:buClr>
                <a:schemeClr val="accent4">
                  <a:lumMod val="75000"/>
                </a:schemeClr>
              </a:buClr>
              <a:buSzPct val="80000"/>
              <a:buFont typeface="Lato" panose="020B0604020202020204" charset="0"/>
              <a:buChar char="►"/>
            </a:pPr>
            <a:endParaRPr i="0" u="none" strike="noStrike" cap="none" dirty="0">
              <a:solidFill>
                <a:srgbClr val="222222"/>
              </a:solidFill>
              <a:latin typeface="Lato"/>
              <a:ea typeface="Lato"/>
              <a:cs typeface="Lato"/>
              <a:sym typeface="Lato"/>
            </a:endParaRPr>
          </a:p>
        </p:txBody>
      </p:sp>
    </p:spTree>
    <p:extLst>
      <p:ext uri="{BB962C8B-B14F-4D97-AF65-F5344CB8AC3E}">
        <p14:creationId xmlns:p14="http://schemas.microsoft.com/office/powerpoint/2010/main" val="298832709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24"/>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89" name="Google Shape;189;p2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0" name="Google Shape;190;p2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191" name="Google Shape;191;p24"/>
          <p:cNvSpPr txBox="1"/>
          <p:nvPr/>
        </p:nvSpPr>
        <p:spPr>
          <a:xfrm>
            <a:off x="1151838" y="1848761"/>
            <a:ext cx="6950100" cy="1373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sz="1200">
                <a:solidFill>
                  <a:srgbClr val="181717"/>
                </a:solidFill>
                <a:highlight>
                  <a:srgbClr val="FFFFFF"/>
                </a:highlight>
                <a:latin typeface="Lato"/>
                <a:ea typeface="Lato"/>
                <a:cs typeface="Lato"/>
                <a:sym typeface="Lato"/>
              </a:rPr>
              <a:t>There are three different approaches you can use while developing your application using Entity Framework:</a:t>
            </a:r>
            <a:endParaRPr sz="1200">
              <a:solidFill>
                <a:srgbClr val="181717"/>
              </a:solidFill>
              <a:highlight>
                <a:srgbClr val="FFFFFF"/>
              </a:highlight>
              <a:latin typeface="Lato"/>
              <a:ea typeface="Lato"/>
              <a:cs typeface="Lato"/>
              <a:sym typeface="Lato"/>
            </a:endParaRPr>
          </a:p>
          <a:p>
            <a:pPr marL="457200" lvl="0" indent="-304800" algn="just" rtl="0">
              <a:lnSpc>
                <a:spcPct val="115000"/>
              </a:lnSpc>
              <a:spcBef>
                <a:spcPts val="1200"/>
              </a:spcBef>
              <a:spcAft>
                <a:spcPts val="0"/>
              </a:spcAft>
              <a:buClr>
                <a:srgbClr val="181717"/>
              </a:buClr>
              <a:buSzPts val="1200"/>
              <a:buFont typeface="Lato"/>
              <a:buChar char="●"/>
            </a:pPr>
            <a:r>
              <a:rPr lang="en" sz="1200">
                <a:solidFill>
                  <a:srgbClr val="181717"/>
                </a:solidFill>
                <a:highlight>
                  <a:srgbClr val="FFFFFF"/>
                </a:highlight>
                <a:latin typeface="Lato"/>
                <a:ea typeface="Lato"/>
                <a:cs typeface="Lato"/>
                <a:sym typeface="Lato"/>
              </a:rPr>
              <a:t>Database-First</a:t>
            </a:r>
            <a:endParaRPr sz="1200">
              <a:solidFill>
                <a:srgbClr val="181717"/>
              </a:solidFill>
              <a:highlight>
                <a:srgbClr val="FFFFFF"/>
              </a:highlight>
              <a:latin typeface="Lato"/>
              <a:ea typeface="Lato"/>
              <a:cs typeface="Lato"/>
              <a:sym typeface="Lato"/>
            </a:endParaRPr>
          </a:p>
          <a:p>
            <a:pPr marL="457200" lvl="0" indent="-304800" algn="just" rtl="0">
              <a:lnSpc>
                <a:spcPct val="115000"/>
              </a:lnSpc>
              <a:spcBef>
                <a:spcPts val="0"/>
              </a:spcBef>
              <a:spcAft>
                <a:spcPts val="0"/>
              </a:spcAft>
              <a:buClr>
                <a:srgbClr val="181717"/>
              </a:buClr>
              <a:buSzPts val="1200"/>
              <a:buFont typeface="Lato"/>
              <a:buChar char="●"/>
            </a:pPr>
            <a:r>
              <a:rPr lang="en" sz="1200">
                <a:solidFill>
                  <a:srgbClr val="181717"/>
                </a:solidFill>
                <a:highlight>
                  <a:srgbClr val="FFFFFF"/>
                </a:highlight>
                <a:latin typeface="Lato"/>
                <a:ea typeface="Lato"/>
                <a:cs typeface="Lato"/>
                <a:sym typeface="Lato"/>
              </a:rPr>
              <a:t>Code-First</a:t>
            </a:r>
            <a:endParaRPr sz="1200">
              <a:solidFill>
                <a:srgbClr val="181717"/>
              </a:solidFill>
              <a:highlight>
                <a:srgbClr val="FFFFFF"/>
              </a:highlight>
              <a:latin typeface="Lato"/>
              <a:ea typeface="Lato"/>
              <a:cs typeface="Lato"/>
              <a:sym typeface="Lato"/>
            </a:endParaRPr>
          </a:p>
          <a:p>
            <a:pPr marL="457200" lvl="0" indent="-304800" algn="just" rtl="0">
              <a:lnSpc>
                <a:spcPct val="115000"/>
              </a:lnSpc>
              <a:spcBef>
                <a:spcPts val="0"/>
              </a:spcBef>
              <a:spcAft>
                <a:spcPts val="0"/>
              </a:spcAft>
              <a:buClr>
                <a:srgbClr val="181717"/>
              </a:buClr>
              <a:buSzPts val="1200"/>
              <a:buFont typeface="Lato"/>
              <a:buChar char="●"/>
            </a:pPr>
            <a:r>
              <a:rPr lang="en" sz="1200">
                <a:solidFill>
                  <a:srgbClr val="181717"/>
                </a:solidFill>
                <a:highlight>
                  <a:srgbClr val="FFFFFF"/>
                </a:highlight>
                <a:latin typeface="Lato"/>
                <a:ea typeface="Lato"/>
                <a:cs typeface="Lato"/>
                <a:sym typeface="Lato"/>
              </a:rPr>
              <a:t>Model-First</a:t>
            </a:r>
            <a:endParaRPr sz="1200" b="1">
              <a:solidFill>
                <a:srgbClr val="181717"/>
              </a:solidFill>
              <a:highlight>
                <a:srgbClr val="FFFFFF"/>
              </a:highlight>
              <a:latin typeface="Lato"/>
              <a:ea typeface="Lato"/>
              <a:cs typeface="Lato"/>
              <a:sym typeface="Lato"/>
            </a:endParaRPr>
          </a:p>
        </p:txBody>
      </p:sp>
      <p:pic>
        <p:nvPicPr>
          <p:cNvPr id="192" name="Google Shape;192;p24"/>
          <p:cNvPicPr preferRelativeResize="0"/>
          <p:nvPr/>
        </p:nvPicPr>
        <p:blipFill rotWithShape="1">
          <a:blip r:embed="rId5">
            <a:alphaModFix/>
          </a:blip>
          <a:srcRect/>
          <a:stretch/>
        </p:blipFill>
        <p:spPr>
          <a:xfrm>
            <a:off x="1042055" y="1972750"/>
            <a:ext cx="61722" cy="109728"/>
          </a:xfrm>
          <a:prstGeom prst="rect">
            <a:avLst/>
          </a:prstGeom>
          <a:noFill/>
          <a:ln>
            <a:noFill/>
          </a:ln>
        </p:spPr>
      </p:pic>
      <p:sp>
        <p:nvSpPr>
          <p:cNvPr id="193" name="Google Shape;193;p24"/>
          <p:cNvSpPr txBox="1"/>
          <p:nvPr/>
        </p:nvSpPr>
        <p:spPr>
          <a:xfrm>
            <a:off x="2753400" y="46313"/>
            <a:ext cx="36126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dirty="0">
                <a:solidFill>
                  <a:srgbClr val="FFFFFF"/>
                </a:solidFill>
                <a:latin typeface="Lato"/>
                <a:ea typeface="Lato"/>
                <a:cs typeface="Lato"/>
                <a:sym typeface="Lato"/>
              </a:rPr>
              <a:t>EF - Development Approach</a:t>
            </a:r>
            <a:endParaRPr sz="2000" b="1" i="0" u="none" strike="noStrike" cap="none" dirty="0">
              <a:solidFill>
                <a:srgbClr val="FFFFFF"/>
              </a:solidFill>
              <a:latin typeface="Lato"/>
              <a:ea typeface="Lato"/>
              <a:cs typeface="Lato"/>
              <a:sym typeface="Lato"/>
            </a:endParaRPr>
          </a:p>
        </p:txBody>
      </p:sp>
    </p:spTree>
    <p:extLst>
      <p:ext uri="{BB962C8B-B14F-4D97-AF65-F5344CB8AC3E}">
        <p14:creationId xmlns:p14="http://schemas.microsoft.com/office/powerpoint/2010/main" val="108130096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25"/>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199" name="Google Shape;199;p2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00" name="Google Shape;200;p2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01" name="Google Shape;201;p25"/>
          <p:cNvSpPr txBox="1"/>
          <p:nvPr/>
        </p:nvSpPr>
        <p:spPr>
          <a:xfrm>
            <a:off x="1151838" y="1315361"/>
            <a:ext cx="6950100" cy="5817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In the database-first development approach, you generate the context and entities for the existing database using EDM wizard integrated in Visual Studio or executing EF commands.</a:t>
            </a:r>
            <a:endParaRPr sz="1200" b="1">
              <a:solidFill>
                <a:srgbClr val="181717"/>
              </a:solidFill>
              <a:highlight>
                <a:srgbClr val="FFFFFF"/>
              </a:highlight>
              <a:latin typeface="Lato"/>
              <a:ea typeface="Lato"/>
              <a:cs typeface="Lato"/>
              <a:sym typeface="Lato"/>
            </a:endParaRPr>
          </a:p>
        </p:txBody>
      </p:sp>
      <p:pic>
        <p:nvPicPr>
          <p:cNvPr id="202" name="Google Shape;202;p25"/>
          <p:cNvPicPr preferRelativeResize="0"/>
          <p:nvPr/>
        </p:nvPicPr>
        <p:blipFill rotWithShape="1">
          <a:blip r:embed="rId5">
            <a:alphaModFix/>
          </a:blip>
          <a:srcRect/>
          <a:stretch/>
        </p:blipFill>
        <p:spPr>
          <a:xfrm>
            <a:off x="1042055" y="1439350"/>
            <a:ext cx="61722" cy="109728"/>
          </a:xfrm>
          <a:prstGeom prst="rect">
            <a:avLst/>
          </a:prstGeom>
          <a:noFill/>
          <a:ln>
            <a:noFill/>
          </a:ln>
        </p:spPr>
      </p:pic>
      <p:sp>
        <p:nvSpPr>
          <p:cNvPr id="203" name="Google Shape;203;p25"/>
          <p:cNvSpPr txBox="1"/>
          <p:nvPr/>
        </p:nvSpPr>
        <p:spPr>
          <a:xfrm>
            <a:off x="2740200" y="46313"/>
            <a:ext cx="3639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EF - Database-First  Approach</a:t>
            </a:r>
            <a:endParaRPr sz="2000" b="1" i="0" u="none" strike="noStrike" cap="none">
              <a:solidFill>
                <a:srgbClr val="FFFFFF"/>
              </a:solidFill>
              <a:latin typeface="Lato"/>
              <a:ea typeface="Lato"/>
              <a:cs typeface="Lato"/>
              <a:sym typeface="Lato"/>
            </a:endParaRPr>
          </a:p>
        </p:txBody>
      </p:sp>
      <p:pic>
        <p:nvPicPr>
          <p:cNvPr id="204" name="Google Shape;204;p25"/>
          <p:cNvPicPr preferRelativeResize="0"/>
          <p:nvPr/>
        </p:nvPicPr>
        <p:blipFill>
          <a:blip r:embed="rId6">
            <a:alphaModFix/>
          </a:blip>
          <a:stretch>
            <a:fillRect/>
          </a:stretch>
        </p:blipFill>
        <p:spPr>
          <a:xfrm>
            <a:off x="2178975" y="2036036"/>
            <a:ext cx="4895850" cy="1181100"/>
          </a:xfrm>
          <a:prstGeom prst="rect">
            <a:avLst/>
          </a:prstGeom>
          <a:noFill/>
          <a:ln>
            <a:noFill/>
          </a:ln>
        </p:spPr>
      </p:pic>
      <p:sp>
        <p:nvSpPr>
          <p:cNvPr id="205" name="Google Shape;205;p25"/>
          <p:cNvSpPr txBox="1"/>
          <p:nvPr/>
        </p:nvSpPr>
        <p:spPr>
          <a:xfrm>
            <a:off x="1151838" y="3296561"/>
            <a:ext cx="6950100" cy="5817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EF 6 supports the database-first approach extensively. Visit EF 6 DB-First section to learn about the database-first approach using EF 6.</a:t>
            </a:r>
            <a:endParaRPr sz="1200" b="1">
              <a:solidFill>
                <a:srgbClr val="181717"/>
              </a:solidFill>
              <a:highlight>
                <a:srgbClr val="FFFFFF"/>
              </a:highlight>
              <a:latin typeface="Lato"/>
              <a:ea typeface="Lato"/>
              <a:cs typeface="Lato"/>
              <a:sym typeface="Lato"/>
            </a:endParaRPr>
          </a:p>
        </p:txBody>
      </p:sp>
      <p:pic>
        <p:nvPicPr>
          <p:cNvPr id="206" name="Google Shape;206;p25"/>
          <p:cNvPicPr preferRelativeResize="0"/>
          <p:nvPr/>
        </p:nvPicPr>
        <p:blipFill rotWithShape="1">
          <a:blip r:embed="rId5">
            <a:alphaModFix/>
          </a:blip>
          <a:srcRect/>
          <a:stretch/>
        </p:blipFill>
        <p:spPr>
          <a:xfrm>
            <a:off x="1042055" y="3420550"/>
            <a:ext cx="61722" cy="109728"/>
          </a:xfrm>
          <a:prstGeom prst="rect">
            <a:avLst/>
          </a:prstGeom>
          <a:noFill/>
          <a:ln>
            <a:noFill/>
          </a:ln>
        </p:spPr>
      </p:pic>
      <p:sp>
        <p:nvSpPr>
          <p:cNvPr id="207" name="Google Shape;207;p25"/>
          <p:cNvSpPr txBox="1"/>
          <p:nvPr/>
        </p:nvSpPr>
        <p:spPr>
          <a:xfrm>
            <a:off x="1151838" y="3753761"/>
            <a:ext cx="6950100" cy="369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EF Core includes limited support for this approach.</a:t>
            </a:r>
            <a:endParaRPr sz="1200" b="1">
              <a:solidFill>
                <a:srgbClr val="181717"/>
              </a:solidFill>
              <a:highlight>
                <a:srgbClr val="FFFFFF"/>
              </a:highlight>
              <a:latin typeface="Lato"/>
              <a:ea typeface="Lato"/>
              <a:cs typeface="Lato"/>
              <a:sym typeface="Lato"/>
            </a:endParaRPr>
          </a:p>
        </p:txBody>
      </p:sp>
      <p:pic>
        <p:nvPicPr>
          <p:cNvPr id="208" name="Google Shape;208;p25"/>
          <p:cNvPicPr preferRelativeResize="0"/>
          <p:nvPr/>
        </p:nvPicPr>
        <p:blipFill rotWithShape="1">
          <a:blip r:embed="rId5">
            <a:alphaModFix/>
          </a:blip>
          <a:srcRect/>
          <a:stretch/>
        </p:blipFill>
        <p:spPr>
          <a:xfrm>
            <a:off x="1042055" y="3877750"/>
            <a:ext cx="61722" cy="109728"/>
          </a:xfrm>
          <a:prstGeom prst="rect">
            <a:avLst/>
          </a:prstGeom>
          <a:noFill/>
          <a:ln>
            <a:noFill/>
          </a:ln>
        </p:spPr>
      </p:pic>
    </p:spTree>
    <p:extLst>
      <p:ext uri="{BB962C8B-B14F-4D97-AF65-F5344CB8AC3E}">
        <p14:creationId xmlns:p14="http://schemas.microsoft.com/office/powerpoint/2010/main" val="1549693572"/>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26"/>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14" name="Google Shape;214;p2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5" name="Google Shape;215;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16" name="Google Shape;216;p26"/>
          <p:cNvSpPr txBox="1"/>
          <p:nvPr/>
        </p:nvSpPr>
        <p:spPr>
          <a:xfrm>
            <a:off x="1151838" y="1162961"/>
            <a:ext cx="6950100" cy="794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Use this approach when you do not have an existing database for your application. In the code-first approach, you start writing your entities (domain classes) and context class first and then create the database from these classes using migration commands.</a:t>
            </a:r>
            <a:endParaRPr sz="1200" b="1">
              <a:solidFill>
                <a:srgbClr val="181717"/>
              </a:solidFill>
              <a:highlight>
                <a:srgbClr val="FFFFFF"/>
              </a:highlight>
              <a:latin typeface="Lato"/>
              <a:ea typeface="Lato"/>
              <a:cs typeface="Lato"/>
              <a:sym typeface="Lato"/>
            </a:endParaRPr>
          </a:p>
        </p:txBody>
      </p:sp>
      <p:pic>
        <p:nvPicPr>
          <p:cNvPr id="217" name="Google Shape;217;p26"/>
          <p:cNvPicPr preferRelativeResize="0"/>
          <p:nvPr/>
        </p:nvPicPr>
        <p:blipFill rotWithShape="1">
          <a:blip r:embed="rId5">
            <a:alphaModFix/>
          </a:blip>
          <a:srcRect/>
          <a:stretch/>
        </p:blipFill>
        <p:spPr>
          <a:xfrm>
            <a:off x="1042055" y="1286950"/>
            <a:ext cx="61722" cy="109728"/>
          </a:xfrm>
          <a:prstGeom prst="rect">
            <a:avLst/>
          </a:prstGeom>
          <a:noFill/>
          <a:ln>
            <a:noFill/>
          </a:ln>
        </p:spPr>
      </p:pic>
      <p:sp>
        <p:nvSpPr>
          <p:cNvPr id="218" name="Google Shape;218;p26"/>
          <p:cNvSpPr txBox="1"/>
          <p:nvPr/>
        </p:nvSpPr>
        <p:spPr>
          <a:xfrm>
            <a:off x="2982000" y="46313"/>
            <a:ext cx="3155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EF - Code-First Approach</a:t>
            </a:r>
            <a:endParaRPr sz="2000" b="1" i="0" u="none" strike="noStrike" cap="none">
              <a:solidFill>
                <a:srgbClr val="FFFFFF"/>
              </a:solidFill>
              <a:latin typeface="Lato"/>
              <a:ea typeface="Lato"/>
              <a:cs typeface="Lato"/>
              <a:sym typeface="Lato"/>
            </a:endParaRPr>
          </a:p>
        </p:txBody>
      </p:sp>
      <p:pic>
        <p:nvPicPr>
          <p:cNvPr id="219" name="Google Shape;219;p26"/>
          <p:cNvPicPr preferRelativeResize="0"/>
          <p:nvPr/>
        </p:nvPicPr>
        <p:blipFill>
          <a:blip r:embed="rId6">
            <a:alphaModFix/>
          </a:blip>
          <a:stretch>
            <a:fillRect/>
          </a:stretch>
        </p:blipFill>
        <p:spPr>
          <a:xfrm>
            <a:off x="2164163" y="2136311"/>
            <a:ext cx="4791075" cy="1209675"/>
          </a:xfrm>
          <a:prstGeom prst="rect">
            <a:avLst/>
          </a:prstGeom>
          <a:noFill/>
          <a:ln>
            <a:noFill/>
          </a:ln>
        </p:spPr>
      </p:pic>
      <p:sp>
        <p:nvSpPr>
          <p:cNvPr id="220" name="Google Shape;220;p26"/>
          <p:cNvSpPr txBox="1"/>
          <p:nvPr/>
        </p:nvSpPr>
        <p:spPr>
          <a:xfrm>
            <a:off x="1151838" y="3601361"/>
            <a:ext cx="6950100" cy="5817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Developers who follow the Domain-Driven Design (DDD) principles, prefer to begin with coding their domain classes first and then generate the database required to persist their data.</a:t>
            </a:r>
            <a:endParaRPr sz="1200" b="1">
              <a:solidFill>
                <a:srgbClr val="181717"/>
              </a:solidFill>
              <a:highlight>
                <a:srgbClr val="FFFFFF"/>
              </a:highlight>
              <a:latin typeface="Lato"/>
              <a:ea typeface="Lato"/>
              <a:cs typeface="Lato"/>
              <a:sym typeface="Lato"/>
            </a:endParaRPr>
          </a:p>
        </p:txBody>
      </p:sp>
      <p:pic>
        <p:nvPicPr>
          <p:cNvPr id="221" name="Google Shape;221;p26"/>
          <p:cNvPicPr preferRelativeResize="0"/>
          <p:nvPr/>
        </p:nvPicPr>
        <p:blipFill rotWithShape="1">
          <a:blip r:embed="rId5">
            <a:alphaModFix/>
          </a:blip>
          <a:srcRect/>
          <a:stretch/>
        </p:blipFill>
        <p:spPr>
          <a:xfrm>
            <a:off x="1042055" y="3725350"/>
            <a:ext cx="61722" cy="109728"/>
          </a:xfrm>
          <a:prstGeom prst="rect">
            <a:avLst/>
          </a:prstGeom>
          <a:noFill/>
          <a:ln>
            <a:noFill/>
          </a:ln>
        </p:spPr>
      </p:pic>
    </p:spTree>
    <p:extLst>
      <p:ext uri="{BB962C8B-B14F-4D97-AF65-F5344CB8AC3E}">
        <p14:creationId xmlns:p14="http://schemas.microsoft.com/office/powerpoint/2010/main" val="560955374"/>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1494754" y="0"/>
            <a:ext cx="6151128" cy="585216"/>
          </a:xfrm>
          <a:prstGeom prst="rect">
            <a:avLst/>
          </a:prstGeom>
          <a:noFill/>
          <a:ln>
            <a:noFill/>
          </a:ln>
        </p:spPr>
      </p:pic>
      <p:pic>
        <p:nvPicPr>
          <p:cNvPr id="227" name="Google Shape;227;p2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28" name="Google Shape;228;p2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100"/>
              <a:buFont typeface="Arial"/>
              <a:buNone/>
            </a:pPr>
            <a:r>
              <a:rPr lang="en" sz="1200" b="1" i="0" u="none" strike="noStrike" cap="none">
                <a:solidFill>
                  <a:srgbClr val="FFFFFF"/>
                </a:solidFill>
                <a:latin typeface="Lato"/>
                <a:ea typeface="Lato"/>
                <a:cs typeface="Lato"/>
                <a:sym typeface="Lato"/>
              </a:rPr>
              <a:t>www.bacancytechnology.com</a:t>
            </a:r>
            <a:endParaRPr sz="1200" b="1" i="0" u="none" strike="noStrike" cap="none">
              <a:solidFill>
                <a:srgbClr val="FFFFFF"/>
              </a:solidFill>
              <a:latin typeface="Lato"/>
              <a:ea typeface="Lato"/>
              <a:cs typeface="Lato"/>
              <a:sym typeface="Lato"/>
            </a:endParaRPr>
          </a:p>
        </p:txBody>
      </p:sp>
      <p:sp>
        <p:nvSpPr>
          <p:cNvPr id="229" name="Google Shape;229;p27"/>
          <p:cNvSpPr txBox="1"/>
          <p:nvPr/>
        </p:nvSpPr>
        <p:spPr>
          <a:xfrm>
            <a:off x="1151838" y="858161"/>
            <a:ext cx="6950100" cy="794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Lato"/>
                <a:ea typeface="Lato"/>
                <a:cs typeface="Lato"/>
                <a:sym typeface="Lato"/>
              </a:rPr>
              <a:t>In the model-first approach, you create entities, relationships, and inheritance hierarchies directly on the visual designer integrated in Visual Studio and then generate entities, the context class, and the database script from your visual model.</a:t>
            </a:r>
            <a:endParaRPr sz="1200" b="1">
              <a:solidFill>
                <a:srgbClr val="181717"/>
              </a:solidFill>
              <a:highlight>
                <a:srgbClr val="FFFFFF"/>
              </a:highlight>
              <a:latin typeface="Lato"/>
              <a:ea typeface="Lato"/>
              <a:cs typeface="Lato"/>
              <a:sym typeface="Lato"/>
            </a:endParaRPr>
          </a:p>
        </p:txBody>
      </p:sp>
      <p:pic>
        <p:nvPicPr>
          <p:cNvPr id="230" name="Google Shape;230;p27"/>
          <p:cNvPicPr preferRelativeResize="0"/>
          <p:nvPr/>
        </p:nvPicPr>
        <p:blipFill rotWithShape="1">
          <a:blip r:embed="rId5">
            <a:alphaModFix/>
          </a:blip>
          <a:srcRect/>
          <a:stretch/>
        </p:blipFill>
        <p:spPr>
          <a:xfrm>
            <a:off x="1042055" y="982150"/>
            <a:ext cx="61722" cy="109728"/>
          </a:xfrm>
          <a:prstGeom prst="rect">
            <a:avLst/>
          </a:prstGeom>
          <a:noFill/>
          <a:ln>
            <a:noFill/>
          </a:ln>
        </p:spPr>
      </p:pic>
      <p:sp>
        <p:nvSpPr>
          <p:cNvPr id="231" name="Google Shape;231;p27"/>
          <p:cNvSpPr txBox="1"/>
          <p:nvPr/>
        </p:nvSpPr>
        <p:spPr>
          <a:xfrm>
            <a:off x="2861100" y="46313"/>
            <a:ext cx="3397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rgbClr val="FFFFFF"/>
                </a:solidFill>
                <a:latin typeface="Lato"/>
                <a:ea typeface="Lato"/>
                <a:cs typeface="Lato"/>
                <a:sym typeface="Lato"/>
              </a:rPr>
              <a:t>EF - Model-First  Approach</a:t>
            </a:r>
            <a:endParaRPr sz="2000" b="1" i="0" u="none" strike="noStrike" cap="none">
              <a:solidFill>
                <a:srgbClr val="FFFFFF"/>
              </a:solidFill>
              <a:latin typeface="Lato"/>
              <a:ea typeface="Lato"/>
              <a:cs typeface="Lato"/>
              <a:sym typeface="Lato"/>
            </a:endParaRPr>
          </a:p>
        </p:txBody>
      </p:sp>
      <p:pic>
        <p:nvPicPr>
          <p:cNvPr id="232" name="Google Shape;232;p27"/>
          <p:cNvPicPr preferRelativeResize="0"/>
          <p:nvPr/>
        </p:nvPicPr>
        <p:blipFill>
          <a:blip r:embed="rId6">
            <a:alphaModFix/>
          </a:blip>
          <a:stretch>
            <a:fillRect/>
          </a:stretch>
        </p:blipFill>
        <p:spPr>
          <a:xfrm>
            <a:off x="1473600" y="1612848"/>
            <a:ext cx="6172200" cy="2133600"/>
          </a:xfrm>
          <a:prstGeom prst="rect">
            <a:avLst/>
          </a:prstGeom>
          <a:noFill/>
          <a:ln>
            <a:noFill/>
          </a:ln>
        </p:spPr>
      </p:pic>
      <p:sp>
        <p:nvSpPr>
          <p:cNvPr id="233" name="Google Shape;233;p27"/>
          <p:cNvSpPr txBox="1"/>
          <p:nvPr/>
        </p:nvSpPr>
        <p:spPr>
          <a:xfrm>
            <a:off x="1151838" y="3753761"/>
            <a:ext cx="6950100" cy="369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Verdana"/>
                <a:ea typeface="Verdana"/>
                <a:cs typeface="Verdana"/>
                <a:sym typeface="Verdana"/>
              </a:rPr>
              <a:t>EF 6 includes limited support for this approach.</a:t>
            </a:r>
            <a:endParaRPr sz="1200" b="1">
              <a:solidFill>
                <a:srgbClr val="181717"/>
              </a:solidFill>
              <a:highlight>
                <a:srgbClr val="FFFFFF"/>
              </a:highlight>
              <a:latin typeface="Lato"/>
              <a:ea typeface="Lato"/>
              <a:cs typeface="Lato"/>
              <a:sym typeface="Lato"/>
            </a:endParaRPr>
          </a:p>
        </p:txBody>
      </p:sp>
      <p:pic>
        <p:nvPicPr>
          <p:cNvPr id="234" name="Google Shape;234;p27"/>
          <p:cNvPicPr preferRelativeResize="0"/>
          <p:nvPr/>
        </p:nvPicPr>
        <p:blipFill rotWithShape="1">
          <a:blip r:embed="rId5">
            <a:alphaModFix/>
          </a:blip>
          <a:srcRect/>
          <a:stretch/>
        </p:blipFill>
        <p:spPr>
          <a:xfrm>
            <a:off x="1042055" y="3877750"/>
            <a:ext cx="61722" cy="109728"/>
          </a:xfrm>
          <a:prstGeom prst="rect">
            <a:avLst/>
          </a:prstGeom>
          <a:noFill/>
          <a:ln>
            <a:noFill/>
          </a:ln>
        </p:spPr>
      </p:pic>
      <p:sp>
        <p:nvSpPr>
          <p:cNvPr id="235" name="Google Shape;235;p27"/>
          <p:cNvSpPr txBox="1"/>
          <p:nvPr/>
        </p:nvSpPr>
        <p:spPr>
          <a:xfrm>
            <a:off x="1151838" y="4058561"/>
            <a:ext cx="6950100" cy="369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1200"/>
              </a:spcAft>
              <a:buNone/>
            </a:pPr>
            <a:r>
              <a:rPr lang="en" sz="1200">
                <a:solidFill>
                  <a:srgbClr val="181717"/>
                </a:solidFill>
                <a:highlight>
                  <a:srgbClr val="FFFFFF"/>
                </a:highlight>
                <a:latin typeface="Verdana"/>
                <a:ea typeface="Verdana"/>
                <a:cs typeface="Verdana"/>
                <a:sym typeface="Verdana"/>
              </a:rPr>
              <a:t>EF Core does not support this approach.</a:t>
            </a:r>
            <a:endParaRPr sz="1200" b="1">
              <a:solidFill>
                <a:srgbClr val="181717"/>
              </a:solidFill>
              <a:highlight>
                <a:srgbClr val="FFFFFF"/>
              </a:highlight>
              <a:latin typeface="Lato"/>
              <a:ea typeface="Lato"/>
              <a:cs typeface="Lato"/>
              <a:sym typeface="Lato"/>
            </a:endParaRPr>
          </a:p>
        </p:txBody>
      </p:sp>
      <p:pic>
        <p:nvPicPr>
          <p:cNvPr id="236" name="Google Shape;236;p27"/>
          <p:cNvPicPr preferRelativeResize="0"/>
          <p:nvPr/>
        </p:nvPicPr>
        <p:blipFill rotWithShape="1">
          <a:blip r:embed="rId5">
            <a:alphaModFix/>
          </a:blip>
          <a:srcRect/>
          <a:stretch/>
        </p:blipFill>
        <p:spPr>
          <a:xfrm>
            <a:off x="1042055" y="4182550"/>
            <a:ext cx="61722" cy="109728"/>
          </a:xfrm>
          <a:prstGeom prst="rect">
            <a:avLst/>
          </a:prstGeom>
          <a:noFill/>
          <a:ln>
            <a:noFill/>
          </a:ln>
        </p:spPr>
      </p:pic>
    </p:spTree>
    <p:extLst>
      <p:ext uri="{BB962C8B-B14F-4D97-AF65-F5344CB8AC3E}">
        <p14:creationId xmlns:p14="http://schemas.microsoft.com/office/powerpoint/2010/main" val="349200322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Relationships between Entities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2723792"/>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t>In relational databases, relationships between tables (or entities) define how data in one table relates to data in another table.</a:t>
            </a:r>
          </a:p>
          <a:p>
            <a:pPr marL="285750" indent="-285750">
              <a:lnSpc>
                <a:spcPct val="150000"/>
              </a:lnSpc>
              <a:buClr>
                <a:schemeClr val="accent4">
                  <a:lumMod val="75000"/>
                </a:schemeClr>
              </a:buClr>
              <a:buSzPct val="80000"/>
              <a:buFont typeface="Lato" panose="020B0604020202020204" charset="0"/>
              <a:buChar char="►"/>
            </a:pPr>
            <a:r>
              <a:rPr lang="en-US" dirty="0"/>
              <a:t>Relationships or associations between entities are defined in a database by the existence of Foreign Keys.</a:t>
            </a:r>
          </a:p>
          <a:p>
            <a:pPr marL="285750" indent="-285750">
              <a:lnSpc>
                <a:spcPct val="150000"/>
              </a:lnSpc>
              <a:buClr>
                <a:schemeClr val="accent4">
                  <a:lumMod val="75000"/>
                </a:schemeClr>
              </a:buClr>
              <a:buSzPct val="80000"/>
              <a:buFont typeface="Lato" panose="020B0604020202020204" charset="0"/>
              <a:buChar char="►"/>
            </a:pPr>
            <a:r>
              <a:rPr lang="en-US" dirty="0"/>
              <a:t>When we create relationships between two entities in Entity Framework Core, one entity serves as the </a:t>
            </a:r>
            <a:r>
              <a:rPr lang="en-US" b="1" dirty="0"/>
              <a:t>Principal Entity</a:t>
            </a:r>
            <a:r>
              <a:rPr lang="en-US" dirty="0"/>
              <a:t>, and the other entity serves as the </a:t>
            </a:r>
            <a:r>
              <a:rPr lang="en-US" b="1" dirty="0"/>
              <a:t>Dependent Entity</a:t>
            </a:r>
            <a:r>
              <a:rPr lang="en-US" dirty="0"/>
              <a:t>.</a:t>
            </a:r>
          </a:p>
          <a:p>
            <a:pPr>
              <a:lnSpc>
                <a:spcPct val="150000"/>
              </a:lnSpc>
              <a:buClr>
                <a:schemeClr val="accent4">
                  <a:lumMod val="75000"/>
                </a:schemeClr>
              </a:buClr>
              <a:buSzPct val="80000"/>
            </a:pPr>
            <a:endParaRPr lang="en-US" dirty="0"/>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328699232"/>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Relationships between Entities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2723792"/>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b="1" dirty="0"/>
              <a:t>Navigation Properties:</a:t>
            </a:r>
            <a:r>
              <a:rPr lang="en-US" dirty="0"/>
              <a:t> Navigation Properties in entity classes allow users to navigate from one entity to a related entity or collection of entities.</a:t>
            </a:r>
            <a:br>
              <a:rPr lang="en-US" dirty="0"/>
            </a:br>
            <a:r>
              <a:rPr lang="en-US" b="1" dirty="0"/>
              <a:t>Reference Navigation Property:</a:t>
            </a:r>
            <a:r>
              <a:rPr lang="en-US" dirty="0"/>
              <a:t> It represents a single related entity, typically in a one-to-one relationship. For example, a Customer might have exactly one Address.</a:t>
            </a:r>
            <a:br>
              <a:rPr lang="en-US" dirty="0"/>
            </a:br>
            <a:r>
              <a:rPr lang="en-US" b="1" dirty="0"/>
              <a:t>Collection Navigation Property:</a:t>
            </a:r>
            <a:r>
              <a:rPr lang="en-US" dirty="0"/>
              <a:t> It represents a collection of related entities commonly used in one-to-many or many-to-many relationships. For example, a Customer might have many Orders.</a:t>
            </a:r>
          </a:p>
          <a:p>
            <a:pPr marL="285750" indent="-285750">
              <a:lnSpc>
                <a:spcPct val="150000"/>
              </a:lnSpc>
              <a:buClr>
                <a:schemeClr val="accent4">
                  <a:lumMod val="75000"/>
                </a:schemeClr>
              </a:buClr>
              <a:buSzPct val="80000"/>
              <a:buFont typeface="Lato" panose="020B0604020202020204" charset="0"/>
              <a:buChar char="►"/>
            </a:pPr>
            <a:endParaRPr lang="en-US" dirty="0"/>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33834784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Types of Relationships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2723792"/>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b="1" dirty="0"/>
              <a:t>One-to-One (1:1): </a:t>
            </a:r>
            <a:r>
              <a:rPr lang="en-US" dirty="0"/>
              <a:t>A one-to-one (or more usually a one-to-zero or one) relationship exists when only one row of data in the principal table is linked to zero or one row in a dependent table. </a:t>
            </a:r>
            <a:endParaRPr lang="en-US" b="1" dirty="0"/>
          </a:p>
          <a:p>
            <a:pPr marL="285750" indent="-285750">
              <a:lnSpc>
                <a:spcPct val="150000"/>
              </a:lnSpc>
              <a:buClr>
                <a:schemeClr val="accent4">
                  <a:lumMod val="75000"/>
                </a:schemeClr>
              </a:buClr>
              <a:buSzPct val="80000"/>
              <a:buFont typeface="Lato" panose="020B0604020202020204" charset="0"/>
              <a:buChar char="►"/>
            </a:pPr>
            <a:r>
              <a:rPr lang="en-US" b="1" dirty="0"/>
              <a:t>One-to-Many: </a:t>
            </a:r>
            <a:r>
              <a:rPr lang="en-US" dirty="0"/>
              <a:t>In a one-to-many relationship, one entity instance (the principal) relates to multiple instances of another entity (the dependents). Typically, the principal entity holds the primary key, while the dependent entity holds the foreign key.</a:t>
            </a:r>
            <a:endParaRPr lang="en-US" b="1" dirty="0"/>
          </a:p>
          <a:p>
            <a:pPr marL="285750" indent="-285750">
              <a:lnSpc>
                <a:spcPct val="150000"/>
              </a:lnSpc>
              <a:buClr>
                <a:schemeClr val="accent4">
                  <a:lumMod val="75000"/>
                </a:schemeClr>
              </a:buClr>
              <a:buSzPct val="80000"/>
              <a:buFont typeface="Lato" panose="020B0604020202020204" charset="0"/>
              <a:buChar char="►"/>
            </a:pPr>
            <a:r>
              <a:rPr lang="en-US" b="1" dirty="0"/>
              <a:t>Many-to-Many: </a:t>
            </a:r>
            <a:r>
              <a:rPr lang="en-US" dirty="0"/>
              <a:t>In this relationship, both entities have collection navigation properties, and EF Core creates an implicit join table in the database to link the two.</a:t>
            </a:r>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336837829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One to One Relationships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830" y="1023438"/>
            <a:ext cx="4103694" cy="2473036"/>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43922" y="1023438"/>
            <a:ext cx="3800104" cy="3325091"/>
          </a:xfrm>
          <a:prstGeom prst="rect">
            <a:avLst/>
          </a:prstGeom>
        </p:spPr>
      </p:pic>
    </p:spTree>
    <p:extLst>
      <p:ext uri="{BB962C8B-B14F-4D97-AF65-F5344CB8AC3E}">
        <p14:creationId xmlns:p14="http://schemas.microsoft.com/office/powerpoint/2010/main" val="358791999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One to Many Relationships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28" y="1104483"/>
            <a:ext cx="4322617" cy="2220609"/>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37871" y="980973"/>
            <a:ext cx="4012206" cy="3068594"/>
          </a:xfrm>
          <a:prstGeom prst="rect">
            <a:avLst/>
          </a:prstGeom>
        </p:spPr>
      </p:pic>
    </p:spTree>
    <p:extLst>
      <p:ext uri="{BB962C8B-B14F-4D97-AF65-F5344CB8AC3E}">
        <p14:creationId xmlns:p14="http://schemas.microsoft.com/office/powerpoint/2010/main" val="426456208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Many to Many Relationships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899" y="1166236"/>
            <a:ext cx="4062846" cy="2122195"/>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67869" y="1166236"/>
            <a:ext cx="4538619" cy="2122195"/>
          </a:xfrm>
          <a:prstGeom prst="rect">
            <a:avLst/>
          </a:prstGeom>
        </p:spPr>
      </p:pic>
    </p:spTree>
    <p:extLst>
      <p:ext uri="{BB962C8B-B14F-4D97-AF65-F5344CB8AC3E}">
        <p14:creationId xmlns:p14="http://schemas.microsoft.com/office/powerpoint/2010/main" val="244072158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Entity States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3693288"/>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t>In Entity Framework Core (EF Core), entities can exist in various states during their lifecycle as the </a:t>
            </a:r>
            <a:r>
              <a:rPr lang="en-US" dirty="0" err="1"/>
              <a:t>DbContext</a:t>
            </a:r>
            <a:r>
              <a:rPr lang="en-US" dirty="0"/>
              <a:t> tracks them.</a:t>
            </a:r>
          </a:p>
          <a:p>
            <a:pPr marL="285750" indent="-285750">
              <a:lnSpc>
                <a:spcPct val="150000"/>
              </a:lnSpc>
              <a:buClr>
                <a:schemeClr val="accent4">
                  <a:lumMod val="75000"/>
                </a:schemeClr>
              </a:buClr>
              <a:buSzPct val="80000"/>
              <a:buFont typeface="Lato" panose="020B0604020202020204" charset="0"/>
              <a:buChar char="►"/>
            </a:pPr>
            <a:r>
              <a:rPr lang="en-US" dirty="0"/>
              <a:t>Entity States in EF Core represent an entity’s state in relation to its interaction with the </a:t>
            </a:r>
            <a:r>
              <a:rPr lang="en-US" dirty="0" err="1"/>
              <a:t>DbContext</a:t>
            </a:r>
            <a:r>
              <a:rPr lang="en-US" dirty="0"/>
              <a:t>. EF Core uses these states to determine what operations need to be performed on the database when </a:t>
            </a:r>
            <a:r>
              <a:rPr lang="en-US" dirty="0" err="1"/>
              <a:t>SaveChanges</a:t>
            </a:r>
            <a:r>
              <a:rPr lang="en-US" dirty="0"/>
              <a:t>() is called.</a:t>
            </a:r>
          </a:p>
          <a:p>
            <a:pPr marL="285750" indent="-285750">
              <a:lnSpc>
                <a:spcPct val="150000"/>
              </a:lnSpc>
              <a:buClr>
                <a:schemeClr val="accent4">
                  <a:lumMod val="75000"/>
                </a:schemeClr>
              </a:buClr>
              <a:buSzPct val="80000"/>
              <a:buFont typeface="Lato" panose="020B0604020202020204" charset="0"/>
              <a:buChar char="►"/>
            </a:pPr>
            <a:r>
              <a:rPr lang="en-US" b="1" dirty="0"/>
              <a:t>Added:</a:t>
            </a:r>
            <a:r>
              <a:rPr lang="en-US" dirty="0"/>
              <a:t> The entity is being tracked by the context but does not yet exist in the database. When </a:t>
            </a:r>
            <a:r>
              <a:rPr lang="en-US" dirty="0" err="1"/>
              <a:t>SaveChanges</a:t>
            </a:r>
            <a:r>
              <a:rPr lang="en-US" dirty="0"/>
              <a:t>() is executed, EF Core issues an INSERT command for this entity.</a:t>
            </a:r>
          </a:p>
          <a:p>
            <a:pPr marL="285750" indent="-285750">
              <a:lnSpc>
                <a:spcPct val="150000"/>
              </a:lnSpc>
              <a:buClr>
                <a:schemeClr val="accent4">
                  <a:lumMod val="75000"/>
                </a:schemeClr>
              </a:buClr>
              <a:buSzPct val="80000"/>
              <a:buFont typeface="Lato" panose="020B0604020202020204" charset="0"/>
              <a:buChar char="►"/>
            </a:pPr>
            <a:r>
              <a:rPr lang="en-US" b="1" dirty="0"/>
              <a:t>Unchanged:</a:t>
            </a:r>
            <a:r>
              <a:rPr lang="en-US" dirty="0"/>
              <a:t> The entity is being tracked and exists in the database but has not been modified since it was retrieved. EF Core will not issue any database commands for entities in this state during </a:t>
            </a:r>
            <a:r>
              <a:rPr lang="en-US" dirty="0" err="1"/>
              <a:t>SaveChanges</a:t>
            </a:r>
            <a:r>
              <a:rPr lang="en-US" dirty="0"/>
              <a:t>().</a:t>
            </a:r>
          </a:p>
          <a:p>
            <a:pPr marL="285750" indent="-285750">
              <a:lnSpc>
                <a:spcPct val="150000"/>
              </a:lnSpc>
              <a:buClr>
                <a:schemeClr val="accent4">
                  <a:lumMod val="75000"/>
                </a:schemeClr>
              </a:buClr>
              <a:buSzPct val="80000"/>
              <a:buFont typeface="Lato" panose="020B0604020202020204" charset="0"/>
              <a:buChar char="►"/>
            </a:pPr>
            <a:endParaRPr lang="en-US" dirty="0"/>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32869923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Entity States</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2446793"/>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Modified:</a:t>
            </a:r>
            <a:r>
              <a:rPr lang="en-US" sz="1200" dirty="0">
                <a:latin typeface="Lato" panose="020B0604020202020204" charset="0"/>
              </a:rPr>
              <a:t> The entity is being tracked and exists in the database, and some or all of its property values have been modified. When </a:t>
            </a:r>
            <a:r>
              <a:rPr lang="en-US" sz="1200" dirty="0" err="1">
                <a:latin typeface="Lato" panose="020B0604020202020204" charset="0"/>
              </a:rPr>
              <a:t>SaveChanges</a:t>
            </a:r>
            <a:r>
              <a:rPr lang="en-US" sz="1200" dirty="0">
                <a:latin typeface="Lato" panose="020B0604020202020204" charset="0"/>
              </a:rPr>
              <a:t>() is executed, EF Core issues a UPDATE command that only updates the changed properties.</a:t>
            </a:r>
          </a:p>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Deleted:</a:t>
            </a:r>
            <a:r>
              <a:rPr lang="en-US" sz="1200" dirty="0">
                <a:latin typeface="Lato" panose="020B0604020202020204" charset="0"/>
              </a:rPr>
              <a:t> The entity is being tracked and exists in the database but has been marked for deletion. When </a:t>
            </a:r>
            <a:r>
              <a:rPr lang="en-US" sz="1200" dirty="0" err="1">
                <a:latin typeface="Lato" panose="020B0604020202020204" charset="0"/>
              </a:rPr>
              <a:t>SaveChanges</a:t>
            </a:r>
            <a:r>
              <a:rPr lang="en-US" sz="1200" dirty="0">
                <a:latin typeface="Lato" panose="020B0604020202020204" charset="0"/>
              </a:rPr>
              <a:t>() is executed, EF Core issues a DELETE command for this entity.</a:t>
            </a:r>
          </a:p>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Detached:</a:t>
            </a:r>
            <a:r>
              <a:rPr lang="en-US" sz="1200" dirty="0">
                <a:latin typeface="Lato" panose="020B0604020202020204" charset="0"/>
              </a:rPr>
              <a:t> The entity is not being tracked by the context. EF Core will not perform any database operations on detached entities when </a:t>
            </a:r>
            <a:r>
              <a:rPr lang="en-US" sz="1200" dirty="0" err="1">
                <a:latin typeface="Lato" panose="020B0604020202020204" charset="0"/>
              </a:rPr>
              <a:t>SaveChanges</a:t>
            </a:r>
            <a:r>
              <a:rPr lang="en-US" sz="1200" dirty="0">
                <a:latin typeface="Lato" panose="020B0604020202020204" charset="0"/>
              </a:rPr>
              <a:t>() is called. This state is typical for entities that have been created but not yet added to the context, have been explicitly detached from the context, or have been deleted from the database.</a:t>
            </a:r>
          </a:p>
          <a:p>
            <a:pPr marL="28575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We can check the current state of my entity using  </a:t>
            </a:r>
            <a:r>
              <a:rPr lang="en-US" b="1" dirty="0"/>
              <a:t>_</a:t>
            </a:r>
            <a:r>
              <a:rPr lang="en-US" b="1" dirty="0" err="1"/>
              <a:t>context.Entry</a:t>
            </a:r>
            <a:r>
              <a:rPr lang="en-US" b="1" dirty="0"/>
              <a:t>(trainer).State;</a:t>
            </a:r>
            <a:endParaRPr lang="en-US" sz="1200" b="1" dirty="0">
              <a:latin typeface="Lato" panose="020B0604020202020204" charset="0"/>
            </a:endParaRPr>
          </a:p>
        </p:txBody>
      </p:sp>
    </p:spTree>
    <p:extLst>
      <p:ext uri="{BB962C8B-B14F-4D97-AF65-F5344CB8AC3E}">
        <p14:creationId xmlns:p14="http://schemas.microsoft.com/office/powerpoint/2010/main" val="2407066593"/>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Eager Loading</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3924121"/>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dirty="0"/>
              <a:t>In Eager Loading, related data (such as Branch, Address, and Courses) is loaded automatically as part of the initial query to the database. This is done using the Include() and </a:t>
            </a:r>
            <a:r>
              <a:rPr lang="en-US" dirty="0" err="1"/>
              <a:t>ThenInclude</a:t>
            </a:r>
            <a:r>
              <a:rPr lang="en-US" dirty="0"/>
              <a:t>() methods. The related entities are loaded in the same query when the Student entity is retrieved.</a:t>
            </a:r>
          </a:p>
          <a:p>
            <a:pPr marL="285750" indent="-285750">
              <a:lnSpc>
                <a:spcPct val="150000"/>
              </a:lnSpc>
              <a:buClr>
                <a:schemeClr val="accent4">
                  <a:lumMod val="75000"/>
                </a:schemeClr>
              </a:buClr>
              <a:buSzPct val="80000"/>
              <a:buFont typeface="Lato" panose="020B0604020202020204" charset="0"/>
              <a:buChar char="►"/>
            </a:pPr>
            <a:r>
              <a:rPr lang="en-US" dirty="0"/>
              <a:t>This helps avoid the “</a:t>
            </a:r>
            <a:r>
              <a:rPr lang="en-US" b="1" dirty="0"/>
              <a:t>N+1 Query Problem</a:t>
            </a:r>
            <a:r>
              <a:rPr lang="en-US" dirty="0"/>
              <a:t>,” where multiple queries would otherwise be sent to the database to fetch each related entity one by one.</a:t>
            </a:r>
          </a:p>
          <a:p>
            <a:pPr marL="285750" indent="-285750">
              <a:lnSpc>
                <a:spcPct val="150000"/>
              </a:lnSpc>
              <a:buClr>
                <a:schemeClr val="accent4">
                  <a:lumMod val="75000"/>
                </a:schemeClr>
              </a:buClr>
              <a:buSzPct val="80000"/>
              <a:buFont typeface="Lato" panose="020B0604020202020204" charset="0"/>
              <a:buChar char="►"/>
            </a:pPr>
            <a:r>
              <a:rPr lang="en-US" dirty="0"/>
              <a:t> Eager Loading is ideal when you know we need the related entities along with the main entity immediately and want to minimize the number of database queries.</a:t>
            </a:r>
          </a:p>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When to Use Eager Loading with EF Core:</a:t>
            </a:r>
            <a:br>
              <a:rPr lang="en-US" sz="1200" b="1" dirty="0">
                <a:latin typeface="Lato" panose="020B0604020202020204" charset="0"/>
              </a:rPr>
            </a:br>
            <a:r>
              <a:rPr lang="en-US" sz="1200" dirty="0">
                <a:latin typeface="Lato" panose="020B0604020202020204" charset="0"/>
              </a:rPr>
              <a:t>You Know You’ll Need Related Data Immediately:</a:t>
            </a:r>
            <a:br>
              <a:rPr lang="en-US" sz="1200" dirty="0">
                <a:latin typeface="Lato" panose="020B0604020202020204" charset="0"/>
              </a:rPr>
            </a:br>
            <a:r>
              <a:rPr lang="en-US" sz="1200" dirty="0">
                <a:latin typeface="Lato" panose="020B0604020202020204" charset="0"/>
              </a:rPr>
              <a:t>You Want to Minimize Round Trips to the Database:</a:t>
            </a:r>
            <a:br>
              <a:rPr lang="en-US" sz="1200" dirty="0">
                <a:latin typeface="Lato" panose="020B0604020202020204" charset="0"/>
              </a:rPr>
            </a:br>
            <a:r>
              <a:rPr lang="en-US" sz="1200" dirty="0">
                <a:latin typeface="Lato" panose="020B0604020202020204" charset="0"/>
              </a:rPr>
              <a:t>When You Want to Avoid the N+1 Query Problem:</a:t>
            </a:r>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263804185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Lazy Loading</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4985950"/>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In Lazy Loading, the related data is not retrieved initially. Instead, the related entities are loaded only when we access the navigation property for the first time. EF Core makes a separate query to the database when we try to access the related property.</a:t>
            </a:r>
          </a:p>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How Do We Implement Lazy Loading in EF Core?</a:t>
            </a:r>
            <a:br>
              <a:rPr lang="en-US" sz="1200" b="1" dirty="0">
                <a:latin typeface="Lato" panose="020B0604020202020204" charset="0"/>
              </a:rPr>
            </a:br>
            <a:r>
              <a:rPr lang="en-US" sz="1200" b="1" dirty="0">
                <a:latin typeface="Lato" panose="020B0604020202020204" charset="0"/>
              </a:rPr>
              <a:t> Install the Required Package - </a:t>
            </a:r>
            <a:r>
              <a:rPr lang="en-US" sz="1200" dirty="0" err="1">
                <a:latin typeface="Lato" panose="020B0604020202020204" charset="0"/>
              </a:rPr>
              <a:t>Microsoft.EntityFrameworkCore.Proxies</a:t>
            </a:r>
            <a:br>
              <a:rPr lang="en-US" sz="1200" dirty="0">
                <a:latin typeface="Lato" panose="020B0604020202020204" charset="0"/>
              </a:rPr>
            </a:br>
            <a:r>
              <a:rPr lang="en-US" sz="1200" b="1" dirty="0">
                <a:latin typeface="Lato" panose="020B0604020202020204" charset="0"/>
              </a:rPr>
              <a:t>Enable Lazy Loading in the </a:t>
            </a:r>
            <a:r>
              <a:rPr lang="en-US" sz="1200" b="1" dirty="0" err="1">
                <a:latin typeface="Lato" panose="020B0604020202020204" charset="0"/>
              </a:rPr>
              <a:t>DbContext</a:t>
            </a:r>
            <a:r>
              <a:rPr lang="en-US" sz="1200" b="1" dirty="0">
                <a:latin typeface="Lato" panose="020B0604020202020204" charset="0"/>
              </a:rPr>
              <a:t>: </a:t>
            </a:r>
            <a:r>
              <a:rPr lang="en-US" sz="1200" dirty="0" err="1">
                <a:latin typeface="Lato" panose="020B0604020202020204" charset="0"/>
              </a:rPr>
              <a:t>optionsBuilder.UseLazyLoadingProxies</a:t>
            </a:r>
            <a:r>
              <a:rPr lang="en-US" sz="1200" b="1" dirty="0">
                <a:latin typeface="Lato" panose="020B0604020202020204" charset="0"/>
              </a:rPr>
              <a:t>()</a:t>
            </a:r>
            <a:r>
              <a:rPr lang="en-US" sz="1200" dirty="0">
                <a:latin typeface="Lato" panose="020B0604020202020204" charset="0"/>
              </a:rPr>
              <a:t>;</a:t>
            </a:r>
            <a:br>
              <a:rPr lang="en-US" sz="1200" b="1" dirty="0">
                <a:latin typeface="Lato" panose="020B0604020202020204" charset="0"/>
              </a:rPr>
            </a:br>
            <a:r>
              <a:rPr lang="en-US" sz="1200" b="1" dirty="0">
                <a:latin typeface="Lato" panose="020B0604020202020204" charset="0"/>
              </a:rPr>
              <a:t>Mark Navigation Properties as virtual</a:t>
            </a:r>
          </a:p>
          <a:p>
            <a:pPr marL="285750" indent="-285750">
              <a:lnSpc>
                <a:spcPct val="150000"/>
              </a:lnSpc>
              <a:buClr>
                <a:schemeClr val="accent4">
                  <a:lumMod val="75000"/>
                </a:schemeClr>
              </a:buClr>
              <a:buSzPct val="80000"/>
              <a:buFont typeface="Lato" panose="020B0604020202020204" charset="0"/>
              <a:buChar char="►"/>
            </a:pPr>
            <a:r>
              <a:rPr lang="en-US" dirty="0"/>
              <a:t>With Lazy Loading enabled in EF Core, EF Core will automatically load the data from the database when we access a related entity for the first time. The loaded data is then stored in the context’s change tracker (in memory). If we </a:t>
            </a:r>
            <a:r>
              <a:rPr lang="en-US" dirty="0" err="1"/>
              <a:t>reaccess</a:t>
            </a:r>
            <a:r>
              <a:rPr lang="en-US" dirty="0"/>
              <a:t> the same related entity within the same </a:t>
            </a:r>
            <a:r>
              <a:rPr lang="en-US" dirty="0" err="1"/>
              <a:t>DbContext</a:t>
            </a:r>
            <a:r>
              <a:rPr lang="en-US" dirty="0"/>
              <a:t> instance, the data is fetched from in-memory rather than querying the database again. This avoids redundant database calls and improves performance for subsequent access to the same entity.</a:t>
            </a:r>
            <a:endParaRPr lang="en-US" sz="1200" b="1" dirty="0">
              <a:latin typeface="Lato" panose="020B0604020202020204" charset="0"/>
            </a:endParaRPr>
          </a:p>
          <a:p>
            <a:pPr marL="285750" indent="-285750">
              <a:lnSpc>
                <a:spcPct val="150000"/>
              </a:lnSpc>
              <a:buClr>
                <a:schemeClr val="accent4">
                  <a:lumMod val="75000"/>
                </a:schemeClr>
              </a:buClr>
              <a:buSzPct val="80000"/>
              <a:buFont typeface="Lato" panose="020B0604020202020204" charset="0"/>
              <a:buChar char="►"/>
            </a:pPr>
            <a:endParaRPr lang="en-US" b="1" dirty="0"/>
          </a:p>
          <a:p>
            <a:pPr marL="285750" indent="-285750">
              <a:lnSpc>
                <a:spcPct val="150000"/>
              </a:lnSpc>
              <a:buClr>
                <a:schemeClr val="accent4">
                  <a:lumMod val="75000"/>
                </a:schemeClr>
              </a:buClr>
              <a:buSzPct val="80000"/>
              <a:buFont typeface="Lato" panose="020B0604020202020204" charset="0"/>
              <a:buChar char="►"/>
            </a:pPr>
            <a:endParaRPr lang="en-US" b="1" dirty="0"/>
          </a:p>
          <a:p>
            <a:pPr marL="285750" indent="-285750">
              <a:lnSpc>
                <a:spcPct val="150000"/>
              </a:lnSpc>
              <a:buClr>
                <a:schemeClr val="accent4">
                  <a:lumMod val="75000"/>
                </a:schemeClr>
              </a:buClr>
              <a:buSzPct val="80000"/>
              <a:buFont typeface="Lato" panose="020B0604020202020204" charset="0"/>
              <a:buChar char="►"/>
            </a:pPr>
            <a:endParaRPr lang="en-US" b="1" dirty="0"/>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spTree>
    <p:extLst>
      <p:ext uri="{BB962C8B-B14F-4D97-AF65-F5344CB8AC3E}">
        <p14:creationId xmlns:p14="http://schemas.microsoft.com/office/powerpoint/2010/main" val="2367508477"/>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4" name="Google Shape;74;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5" name="Google Shape;75;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lvl="0" algn="ctr">
              <a:buSzPts val="2000"/>
            </a:pPr>
            <a:r>
              <a:rPr lang="en-US" sz="2000" b="1" dirty="0">
                <a:solidFill>
                  <a:srgbClr val="FFFFFF"/>
                </a:solidFill>
                <a:latin typeface="Lato"/>
                <a:ea typeface="Lato"/>
                <a:cs typeface="Lato"/>
                <a:sym typeface="Lato"/>
              </a:rPr>
              <a:t>Explicit Loading</a:t>
            </a:r>
          </a:p>
        </p:txBody>
      </p:sp>
      <p:pic>
        <p:nvPicPr>
          <p:cNvPr id="76" name="Google Shape;76;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7" name="Google Shape;77;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8" name="Google Shape;78;p17"/>
          <p:cNvSpPr txBox="1"/>
          <p:nvPr/>
        </p:nvSpPr>
        <p:spPr>
          <a:xfrm>
            <a:off x="159379" y="1023438"/>
            <a:ext cx="8800634" cy="2816125"/>
          </a:xfrm>
          <a:prstGeom prst="rect">
            <a:avLst/>
          </a:prstGeom>
          <a:noFill/>
          <a:ln>
            <a:noFill/>
          </a:ln>
        </p:spPr>
        <p:txBody>
          <a:bodyPr spcFirstLastPara="1" wrap="square" lIns="91425" tIns="91425" rIns="91425" bIns="91425" anchor="t" anchorCtr="0">
            <a:spAutoFit/>
          </a:bodyPr>
          <a:lstStyle/>
          <a:p>
            <a:pPr marL="28575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Explicit Loading in Entity Framework Core is a technique where related entities are loaded manually after the main entity has already been retrieved from the database.</a:t>
            </a:r>
          </a:p>
          <a:p>
            <a:pPr marL="285750" indent="-285750">
              <a:lnSpc>
                <a:spcPct val="150000"/>
              </a:lnSpc>
              <a:buClr>
                <a:schemeClr val="accent4">
                  <a:lumMod val="75000"/>
                </a:schemeClr>
              </a:buClr>
              <a:buSzPct val="80000"/>
              <a:buFont typeface="Lato" panose="020B0604020202020204" charset="0"/>
              <a:buChar char="►"/>
            </a:pPr>
            <a:r>
              <a:rPr lang="en-US" sz="1200" dirty="0">
                <a:latin typeface="Lato" panose="020B0604020202020204" charset="0"/>
              </a:rPr>
              <a:t>This allows us to defer loading related entities until they are needed.</a:t>
            </a:r>
          </a:p>
          <a:p>
            <a:pPr marL="285750" indent="-285750">
              <a:lnSpc>
                <a:spcPct val="150000"/>
              </a:lnSpc>
              <a:buClr>
                <a:schemeClr val="accent4">
                  <a:lumMod val="75000"/>
                </a:schemeClr>
              </a:buClr>
              <a:buSzPct val="80000"/>
              <a:buFont typeface="Lato" panose="020B0604020202020204" charset="0"/>
              <a:buChar char="►"/>
            </a:pPr>
            <a:r>
              <a:rPr lang="en-US" sz="1200" b="1" dirty="0">
                <a:latin typeface="Lato" panose="020B0604020202020204" charset="0"/>
              </a:rPr>
              <a:t>How we can Implement Explicit Loading:</a:t>
            </a:r>
            <a:br>
              <a:rPr lang="en-US" sz="1200" b="1" dirty="0">
                <a:latin typeface="Lato" panose="020B0604020202020204" charset="0"/>
              </a:rPr>
            </a:br>
            <a:r>
              <a:rPr lang="en-US" sz="1200" dirty="0">
                <a:latin typeface="Lato" panose="020B0604020202020204" charset="0"/>
              </a:rPr>
              <a:t>Explicit loading involves methods like Entry(), Reference(), Collection(), and Load().</a:t>
            </a:r>
            <a:br>
              <a:rPr lang="en-US" dirty="0"/>
            </a:br>
            <a:endParaRPr lang="en-US" sz="1200" b="1" dirty="0"/>
          </a:p>
          <a:p>
            <a:pPr marL="285750" indent="-285750">
              <a:lnSpc>
                <a:spcPct val="150000"/>
              </a:lnSpc>
              <a:buClr>
                <a:schemeClr val="accent4">
                  <a:lumMod val="75000"/>
                </a:schemeClr>
              </a:buClr>
              <a:buSzPct val="80000"/>
              <a:buFont typeface="Lato" panose="020B0604020202020204" charset="0"/>
              <a:buChar char="►"/>
            </a:pPr>
            <a:endParaRPr lang="en-US" b="1" dirty="0"/>
          </a:p>
          <a:p>
            <a:pPr marL="285750" indent="-285750">
              <a:lnSpc>
                <a:spcPct val="150000"/>
              </a:lnSpc>
              <a:buClr>
                <a:schemeClr val="accent4">
                  <a:lumMod val="75000"/>
                </a:schemeClr>
              </a:buClr>
              <a:buSzPct val="80000"/>
              <a:buFont typeface="Lato" panose="020B0604020202020204" charset="0"/>
              <a:buChar char="►"/>
            </a:pPr>
            <a:endParaRPr lang="en-US" b="1" dirty="0"/>
          </a:p>
          <a:p>
            <a:pPr marL="285750" indent="-285750">
              <a:lnSpc>
                <a:spcPct val="150000"/>
              </a:lnSpc>
              <a:buClr>
                <a:schemeClr val="accent4">
                  <a:lumMod val="75000"/>
                </a:schemeClr>
              </a:buClr>
              <a:buSzPct val="80000"/>
              <a:buFont typeface="Lato" panose="020B0604020202020204" charset="0"/>
              <a:buChar char="►"/>
            </a:pPr>
            <a:endParaRPr lang="en-US" sz="1200" b="1" dirty="0">
              <a:latin typeface="Lato" panose="020B0604020202020204"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409" y="2608773"/>
            <a:ext cx="6729721" cy="1963227"/>
          </a:xfrm>
          <a:prstGeom prst="rect">
            <a:avLst/>
          </a:prstGeom>
        </p:spPr>
      </p:pic>
    </p:spTree>
    <p:extLst>
      <p:ext uri="{BB962C8B-B14F-4D97-AF65-F5344CB8AC3E}">
        <p14:creationId xmlns:p14="http://schemas.microsoft.com/office/powerpoint/2010/main" val="135058420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5"/>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63" name="Google Shape;63;p15"/>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64" name="Google Shape;64;p15"/>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Design Patterns</a:t>
            </a:r>
            <a:endParaRPr sz="2000" b="1" i="0" u="none" strike="noStrike" cap="none">
              <a:solidFill>
                <a:schemeClr val="lt1"/>
              </a:solidFill>
              <a:latin typeface="Lato"/>
              <a:ea typeface="Lato"/>
              <a:cs typeface="Lato"/>
              <a:sym typeface="Lato"/>
            </a:endParaRPr>
          </a:p>
        </p:txBody>
      </p:sp>
      <p:pic>
        <p:nvPicPr>
          <p:cNvPr id="65" name="Google Shape;65;p1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66" name="Google Shape;66;p1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67" name="Google Shape;67;p15"/>
          <p:cNvSpPr txBox="1"/>
          <p:nvPr/>
        </p:nvSpPr>
        <p:spPr>
          <a:xfrm>
            <a:off x="294875" y="756725"/>
            <a:ext cx="8308200" cy="30537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Definition</a:t>
            </a:r>
            <a:endParaRPr sz="1600" b="1">
              <a:solidFill>
                <a:srgbClr val="222222"/>
              </a:solidFill>
              <a:latin typeface="Lato"/>
              <a:ea typeface="Lato"/>
              <a:cs typeface="Lato"/>
              <a:sym typeface="Lato"/>
            </a:endParaRPr>
          </a:p>
          <a:p>
            <a:pPr marL="914400" lvl="0" indent="0" algn="l" rtl="0">
              <a:lnSpc>
                <a:spcPct val="115000"/>
              </a:lnSpc>
              <a:spcBef>
                <a:spcPts val="1200"/>
              </a:spcBef>
              <a:spcAft>
                <a:spcPts val="0"/>
              </a:spcAft>
              <a:buNone/>
            </a:pPr>
            <a:r>
              <a:rPr lang="en-US" sz="1600" b="1">
                <a:solidFill>
                  <a:srgbClr val="222222"/>
                </a:solidFill>
                <a:latin typeface="Lato"/>
                <a:ea typeface="Lato"/>
                <a:cs typeface="Lato"/>
                <a:sym typeface="Lato"/>
              </a:rPr>
              <a:t>Design patterns are reusable solutions to common software design problems.</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Purpose: </a:t>
            </a:r>
            <a:endParaRPr sz="1600" b="1">
              <a:solidFill>
                <a:srgbClr val="222222"/>
              </a:solidFill>
              <a:latin typeface="Lato"/>
              <a:ea typeface="Lato"/>
              <a:cs typeface="Lato"/>
              <a:sym typeface="Lato"/>
            </a:endParaRPr>
          </a:p>
          <a:p>
            <a:pPr marL="914400" lvl="0" indent="0" algn="l" rtl="0">
              <a:lnSpc>
                <a:spcPct val="115000"/>
              </a:lnSpc>
              <a:spcBef>
                <a:spcPts val="1200"/>
              </a:spcBef>
              <a:spcAft>
                <a:spcPts val="0"/>
              </a:spcAft>
              <a:buNone/>
            </a:pPr>
            <a:r>
              <a:rPr lang="en-US" sz="1600" b="1">
                <a:solidFill>
                  <a:srgbClr val="222222"/>
                </a:solidFill>
                <a:latin typeface="Lato"/>
                <a:ea typeface="Lato"/>
                <a:cs typeface="Lato"/>
                <a:sym typeface="Lato"/>
              </a:rPr>
              <a:t>Improve code reusability, scalability, and maintainability.</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Categories: </a:t>
            </a:r>
            <a:endParaRPr sz="1600" b="1">
              <a:solidFill>
                <a:srgbClr val="222222"/>
              </a:solidFill>
              <a:latin typeface="Lato"/>
              <a:ea typeface="Lato"/>
              <a:cs typeface="Lato"/>
              <a:sym typeface="Lato"/>
            </a:endParaRPr>
          </a:p>
          <a:p>
            <a:pPr marL="914400" lvl="0" indent="0" algn="l" rtl="0">
              <a:lnSpc>
                <a:spcPct val="115000"/>
              </a:lnSpc>
              <a:spcBef>
                <a:spcPts val="1200"/>
              </a:spcBef>
              <a:spcAft>
                <a:spcPts val="0"/>
              </a:spcAft>
              <a:buNone/>
            </a:pPr>
            <a:r>
              <a:rPr lang="en-US" sz="1600" b="1">
                <a:solidFill>
                  <a:srgbClr val="222222"/>
                </a:solidFill>
                <a:latin typeface="Lato"/>
                <a:ea typeface="Lato"/>
                <a:cs typeface="Lato"/>
                <a:sym typeface="Lato"/>
              </a:rPr>
              <a:t>Creational, Structural, and Behavioral Patterns.</a:t>
            </a:r>
            <a:endParaRPr sz="1600" b="1">
              <a:solidFill>
                <a:srgbClr val="222222"/>
              </a:solidFill>
              <a:latin typeface="Lato"/>
              <a:ea typeface="Lato"/>
              <a:cs typeface="Lato"/>
              <a:sym typeface="Lato"/>
            </a:endParaRPr>
          </a:p>
          <a:p>
            <a:pPr marL="285750" marR="0" lvl="0" indent="-214630" algn="l" rtl="0">
              <a:lnSpc>
                <a:spcPct val="100000"/>
              </a:lnSpc>
              <a:spcBef>
                <a:spcPts val="120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73" name="Google Shape;73;p1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74" name="Google Shape;74;p1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Types of Design Pattern</a:t>
            </a:r>
            <a:endParaRPr sz="2000" b="1" i="0" u="none" strike="noStrike" cap="none">
              <a:solidFill>
                <a:schemeClr val="lt1"/>
              </a:solidFill>
              <a:latin typeface="Lato"/>
              <a:ea typeface="Lato"/>
              <a:cs typeface="Lato"/>
              <a:sym typeface="Lato"/>
            </a:endParaRPr>
          </a:p>
        </p:txBody>
      </p:sp>
      <p:pic>
        <p:nvPicPr>
          <p:cNvPr id="75" name="Google Shape;75;p1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76" name="Google Shape;76;p1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77" name="Google Shape;77;p16"/>
          <p:cNvSpPr txBox="1"/>
          <p:nvPr/>
        </p:nvSpPr>
        <p:spPr>
          <a:xfrm>
            <a:off x="294875" y="604325"/>
            <a:ext cx="8652000" cy="44700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Creational Design Patterns</a:t>
            </a:r>
            <a:endParaRPr sz="1600" b="1">
              <a:solidFill>
                <a:srgbClr val="222222"/>
              </a:solidFill>
              <a:latin typeface="Lato"/>
              <a:ea typeface="Lato"/>
              <a:cs typeface="Lato"/>
              <a:sym typeface="Lato"/>
            </a:endParaRPr>
          </a:p>
          <a:p>
            <a:pPr marL="914400" lvl="0" indent="0" algn="l" rtl="0">
              <a:lnSpc>
                <a:spcPct val="115000"/>
              </a:lnSpc>
              <a:spcBef>
                <a:spcPts val="1200"/>
              </a:spcBef>
              <a:spcAft>
                <a:spcPts val="0"/>
              </a:spcAft>
              <a:buNone/>
            </a:pPr>
            <a:r>
              <a:rPr lang="en-US" sz="1600" b="1">
                <a:solidFill>
                  <a:srgbClr val="222222"/>
                </a:solidFill>
                <a:latin typeface="Lato"/>
                <a:ea typeface="Lato"/>
                <a:cs typeface="Lato"/>
                <a:sym typeface="Lato"/>
              </a:rPr>
              <a:t>Creational design patterns provide various object creation mechanisms, which increase flexibility and reuse of existing code (e.g., Singleton, Factory Method, Abstract Factory).</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Structural Design Patterns</a:t>
            </a:r>
            <a:endParaRPr sz="1600" b="1">
              <a:solidFill>
                <a:srgbClr val="222222"/>
              </a:solidFill>
              <a:latin typeface="Lato"/>
              <a:ea typeface="Lato"/>
              <a:cs typeface="Lato"/>
              <a:sym typeface="Lato"/>
            </a:endParaRPr>
          </a:p>
          <a:p>
            <a:pPr marL="914400" lvl="0" indent="0" algn="l" rtl="0">
              <a:lnSpc>
                <a:spcPct val="115000"/>
              </a:lnSpc>
              <a:spcBef>
                <a:spcPts val="1200"/>
              </a:spcBef>
              <a:spcAft>
                <a:spcPts val="0"/>
              </a:spcAft>
              <a:buNone/>
            </a:pPr>
            <a:r>
              <a:rPr lang="en-US" sz="1600" b="1">
                <a:solidFill>
                  <a:srgbClr val="222222"/>
                </a:solidFill>
                <a:latin typeface="Lato"/>
                <a:ea typeface="Lato"/>
                <a:cs typeface="Lato"/>
                <a:sym typeface="Lato"/>
              </a:rPr>
              <a:t>Structural design patterns explain how to assemble objects and classes into larger structures, while keeping these structures flexible and efficient. e.g., Adapter, Composite, Decorator)</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Behavioral Design Patterns: </a:t>
            </a:r>
            <a:endParaRPr sz="1600" b="1">
              <a:solidFill>
                <a:srgbClr val="222222"/>
              </a:solidFill>
              <a:latin typeface="Lato"/>
              <a:ea typeface="Lato"/>
              <a:cs typeface="Lato"/>
              <a:sym typeface="Lato"/>
            </a:endParaRPr>
          </a:p>
          <a:p>
            <a:pPr marL="914400" lvl="0" indent="0" algn="l" rtl="0">
              <a:lnSpc>
                <a:spcPct val="115000"/>
              </a:lnSpc>
              <a:spcBef>
                <a:spcPts val="1200"/>
              </a:spcBef>
              <a:spcAft>
                <a:spcPts val="0"/>
              </a:spcAft>
              <a:buNone/>
            </a:pPr>
            <a:r>
              <a:rPr lang="en-US" sz="1600" b="1">
                <a:solidFill>
                  <a:srgbClr val="222222"/>
                </a:solidFill>
                <a:latin typeface="Lato"/>
                <a:ea typeface="Lato"/>
                <a:cs typeface="Lato"/>
                <a:sym typeface="Lato"/>
              </a:rPr>
              <a:t>Behavioral design patterns are concerned with algorithms and the assignment of responsibilities between objects (e.g., Observer, Command, Iterator).</a:t>
            </a:r>
            <a:endParaRPr sz="1600" b="1">
              <a:solidFill>
                <a:srgbClr val="222222"/>
              </a:solidFill>
              <a:latin typeface="Lato"/>
              <a:ea typeface="Lato"/>
              <a:cs typeface="Lato"/>
              <a:sym typeface="Lato"/>
            </a:endParaRPr>
          </a:p>
          <a:p>
            <a:pPr marL="285750" marR="0" lvl="0" indent="-214630" algn="l" rtl="0">
              <a:lnSpc>
                <a:spcPct val="100000"/>
              </a:lnSpc>
              <a:spcBef>
                <a:spcPts val="120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83" name="Google Shape;83;p1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84" name="Google Shape;84;p1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Singleton</a:t>
            </a:r>
            <a:endParaRPr sz="2000" b="1" i="0" u="none" strike="noStrike" cap="none">
              <a:solidFill>
                <a:schemeClr val="lt1"/>
              </a:solidFill>
              <a:latin typeface="Lato"/>
              <a:ea typeface="Lato"/>
              <a:cs typeface="Lato"/>
              <a:sym typeface="Lato"/>
            </a:endParaRPr>
          </a:p>
        </p:txBody>
      </p:sp>
      <p:pic>
        <p:nvPicPr>
          <p:cNvPr id="85" name="Google Shape;85;p1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86" name="Google Shape;86;p1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87" name="Google Shape;87;p17"/>
          <p:cNvSpPr txBox="1"/>
          <p:nvPr/>
        </p:nvSpPr>
        <p:spPr>
          <a:xfrm>
            <a:off x="294875" y="604325"/>
            <a:ext cx="8652000" cy="38235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600" b="1">
                <a:solidFill>
                  <a:srgbClr val="222222"/>
                </a:solidFill>
                <a:latin typeface="Lato"/>
                <a:ea typeface="Lato"/>
                <a:cs typeface="Lato"/>
                <a:sym typeface="Lato"/>
              </a:rPr>
              <a:t>Singleton design pattern in C# is one of the most popular design patterns. In this pattern, a class has only one instance in the program that provides a global point of access to it. In other words, a singleton is a class that allows only a single instance of itself to be created and usually gives simple access to that instance.</a:t>
            </a:r>
            <a:endParaRPr sz="1600" b="1">
              <a:solidFill>
                <a:srgbClr val="222222"/>
              </a:solidFill>
              <a:latin typeface="Lato"/>
              <a:ea typeface="Lato"/>
              <a:cs typeface="Lato"/>
              <a:sym typeface="Lato"/>
            </a:endParaRPr>
          </a:p>
          <a:p>
            <a:pPr marL="71120" marR="0" lvl="0" indent="0" algn="l" rtl="0">
              <a:lnSpc>
                <a:spcPct val="100000"/>
              </a:lnSpc>
              <a:spcBef>
                <a:spcPts val="0"/>
              </a:spcBef>
              <a:spcAft>
                <a:spcPts val="0"/>
              </a:spcAft>
              <a:buClr>
                <a:srgbClr val="EF8600"/>
              </a:buClr>
              <a:buSzPts val="1120"/>
              <a:buFont typeface="Lato"/>
              <a:buNone/>
            </a:pPr>
            <a:endParaRPr sz="1600" b="1">
              <a:solidFill>
                <a:srgbClr val="222222"/>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222222"/>
                </a:solidFill>
                <a:latin typeface="Lato"/>
                <a:ea typeface="Lato"/>
                <a:cs typeface="Lato"/>
                <a:sym typeface="Lato"/>
              </a:rPr>
              <a:t>There are various ways to implement a singleton pattern in C#. The following are the common characteristics of a singleton pattern.</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Private and parameterless single constructor</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Sealed class.</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Static variable to hold a reference to the single created instance</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A public and static way of getting the reference to the created instance.</a:t>
            </a:r>
            <a:endParaRPr sz="1600" b="1">
              <a:solidFill>
                <a:srgbClr val="222222"/>
              </a:solidFill>
              <a:latin typeface="Lato"/>
              <a:ea typeface="Lato"/>
              <a:cs typeface="Lato"/>
              <a:sym typeface="Lato"/>
            </a:endParaRPr>
          </a:p>
          <a:p>
            <a:pPr marL="71120" marR="0" lvl="0" indent="0" algn="l" rtl="0">
              <a:lnSpc>
                <a:spcPct val="100000"/>
              </a:lnSpc>
              <a:spcBef>
                <a:spcPts val="120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93" name="Google Shape;93;p18"/>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94" name="Google Shape;94;p18"/>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Singleton</a:t>
            </a:r>
            <a:endParaRPr sz="2000" b="1" i="0" u="none" strike="noStrike" cap="none">
              <a:solidFill>
                <a:schemeClr val="lt1"/>
              </a:solidFill>
              <a:latin typeface="Lato"/>
              <a:ea typeface="Lato"/>
              <a:cs typeface="Lato"/>
              <a:sym typeface="Lato"/>
            </a:endParaRPr>
          </a:p>
        </p:txBody>
      </p:sp>
      <p:pic>
        <p:nvPicPr>
          <p:cNvPr id="95" name="Google Shape;95;p1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96" name="Google Shape;96;p1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97" name="Google Shape;97;p18"/>
          <p:cNvSpPr txBox="1"/>
          <p:nvPr/>
        </p:nvSpPr>
        <p:spPr>
          <a:xfrm>
            <a:off x="294875" y="604325"/>
            <a:ext cx="8652000" cy="426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Clr>
                <a:schemeClr val="dk1"/>
              </a:buClr>
              <a:buSzPts val="1100"/>
              <a:buFont typeface="Arial"/>
              <a:buNone/>
            </a:pPr>
            <a:r>
              <a:rPr lang="en-US" sz="1600" b="1">
                <a:solidFill>
                  <a:srgbClr val="222222"/>
                </a:solidFill>
                <a:latin typeface="Lato"/>
                <a:ea typeface="Lato"/>
                <a:cs typeface="Lato"/>
                <a:sym typeface="Lato"/>
              </a:rPr>
              <a:t>Advantages of Singleton Design Pattern</a:t>
            </a:r>
            <a:endParaRPr sz="1600" b="1">
              <a:solidFill>
                <a:srgbClr val="222222"/>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222222"/>
                </a:solidFill>
                <a:latin typeface="Lato"/>
                <a:ea typeface="Lato"/>
                <a:cs typeface="Lato"/>
                <a:sym typeface="Lato"/>
              </a:rPr>
              <a:t>The advantages of a Singleton Pattern are,</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Singleton pattern can implement interfaces.</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Can be lazy-loaded and has Static Initialization.</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It helps to hide dependencies.</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It provides a single point of access to a particular instance, so it is easy to maintain.</a:t>
            </a:r>
            <a:endParaRPr sz="1600" b="1">
              <a:solidFill>
                <a:srgbClr val="222222"/>
              </a:solidFill>
              <a:latin typeface="Lato"/>
              <a:ea typeface="Lato"/>
              <a:cs typeface="Lato"/>
              <a:sym typeface="Lato"/>
            </a:endParaRPr>
          </a:p>
          <a:p>
            <a:pPr marL="0" lvl="0" indent="0" algn="l" rtl="0">
              <a:lnSpc>
                <a:spcPct val="115000"/>
              </a:lnSpc>
              <a:spcBef>
                <a:spcPts val="1800"/>
              </a:spcBef>
              <a:spcAft>
                <a:spcPts val="0"/>
              </a:spcAft>
              <a:buClr>
                <a:schemeClr val="dk1"/>
              </a:buClr>
              <a:buSzPts val="1100"/>
              <a:buFont typeface="Arial"/>
              <a:buNone/>
            </a:pPr>
            <a:r>
              <a:rPr lang="en-US" sz="1600" b="1">
                <a:solidFill>
                  <a:srgbClr val="222222"/>
                </a:solidFill>
                <a:latin typeface="Lato"/>
                <a:ea typeface="Lato"/>
                <a:cs typeface="Lato"/>
                <a:sym typeface="Lato"/>
              </a:rPr>
              <a:t>Disadvantages of Singleton Design Pattern</a:t>
            </a:r>
            <a:endParaRPr sz="1600" b="1">
              <a:solidFill>
                <a:srgbClr val="222222"/>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222222"/>
                </a:solidFill>
                <a:latin typeface="Lato"/>
                <a:ea typeface="Lato"/>
                <a:cs typeface="Lato"/>
                <a:sym typeface="Lato"/>
              </a:rPr>
              <a:t>The disadvantages of a Singleton Pattern are,</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Unit testing is a bit difficult as it introduces a global state into an application</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Reduces the potential for parallelism within a program by locking.</a:t>
            </a:r>
            <a:endParaRPr sz="1100">
              <a:solidFill>
                <a:schemeClr val="dk1"/>
              </a:solidFill>
            </a:endParaRPr>
          </a:p>
          <a:p>
            <a:pPr marL="71120" marR="0" lvl="0" indent="0" algn="l" rtl="0">
              <a:lnSpc>
                <a:spcPct val="100000"/>
              </a:lnSpc>
              <a:spcBef>
                <a:spcPts val="120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03" name="Google Shape;103;p19"/>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04" name="Google Shape;104;p19"/>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Singleton</a:t>
            </a:r>
            <a:endParaRPr sz="2000" b="1" i="0" u="none" strike="noStrike" cap="none">
              <a:solidFill>
                <a:schemeClr val="lt1"/>
              </a:solidFill>
              <a:latin typeface="Lato"/>
              <a:ea typeface="Lato"/>
              <a:cs typeface="Lato"/>
              <a:sym typeface="Lato"/>
            </a:endParaRPr>
          </a:p>
        </p:txBody>
      </p:sp>
      <p:pic>
        <p:nvPicPr>
          <p:cNvPr id="105" name="Google Shape;105;p1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06" name="Google Shape;106;p1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07" name="Google Shape;107;p19"/>
          <p:cNvSpPr txBox="1"/>
          <p:nvPr/>
        </p:nvSpPr>
        <p:spPr>
          <a:xfrm>
            <a:off x="294875" y="604325"/>
            <a:ext cx="8652000" cy="28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Clr>
                <a:schemeClr val="dk1"/>
              </a:buClr>
              <a:buSzPts val="1100"/>
              <a:buFont typeface="Arial"/>
              <a:buNone/>
            </a:pPr>
            <a:r>
              <a:rPr lang="en-US" sz="1600" b="1">
                <a:solidFill>
                  <a:srgbClr val="222222"/>
                </a:solidFill>
                <a:latin typeface="Lato"/>
                <a:ea typeface="Lato"/>
                <a:cs typeface="Lato"/>
                <a:sym typeface="Lato"/>
              </a:rPr>
              <a:t>How to Implement Singleton Pattern in C# code</a:t>
            </a:r>
            <a:endParaRPr sz="1600" b="1">
              <a:solidFill>
                <a:srgbClr val="222222"/>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222222"/>
                </a:solidFill>
                <a:latin typeface="Lato"/>
                <a:ea typeface="Lato"/>
                <a:cs typeface="Lato"/>
                <a:sym typeface="Lato"/>
              </a:rPr>
              <a:t>There are several ways to implement a Singleton Pattern in C#.</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No Thread Safe Singleton.</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Thread-Safety Singleton.</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Thread-Safety Singleton using Double-Check Locking.</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Thread-safe without a lock.</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Using .NET 4's Lazy&lt;T&gt; type.</a:t>
            </a:r>
            <a:endParaRPr sz="1100">
              <a:solidFill>
                <a:schemeClr val="dk1"/>
              </a:solidFill>
            </a:endParaRPr>
          </a:p>
          <a:p>
            <a:pPr marL="71120" marR="0" lvl="0" indent="0" algn="l" rtl="0">
              <a:lnSpc>
                <a:spcPct val="100000"/>
              </a:lnSpc>
              <a:spcBef>
                <a:spcPts val="120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13" name="Google Shape;113;p20"/>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14" name="Google Shape;114;p20"/>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Singleton</a:t>
            </a:r>
            <a:endParaRPr sz="2000" b="1" i="0" u="none" strike="noStrike" cap="none">
              <a:solidFill>
                <a:schemeClr val="lt1"/>
              </a:solidFill>
              <a:latin typeface="Lato"/>
              <a:ea typeface="Lato"/>
              <a:cs typeface="Lato"/>
              <a:sym typeface="Lato"/>
            </a:endParaRPr>
          </a:p>
        </p:txBody>
      </p:sp>
      <p:pic>
        <p:nvPicPr>
          <p:cNvPr id="115" name="Google Shape;115;p2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16" name="Google Shape;116;p2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17" name="Google Shape;117;p20"/>
          <p:cNvSpPr txBox="1"/>
          <p:nvPr/>
        </p:nvSpPr>
        <p:spPr>
          <a:xfrm>
            <a:off x="294875" y="604325"/>
            <a:ext cx="3518700" cy="3287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1600" b="1">
                <a:solidFill>
                  <a:srgbClr val="222222"/>
                </a:solidFill>
                <a:latin typeface="Lato"/>
                <a:ea typeface="Lato"/>
                <a:cs typeface="Lato"/>
                <a:sym typeface="Lato"/>
              </a:rPr>
              <a:t>No Thread Safe Singleton</a:t>
            </a:r>
            <a:endParaRPr sz="1600" b="1">
              <a:solidFill>
                <a:srgbClr val="222222"/>
              </a:solidFill>
              <a:latin typeface="Lato"/>
              <a:ea typeface="Lato"/>
              <a:cs typeface="Lato"/>
              <a:sym typeface="Lato"/>
            </a:endParaRPr>
          </a:p>
          <a:p>
            <a:pPr marL="0" lvl="0" indent="0" algn="l" rtl="0">
              <a:lnSpc>
                <a:spcPct val="115000"/>
              </a:lnSpc>
              <a:spcBef>
                <a:spcPts val="1200"/>
              </a:spcBef>
              <a:spcAft>
                <a:spcPts val="0"/>
              </a:spcAft>
              <a:buNone/>
            </a:pPr>
            <a:r>
              <a:rPr lang="en-US" sz="1600" b="1">
                <a:solidFill>
                  <a:srgbClr val="222222"/>
                </a:solidFill>
                <a:latin typeface="Lato"/>
                <a:ea typeface="Lato"/>
                <a:cs typeface="Lato"/>
                <a:sym typeface="Lato"/>
              </a:rPr>
              <a:t>Explanation of the following code,</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The following code is not thread-safe.</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Two different threads could both have evaluated the test (if instance == null) and found it to be true, then both create instances, which violates the singleton pattern.  </a:t>
            </a:r>
            <a:endParaRPr sz="1600" b="1">
              <a:solidFill>
                <a:srgbClr val="222222"/>
              </a:solidFill>
              <a:latin typeface="Lato"/>
              <a:ea typeface="Lato"/>
              <a:cs typeface="Lato"/>
              <a:sym typeface="Lato"/>
            </a:endParaRPr>
          </a:p>
        </p:txBody>
      </p:sp>
      <p:pic>
        <p:nvPicPr>
          <p:cNvPr id="118" name="Google Shape;118;p20"/>
          <p:cNvPicPr preferRelativeResize="0"/>
          <p:nvPr/>
        </p:nvPicPr>
        <p:blipFill>
          <a:blip r:embed="rId5">
            <a:alphaModFix/>
          </a:blip>
          <a:stretch>
            <a:fillRect/>
          </a:stretch>
        </p:blipFill>
        <p:spPr>
          <a:xfrm>
            <a:off x="3861475" y="753400"/>
            <a:ext cx="4993126" cy="3605250"/>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24" name="Google Shape;124;p21"/>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25" name="Google Shape;125;p21"/>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Singleton</a:t>
            </a:r>
            <a:endParaRPr sz="2000" b="1" i="0" u="none" strike="noStrike" cap="none">
              <a:solidFill>
                <a:schemeClr val="lt1"/>
              </a:solidFill>
              <a:latin typeface="Lato"/>
              <a:ea typeface="Lato"/>
              <a:cs typeface="Lato"/>
              <a:sym typeface="Lato"/>
            </a:endParaRPr>
          </a:p>
        </p:txBody>
      </p:sp>
      <p:pic>
        <p:nvPicPr>
          <p:cNvPr id="126" name="Google Shape;126;p2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27" name="Google Shape;127;p2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28" name="Google Shape;128;p21"/>
          <p:cNvSpPr txBox="1"/>
          <p:nvPr/>
        </p:nvSpPr>
        <p:spPr>
          <a:xfrm>
            <a:off x="294875" y="604325"/>
            <a:ext cx="3518700" cy="471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US" sz="1200" b="1">
                <a:solidFill>
                  <a:srgbClr val="222222"/>
                </a:solidFill>
                <a:latin typeface="Lato"/>
                <a:ea typeface="Lato"/>
                <a:cs typeface="Lato"/>
                <a:sym typeface="Lato"/>
              </a:rPr>
              <a:t>Thread Safety Singleton</a:t>
            </a:r>
            <a:endParaRPr sz="1200" b="1">
              <a:solidFill>
                <a:srgbClr val="222222"/>
              </a:solidFill>
              <a:latin typeface="Lato"/>
              <a:ea typeface="Lato"/>
              <a:cs typeface="Lato"/>
              <a:sym typeface="Lato"/>
            </a:endParaRPr>
          </a:p>
          <a:p>
            <a:pPr marL="0" lvl="0" indent="0" algn="l" rtl="0">
              <a:lnSpc>
                <a:spcPct val="115000"/>
              </a:lnSpc>
              <a:spcBef>
                <a:spcPts val="1200"/>
              </a:spcBef>
              <a:spcAft>
                <a:spcPts val="0"/>
              </a:spcAft>
              <a:buNone/>
            </a:pPr>
            <a:r>
              <a:rPr lang="en-US" sz="1200" b="1">
                <a:solidFill>
                  <a:srgbClr val="222222"/>
                </a:solidFill>
                <a:latin typeface="Lato"/>
                <a:ea typeface="Lato"/>
                <a:cs typeface="Lato"/>
                <a:sym typeface="Lato"/>
              </a:rPr>
              <a:t>Explanation of the following code</a:t>
            </a:r>
            <a:endParaRPr sz="1200" b="1">
              <a:solidFill>
                <a:srgbClr val="222222"/>
              </a:solidFill>
              <a:latin typeface="Lato"/>
              <a:ea typeface="Lato"/>
              <a:cs typeface="Lato"/>
              <a:sym typeface="Lato"/>
            </a:endParaRPr>
          </a:p>
          <a:p>
            <a:pPr marL="457200" lvl="0" indent="-273050" algn="l" rtl="0">
              <a:lnSpc>
                <a:spcPct val="115000"/>
              </a:lnSpc>
              <a:spcBef>
                <a:spcPts val="1200"/>
              </a:spcBef>
              <a:spcAft>
                <a:spcPts val="0"/>
              </a:spcAft>
              <a:buClr>
                <a:schemeClr val="dk1"/>
              </a:buClr>
              <a:buSzPts val="700"/>
              <a:buChar char="●"/>
            </a:pPr>
            <a:r>
              <a:rPr lang="en-US" sz="1200" b="1">
                <a:solidFill>
                  <a:srgbClr val="222222"/>
                </a:solidFill>
                <a:latin typeface="Lato"/>
                <a:ea typeface="Lato"/>
                <a:cs typeface="Lato"/>
                <a:sym typeface="Lato"/>
              </a:rPr>
              <a:t>The following code is thread-safe.</a:t>
            </a:r>
            <a:endParaRPr sz="1200" b="1">
              <a:solidFill>
                <a:srgbClr val="222222"/>
              </a:solidFill>
              <a:latin typeface="Lato"/>
              <a:ea typeface="Lato"/>
              <a:cs typeface="Lato"/>
              <a:sym typeface="Lato"/>
            </a:endParaRPr>
          </a:p>
          <a:p>
            <a:pPr marL="457200" lvl="0" indent="-273050" algn="l" rtl="0">
              <a:lnSpc>
                <a:spcPct val="115000"/>
              </a:lnSpc>
              <a:spcBef>
                <a:spcPts val="0"/>
              </a:spcBef>
              <a:spcAft>
                <a:spcPts val="0"/>
              </a:spcAft>
              <a:buClr>
                <a:schemeClr val="dk1"/>
              </a:buClr>
              <a:buSzPts val="700"/>
              <a:buChar char="●"/>
            </a:pPr>
            <a:r>
              <a:rPr lang="en-US" sz="1200" b="1">
                <a:solidFill>
                  <a:srgbClr val="222222"/>
                </a:solidFill>
                <a:latin typeface="Lato"/>
                <a:ea typeface="Lato"/>
                <a:cs typeface="Lato"/>
                <a:sym typeface="Lato"/>
              </a:rPr>
              <a:t>In the code, the thread is locked on a shared object and checks whether an instance has been created or not. It takes care of the memory barrier issue and ensures that only one thread will create an instance. For example: Since only one thread can be in that part of the code at a time, by the time the second thread enters it, the first thread will have created the instance, so the expression will evaluate as false.</a:t>
            </a:r>
            <a:endParaRPr sz="1200" b="1">
              <a:solidFill>
                <a:srgbClr val="222222"/>
              </a:solidFill>
              <a:latin typeface="Lato"/>
              <a:ea typeface="Lato"/>
              <a:cs typeface="Lato"/>
              <a:sym typeface="Lato"/>
            </a:endParaRPr>
          </a:p>
          <a:p>
            <a:pPr marL="457200" lvl="0" indent="-273050" algn="l" rtl="0">
              <a:lnSpc>
                <a:spcPct val="115000"/>
              </a:lnSpc>
              <a:spcBef>
                <a:spcPts val="0"/>
              </a:spcBef>
              <a:spcAft>
                <a:spcPts val="0"/>
              </a:spcAft>
              <a:buClr>
                <a:schemeClr val="dk1"/>
              </a:buClr>
              <a:buSzPts val="700"/>
              <a:buChar char="●"/>
            </a:pPr>
            <a:r>
              <a:rPr lang="en-US" sz="1200" b="1">
                <a:solidFill>
                  <a:srgbClr val="222222"/>
                </a:solidFill>
                <a:latin typeface="Lato"/>
                <a:ea typeface="Lato"/>
                <a:cs typeface="Lato"/>
                <a:sym typeface="Lato"/>
              </a:rPr>
              <a:t>The biggest problem with this is performance; performance suffers since a lock is required every time an instance is requested.  </a:t>
            </a:r>
            <a:endParaRPr sz="700">
              <a:solidFill>
                <a:schemeClr val="dk1"/>
              </a:solidFill>
            </a:endParaRPr>
          </a:p>
          <a:p>
            <a:pPr marL="457200" lvl="0" indent="0" algn="l" rtl="0">
              <a:lnSpc>
                <a:spcPct val="115000"/>
              </a:lnSpc>
              <a:spcBef>
                <a:spcPts val="1200"/>
              </a:spcBef>
              <a:spcAft>
                <a:spcPts val="1200"/>
              </a:spcAft>
              <a:buNone/>
            </a:pPr>
            <a:endParaRPr sz="1600" b="1">
              <a:solidFill>
                <a:srgbClr val="222222"/>
              </a:solidFill>
              <a:latin typeface="Lato"/>
              <a:ea typeface="Lato"/>
              <a:cs typeface="Lato"/>
              <a:sym typeface="Lato"/>
            </a:endParaRPr>
          </a:p>
        </p:txBody>
      </p:sp>
      <p:pic>
        <p:nvPicPr>
          <p:cNvPr id="129" name="Google Shape;129;p21"/>
          <p:cNvPicPr preferRelativeResize="0"/>
          <p:nvPr/>
        </p:nvPicPr>
        <p:blipFill>
          <a:blip r:embed="rId5">
            <a:alphaModFix/>
          </a:blip>
          <a:stretch>
            <a:fillRect/>
          </a:stretch>
        </p:blipFill>
        <p:spPr>
          <a:xfrm>
            <a:off x="3965975" y="737616"/>
            <a:ext cx="5025626" cy="3832858"/>
          </a:xfrm>
          <a:prstGeom prst="rect">
            <a:avLst/>
          </a:prstGeom>
          <a:noFill/>
          <a:ln>
            <a:noFill/>
          </a:ln>
        </p:spPr>
      </p:pic>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35" name="Google Shape;135;p22"/>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36" name="Google Shape;136;p22"/>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Factory Design Pattern</a:t>
            </a:r>
            <a:endParaRPr sz="2000" b="1" i="0" u="none" strike="noStrike" cap="none">
              <a:solidFill>
                <a:schemeClr val="lt1"/>
              </a:solidFill>
              <a:latin typeface="Lato"/>
              <a:ea typeface="Lato"/>
              <a:cs typeface="Lato"/>
              <a:sym typeface="Lato"/>
            </a:endParaRPr>
          </a:p>
        </p:txBody>
      </p:sp>
      <p:pic>
        <p:nvPicPr>
          <p:cNvPr id="137" name="Google Shape;137;p2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38" name="Google Shape;138;p2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39" name="Google Shape;139;p22"/>
          <p:cNvSpPr txBox="1"/>
          <p:nvPr/>
        </p:nvSpPr>
        <p:spPr>
          <a:xfrm>
            <a:off x="294875" y="604325"/>
            <a:ext cx="8652000" cy="40698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600" b="1">
                <a:solidFill>
                  <a:srgbClr val="222222"/>
                </a:solidFill>
                <a:latin typeface="Lato"/>
                <a:ea typeface="Lato"/>
                <a:cs typeface="Lato"/>
                <a:sym typeface="Lato"/>
              </a:rPr>
              <a:t>This pattern comes under the creational patterns which are widely used in programming constructs. In other words,  “This Pattern provides the best way to create the Objects. In Factory patterns we create the object of the Class without Exposing the Creation/Instantiation Logic to the User who wants to create the Object and then return the newly Created object using the Common Interface which is inherited  by the Class”.</a:t>
            </a:r>
            <a:endParaRPr sz="1600" b="1">
              <a:solidFill>
                <a:srgbClr val="222222"/>
              </a:solidFill>
              <a:latin typeface="Lato"/>
              <a:ea typeface="Lato"/>
              <a:cs typeface="Lato"/>
              <a:sym typeface="Lato"/>
            </a:endParaRPr>
          </a:p>
          <a:p>
            <a:pPr marL="71120" marR="0" lvl="0" indent="0" algn="l" rtl="0">
              <a:lnSpc>
                <a:spcPct val="100000"/>
              </a:lnSpc>
              <a:spcBef>
                <a:spcPts val="0"/>
              </a:spcBef>
              <a:spcAft>
                <a:spcPts val="0"/>
              </a:spcAft>
              <a:buClr>
                <a:srgbClr val="EF8600"/>
              </a:buClr>
              <a:buSzPts val="1120"/>
              <a:buFont typeface="Lato"/>
              <a:buNone/>
            </a:pPr>
            <a:endParaRPr sz="1600" b="1">
              <a:solidFill>
                <a:srgbClr val="222222"/>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r>
              <a:rPr lang="en-US" sz="1600" b="1">
                <a:solidFill>
                  <a:srgbClr val="222222"/>
                </a:solidFill>
                <a:latin typeface="Lato"/>
                <a:ea typeface="Lato"/>
                <a:cs typeface="Lato"/>
                <a:sym typeface="Lato"/>
              </a:rPr>
              <a:t>There are various ways to implement a singleton pattern in C#. The following are the common characteristics of a singleton pattern.</a:t>
            </a:r>
            <a:endParaRPr sz="1600" b="1">
              <a:solidFill>
                <a:srgbClr val="222222"/>
              </a:solidFill>
              <a:latin typeface="Lato"/>
              <a:ea typeface="Lato"/>
              <a:cs typeface="Lato"/>
              <a:sym typeface="Lato"/>
            </a:endParaRPr>
          </a:p>
          <a:p>
            <a:pPr marL="457200" lvl="0" indent="-298450" algn="l" rtl="0">
              <a:lnSpc>
                <a:spcPct val="115000"/>
              </a:lnSpc>
              <a:spcBef>
                <a:spcPts val="1200"/>
              </a:spcBef>
              <a:spcAft>
                <a:spcPts val="0"/>
              </a:spcAft>
              <a:buClr>
                <a:schemeClr val="dk1"/>
              </a:buClr>
              <a:buSzPts val="1100"/>
              <a:buChar char="●"/>
            </a:pPr>
            <a:r>
              <a:rPr lang="en-US" sz="1600" b="1">
                <a:solidFill>
                  <a:srgbClr val="222222"/>
                </a:solidFill>
                <a:latin typeface="Lato"/>
                <a:ea typeface="Lato"/>
                <a:cs typeface="Lato"/>
                <a:sym typeface="Lato"/>
              </a:rPr>
              <a:t>Private and parameterless single constructor</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Sealed class.</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Static variable to hold a reference to the single created instance</a:t>
            </a:r>
            <a:endParaRPr sz="1600" b="1">
              <a:solidFill>
                <a:srgbClr val="222222"/>
              </a:solidFill>
              <a:latin typeface="Lato"/>
              <a:ea typeface="Lato"/>
              <a:cs typeface="Lato"/>
              <a:sym typeface="Lato"/>
            </a:endParaRPr>
          </a:p>
          <a:p>
            <a:pPr marL="457200" lvl="0" indent="-298450" algn="l" rtl="0">
              <a:lnSpc>
                <a:spcPct val="115000"/>
              </a:lnSpc>
              <a:spcBef>
                <a:spcPts val="0"/>
              </a:spcBef>
              <a:spcAft>
                <a:spcPts val="0"/>
              </a:spcAft>
              <a:buClr>
                <a:schemeClr val="dk1"/>
              </a:buClr>
              <a:buSzPts val="1100"/>
              <a:buChar char="●"/>
            </a:pPr>
            <a:r>
              <a:rPr lang="en-US" sz="1600" b="1">
                <a:solidFill>
                  <a:srgbClr val="222222"/>
                </a:solidFill>
                <a:latin typeface="Lato"/>
                <a:ea typeface="Lato"/>
                <a:cs typeface="Lato"/>
                <a:sym typeface="Lato"/>
              </a:rPr>
              <a:t>A public and static way of getting the reference to the created instance.</a:t>
            </a:r>
            <a:endParaRPr sz="1600" b="1">
              <a:solidFill>
                <a:srgbClr val="222222"/>
              </a:solidFill>
              <a:latin typeface="Lato"/>
              <a:ea typeface="Lato"/>
              <a:cs typeface="Lato"/>
              <a:sym typeface="Lato"/>
            </a:endParaRPr>
          </a:p>
          <a:p>
            <a:pPr marL="71120" marR="0" lvl="0" indent="0" algn="l" rtl="0">
              <a:lnSpc>
                <a:spcPct val="100000"/>
              </a:lnSpc>
              <a:spcBef>
                <a:spcPts val="120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3"/>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45" name="Google Shape;145;p23"/>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46" name="Google Shape;146;p23"/>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Factory Design Pattern</a:t>
            </a:r>
            <a:endParaRPr sz="2000" b="1" i="0" u="none" strike="noStrike" cap="none">
              <a:solidFill>
                <a:schemeClr val="lt1"/>
              </a:solidFill>
              <a:latin typeface="Lato"/>
              <a:ea typeface="Lato"/>
              <a:cs typeface="Lato"/>
              <a:sym typeface="Lato"/>
            </a:endParaRPr>
          </a:p>
        </p:txBody>
      </p:sp>
      <p:pic>
        <p:nvPicPr>
          <p:cNvPr id="147" name="Google Shape;147;p2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48" name="Google Shape;148;p2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49" name="Google Shape;149;p23"/>
          <p:cNvSpPr txBox="1"/>
          <p:nvPr/>
        </p:nvSpPr>
        <p:spPr>
          <a:xfrm>
            <a:off x="294875" y="604325"/>
            <a:ext cx="8652000" cy="11697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600" b="1">
                <a:solidFill>
                  <a:srgbClr val="222222"/>
                </a:solidFill>
                <a:latin typeface="Lato"/>
                <a:ea typeface="Lato"/>
                <a:cs typeface="Lato"/>
                <a:sym typeface="Lato"/>
              </a:rPr>
              <a:t>We take the example of a vehicle. As we know, this vehicle is the superior class of all kinds of the vehicles and they have some common attributes such as  engine, wheels, gears etc.</a:t>
            </a:r>
            <a:endParaRPr sz="1600" b="1">
              <a:solidFill>
                <a:srgbClr val="222222"/>
              </a:solidFill>
              <a:latin typeface="Lato"/>
              <a:ea typeface="Lato"/>
              <a:cs typeface="Lato"/>
              <a:sym typeface="Lato"/>
            </a:endParaRPr>
          </a:p>
          <a:p>
            <a:pPr marL="71120" marR="0" lvl="0" indent="0" algn="l" rtl="0">
              <a:lnSpc>
                <a:spcPct val="100000"/>
              </a:lnSpc>
              <a:spcBef>
                <a:spcPts val="0"/>
              </a:spcBef>
              <a:spcAft>
                <a:spcPts val="0"/>
              </a:spcAft>
              <a:buClr>
                <a:srgbClr val="EF8600"/>
              </a:buClr>
              <a:buSzPts val="1120"/>
              <a:buFont typeface="Lato"/>
              <a:buNone/>
            </a:pPr>
            <a:endParaRPr sz="1600" b="1">
              <a:solidFill>
                <a:srgbClr val="222222"/>
              </a:solidFill>
              <a:latin typeface="Lato"/>
              <a:ea typeface="Lato"/>
              <a:cs typeface="Lato"/>
              <a:sym typeface="Lato"/>
            </a:endParaRPr>
          </a:p>
          <a:p>
            <a:pPr marL="71120" marR="0" lvl="0" indent="0" algn="l" rtl="0">
              <a:lnSpc>
                <a:spcPct val="100000"/>
              </a:lnSpc>
              <a:spcBef>
                <a:spcPts val="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pic>
        <p:nvPicPr>
          <p:cNvPr id="150" name="Google Shape;150;p23"/>
          <p:cNvPicPr preferRelativeResize="0"/>
          <p:nvPr/>
        </p:nvPicPr>
        <p:blipFill>
          <a:blip r:embed="rId5">
            <a:alphaModFix/>
          </a:blip>
          <a:stretch>
            <a:fillRect/>
          </a:stretch>
        </p:blipFill>
        <p:spPr>
          <a:xfrm>
            <a:off x="439275" y="1434625"/>
            <a:ext cx="4066375" cy="2695216"/>
          </a:xfrm>
          <a:prstGeom prst="rect">
            <a:avLst/>
          </a:prstGeom>
          <a:noFill/>
          <a:ln>
            <a:noFill/>
          </a:ln>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56" name="Google Shape;156;p24"/>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57" name="Google Shape;157;p24"/>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Factory Design Pattern</a:t>
            </a:r>
            <a:endParaRPr sz="2000" b="1" i="0" u="none" strike="noStrike" cap="none">
              <a:solidFill>
                <a:schemeClr val="lt1"/>
              </a:solidFill>
              <a:latin typeface="Lato"/>
              <a:ea typeface="Lato"/>
              <a:cs typeface="Lato"/>
              <a:sym typeface="Lato"/>
            </a:endParaRPr>
          </a:p>
        </p:txBody>
      </p:sp>
      <p:pic>
        <p:nvPicPr>
          <p:cNvPr id="158" name="Google Shape;158;p2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59" name="Google Shape;159;p2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60" name="Google Shape;160;p24"/>
          <p:cNvSpPr txBox="1"/>
          <p:nvPr/>
        </p:nvSpPr>
        <p:spPr>
          <a:xfrm>
            <a:off x="294875" y="604325"/>
            <a:ext cx="8652000" cy="38790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0000"/>
              </a:lnSpc>
              <a:spcBef>
                <a:spcPts val="0"/>
              </a:spcBef>
              <a:spcAft>
                <a:spcPts val="0"/>
              </a:spcAft>
              <a:buClr>
                <a:srgbClr val="222222"/>
              </a:buClr>
              <a:buSzPts val="1600"/>
              <a:buFont typeface="Lato"/>
              <a:buChar char="●"/>
            </a:pPr>
            <a:r>
              <a:rPr lang="en-US" sz="1600" b="1">
                <a:solidFill>
                  <a:srgbClr val="222222"/>
                </a:solidFill>
                <a:latin typeface="Lato"/>
                <a:ea typeface="Lato"/>
                <a:cs typeface="Lato"/>
                <a:sym typeface="Lato"/>
              </a:rPr>
              <a:t>First of all, we create the Interface named as “IVehicle” which contains two member -- the first one is NumberOfWheels() which Returns the Number of wheels   specific to the Vehicle Type the second one is VehicleType() which describes the Type of the Vehicle either (Car/Bike/Rickshaw).</a:t>
            </a:r>
            <a:endParaRPr sz="1600" b="1">
              <a:solidFill>
                <a:srgbClr val="222222"/>
              </a:solidFill>
              <a:latin typeface="Lato"/>
              <a:ea typeface="Lato"/>
              <a:cs typeface="Lato"/>
              <a:sym typeface="Lato"/>
            </a:endParaRPr>
          </a:p>
          <a:p>
            <a:pPr marL="457200" marR="0" lvl="0" indent="0" algn="l" rtl="0">
              <a:lnSpc>
                <a:spcPct val="100000"/>
              </a:lnSpc>
              <a:spcBef>
                <a:spcPts val="0"/>
              </a:spcBef>
              <a:spcAft>
                <a:spcPts val="0"/>
              </a:spcAft>
              <a:buNone/>
            </a:pPr>
            <a:endParaRPr sz="1600" b="1">
              <a:solidFill>
                <a:srgbClr val="222222"/>
              </a:solidFill>
              <a:latin typeface="Lato"/>
              <a:ea typeface="Lato"/>
              <a:cs typeface="Lato"/>
              <a:sym typeface="Lato"/>
            </a:endParaRPr>
          </a:p>
          <a:p>
            <a:pPr marL="457200" marR="0" lvl="0" indent="-330200" algn="l" rtl="0">
              <a:lnSpc>
                <a:spcPct val="100000"/>
              </a:lnSpc>
              <a:spcBef>
                <a:spcPts val="0"/>
              </a:spcBef>
              <a:spcAft>
                <a:spcPts val="0"/>
              </a:spcAft>
              <a:buClr>
                <a:srgbClr val="222222"/>
              </a:buClr>
              <a:buSzPts val="1600"/>
              <a:buFont typeface="Lato"/>
              <a:buChar char="●"/>
            </a:pPr>
            <a:r>
              <a:rPr lang="en-US" sz="1600" b="1">
                <a:solidFill>
                  <a:srgbClr val="222222"/>
                </a:solidFill>
                <a:latin typeface="Lato"/>
                <a:ea typeface="Lato"/>
                <a:cs typeface="Lato"/>
                <a:sym typeface="Lato"/>
              </a:rPr>
              <a:t>In our Project the First Class is the Program.cs which calls the object of the VehicleFactory.</a:t>
            </a:r>
            <a:endParaRPr sz="1600" b="1">
              <a:solidFill>
                <a:srgbClr val="222222"/>
              </a:solidFill>
              <a:latin typeface="Lato"/>
              <a:ea typeface="Lato"/>
              <a:cs typeface="Lato"/>
              <a:sym typeface="Lato"/>
            </a:endParaRPr>
          </a:p>
          <a:p>
            <a:pPr marL="457200" marR="0" lvl="0" indent="0" algn="l" rtl="0">
              <a:lnSpc>
                <a:spcPct val="100000"/>
              </a:lnSpc>
              <a:spcBef>
                <a:spcPts val="0"/>
              </a:spcBef>
              <a:spcAft>
                <a:spcPts val="0"/>
              </a:spcAft>
              <a:buNone/>
            </a:pPr>
            <a:endParaRPr sz="1600" b="1">
              <a:solidFill>
                <a:srgbClr val="222222"/>
              </a:solidFill>
              <a:latin typeface="Lato"/>
              <a:ea typeface="Lato"/>
              <a:cs typeface="Lato"/>
              <a:sym typeface="Lato"/>
            </a:endParaRPr>
          </a:p>
          <a:p>
            <a:pPr marL="457200" marR="0" lvl="0" indent="-330200" algn="l" rtl="0">
              <a:lnSpc>
                <a:spcPct val="100000"/>
              </a:lnSpc>
              <a:spcBef>
                <a:spcPts val="0"/>
              </a:spcBef>
              <a:spcAft>
                <a:spcPts val="0"/>
              </a:spcAft>
              <a:buClr>
                <a:srgbClr val="222222"/>
              </a:buClr>
              <a:buSzPts val="1600"/>
              <a:buFont typeface="Lato"/>
              <a:buChar char="●"/>
            </a:pPr>
            <a:r>
              <a:rPr lang="en-US" sz="1600" b="1">
                <a:solidFill>
                  <a:srgbClr val="222222"/>
                </a:solidFill>
                <a:latin typeface="Lato"/>
                <a:ea typeface="Lato"/>
                <a:cs typeface="Lato"/>
                <a:sym typeface="Lato"/>
              </a:rPr>
              <a:t>First of all they Get the Input From the Console whether user wants either car/Bike/Rickshaw, then the information is passed to the VehicleFactory class method name as getVehicle which returns the specific object of the car/Bike/Rickshaw according to the condition match but we see that the all classes inherit the IVehicle interface and according to Factory pattern “a Newly created Object using the Common interface is returned” so object is returned in the form of IVechile interface.</a:t>
            </a:r>
            <a:endParaRPr sz="1600" b="1">
              <a:solidFill>
                <a:srgbClr val="222222"/>
              </a:solidFill>
              <a:latin typeface="Lato"/>
              <a:ea typeface="Lato"/>
              <a:cs typeface="Lato"/>
              <a:sym typeface="Lato"/>
            </a:endParaRPr>
          </a:p>
          <a:p>
            <a:pPr marL="71120" marR="0" lvl="0" indent="0" algn="l" rtl="0">
              <a:lnSpc>
                <a:spcPct val="100000"/>
              </a:lnSpc>
              <a:spcBef>
                <a:spcPts val="0"/>
              </a:spcBef>
              <a:spcAft>
                <a:spcPts val="0"/>
              </a:spcAft>
              <a:buClr>
                <a:srgbClr val="EF8600"/>
              </a:buClr>
              <a:buSzPts val="1120"/>
              <a:buFont typeface="Lato"/>
              <a:buNone/>
            </a:pPr>
            <a:endParaRPr sz="1600" b="1">
              <a:solidFill>
                <a:srgbClr val="222222"/>
              </a:solidFill>
              <a:latin typeface="Lato"/>
              <a:ea typeface="Lato"/>
              <a:cs typeface="Lato"/>
              <a:sym typeface="Lato"/>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66" name="Google Shape;166;p25"/>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67" name="Google Shape;167;p25"/>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Factory Design Pattern</a:t>
            </a:r>
            <a:endParaRPr sz="2000" b="1" i="0" u="none" strike="noStrike" cap="none">
              <a:solidFill>
                <a:schemeClr val="lt1"/>
              </a:solidFill>
              <a:latin typeface="Lato"/>
              <a:ea typeface="Lato"/>
              <a:cs typeface="Lato"/>
              <a:sym typeface="Lato"/>
            </a:endParaRPr>
          </a:p>
        </p:txBody>
      </p:sp>
      <p:pic>
        <p:nvPicPr>
          <p:cNvPr id="168" name="Google Shape;168;p2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69" name="Google Shape;169;p2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70" name="Google Shape;170;p25"/>
          <p:cNvSpPr txBox="1"/>
          <p:nvPr/>
        </p:nvSpPr>
        <p:spPr>
          <a:xfrm>
            <a:off x="294875" y="604325"/>
            <a:ext cx="8652000" cy="8619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IVehicle.cs 					Bike.cs 					Car.cs</a:t>
            </a:r>
            <a:endParaRPr sz="11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1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1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100" b="1">
              <a:solidFill>
                <a:schemeClr val="dk1"/>
              </a:solidFill>
            </a:endParaRPr>
          </a:p>
        </p:txBody>
      </p:sp>
      <p:pic>
        <p:nvPicPr>
          <p:cNvPr id="171" name="Google Shape;171;p25"/>
          <p:cNvPicPr preferRelativeResize="0"/>
          <p:nvPr/>
        </p:nvPicPr>
        <p:blipFill>
          <a:blip r:embed="rId5">
            <a:alphaModFix/>
          </a:blip>
          <a:stretch>
            <a:fillRect/>
          </a:stretch>
        </p:blipFill>
        <p:spPr>
          <a:xfrm>
            <a:off x="172900" y="1085850"/>
            <a:ext cx="2693550" cy="1879375"/>
          </a:xfrm>
          <a:prstGeom prst="rect">
            <a:avLst/>
          </a:prstGeom>
          <a:noFill/>
          <a:ln>
            <a:noFill/>
          </a:ln>
        </p:spPr>
      </p:pic>
      <p:pic>
        <p:nvPicPr>
          <p:cNvPr id="172" name="Google Shape;172;p25"/>
          <p:cNvPicPr preferRelativeResize="0"/>
          <p:nvPr/>
        </p:nvPicPr>
        <p:blipFill>
          <a:blip r:embed="rId6">
            <a:alphaModFix/>
          </a:blip>
          <a:stretch>
            <a:fillRect/>
          </a:stretch>
        </p:blipFill>
        <p:spPr>
          <a:xfrm>
            <a:off x="3091512" y="1070238"/>
            <a:ext cx="2379263" cy="3003015"/>
          </a:xfrm>
          <a:prstGeom prst="rect">
            <a:avLst/>
          </a:prstGeom>
          <a:noFill/>
          <a:ln>
            <a:noFill/>
          </a:ln>
        </p:spPr>
      </p:pic>
      <p:pic>
        <p:nvPicPr>
          <p:cNvPr id="173" name="Google Shape;173;p25"/>
          <p:cNvPicPr preferRelativeResize="0"/>
          <p:nvPr/>
        </p:nvPicPr>
        <p:blipFill>
          <a:blip r:embed="rId7">
            <a:alphaModFix/>
          </a:blip>
          <a:stretch>
            <a:fillRect/>
          </a:stretch>
        </p:blipFill>
        <p:spPr>
          <a:xfrm>
            <a:off x="5653925" y="1003850"/>
            <a:ext cx="2171709" cy="3003016"/>
          </a:xfrm>
          <a:prstGeom prst="rect">
            <a:avLst/>
          </a:prstGeom>
          <a:noFill/>
          <a:ln>
            <a:noFill/>
          </a:ln>
        </p:spPr>
      </p:pic>
      <p:sp>
        <p:nvSpPr>
          <p:cNvPr id="174" name="Google Shape;174;p25"/>
          <p:cNvSpPr txBox="1"/>
          <p:nvPr/>
        </p:nvSpPr>
        <p:spPr>
          <a:xfrm>
            <a:off x="233700" y="4006875"/>
            <a:ext cx="8652000" cy="3540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Same way we create a Rickshaw.cs</a:t>
            </a:r>
            <a:endParaRPr sz="1100" b="1">
              <a:solidFill>
                <a:schemeClr val="dk1"/>
              </a:solidFill>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80" name="Google Shape;180;p2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81" name="Google Shape;181;p2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Factory Design Pattern</a:t>
            </a:r>
            <a:endParaRPr sz="2000" b="1" i="0" u="none" strike="noStrike" cap="none">
              <a:solidFill>
                <a:schemeClr val="lt1"/>
              </a:solidFill>
              <a:latin typeface="Lato"/>
              <a:ea typeface="Lato"/>
              <a:cs typeface="Lato"/>
              <a:sym typeface="Lato"/>
            </a:endParaRPr>
          </a:p>
        </p:txBody>
      </p:sp>
      <p:pic>
        <p:nvPicPr>
          <p:cNvPr id="182" name="Google Shape;182;p2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83" name="Google Shape;183;p2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84" name="Google Shape;184;p26"/>
          <p:cNvSpPr txBox="1"/>
          <p:nvPr/>
        </p:nvSpPr>
        <p:spPr>
          <a:xfrm>
            <a:off x="294875" y="604325"/>
            <a:ext cx="8652000" cy="861900"/>
          </a:xfrm>
          <a:prstGeom prst="rect">
            <a:avLst/>
          </a:prstGeom>
          <a:noFill/>
          <a:ln>
            <a:noFill/>
          </a:ln>
        </p:spPr>
        <p:txBody>
          <a:bodyPr spcFirstLastPara="1" wrap="square" lIns="91425" tIns="91425" rIns="91425" bIns="91425" anchor="t" anchorCtr="0">
            <a:spAutoFit/>
          </a:bodyPr>
          <a:lstStyle/>
          <a:p>
            <a:pPr marL="71120" lvl="0" indent="0" algn="l" rtl="0">
              <a:spcBef>
                <a:spcPts val="0"/>
              </a:spcBef>
              <a:spcAft>
                <a:spcPts val="0"/>
              </a:spcAft>
              <a:buClr>
                <a:schemeClr val="dk1"/>
              </a:buClr>
              <a:buSzPts val="1100"/>
              <a:buFont typeface="Arial"/>
              <a:buNone/>
            </a:pPr>
            <a:r>
              <a:rPr lang="en-US" sz="1100" b="1">
                <a:solidFill>
                  <a:schemeClr val="dk1"/>
                </a:solidFill>
              </a:rPr>
              <a:t>VehicleFactory.cs</a:t>
            </a:r>
            <a:endParaRPr sz="1100" b="1">
              <a:solidFill>
                <a:schemeClr val="dk1"/>
              </a:solidFill>
            </a:endParaRPr>
          </a:p>
          <a:p>
            <a:pPr marL="71120" lvl="0" indent="0" algn="l" rtl="0">
              <a:spcBef>
                <a:spcPts val="0"/>
              </a:spcBef>
              <a:spcAft>
                <a:spcPts val="0"/>
              </a:spcAft>
              <a:buClr>
                <a:schemeClr val="dk1"/>
              </a:buClr>
              <a:buSzPts val="1100"/>
              <a:buFont typeface="Arial"/>
              <a:buNone/>
            </a:pPr>
            <a:endParaRPr sz="1100" b="1">
              <a:solidFill>
                <a:schemeClr val="dk1"/>
              </a:solidFill>
            </a:endParaRPr>
          </a:p>
          <a:p>
            <a:pPr marL="71120" lvl="0" indent="0" algn="l" rtl="0">
              <a:spcBef>
                <a:spcPts val="0"/>
              </a:spcBef>
              <a:spcAft>
                <a:spcPts val="0"/>
              </a:spcAft>
              <a:buClr>
                <a:schemeClr val="dk1"/>
              </a:buClr>
              <a:buSzPts val="1100"/>
              <a:buFont typeface="Arial"/>
              <a:buNone/>
            </a:pPr>
            <a:endParaRPr sz="11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100" b="1">
              <a:solidFill>
                <a:schemeClr val="dk1"/>
              </a:solidFill>
            </a:endParaRPr>
          </a:p>
        </p:txBody>
      </p:sp>
      <p:pic>
        <p:nvPicPr>
          <p:cNvPr id="185" name="Google Shape;185;p26"/>
          <p:cNvPicPr preferRelativeResize="0"/>
          <p:nvPr/>
        </p:nvPicPr>
        <p:blipFill>
          <a:blip r:embed="rId5">
            <a:alphaModFix/>
          </a:blip>
          <a:stretch>
            <a:fillRect/>
          </a:stretch>
        </p:blipFill>
        <p:spPr>
          <a:xfrm>
            <a:off x="2653725" y="852375"/>
            <a:ext cx="3708125" cy="4026850"/>
          </a:xfrm>
          <a:prstGeom prst="rect">
            <a:avLst/>
          </a:prstGeom>
          <a:noFill/>
          <a:ln>
            <a:noFill/>
          </a:ln>
        </p:spPr>
      </p:pic>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191" name="Google Shape;191;p2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192" name="Google Shape;192;p2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Factory Design Pattern</a:t>
            </a:r>
            <a:endParaRPr sz="2000" b="1" i="0" u="none" strike="noStrike" cap="none">
              <a:solidFill>
                <a:schemeClr val="lt1"/>
              </a:solidFill>
              <a:latin typeface="Lato"/>
              <a:ea typeface="Lato"/>
              <a:cs typeface="Lato"/>
              <a:sym typeface="Lato"/>
            </a:endParaRPr>
          </a:p>
        </p:txBody>
      </p:sp>
      <p:pic>
        <p:nvPicPr>
          <p:cNvPr id="193" name="Google Shape;193;p2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194" name="Google Shape;194;p2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195" name="Google Shape;195;p27"/>
          <p:cNvSpPr txBox="1"/>
          <p:nvPr/>
        </p:nvSpPr>
        <p:spPr>
          <a:xfrm>
            <a:off x="294875" y="604325"/>
            <a:ext cx="8652000" cy="3540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Use the Factory class to create the Object</a:t>
            </a:r>
            <a:endParaRPr sz="1100" b="1">
              <a:solidFill>
                <a:schemeClr val="dk1"/>
              </a:solidFill>
            </a:endParaRPr>
          </a:p>
        </p:txBody>
      </p:sp>
      <p:pic>
        <p:nvPicPr>
          <p:cNvPr id="196" name="Google Shape;196;p27"/>
          <p:cNvPicPr preferRelativeResize="0"/>
          <p:nvPr/>
        </p:nvPicPr>
        <p:blipFill>
          <a:blip r:embed="rId5">
            <a:alphaModFix/>
          </a:blip>
          <a:stretch>
            <a:fillRect/>
          </a:stretch>
        </p:blipFill>
        <p:spPr>
          <a:xfrm>
            <a:off x="411000" y="977425"/>
            <a:ext cx="6285067" cy="3510917"/>
          </a:xfrm>
          <a:prstGeom prst="rect">
            <a:avLst/>
          </a:prstGeom>
          <a:noFill/>
          <a:ln>
            <a:noFill/>
          </a:ln>
        </p:spPr>
      </p:pic>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8"/>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02" name="Google Shape;202;p28"/>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03" name="Google Shape;203;p28"/>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04" name="Google Shape;204;p28"/>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05" name="Google Shape;205;p28"/>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06" name="Google Shape;206;p28"/>
          <p:cNvSpPr txBox="1"/>
          <p:nvPr/>
        </p:nvSpPr>
        <p:spPr>
          <a:xfrm>
            <a:off x="294875" y="604325"/>
            <a:ext cx="8652000" cy="37557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700" b="1">
                <a:solidFill>
                  <a:schemeClr val="dk1"/>
                </a:solidFill>
              </a:rPr>
              <a:t>The Command and Query Responsibility Segregation (CQRS) pattern states that we must separate the operations for reading the data from the operations for writing or updating the data. This means that functions for reading and writing data are not kept in the same interface or class. The main advantages of doing this include:</a:t>
            </a:r>
            <a:endParaRPr sz="17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700" b="1">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US" sz="1700" b="1">
                <a:solidFill>
                  <a:schemeClr val="dk1"/>
                </a:solidFill>
              </a:rPr>
              <a:t>Separate teams can work on these operations</a:t>
            </a:r>
            <a:endParaRPr sz="1700" b="1">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US" sz="1700" b="1">
                <a:solidFill>
                  <a:schemeClr val="dk1"/>
                </a:solidFill>
              </a:rPr>
              <a:t>Each can be made to scale according to their own needs. Write operations are mostly used much less than read operations</a:t>
            </a:r>
            <a:endParaRPr sz="1700" b="1">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US" sz="1700" b="1">
                <a:solidFill>
                  <a:schemeClr val="dk1"/>
                </a:solidFill>
              </a:rPr>
              <a:t>Each can have their own security as per requirements</a:t>
            </a:r>
            <a:endParaRPr sz="1700" b="1">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US" sz="1700" b="1">
                <a:solidFill>
                  <a:schemeClr val="dk1"/>
                </a:solidFill>
              </a:rPr>
              <a:t>Read operations can have a different architecture to support caching, conversions to data transformation objects as required by clients</a:t>
            </a:r>
            <a:endParaRPr sz="1700" b="1">
              <a:solidFill>
                <a:schemeClr val="dk1"/>
              </a:solidFill>
            </a:endParaRPr>
          </a:p>
          <a:p>
            <a:pPr marL="457200" marR="0" lvl="0" indent="-336550" algn="l" rtl="0">
              <a:lnSpc>
                <a:spcPct val="100000"/>
              </a:lnSpc>
              <a:spcBef>
                <a:spcPts val="0"/>
              </a:spcBef>
              <a:spcAft>
                <a:spcPts val="0"/>
              </a:spcAft>
              <a:buClr>
                <a:schemeClr val="dk1"/>
              </a:buClr>
              <a:buSzPts val="1700"/>
              <a:buChar char="●"/>
            </a:pPr>
            <a:r>
              <a:rPr lang="en-US" sz="1700" b="1">
                <a:solidFill>
                  <a:schemeClr val="dk1"/>
                </a:solidFill>
              </a:rPr>
              <a:t>Write operations can include data validation. lookups etc.</a:t>
            </a:r>
            <a:endParaRPr sz="17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100" b="1">
              <a:solidFill>
                <a:schemeClr val="dk1"/>
              </a:solidFill>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9"/>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12" name="Google Shape;212;p29"/>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13" name="Google Shape;213;p29"/>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14" name="Google Shape;214;p29"/>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15" name="Google Shape;215;p29"/>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16" name="Google Shape;216;p29"/>
          <p:cNvSpPr txBox="1"/>
          <p:nvPr/>
        </p:nvSpPr>
        <p:spPr>
          <a:xfrm>
            <a:off x="294875" y="604325"/>
            <a:ext cx="8652000" cy="12315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700" b="1">
                <a:solidFill>
                  <a:schemeClr val="dk1"/>
                </a:solidFill>
              </a:rPr>
              <a:t>However, do keep in mind that this pattern is better suited to larger applications where the requirements and load levels between read and write operations are different. For a simple and small application, the normal CRUD pattern, often auto-generated from ORM tools, is sufficient.</a:t>
            </a:r>
            <a:endParaRPr sz="1100" b="1">
              <a:solidFill>
                <a:schemeClr val="dk1"/>
              </a:solidFill>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0"/>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22" name="Google Shape;222;p30"/>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23" name="Google Shape;223;p30"/>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24" name="Google Shape;224;p30"/>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25" name="Google Shape;225;p30"/>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26" name="Google Shape;226;p30"/>
          <p:cNvSpPr txBox="1"/>
          <p:nvPr/>
        </p:nvSpPr>
        <p:spPr>
          <a:xfrm>
            <a:off x="294875" y="604325"/>
            <a:ext cx="8652000" cy="4464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700" b="1">
                <a:solidFill>
                  <a:schemeClr val="dk1"/>
                </a:solidFill>
              </a:rPr>
              <a:t>The structure of the completed solution looks like the shown below:</a:t>
            </a:r>
            <a:endParaRPr sz="1100" b="1">
              <a:solidFill>
                <a:schemeClr val="dk1"/>
              </a:solidFill>
            </a:endParaRPr>
          </a:p>
        </p:txBody>
      </p:sp>
      <p:pic>
        <p:nvPicPr>
          <p:cNvPr id="227" name="Google Shape;227;p30"/>
          <p:cNvPicPr preferRelativeResize="0"/>
          <p:nvPr/>
        </p:nvPicPr>
        <p:blipFill>
          <a:blip r:embed="rId5">
            <a:alphaModFix/>
          </a:blip>
          <a:stretch>
            <a:fillRect/>
          </a:stretch>
        </p:blipFill>
        <p:spPr>
          <a:xfrm>
            <a:off x="909075" y="1050725"/>
            <a:ext cx="2960745" cy="3418517"/>
          </a:xfrm>
          <a:prstGeom prst="rect">
            <a:avLst/>
          </a:prstGeom>
          <a:noFill/>
          <a:ln>
            <a:noFill/>
          </a:ln>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1"/>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33" name="Google Shape;233;p31"/>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34" name="Google Shape;234;p31"/>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35" name="Google Shape;235;p31"/>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36" name="Google Shape;236;p31"/>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37" name="Google Shape;237;p31"/>
          <p:cNvSpPr txBox="1"/>
          <p:nvPr/>
        </p:nvSpPr>
        <p:spPr>
          <a:xfrm>
            <a:off x="294875" y="604325"/>
            <a:ext cx="8652000" cy="4002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b="1">
                <a:solidFill>
                  <a:schemeClr val="dk1"/>
                </a:solidFill>
              </a:rPr>
              <a:t>The Commands (Write) repository</a:t>
            </a:r>
            <a:endParaRPr sz="1600" b="1">
              <a:solidFill>
                <a:schemeClr val="dk1"/>
              </a:solidFill>
            </a:endParaRPr>
          </a:p>
        </p:txBody>
      </p:sp>
      <p:pic>
        <p:nvPicPr>
          <p:cNvPr id="238" name="Google Shape;238;p31"/>
          <p:cNvPicPr preferRelativeResize="0"/>
          <p:nvPr/>
        </p:nvPicPr>
        <p:blipFill>
          <a:blip r:embed="rId5">
            <a:alphaModFix/>
          </a:blip>
          <a:stretch>
            <a:fillRect/>
          </a:stretch>
        </p:blipFill>
        <p:spPr>
          <a:xfrm>
            <a:off x="698350" y="1023625"/>
            <a:ext cx="7369505" cy="3464715"/>
          </a:xfrm>
          <a:prstGeom prst="rect">
            <a:avLst/>
          </a:prstGeom>
          <a:noFill/>
          <a:ln>
            <a:noFill/>
          </a:ln>
        </p:spPr>
      </p:pic>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44" name="Google Shape;244;p32"/>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45" name="Google Shape;245;p32"/>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46" name="Google Shape;246;p32"/>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47" name="Google Shape;247;p32"/>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48" name="Google Shape;248;p32"/>
          <p:cNvSpPr txBox="1"/>
          <p:nvPr/>
        </p:nvSpPr>
        <p:spPr>
          <a:xfrm>
            <a:off x="294875" y="604325"/>
            <a:ext cx="8652000" cy="3540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The Queries (Read) repository</a:t>
            </a:r>
            <a:endParaRPr sz="1600" b="1">
              <a:solidFill>
                <a:schemeClr val="dk1"/>
              </a:solidFill>
            </a:endParaRPr>
          </a:p>
        </p:txBody>
      </p:sp>
      <p:pic>
        <p:nvPicPr>
          <p:cNvPr id="249" name="Google Shape;249;p32"/>
          <p:cNvPicPr preferRelativeResize="0"/>
          <p:nvPr/>
        </p:nvPicPr>
        <p:blipFill>
          <a:blip r:embed="rId5">
            <a:alphaModFix/>
          </a:blip>
          <a:stretch>
            <a:fillRect/>
          </a:stretch>
        </p:blipFill>
        <p:spPr>
          <a:xfrm>
            <a:off x="2834300" y="679700"/>
            <a:ext cx="4262477" cy="3937624"/>
          </a:xfrm>
          <a:prstGeom prst="rect">
            <a:avLst/>
          </a:prstGeom>
          <a:noFill/>
          <a:ln>
            <a:noFill/>
          </a:ln>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55" name="Google Shape;255;p33"/>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56" name="Google Shape;256;p33"/>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57" name="Google Shape;257;p33"/>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58" name="Google Shape;258;p33"/>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59" name="Google Shape;259;p33"/>
          <p:cNvSpPr txBox="1"/>
          <p:nvPr/>
        </p:nvSpPr>
        <p:spPr>
          <a:xfrm>
            <a:off x="294875" y="604325"/>
            <a:ext cx="8652000" cy="3540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The Queries (Read) repository</a:t>
            </a:r>
            <a:endParaRPr sz="1600" b="1">
              <a:solidFill>
                <a:schemeClr val="dk1"/>
              </a:solidFill>
            </a:endParaRPr>
          </a:p>
        </p:txBody>
      </p:sp>
      <p:pic>
        <p:nvPicPr>
          <p:cNvPr id="260" name="Google Shape;260;p33"/>
          <p:cNvPicPr preferRelativeResize="0"/>
          <p:nvPr/>
        </p:nvPicPr>
        <p:blipFill>
          <a:blip r:embed="rId5">
            <a:alphaModFix/>
          </a:blip>
          <a:stretch>
            <a:fillRect/>
          </a:stretch>
        </p:blipFill>
        <p:spPr>
          <a:xfrm>
            <a:off x="2834300" y="679700"/>
            <a:ext cx="4262477" cy="3937624"/>
          </a:xfrm>
          <a:prstGeom prst="rect">
            <a:avLst/>
          </a:prstGeom>
          <a:noFill/>
          <a:ln>
            <a:noFill/>
          </a:ln>
        </p:spPr>
      </p:pic>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66" name="Google Shape;266;p34"/>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67" name="Google Shape;267;p34"/>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68" name="Google Shape;268;p34"/>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69" name="Google Shape;269;p34"/>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70" name="Google Shape;270;p34"/>
          <p:cNvSpPr txBox="1"/>
          <p:nvPr/>
        </p:nvSpPr>
        <p:spPr>
          <a:xfrm>
            <a:off x="294875" y="604325"/>
            <a:ext cx="8652000" cy="6927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Next, we look at the two middle-tier components (These are in the Queries and Commands folders),</a:t>
            </a:r>
            <a:endParaRPr sz="11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endParaRPr sz="1100" b="1">
              <a:solidFill>
                <a:schemeClr val="dk1"/>
              </a:solidFill>
            </a:endParaRPr>
          </a:p>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Queries (To read data)</a:t>
            </a:r>
            <a:endParaRPr sz="1100" b="1">
              <a:solidFill>
                <a:schemeClr val="dk1"/>
              </a:solidFill>
            </a:endParaRPr>
          </a:p>
        </p:txBody>
      </p:sp>
      <p:pic>
        <p:nvPicPr>
          <p:cNvPr id="271" name="Google Shape;271;p34"/>
          <p:cNvPicPr preferRelativeResize="0"/>
          <p:nvPr/>
        </p:nvPicPr>
        <p:blipFill>
          <a:blip r:embed="rId5">
            <a:alphaModFix/>
          </a:blip>
          <a:stretch>
            <a:fillRect/>
          </a:stretch>
        </p:blipFill>
        <p:spPr>
          <a:xfrm>
            <a:off x="2115925" y="985653"/>
            <a:ext cx="4777109" cy="3792799"/>
          </a:xfrm>
          <a:prstGeom prst="rect">
            <a:avLst/>
          </a:prstGeom>
          <a:noFill/>
          <a:ln>
            <a:noFill/>
          </a:ln>
        </p:spPr>
      </p:pic>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5"/>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77" name="Google Shape;277;p35"/>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78" name="Google Shape;278;p35"/>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79" name="Google Shape;279;p35"/>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80" name="Google Shape;280;p35"/>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281" name="Google Shape;281;p35"/>
          <p:cNvSpPr txBox="1"/>
          <p:nvPr/>
        </p:nvSpPr>
        <p:spPr>
          <a:xfrm>
            <a:off x="294875" y="604325"/>
            <a:ext cx="8652000" cy="354000"/>
          </a:xfrm>
          <a:prstGeom prst="rect">
            <a:avLst/>
          </a:prstGeom>
          <a:noFill/>
          <a:ln>
            <a:noFill/>
          </a:ln>
        </p:spPr>
        <p:txBody>
          <a:bodyPr spcFirstLastPara="1" wrap="square" lIns="91425" tIns="91425" rIns="91425" bIns="91425" anchor="t" anchorCtr="0">
            <a:spAutoFit/>
          </a:bodyPr>
          <a:lstStyle/>
          <a:p>
            <a:pPr marL="71120" marR="0" lvl="0" indent="0" algn="l" rtl="0">
              <a:lnSpc>
                <a:spcPct val="100000"/>
              </a:lnSpc>
              <a:spcBef>
                <a:spcPts val="0"/>
              </a:spcBef>
              <a:spcAft>
                <a:spcPts val="0"/>
              </a:spcAft>
              <a:buClr>
                <a:srgbClr val="EF8600"/>
              </a:buClr>
              <a:buSzPts val="1120"/>
              <a:buFont typeface="Lato"/>
              <a:buNone/>
            </a:pPr>
            <a:r>
              <a:rPr lang="en-US" sz="1100" b="1">
                <a:solidFill>
                  <a:schemeClr val="dk1"/>
                </a:solidFill>
              </a:rPr>
              <a:t>Commands (To write data)</a:t>
            </a:r>
            <a:endParaRPr sz="1100" b="1">
              <a:solidFill>
                <a:schemeClr val="dk1"/>
              </a:solidFill>
            </a:endParaRPr>
          </a:p>
        </p:txBody>
      </p:sp>
      <p:pic>
        <p:nvPicPr>
          <p:cNvPr id="282" name="Google Shape;282;p35"/>
          <p:cNvPicPr preferRelativeResize="0"/>
          <p:nvPr/>
        </p:nvPicPr>
        <p:blipFill>
          <a:blip r:embed="rId5">
            <a:alphaModFix/>
          </a:blip>
          <a:stretch>
            <a:fillRect/>
          </a:stretch>
        </p:blipFill>
        <p:spPr>
          <a:xfrm>
            <a:off x="2336225" y="775475"/>
            <a:ext cx="5481727" cy="3510915"/>
          </a:xfrm>
          <a:prstGeom prst="rect">
            <a:avLst/>
          </a:prstGeom>
          <a:noFill/>
          <a:ln>
            <a:noFill/>
          </a:ln>
        </p:spPr>
      </p:pic>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6"/>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88" name="Google Shape;288;p36"/>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289" name="Google Shape;289;p36"/>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290" name="Google Shape;290;p36"/>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291" name="Google Shape;291;p36"/>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pic>
        <p:nvPicPr>
          <p:cNvPr id="292" name="Google Shape;292;p36"/>
          <p:cNvPicPr preferRelativeResize="0"/>
          <p:nvPr/>
        </p:nvPicPr>
        <p:blipFill>
          <a:blip r:embed="rId5">
            <a:alphaModFix/>
          </a:blip>
          <a:stretch>
            <a:fillRect/>
          </a:stretch>
        </p:blipFill>
        <p:spPr>
          <a:xfrm>
            <a:off x="152400" y="737616"/>
            <a:ext cx="3384449" cy="3884025"/>
          </a:xfrm>
          <a:prstGeom prst="rect">
            <a:avLst/>
          </a:prstGeom>
          <a:noFill/>
          <a:ln>
            <a:noFill/>
          </a:ln>
        </p:spPr>
      </p:pic>
      <p:pic>
        <p:nvPicPr>
          <p:cNvPr id="293" name="Google Shape;293;p36"/>
          <p:cNvPicPr preferRelativeResize="0"/>
          <p:nvPr/>
        </p:nvPicPr>
        <p:blipFill>
          <a:blip r:embed="rId6">
            <a:alphaModFix/>
          </a:blip>
          <a:stretch>
            <a:fillRect/>
          </a:stretch>
        </p:blipFill>
        <p:spPr>
          <a:xfrm>
            <a:off x="4465074" y="698016"/>
            <a:ext cx="2866257" cy="3884025"/>
          </a:xfrm>
          <a:prstGeom prst="rect">
            <a:avLst/>
          </a:prstGeom>
          <a:noFill/>
          <a:ln>
            <a:noFill/>
          </a:ln>
        </p:spPr>
      </p:pic>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7"/>
          <p:cNvSpPr txBox="1"/>
          <p:nvPr/>
        </p:nvSpPr>
        <p:spPr>
          <a:xfrm>
            <a:off x="3143250" y="46325"/>
            <a:ext cx="22758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lt1"/>
                </a:solidFill>
                <a:latin typeface="Lato"/>
                <a:ea typeface="Lato"/>
                <a:cs typeface="Lato"/>
                <a:sym typeface="Lato"/>
              </a:rPr>
              <a:t>Achieved</a:t>
            </a:r>
            <a:endParaRPr sz="2000" b="1" i="0" u="none" strike="noStrike" cap="none">
              <a:solidFill>
                <a:schemeClr val="lt1"/>
              </a:solidFill>
              <a:latin typeface="Lato"/>
              <a:ea typeface="Lato"/>
              <a:cs typeface="Lato"/>
              <a:sym typeface="Lato"/>
            </a:endParaRPr>
          </a:p>
        </p:txBody>
      </p:sp>
      <p:pic>
        <p:nvPicPr>
          <p:cNvPr id="299" name="Google Shape;299;p37"/>
          <p:cNvPicPr preferRelativeResize="0"/>
          <p:nvPr/>
        </p:nvPicPr>
        <p:blipFill rotWithShape="1">
          <a:blip r:embed="rId3">
            <a:alphaModFix/>
          </a:blip>
          <a:srcRect/>
          <a:stretch/>
        </p:blipFill>
        <p:spPr>
          <a:xfrm>
            <a:off x="1494754" y="0"/>
            <a:ext cx="6151128" cy="585216"/>
          </a:xfrm>
          <a:prstGeom prst="rect">
            <a:avLst/>
          </a:prstGeom>
          <a:noFill/>
          <a:ln>
            <a:noFill/>
          </a:ln>
        </p:spPr>
      </p:pic>
      <p:sp>
        <p:nvSpPr>
          <p:cNvPr id="300" name="Google Shape;300;p37"/>
          <p:cNvSpPr txBox="1"/>
          <p:nvPr/>
        </p:nvSpPr>
        <p:spPr>
          <a:xfrm>
            <a:off x="2267074" y="13425"/>
            <a:ext cx="44769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a:solidFill>
                  <a:schemeClr val="lt1"/>
                </a:solidFill>
                <a:latin typeface="Lato"/>
                <a:ea typeface="Lato"/>
                <a:cs typeface="Lato"/>
                <a:sym typeface="Lato"/>
              </a:rPr>
              <a:t>CQRS Pattern</a:t>
            </a:r>
            <a:endParaRPr sz="2000" b="1" i="0" u="none" strike="noStrike" cap="none">
              <a:solidFill>
                <a:schemeClr val="lt1"/>
              </a:solidFill>
              <a:latin typeface="Lato"/>
              <a:ea typeface="Lato"/>
              <a:cs typeface="Lato"/>
              <a:sym typeface="Lato"/>
            </a:endParaRPr>
          </a:p>
        </p:txBody>
      </p:sp>
      <p:pic>
        <p:nvPicPr>
          <p:cNvPr id="301" name="Google Shape;301;p37"/>
          <p:cNvPicPr preferRelativeResize="0"/>
          <p:nvPr/>
        </p:nvPicPr>
        <p:blipFill rotWithShape="1">
          <a:blip r:embed="rId4">
            <a:alphaModFix/>
          </a:blip>
          <a:srcRect/>
          <a:stretch/>
        </p:blipFill>
        <p:spPr>
          <a:xfrm>
            <a:off x="0" y="4774041"/>
            <a:ext cx="9144000" cy="369454"/>
          </a:xfrm>
          <a:prstGeom prst="rect">
            <a:avLst/>
          </a:prstGeom>
          <a:noFill/>
          <a:ln>
            <a:noFill/>
          </a:ln>
        </p:spPr>
      </p:pic>
      <p:sp>
        <p:nvSpPr>
          <p:cNvPr id="302" name="Google Shape;302;p37"/>
          <p:cNvSpPr txBox="1"/>
          <p:nvPr/>
        </p:nvSpPr>
        <p:spPr>
          <a:xfrm>
            <a:off x="3071696" y="4778448"/>
            <a:ext cx="29760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chemeClr val="dk1"/>
              </a:buClr>
              <a:buSzPts val="1100"/>
              <a:buFont typeface="Arial"/>
              <a:buNone/>
            </a:pPr>
            <a:r>
              <a:rPr lang="en-US" sz="1200" b="1" i="0" u="none" strike="noStrike" cap="none">
                <a:solidFill>
                  <a:schemeClr val="lt1"/>
                </a:solidFill>
                <a:latin typeface="Lato"/>
                <a:ea typeface="Lato"/>
                <a:cs typeface="Lato"/>
                <a:sym typeface="Lato"/>
              </a:rPr>
              <a:t>www.bacancytechnology.com</a:t>
            </a:r>
            <a:endParaRPr sz="1200" b="1" i="0" u="none" strike="noStrike" cap="none">
              <a:solidFill>
                <a:schemeClr val="lt1"/>
              </a:solidFill>
              <a:latin typeface="Lato"/>
              <a:ea typeface="Lato"/>
              <a:cs typeface="Lato"/>
              <a:sym typeface="Lato"/>
            </a:endParaRPr>
          </a:p>
        </p:txBody>
      </p:sp>
      <p:sp>
        <p:nvSpPr>
          <p:cNvPr id="303" name="Google Shape;303;p37"/>
          <p:cNvSpPr txBox="1"/>
          <p:nvPr/>
        </p:nvSpPr>
        <p:spPr>
          <a:xfrm>
            <a:off x="152400" y="685800"/>
            <a:ext cx="87573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solidFill>
                  <a:schemeClr val="dk1"/>
                </a:solidFill>
              </a:rPr>
              <a:t>Finally, we call these operations from the main Program class. Please note that in this demo application, we create an instance of the repository directly. In a real-world scenario, we would probably use some dependency injection framework to do this.</a:t>
            </a:r>
            <a:endParaRPr sz="1700"/>
          </a:p>
        </p:txBody>
      </p:sp>
      <p:pic>
        <p:nvPicPr>
          <p:cNvPr id="304" name="Google Shape;304;p37"/>
          <p:cNvPicPr preferRelativeResize="0"/>
          <p:nvPr/>
        </p:nvPicPr>
        <p:blipFill>
          <a:blip r:embed="rId5">
            <a:alphaModFix/>
          </a:blip>
          <a:stretch>
            <a:fillRect/>
          </a:stretch>
        </p:blipFill>
        <p:spPr>
          <a:xfrm>
            <a:off x="1962700" y="1674175"/>
            <a:ext cx="4409536" cy="273674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22652</Words>
  <Application>Microsoft Office PowerPoint</Application>
  <PresentationFormat>On-screen Show (16:9)</PresentationFormat>
  <Paragraphs>2083</Paragraphs>
  <Slides>268</Slides>
  <Notes>268</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268</vt:i4>
      </vt:variant>
    </vt:vector>
  </HeadingPairs>
  <TitlesOfParts>
    <vt:vector size="282" baseType="lpstr">
      <vt:lpstr>Arial</vt:lpstr>
      <vt:lpstr>Lato Black</vt:lpstr>
      <vt:lpstr>Verdana</vt:lpstr>
      <vt:lpstr>Roboto Mono</vt:lpstr>
      <vt:lpstr>Lato</vt:lpstr>
      <vt:lpstr>Courier New</vt:lpstr>
      <vt:lpstr>Wingdings</vt:lpstr>
      <vt:lpstr>Arial Unicode MS</vt:lpstr>
      <vt:lpstr>Nunito</vt:lpstr>
      <vt:lpstr>Simple Light</vt:lpstr>
      <vt:lpstr>Simple Light</vt:lpstr>
      <vt:lpstr>Simple Light</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Dhirav Agrawal</cp:lastModifiedBy>
  <cp:revision>2</cp:revision>
  <dcterms:modified xsi:type="dcterms:W3CDTF">2025-03-18T04:32:25Z</dcterms:modified>
</cp:coreProperties>
</file>